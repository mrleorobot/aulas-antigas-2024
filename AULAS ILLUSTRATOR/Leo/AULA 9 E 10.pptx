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715000" cx="9144000"/>
  <p:notesSz cx="6858000" cy="9144000"/>
  <p:embeddedFontLst>
    <p:embeddedFont>
      <p:font typeface="Play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jwKU7hX3FzDwLQv3FIxRPyDV1q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9149CD-2C79-4594-8907-8A40B59DE407}">
  <a:tblStyle styleId="{729149CD-2C79-4594-8907-8A40B59DE40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Play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d8c9a5026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8d8c9a5026_0_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7" name="Google Shape;17;p2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8" name="Google Shape;18;p2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Play"/>
              <a:buNone/>
              <a:defRPr sz="4666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1" name="Google Shape;21;p27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6"/>
            </a:lvl1pPr>
            <a:lvl2pPr lvl="1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sz="1555"/>
            </a:lvl2pPr>
            <a:lvl3pPr lvl="2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4pPr>
            <a:lvl5pPr lvl="4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5pPr>
            <a:lvl6pPr lvl="5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6pPr>
            <a:lvl7pPr lvl="6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7pPr>
            <a:lvl8pPr lvl="7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8pPr>
            <a:lvl9pPr lvl="8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9pPr>
          </a:lstStyle>
          <a:p/>
        </p:txBody>
      </p:sp>
      <p:sp>
        <p:nvSpPr>
          <p:cNvPr id="22" name="Google Shape;22;p2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3" name="Google Shape;23;p2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4" name="Google Shape;24;p2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7" name="Google Shape;27;p28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28" name="Google Shape;28;p2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9" name="Google Shape;29;p2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0" name="Google Shape;30;p2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Play"/>
              <a:buNone/>
              <a:defRPr sz="4666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3" name="Google Shape;33;p29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rgbClr val="757575"/>
              </a:buClr>
              <a:buSzPts val="1867"/>
              <a:buNone/>
              <a:defRPr sz="1866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556"/>
              <a:buNone/>
              <a:defRPr sz="1555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2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5" name="Google Shape;35;p2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9" name="Google Shape;39;p30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0" name="Google Shape;40;p30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1" name="Google Shape;41;p3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2" name="Google Shape;42;p3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3" name="Google Shape;43;p3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6" name="Google Shape;46;p31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b="1" sz="1866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b="1" sz="1555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9pPr>
          </a:lstStyle>
          <a:p/>
        </p:txBody>
      </p:sp>
      <p:sp>
        <p:nvSpPr>
          <p:cNvPr id="47" name="Google Shape;47;p31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8" name="Google Shape;48;p31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b="1" sz="1866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b="1" sz="1555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9pPr>
          </a:lstStyle>
          <a:p/>
        </p:txBody>
      </p:sp>
      <p:sp>
        <p:nvSpPr>
          <p:cNvPr id="49" name="Google Shape;49;p31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50" name="Google Shape;50;p3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1" name="Google Shape;51;p3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2" name="Google Shape;52;p3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5" name="Google Shape;55;p3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6" name="Google Shape;56;p3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7" name="Google Shape;57;p3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9"/>
              <a:buFont typeface="Play"/>
              <a:buNone/>
              <a:defRPr sz="2488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0" name="Google Shape;60;p33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6644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2489"/>
              <a:buChar char="•"/>
              <a:defRPr sz="2488"/>
            </a:lvl1pPr>
            <a:lvl2pPr indent="-366889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2178"/>
              <a:buChar char="•"/>
              <a:defRPr sz="2177"/>
            </a:lvl2pPr>
            <a:lvl3pPr indent="-347133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6"/>
            </a:lvl3pPr>
            <a:lvl4pPr indent="-327378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4pPr>
            <a:lvl5pPr indent="-327378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5pPr>
            <a:lvl6pPr indent="-327378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6pPr>
            <a:lvl7pPr indent="-327378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7pPr>
            <a:lvl8pPr indent="-327378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8pPr>
            <a:lvl9pPr indent="-327378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9pPr>
          </a:lstStyle>
          <a:p/>
        </p:txBody>
      </p:sp>
      <p:sp>
        <p:nvSpPr>
          <p:cNvPr id="61" name="Google Shape;61;p33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089"/>
              <a:buNone/>
              <a:defRPr sz="1088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9pPr>
          </a:lstStyle>
          <a:p/>
        </p:txBody>
      </p:sp>
      <p:sp>
        <p:nvSpPr>
          <p:cNvPr id="62" name="Google Shape;62;p3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3" name="Google Shape;63;p3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4" name="Google Shape;64;p3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4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9"/>
              <a:buFont typeface="Play"/>
              <a:buNone/>
              <a:defRPr sz="2488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7" name="Google Shape;67;p34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089"/>
              <a:buNone/>
              <a:defRPr sz="1088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9pPr>
          </a:lstStyle>
          <a:p/>
        </p:txBody>
      </p:sp>
      <p:sp>
        <p:nvSpPr>
          <p:cNvPr id="69" name="Google Shape;69;p3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0" name="Google Shape;70;p3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1" name="Google Shape;71;p3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4" name="Google Shape;74;p35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5" name="Google Shape;75;p3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6" name="Google Shape;76;p3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7" name="Google Shape;77;p3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80" name="Google Shape;80;p36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3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82" name="Google Shape;82;p3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83" name="Google Shape;83;p3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E2D5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22"/>
              <a:buFont typeface="Play"/>
              <a:buNone/>
              <a:defRPr b="0" i="0" sz="34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6889" lvl="0" marL="457200" marR="0" rtl="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2178"/>
              <a:buFont typeface="Arial"/>
              <a:buChar char="•"/>
              <a:defRPr b="0" i="0" sz="21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7133" lvl="1" marL="9144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378" lvl="2" marL="13716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Char char="•"/>
              <a:defRPr b="0" i="0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981B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118920" y="748952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48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73946" y="2084798"/>
            <a:ext cx="4845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22"/>
              <a:buFont typeface="Arial"/>
              <a:buNone/>
            </a:pPr>
            <a:r>
              <a:rPr b="1" i="0" lang="pt-BR" sz="3422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ADOBE ILLUSTRATOR</a:t>
            </a:r>
            <a:endParaRPr sz="1088"/>
          </a:p>
        </p:txBody>
      </p:sp>
      <p:sp>
        <p:nvSpPr>
          <p:cNvPr id="90" name="Google Shape;90;p1"/>
          <p:cNvSpPr txBox="1"/>
          <p:nvPr/>
        </p:nvSpPr>
        <p:spPr>
          <a:xfrm>
            <a:off x="1037485" y="3218515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088"/>
          </a:p>
        </p:txBody>
      </p:sp>
      <p:pic>
        <p:nvPicPr>
          <p:cNvPr descr="Illustrator Icon Vector Art, Icons, and Graphics for Free ..." id="91" name="Google Shape;91;p1"/>
          <p:cNvPicPr preferRelativeResize="0"/>
          <p:nvPr/>
        </p:nvPicPr>
        <p:blipFill rotWithShape="1">
          <a:blip r:embed="rId3">
            <a:alphaModFix/>
          </a:blip>
          <a:srcRect b="8320" l="27842" r="27979" t="8826"/>
          <a:stretch/>
        </p:blipFill>
        <p:spPr>
          <a:xfrm>
            <a:off x="5842297" y="1552705"/>
            <a:ext cx="2348629" cy="2609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</a:rPr>
              <a:t>ATIVIDADE</a:t>
            </a:r>
            <a:endParaRPr sz="1088"/>
          </a:p>
        </p:txBody>
      </p:sp>
      <p:pic>
        <p:nvPicPr>
          <p:cNvPr id="97" name="Google Shape;9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875" y="1194325"/>
            <a:ext cx="8297143" cy="435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C000"/>
            </a:gs>
            <a:gs pos="24000">
              <a:srgbClr val="FFC000"/>
            </a:gs>
            <a:gs pos="69000">
              <a:srgbClr val="FA981B"/>
            </a:gs>
            <a:gs pos="100000">
              <a:srgbClr val="FA981B"/>
            </a:gs>
          </a:gsLst>
          <a:lin ang="5400000" scaled="0"/>
        </a:gra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163046" y="1724297"/>
            <a:ext cx="88179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5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Nesta aula, vamos trabalhar de forma teórica.</a:t>
            </a:r>
            <a:br>
              <a:rPr b="1" i="0" lang="pt-BR" sz="155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55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Isso significa que o conteúdo de hoje será para leitura, estudo e anotações, seguido de atividades em folha impressa, e não diretamente no Illustrator.</a:t>
            </a:r>
            <a:endParaRPr sz="1088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55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5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objetivo é:</a:t>
            </a:r>
            <a:endParaRPr sz="1088"/>
          </a:p>
          <a:p>
            <a:pPr indent="-98778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6"/>
              <a:buFont typeface="Arial"/>
              <a:buChar char="•"/>
            </a:pPr>
            <a:r>
              <a:rPr b="1" i="0" lang="pt-BR" sz="155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Entender os conceitos básicos sobre arquivos do Illustrator e seus formatos.</a:t>
            </a:r>
            <a:endParaRPr sz="1088"/>
          </a:p>
          <a:p>
            <a:pPr indent="-98778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6"/>
              <a:buFont typeface="Arial"/>
              <a:buChar char="•"/>
            </a:pPr>
            <a:r>
              <a:rPr b="1" i="0" lang="pt-BR" sz="155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Compreender como funcionam as cores </a:t>
            </a:r>
            <a:endParaRPr sz="1088"/>
          </a:p>
          <a:p>
            <a:pPr indent="-98778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56"/>
              <a:buFont typeface="Arial"/>
              <a:buChar char="•"/>
            </a:pPr>
            <a:r>
              <a:rPr b="1" i="0" lang="pt-BR" sz="155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Aprender a diferença entre salvar, abrir, exportar e inserir arquivos.</a:t>
            </a:r>
            <a:endParaRPr sz="1088"/>
          </a:p>
        </p:txBody>
      </p:sp>
      <p:grpSp>
        <p:nvGrpSpPr>
          <p:cNvPr id="103" name="Google Shape;103;p2"/>
          <p:cNvGrpSpPr/>
          <p:nvPr/>
        </p:nvGrpSpPr>
        <p:grpSpPr>
          <a:xfrm>
            <a:off x="7509657" y="3853054"/>
            <a:ext cx="1471251" cy="1634673"/>
            <a:chOff x="9522189" y="611918"/>
            <a:chExt cx="1145210" cy="1145210"/>
          </a:xfrm>
        </p:grpSpPr>
        <p:sp>
          <p:nvSpPr>
            <p:cNvPr id="104" name="Google Shape;104;p2"/>
            <p:cNvSpPr/>
            <p:nvPr/>
          </p:nvSpPr>
          <p:spPr>
            <a:xfrm>
              <a:off x="9522189" y="611918"/>
              <a:ext cx="1145210" cy="1145210"/>
            </a:xfrm>
            <a:prstGeom prst="ellipse">
              <a:avLst/>
            </a:prstGeom>
            <a:solidFill>
              <a:schemeClr val="lt1"/>
            </a:solidFill>
            <a:ln cap="flat" cmpd="sng" w="148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5550" lIns="71100" spcFirstLastPara="1" rIns="71100" wrap="square" tIns="355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Illustrator Icon Vector Art, Icons, and Graphics for Free ..." id="105" name="Google Shape;105;p2"/>
            <p:cNvPicPr preferRelativeResize="0"/>
            <p:nvPr/>
          </p:nvPicPr>
          <p:blipFill rotWithShape="1">
            <a:blip r:embed="rId3">
              <a:alphaModFix/>
            </a:blip>
            <a:srcRect b="8320" l="27842" r="27979" t="8826"/>
            <a:stretch/>
          </p:blipFill>
          <p:spPr>
            <a:xfrm>
              <a:off x="9740459" y="850139"/>
              <a:ext cx="708669" cy="70866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d8c9a5026_0_7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Illustrator - Tipos de Arquivos Comuns</a:t>
            </a:r>
            <a:endParaRPr sz="1088"/>
          </a:p>
        </p:txBody>
      </p:sp>
      <p:sp>
        <p:nvSpPr>
          <p:cNvPr id="111" name="Google Shape;111;g38d8c9a5026_0_7"/>
          <p:cNvSpPr/>
          <p:nvPr/>
        </p:nvSpPr>
        <p:spPr>
          <a:xfrm>
            <a:off x="505946" y="2593821"/>
            <a:ext cx="81321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trabalhamos no Illustrator, é importante entender os tipos de arquivos que usamos. Cada formato tem uma função e vantagens diferentes. O principal formato é o </a:t>
            </a:r>
            <a:r>
              <a:rPr b="1" i="0" lang="pt-BR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b="0" i="0" lang="pt-BR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é o nativo do Illustrator. Vamos aprender o que ele é, para que serve e em quais situações ele é mais indicado.</a:t>
            </a:r>
            <a:endParaRPr sz="1088"/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Illustrator - Tipos de Arquivos Comuns</a:t>
            </a:r>
            <a:endParaRPr sz="1088"/>
          </a:p>
        </p:txBody>
      </p:sp>
      <p:sp>
        <p:nvSpPr>
          <p:cNvPr id="117" name="Google Shape;117;p4"/>
          <p:cNvSpPr/>
          <p:nvPr/>
        </p:nvSpPr>
        <p:spPr>
          <a:xfrm>
            <a:off x="505946" y="2126575"/>
            <a:ext cx="81321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um arquivo AI?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o formato padrão do Illustrator. Ele é um arquivo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vetorial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ou seja, não perde qualidade quando aumentamos ou diminuímos o tamanho. Isso acontece porque não é feito de pixels, mas sim de fórmulas matemáticas que geram linhas e formas perfeitas em qualquer dimensão.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um logotipo feito em AI pode ser usado tanto em um cartão de visitas pequeno quanto em um outdoor enorme, e a qualidade será a mesma.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Além disso, os arquivos AI suportam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transparência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que dá mais flexibilidade para editar e organizar o design.</a:t>
            </a:r>
            <a:endParaRPr sz="1088"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Illustrator - Tipos de Arquivos Comuns</a:t>
            </a:r>
            <a:endParaRPr sz="1088"/>
          </a:p>
        </p:txBody>
      </p:sp>
      <p:sp>
        <p:nvSpPr>
          <p:cNvPr id="123" name="Google Shape;123;p5"/>
          <p:cNvSpPr/>
          <p:nvPr/>
        </p:nvSpPr>
        <p:spPr>
          <a:xfrm>
            <a:off x="1337982" y="2455992"/>
            <a:ext cx="64680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Breve história do formato AI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Antes de existir o AI, o Illustrator usava o formato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EPS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O problema é que o EPS tinha limitações, principalmente com transparência.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2000, a Adobe lançou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no Illustrator 9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passou a substituir o EPS, trazendo mais recursos e qualidade.</a:t>
            </a:r>
            <a:endParaRPr sz="1088"/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Illustrator - Tipos de Arquivos Comuns</a:t>
            </a:r>
            <a:endParaRPr sz="1088"/>
          </a:p>
        </p:txBody>
      </p:sp>
      <p:sp>
        <p:nvSpPr>
          <p:cNvPr id="129" name="Google Shape;129;p6"/>
          <p:cNvSpPr/>
          <p:nvPr/>
        </p:nvSpPr>
        <p:spPr>
          <a:xfrm>
            <a:off x="586628" y="2083975"/>
            <a:ext cx="79707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Diferença entre Raster e Vetor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Raster (ou bitmap)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imagens feitas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pixels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Quando aumentadas, perdem qualidade e ficam “pixeladas”. Exemplos: fotos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JPG ou PNG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Vetor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imagens baseadas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equações matemáticas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Não perdem qualidade ao redimensionar. Exemplos: arquivos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AI, PDF, EPS, SVG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Lembrete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Illustrator é feito para trabalhar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Se precisar editar fotos (pixels), o ideal é usar Photoshop.</a:t>
            </a:r>
            <a:endParaRPr sz="1088"/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Illustrator - Tipos de Arquivos Comuns</a:t>
            </a:r>
            <a:endParaRPr sz="1088"/>
          </a:p>
        </p:txBody>
      </p:sp>
      <p:sp>
        <p:nvSpPr>
          <p:cNvPr id="135" name="Google Shape;135;p7"/>
          <p:cNvSpPr/>
          <p:nvPr/>
        </p:nvSpPr>
        <p:spPr>
          <a:xfrm>
            <a:off x="183216" y="2557979"/>
            <a:ext cx="87777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usar arquivos AI?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arquivos AI são muito versáteis. Normalmente usamos em: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Logotipos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sempre ficam nítidos em qualquer tamanho.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Impressão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garantem que imagens e desenhos digitais saiam perfeitos no papel, sem serrilhado.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Designs transparentes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ótimo para quando precisamos sobrepor em diferentes fundos (coisa que o antigo EPS não fazia bem).</a:t>
            </a:r>
            <a:endParaRPr sz="1088"/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Illustrator - Tipos de Arquivos Comuns</a:t>
            </a:r>
            <a:endParaRPr sz="1088"/>
          </a:p>
        </p:txBody>
      </p:sp>
      <p:sp>
        <p:nvSpPr>
          <p:cNvPr id="141" name="Google Shape;141;p8"/>
          <p:cNvSpPr/>
          <p:nvPr/>
        </p:nvSpPr>
        <p:spPr>
          <a:xfrm>
            <a:off x="919442" y="2609518"/>
            <a:ext cx="7305000" cy="13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5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Vantagens do formato AI</a:t>
            </a:r>
            <a:endParaRPr sz="1088"/>
          </a:p>
          <a:p>
            <a:pPr indent="-98778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Char char="•"/>
            </a:pPr>
            <a:r>
              <a:rPr lang="pt-BR" sz="155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Pode ser redimensionado infinitamente sem perder qualidade.</a:t>
            </a:r>
            <a:endParaRPr sz="1088"/>
          </a:p>
          <a:p>
            <a:pPr indent="-98778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Char char="•"/>
            </a:pPr>
            <a:r>
              <a:rPr lang="pt-BR" sz="155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Arquivos são leves, fáceis de compartilhar e armazenar.</a:t>
            </a:r>
            <a:endParaRPr sz="1088"/>
          </a:p>
          <a:p>
            <a:pPr indent="-98778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Char char="•"/>
            </a:pPr>
            <a:r>
              <a:rPr lang="pt-BR" sz="155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Suporta transparência, camadas e tipografia.</a:t>
            </a:r>
            <a:endParaRPr sz="1088"/>
          </a:p>
          <a:p>
            <a:pPr indent="-98778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Char char="•"/>
            </a:pPr>
            <a:r>
              <a:rPr lang="pt-BR" sz="155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o formato ideal para criar projetos dentro do Illustrator.</a:t>
            </a:r>
            <a:endParaRPr sz="1088"/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Illustrator - Tipos de Arquivos Comuns</a:t>
            </a:r>
            <a:endParaRPr sz="1088"/>
          </a:p>
        </p:txBody>
      </p:sp>
      <p:sp>
        <p:nvSpPr>
          <p:cNvPr id="147" name="Google Shape;147;p9"/>
          <p:cNvSpPr/>
          <p:nvPr/>
        </p:nvSpPr>
        <p:spPr>
          <a:xfrm>
            <a:off x="869016" y="2126531"/>
            <a:ext cx="74061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Pontos de atenção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Apesar das vantagens, existem cuidados: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AI é totalmente compatível apenas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Adobe Illustrator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Outros programas até abrem o arquivo, mas não permitem edição completa.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o projeto for baseado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pixels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(exemplo: fotos), o AI não é o formato ideal. Nesse caso, </a:t>
            </a:r>
            <a:endParaRPr sz="1088"/>
          </a:p>
          <a:p>
            <a:pPr indent="0" lvl="1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Use: JPG, PNG ou outro formato raster.</a:t>
            </a:r>
            <a:endParaRPr sz="1088"/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Abrir, Criar e Editar Arquivos AI</a:t>
            </a:r>
            <a:endParaRPr sz="1088"/>
          </a:p>
        </p:txBody>
      </p:sp>
      <p:sp>
        <p:nvSpPr>
          <p:cNvPr id="153" name="Google Shape;153;p10"/>
          <p:cNvSpPr/>
          <p:nvPr/>
        </p:nvSpPr>
        <p:spPr>
          <a:xfrm>
            <a:off x="480732" y="1183013"/>
            <a:ext cx="80313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1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abrir um arquivo AI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Illustrator,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 &gt; Abrir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Localize o arquivo no computador e verifique se a extensão é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.AI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também pode abrir arquivos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PDF, EPS e SVG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diretamente no Illustrator.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 Importante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abrir arquivos AI em outros programas pode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converter vetores em pixels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perdendo a qualidade e escalabilidade.</a:t>
            </a:r>
            <a:endParaRPr sz="1088"/>
          </a:p>
        </p:txBody>
      </p:sp>
      <p:sp>
        <p:nvSpPr>
          <p:cNvPr id="154" name="Google Shape;154;p10"/>
          <p:cNvSpPr/>
          <p:nvPr/>
        </p:nvSpPr>
        <p:spPr>
          <a:xfrm>
            <a:off x="480732" y="3098899"/>
            <a:ext cx="80313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1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criar um arquivo AI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o Illustrator e vá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 &gt; Novo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o tipo de documento: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Celular, Web, Impressão ou Filme e Vídeo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 predefinido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o documento.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abrir o novo documento.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terminar a criação,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salve o projeto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.AI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11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Abrir, Criar e Editar Arquivos AI</a:t>
            </a:r>
            <a:endParaRPr sz="1088"/>
          </a:p>
        </p:txBody>
      </p:sp>
      <p:sp>
        <p:nvSpPr>
          <p:cNvPr id="160" name="Google Shape;160;p11"/>
          <p:cNvSpPr/>
          <p:nvPr/>
        </p:nvSpPr>
        <p:spPr>
          <a:xfrm>
            <a:off x="1257300" y="2627439"/>
            <a:ext cx="69117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editar um arquivo AI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o arquivo AI no Illustrator.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selecionar, desenhar, colorir ou mover elementos.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Após as alterações,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 &gt; Salvar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manter o projeto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.AI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8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Abrir, Criar e Editar Arquivos AI</a:t>
            </a:r>
            <a:endParaRPr b="1" sz="2488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6" name="Google Shape;166;p12"/>
          <p:cNvGraphicFramePr/>
          <p:nvPr/>
        </p:nvGraphicFramePr>
        <p:xfrm>
          <a:off x="628650" y="24581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{729149CD-2C79-4594-8907-8A40B59DE407}</a:tableStyleId>
              </a:tblPr>
              <a:tblGrid>
                <a:gridCol w="3943350"/>
                <a:gridCol w="3943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Ação</a:t>
                      </a:r>
                      <a:endParaRPr sz="1166"/>
                    </a:p>
                  </a:txBody>
                  <a:tcPr marT="38100" marB="38100" marR="68600" marL="6860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Formatos</a:t>
                      </a:r>
                      <a:endParaRPr sz="1166"/>
                    </a:p>
                  </a:txBody>
                  <a:tcPr marT="38100" marB="38100" marR="68600" marL="6860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Abrir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AI, PDF, EPS, SVG</a:t>
                      </a:r>
                      <a:endParaRPr sz="1166"/>
                    </a:p>
                  </a:txBody>
                  <a:tcPr marT="38100" marB="38100" marR="68600" marL="6860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Salvar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AI (padrão), PDF, SVG, EPS</a:t>
                      </a:r>
                      <a:endParaRPr sz="1166"/>
                    </a:p>
                  </a:txBody>
                  <a:tcPr marT="38100" marB="38100" marR="68600" marL="6860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Exportar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PNG, JPG, GIF, TIFF, PDF, SVG</a:t>
                      </a:r>
                      <a:endParaRPr sz="1166"/>
                    </a:p>
                  </a:txBody>
                  <a:tcPr marT="38100" marB="38100" marR="68600" marL="6860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Inserir (Place)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AI, EPS, PDF, SVG, imagens raster (JPG, PNG, TIFF)</a:t>
                      </a:r>
                      <a:endParaRPr sz="1166"/>
                    </a:p>
                  </a:txBody>
                  <a:tcPr marT="38100" marB="38100" marR="68600" marL="68600" anchor="ctr">
                    <a:lnL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4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7" name="Google Shape;167;p12"/>
          <p:cNvSpPr/>
          <p:nvPr/>
        </p:nvSpPr>
        <p:spPr>
          <a:xfrm>
            <a:off x="615790" y="2109700"/>
            <a:ext cx="303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Formatos disponíveis no Illustrator</a:t>
            </a:r>
            <a:endParaRPr sz="1088"/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(Modos de Cores e Cores Especiais)</a:t>
            </a:r>
            <a:endParaRPr sz="1088"/>
          </a:p>
        </p:txBody>
      </p:sp>
      <p:sp>
        <p:nvSpPr>
          <p:cNvPr id="173" name="Google Shape;173;p13"/>
          <p:cNvSpPr/>
          <p:nvPr/>
        </p:nvSpPr>
        <p:spPr>
          <a:xfrm>
            <a:off x="510989" y="1780283"/>
            <a:ext cx="81219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aplicamos cores em um trabalho artístico no Illustrator, é fundamental entender 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de cores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espaços de cores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A escolha correta depende da mídia final: se é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web, impressão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outro tipo de publicação.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Modelo de cor: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método de representar cores, como RGB, CMYK, HSB, Lab ou escala de cinza.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Espaço de cores: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variação do modelo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gama específica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(intervalo de cores). Por exemplo, o RGB tem espaços como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Adobe RGB, sRGB e Apple RGB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cada um com cores ligeiramente diferentes.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 Importante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cores podem mudar ao mover arquivos entre dispositivos. Um monitor RGB pode exibir cores que uma impressora CMYK não consegue reproduzir.</a:t>
            </a:r>
            <a:endParaRPr sz="1088"/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11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(Modos de Cores e Cores Especiais)</a:t>
            </a:r>
            <a:endParaRPr sz="1088"/>
          </a:p>
        </p:txBody>
      </p:sp>
      <p:sp>
        <p:nvSpPr>
          <p:cNvPr id="179" name="Google Shape;179;p14"/>
          <p:cNvSpPr/>
          <p:nvPr/>
        </p:nvSpPr>
        <p:spPr>
          <a:xfrm>
            <a:off x="894229" y="2240857"/>
            <a:ext cx="73554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🔹 Modelos de Cores no Illustrator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RGB (Red, Green, Blue)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Baseado em luz: vermelho, verde e azul.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Cores aditivas: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misturar R, G e B gera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valores iguais resultam em tons de cinza.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Usado para: monitores, TV, web.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Valores de 0 a 255.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Illustrator inclui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RGB seguro para web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 cores adequadas para a internet.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Exemplo: vermelho-claro → R=246, G=20, B=50</a:t>
            </a:r>
            <a:endParaRPr sz="1088"/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11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(Modos de Cores e Cores Especiais)</a:t>
            </a:r>
            <a:endParaRPr sz="1088"/>
          </a:p>
        </p:txBody>
      </p:sp>
      <p:sp>
        <p:nvSpPr>
          <p:cNvPr id="185" name="Google Shape;185;p15"/>
          <p:cNvSpPr/>
          <p:nvPr/>
        </p:nvSpPr>
        <p:spPr>
          <a:xfrm>
            <a:off x="869017" y="2188186"/>
            <a:ext cx="74061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CMYK (Ciano, Magenta, Amarelo, Preto)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Baseado em tinta impressa: cores subtrativas.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Misturando C, M e Y deveria gerar preto; adiciona-se K (preto) para densidade e qualidade.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Usado para: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impressão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fotos, logotipos e gráficos coloridos.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Valores de 0% a 100% para cada tinta.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Exemplo: vermelho-claro → C=2%, M=93%, Y=90%, K=0</a:t>
            </a:r>
            <a:endParaRPr sz="1088"/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(Modos de Cores e Cores Especiais)</a:t>
            </a:r>
            <a:endParaRPr sz="1088"/>
          </a:p>
        </p:txBody>
      </p:sp>
      <p:sp>
        <p:nvSpPr>
          <p:cNvPr id="191" name="Google Shape;191;p16"/>
          <p:cNvSpPr/>
          <p:nvPr/>
        </p:nvSpPr>
        <p:spPr>
          <a:xfrm>
            <a:off x="1363196" y="2481763"/>
            <a:ext cx="64176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HSB (Matiz, Saturação, Brilho)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Baseado na percepção humana da cor.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Matiz (H):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 principal (0°–360°).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Saturação (S):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intensidade da cor (0% cinza → 100% pura).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Brilho (B):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luminosidade (0% preto → 100% branco).</a:t>
            </a:r>
            <a:endParaRPr sz="1088"/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(Modos de Cores e Cores Especiais)</a:t>
            </a:r>
            <a:endParaRPr sz="1088"/>
          </a:p>
        </p:txBody>
      </p:sp>
      <p:sp>
        <p:nvSpPr>
          <p:cNvPr id="197" name="Google Shape;197;p17"/>
          <p:cNvSpPr/>
          <p:nvPr/>
        </p:nvSpPr>
        <p:spPr>
          <a:xfrm>
            <a:off x="1206874" y="2015606"/>
            <a:ext cx="67302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Modelo independente de dispositivo, baseado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percepção humana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Valores descrevem cores visíveis por uma pessoa com visão normal.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Útil para criar e processar cores especiais no Illustrator.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Não é possível criar documentos diretamente no modo Lab.</a:t>
            </a:r>
            <a:endParaRPr sz="1088"/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(Modos de Cores e Cores Especiais)</a:t>
            </a:r>
            <a:endParaRPr sz="1088"/>
          </a:p>
        </p:txBody>
      </p:sp>
      <p:sp>
        <p:nvSpPr>
          <p:cNvPr id="203" name="Google Shape;203;p18"/>
          <p:cNvSpPr/>
          <p:nvPr/>
        </p:nvSpPr>
        <p:spPr>
          <a:xfrm>
            <a:off x="1095935" y="2433580"/>
            <a:ext cx="74865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Escala de Cinza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Representa tons de preto e branco.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Valores de 0% (branco) a 100% (preto).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converter trabalhos coloridos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preto-e-branco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mantendo a luminosidade original.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Pode converter objetos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RGB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CMYK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mantendo o valor de cinza.</a:t>
            </a:r>
            <a:endParaRPr sz="1088"/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(Modos de Cores e Cores Especiais)</a:t>
            </a:r>
            <a:endParaRPr sz="1088"/>
          </a:p>
        </p:txBody>
      </p:sp>
      <p:sp>
        <p:nvSpPr>
          <p:cNvPr id="209" name="Google Shape;209;p19"/>
          <p:cNvSpPr/>
          <p:nvPr/>
        </p:nvSpPr>
        <p:spPr>
          <a:xfrm>
            <a:off x="1040466" y="1770254"/>
            <a:ext cx="7063200" cy="3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Cores Especiais e de Escala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Cores Especiais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Tinta pré-misturada usada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além ou no lugar das tintas de escala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Ideal quando poucas cores são necessárias ou quando a cor deve ser precisa (ex: logotipo de empresa).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Cada cor especial adiciona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plate de impressão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aumenta custo.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melhores resultados, use cores de bibliotecas compatíveis com a impressora comercial.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Pode ser usada junto de verniz para destacar áreas do trabalho.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Cores de Escala (CMYK)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Impressa usando a combinação das quatro tintas padrão (C, M, Y, K).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Ideal para trabalhos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muitas cores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fotos.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Pode ser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global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(atualiza todos os objetos com a mesma cor)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global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(não atualiza automaticamente).</a:t>
            </a:r>
            <a:endParaRPr sz="1088"/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Seletor de Cores e Painel Cor</a:t>
            </a:r>
            <a:endParaRPr sz="1088"/>
          </a:p>
        </p:txBody>
      </p:sp>
      <p:sp>
        <p:nvSpPr>
          <p:cNvPr id="215" name="Google Shape;215;p20"/>
          <p:cNvSpPr/>
          <p:nvPr/>
        </p:nvSpPr>
        <p:spPr>
          <a:xfrm>
            <a:off x="465604" y="1434033"/>
            <a:ext cx="8152200" cy="28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Seletor de Cores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Seletor de cores é a ferramenta que permite escolher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 de preenchimento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traçado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um objeto.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acessar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duas vezes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caixa de seleção de cor (preenchimento ou traçado)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Cor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selecionar cores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escolher cores de várias formas: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Espectro de cores: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ou arraste dentro do espectro.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Controle deslizante de cores: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arraste ou clique no marcador.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Valores numéricos: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insira valores exatos de HSB, RGB ou CMYK.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Amostras: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uma amostra pré-definida.</a:t>
            </a:r>
            <a:endParaRPr sz="1088"/>
          </a:p>
        </p:txBody>
      </p:sp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Seletor de Cores e Painel Cor</a:t>
            </a:r>
            <a:endParaRPr sz="1088"/>
          </a:p>
        </p:txBody>
      </p:sp>
      <p:sp>
        <p:nvSpPr>
          <p:cNvPr id="221" name="Google Shape;221;p21"/>
          <p:cNvSpPr/>
          <p:nvPr/>
        </p:nvSpPr>
        <p:spPr>
          <a:xfrm>
            <a:off x="1479177" y="1203201"/>
            <a:ext cx="6185700" cy="3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Alterar o espectro de cores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Seletor de cores, clique em uma letra para mudar a visualização: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Matiz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Saturação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Brilho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Vermelho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Verde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Azul</a:t>
            </a:r>
            <a:endParaRPr sz="1088"/>
          </a:p>
          <a:p>
            <a:pPr indent="0" lvl="1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Cores seguras para a Web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Ative a opção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Somente cores da Web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usar cores que aparecem corretamente em todos os navegadores.</a:t>
            </a:r>
            <a:endParaRPr sz="1088"/>
          </a:p>
          <a:p>
            <a:pPr indent="0" lvl="1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Amostras no lugar do espectro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Amostras de cor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trocar a visualização.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voltar ao espectro,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de cores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Painel Cor</a:t>
            </a:r>
            <a:endParaRPr sz="1088"/>
          </a:p>
        </p:txBody>
      </p:sp>
      <p:sp>
        <p:nvSpPr>
          <p:cNvPr id="227" name="Google Shape;227;p22"/>
          <p:cNvSpPr/>
          <p:nvPr/>
        </p:nvSpPr>
        <p:spPr>
          <a:xfrm>
            <a:off x="327314" y="1751494"/>
            <a:ext cx="8489400" cy="26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painel Cor (menu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 &gt; Cor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permite aplicar, editar e misturar cores em objetos. Ele exibe cores de diferentes modos, mostrando por padrão apenas as opções mais usadas.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Alterar modelo de cores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menu do painel Cor, você pode escolher: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Tons de Cinza</a:t>
            </a:r>
            <a:endParaRPr sz="1088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RGB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HSB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CMYK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RGB seguro para Web</a:t>
            </a:r>
            <a:endParaRPr sz="1088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Illustrator grava o último modelo usado para abrir novamente no mesmo modo.</a:t>
            </a:r>
            <a:endParaRPr sz="1088"/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2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Painel Cor</a:t>
            </a:r>
            <a:endParaRPr sz="1088"/>
          </a:p>
        </p:txBody>
      </p:sp>
      <p:sp>
        <p:nvSpPr>
          <p:cNvPr id="233" name="Google Shape;233;p23"/>
          <p:cNvSpPr/>
          <p:nvPr/>
        </p:nvSpPr>
        <p:spPr>
          <a:xfrm>
            <a:off x="828676" y="1664866"/>
            <a:ext cx="7486500" cy="23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Selecionar cores no painel Cor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modo de cores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desejado no menu do painel.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uma das opções: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ou clique nos controles deslizantes.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o seletor com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pressionado para manter tons semelhantes (exceto HSB).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Insira valores diretamente nas caixas de texto.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barra do espectro de cores na parte inferior:</a:t>
            </a:r>
            <a:endParaRPr sz="1088"/>
          </a:p>
          <a:p>
            <a:pPr indent="-177800" lvl="2" marL="889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Nenhum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sem cor</a:t>
            </a:r>
            <a:endParaRPr sz="1088"/>
          </a:p>
          <a:p>
            <a:pPr indent="-177800" lvl="2" marL="889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canto superior direito</a:t>
            </a:r>
            <a:endParaRPr sz="1088"/>
          </a:p>
          <a:p>
            <a:pPr indent="-177800" lvl="2" marL="889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Preto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canto inferior direito</a:t>
            </a:r>
            <a:endParaRPr sz="1088"/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981B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/>
          <p:nvPr/>
        </p:nvSpPr>
        <p:spPr>
          <a:xfrm>
            <a:off x="5118920" y="748952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48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273921" y="1650523"/>
            <a:ext cx="4845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22"/>
              <a:buFont typeface="Arial"/>
              <a:buNone/>
            </a:pPr>
            <a:r>
              <a:rPr b="1" lang="pt-BR" sz="342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ADOBE ILLUSTRATOR</a:t>
            </a:r>
            <a:endParaRPr sz="1088"/>
          </a:p>
        </p:txBody>
      </p:sp>
      <p:sp>
        <p:nvSpPr>
          <p:cNvPr id="240" name="Google Shape;240;p24"/>
          <p:cNvSpPr txBox="1"/>
          <p:nvPr/>
        </p:nvSpPr>
        <p:spPr>
          <a:xfrm>
            <a:off x="997144" y="2695574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088"/>
          </a:p>
        </p:txBody>
      </p:sp>
      <p:pic>
        <p:nvPicPr>
          <p:cNvPr descr="Illustrator Icon Vector Art, Icons, and Graphics for Free ..." id="241" name="Google Shape;241;p24"/>
          <p:cNvPicPr preferRelativeResize="0"/>
          <p:nvPr/>
        </p:nvPicPr>
        <p:blipFill rotWithShape="1">
          <a:blip r:embed="rId3">
            <a:alphaModFix/>
          </a:blip>
          <a:srcRect b="8320" l="27842" r="27979" t="8826"/>
          <a:stretch/>
        </p:blipFill>
        <p:spPr>
          <a:xfrm>
            <a:off x="5842297" y="1552705"/>
            <a:ext cx="2348629" cy="260958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4"/>
          <p:cNvSpPr txBox="1"/>
          <p:nvPr/>
        </p:nvSpPr>
        <p:spPr>
          <a:xfrm>
            <a:off x="997144" y="3120938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IMPRESSA</a:t>
            </a:r>
            <a:endParaRPr sz="1088"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2025-04-18T19:16:35Z</dcterms:created>
  <dc:creator>leo Souza</dc:creator>
</cp:coreProperties>
</file>