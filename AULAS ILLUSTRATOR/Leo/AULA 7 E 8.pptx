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7" r:id="rId4"/>
    <p:sldId id="269" r:id="rId5"/>
    <p:sldId id="270" r:id="rId6"/>
    <p:sldId id="260" r:id="rId7"/>
    <p:sldId id="261" r:id="rId8"/>
    <p:sldId id="262" r:id="rId9"/>
    <p:sldId id="263" r:id="rId10"/>
    <p:sldId id="264" r:id="rId11"/>
    <p:sldId id="271" r:id="rId12"/>
    <p:sldId id="272" r:id="rId13"/>
    <p:sldId id="266" r:id="rId14"/>
    <p:sldId id="273" r:id="rId15"/>
    <p:sldId id="274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981B"/>
    <a:srgbClr val="3B59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651" autoAdjust="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74D28-B423-490C-A218-EF6BCC2A1801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291C2-2575-4286-BA16-20B0243458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4238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291C2-2575-4286-BA16-20B02434581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464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291C2-2575-4286-BA16-20B02434581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007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291C2-2575-4286-BA16-20B02434581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482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291C2-2575-4286-BA16-20B02434581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5376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798BE-A311-0B6C-6C77-F05637A8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CA2DA7F-D589-3B7B-F086-A47366FA1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30349B7-0E54-3140-7A13-3FA5747AE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9BBDAD-0713-F637-5796-AB1650380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291C2-2575-4286-BA16-20B02434581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603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EC563-0281-8320-AFEE-0A5FCCCC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7E3A19-CC4E-0E05-D034-17376CAA8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5B0223-BD84-F7C5-B111-26EF615F5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FB650A-B901-F260-8B79-C01427EEBB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291C2-2575-4286-BA16-20B02434581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1963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291C2-2575-4286-BA16-20B02434581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052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35C56-4D76-BBBB-2460-FCA30AE89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6E53A7-7253-F1BB-ACC7-A289EFD78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265F250-2C12-FF44-1594-770AB09F0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8580D9-FFBE-75A6-4B95-DBD6C6DC9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291C2-2575-4286-BA16-20B02434581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194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CFA2-35E5-AE79-E4E3-59739BED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0C30B9-6F62-6922-BDCB-06B600BB6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3FC6A7-5D77-916A-6324-C9CA9AD54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D0EE23-BD1A-7AAB-6BD6-71E9312D4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291C2-2575-4286-BA16-20B02434581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35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123F8-C48D-84E6-AEE0-3692B17FC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DC5216-E34D-A2F5-B839-2A11D7A68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822BD3-7523-9928-CD3D-4B8C0208C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F90CFB-B182-3689-6219-3342AB393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FABE8B-031F-CD30-D02B-2902097C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901789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D9BF0-ED06-068A-3474-DDBAAE971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51EA6D-0C2E-5590-5E89-8BAD0C233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284115-1A0F-3F9C-CDC7-83F69978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38D60D-5BCF-28F4-505B-645B824F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DA80DE-CFE3-038B-6877-4103F4E51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331848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DA9DB-C1A6-F646-3659-014C01370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684E86-591C-FA4D-A117-F28804AA2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82D601-82C2-95D6-1435-6327D2A5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2EFB0C-9236-DE7E-9C04-D4C4DB01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A55B88-C335-C280-03B3-2184C161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062470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89F3C-2807-C6F6-CB59-A8C0006A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FFF329-23A3-F069-D4B0-90D927C31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ABE840-3A54-478B-6A38-3700E59D3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1E93FC-5E46-A8C1-2A41-D16003B4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965B82-53FC-E9E4-D394-7F89D0F2C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D72973-3C80-130C-E6B1-5F21D191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651337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D746C-090E-0704-F9D6-343E4FC8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D087BE-D033-8F1B-BF9D-6796CB8F8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DFA491-1AFC-DEC9-CCE2-1C3BB031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0685EC0-AFE4-DB98-4E94-6379F270C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036D1D-C318-5B15-B97C-A1AA540742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EC22A7-7E4A-7ADD-D0A2-50C2845B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F33BA9E-A6DF-5D19-ECF5-1AB5E70C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AAC7F1D-E191-3208-A19C-8E6C01D0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750882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64ABD0-E3B7-D01D-0CA7-9D4645BF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90AEC54-7974-D31D-18D8-BA8D483F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07E680-9998-884C-75F0-1CA35BCC4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88F66A-3231-4404-D099-62C1EFC4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39077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04DDBB-487D-C0F2-570C-69B71ABC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C9B15B1-B162-6C10-1966-96E2155D3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3306A5-2C92-E8B6-E16F-DB6A1C2F1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626658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81489-F080-E89F-26F7-A96B77FDD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205FA6-8E92-2E8C-D6F4-33614E374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29C59A-2055-D874-7A56-E6F00CDDC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86F109-4B25-DA9A-650F-8C77A333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B055BE-51FB-CDB2-7776-74C5389C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6D30D1-15D4-A4A7-0FC0-487D3D8B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34699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6735C-1EDC-FC74-3271-752AC724E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CCAD42B-8BCC-32C4-70B1-EFCC50790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F6DE7F-39D1-8EB8-C659-3BAA7679D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A61279-89CD-84D6-ECB5-977B77E2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68967-CA15-70F5-56E9-163262260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ECFF49-C1F3-5BD1-8FD1-D7F15DA9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230293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5B16CD-E38C-7163-214C-54F22D9F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B58D75B-7F75-3BCD-0F51-045D9576B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343271-4037-F3BD-DA83-271ED5426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F115C-20C0-8202-F0D1-18A3F91F8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8E4E6B-33AB-3AC4-CE30-802D3B9FE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603125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21576E-96AB-9698-3141-8EFCDEC949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3CB4BB-2C2E-F145-1893-781190944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683A75-1389-0E22-8F38-855AC6D1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28466-1440-CD8E-9B0B-92F4FE171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E43E72-4120-CC15-71C4-AE5BB48B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4082261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C50C4F-A5C8-26E8-09BF-1476B489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566F86-3ACC-4296-B13D-9C3532DF7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0DF53D-750F-D474-1B1B-9FA996379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5559C8-006F-468D-BFFD-87AB31543BAD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BD985-981B-FFD4-812A-773127A7F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9DEF1-74B6-4049-A138-78A6EF415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D8622-9FCE-4A78-86A6-6869465BA5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605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ezier.method.ac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9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EECFFF70-34CA-7AAE-0447-7462B19BBC4E}"/>
              </a:ext>
            </a:extLst>
          </p:cNvPr>
          <p:cNvSpPr/>
          <p:nvPr/>
        </p:nvSpPr>
        <p:spPr>
          <a:xfrm>
            <a:off x="6825226" y="898742"/>
            <a:ext cx="5060515" cy="506051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2D9007C-88A5-3C66-DAE6-489AB6E9552A}"/>
              </a:ext>
            </a:extLst>
          </p:cNvPr>
          <p:cNvSpPr txBox="1">
            <a:spLocks/>
          </p:cNvSpPr>
          <p:nvPr/>
        </p:nvSpPr>
        <p:spPr>
          <a:xfrm>
            <a:off x="365261" y="2501758"/>
            <a:ext cx="6459963" cy="73293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ADOBE ILLUSTRATOR</a:t>
            </a:r>
          </a:p>
        </p:txBody>
      </p:sp>
      <p:sp>
        <p:nvSpPr>
          <p:cNvPr id="6" name="Espaço Reservado para Texto 3">
            <a:extLst>
              <a:ext uri="{FF2B5EF4-FFF2-40B4-BE49-F238E27FC236}">
                <a16:creationId xmlns:a16="http://schemas.microsoft.com/office/drawing/2014/main" id="{E2EB528B-6EF5-7748-C73E-5474E80D74C2}"/>
              </a:ext>
            </a:extLst>
          </p:cNvPr>
          <p:cNvSpPr txBox="1">
            <a:spLocks/>
          </p:cNvSpPr>
          <p:nvPr/>
        </p:nvSpPr>
        <p:spPr>
          <a:xfrm>
            <a:off x="1383313" y="3234689"/>
            <a:ext cx="4659137" cy="5104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PROFESSOR: LEONILSON SOUZA</a:t>
            </a:r>
          </a:p>
        </p:txBody>
      </p:sp>
      <p:pic>
        <p:nvPicPr>
          <p:cNvPr id="2" name="Picture 2" descr="Illustrator Icon Vector Art, Icons, and Graphics for Free ...">
            <a:extLst>
              <a:ext uri="{FF2B5EF4-FFF2-40B4-BE49-F238E27FC236}">
                <a16:creationId xmlns:a16="http://schemas.microsoft.com/office/drawing/2014/main" id="{FC65A2B8-3792-ACCA-46BB-46FBB737B6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2" t="8826" r="27980" b="8320"/>
          <a:stretch>
            <a:fillRect/>
          </a:stretch>
        </p:blipFill>
        <p:spPr bwMode="auto">
          <a:xfrm>
            <a:off x="7789729" y="1863246"/>
            <a:ext cx="3131507" cy="313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4185392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D06489-A399-581C-1FDD-00FB326BC31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Ferramentas de Distorção no Illustrator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483C16-7081-4756-30B3-05B97F1C727A}"/>
              </a:ext>
            </a:extLst>
          </p:cNvPr>
          <p:cNvSpPr txBox="1"/>
          <p:nvPr/>
        </p:nvSpPr>
        <p:spPr>
          <a:xfrm>
            <a:off x="635695" y="1553599"/>
            <a:ext cx="108130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Nesta aula vamos aprender a usar um grupo de ferramentas especiais do Illustrator que servem para deformar, distorcer e criar efeitos divertidos em formas vetoriais.</a:t>
            </a:r>
          </a:p>
          <a:p>
            <a:pPr>
              <a:buNone/>
            </a:pPr>
            <a:r>
              <a:rPr lang="pt-BR" dirty="0"/>
              <a:t>Essas ferramentas estão </a:t>
            </a:r>
            <a:r>
              <a:rPr lang="pt-BR" b="1" dirty="0"/>
              <a:t>escondidas dentro do mesmo ícone</a:t>
            </a:r>
            <a:r>
              <a:rPr lang="pt-BR" dirty="0"/>
              <a:t>, mas cada uma tem uma função diferente.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989D49-2227-E1F3-EDEE-DC09B065CF0E}"/>
              </a:ext>
            </a:extLst>
          </p:cNvPr>
          <p:cNvSpPr txBox="1"/>
          <p:nvPr/>
        </p:nvSpPr>
        <p:spPr>
          <a:xfrm>
            <a:off x="635695" y="2611892"/>
            <a:ext cx="989869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Onde encontrar as ferramentas</a:t>
            </a:r>
          </a:p>
          <a:p>
            <a:pPr>
              <a:buNone/>
            </a:pPr>
            <a:r>
              <a:rPr lang="pt-BR" b="1" dirty="0"/>
              <a:t>Grupo </a:t>
            </a:r>
            <a:r>
              <a:rPr lang="pt-BR" b="1" dirty="0" err="1"/>
              <a:t>Warp</a:t>
            </a:r>
            <a:r>
              <a:rPr lang="pt-BR" b="1" dirty="0"/>
              <a:t> Tool (atalho </a:t>
            </a:r>
            <a:r>
              <a:rPr lang="pt-BR" b="1" dirty="0" err="1"/>
              <a:t>Shift+R</a:t>
            </a:r>
            <a:r>
              <a:rPr lang="pt-BR" b="1" dirty="0"/>
              <a:t>) — “mãozinha empurrando”</a:t>
            </a:r>
          </a:p>
          <a:p>
            <a:pPr>
              <a:buNone/>
            </a:pPr>
            <a:r>
              <a:rPr lang="pt-BR" dirty="0"/>
              <a:t>Clique e </a:t>
            </a:r>
            <a:r>
              <a:rPr lang="pt-BR" b="1" dirty="0"/>
              <a:t>segure</a:t>
            </a:r>
            <a:r>
              <a:rPr lang="pt-BR" dirty="0"/>
              <a:t> no ícone para abrir o menu oculto. </a:t>
            </a:r>
          </a:p>
          <a:p>
            <a:pPr>
              <a:buNone/>
            </a:pPr>
            <a:r>
              <a:rPr lang="pt-BR" dirty="0"/>
              <a:t>Dentro dele estão: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</a:t>
            </a:r>
            <a:r>
              <a:rPr lang="pt-BR" b="1" dirty="0" err="1"/>
              <a:t>Warp</a:t>
            </a:r>
            <a:r>
              <a:rPr lang="pt-BR" b="1" dirty="0"/>
              <a:t> Tool</a:t>
            </a:r>
            <a:r>
              <a:rPr lang="pt-BR" dirty="0"/>
              <a:t> — Distorcer/empurrar o contorno.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</a:t>
            </a:r>
            <a:r>
              <a:rPr lang="pt-BR" b="1" dirty="0" err="1"/>
              <a:t>Twirl</a:t>
            </a:r>
            <a:r>
              <a:rPr lang="pt-BR" b="1" dirty="0"/>
              <a:t> Tool</a:t>
            </a:r>
            <a:r>
              <a:rPr lang="pt-BR" dirty="0"/>
              <a:t> — Girar/</a:t>
            </a:r>
            <a:r>
              <a:rPr lang="pt-BR" dirty="0" err="1"/>
              <a:t>Espiralizar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</a:t>
            </a:r>
            <a:r>
              <a:rPr lang="pt-BR" b="1" dirty="0" err="1"/>
              <a:t>Pucker</a:t>
            </a:r>
            <a:r>
              <a:rPr lang="pt-BR" b="1" dirty="0"/>
              <a:t> Tool</a:t>
            </a:r>
            <a:r>
              <a:rPr lang="pt-BR" dirty="0"/>
              <a:t> — Encolher/“puxar” para dentro.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</a:t>
            </a:r>
            <a:r>
              <a:rPr lang="pt-BR" b="1" dirty="0" err="1"/>
              <a:t>Bloat</a:t>
            </a:r>
            <a:r>
              <a:rPr lang="pt-BR" b="1" dirty="0"/>
              <a:t> Tool</a:t>
            </a:r>
            <a:r>
              <a:rPr lang="pt-BR" dirty="0"/>
              <a:t> — Inchar/“empurrar” para fora.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</a:t>
            </a:r>
            <a:r>
              <a:rPr lang="pt-BR" b="1" dirty="0" err="1"/>
              <a:t>Scallop</a:t>
            </a:r>
            <a:r>
              <a:rPr lang="pt-BR" b="1" dirty="0"/>
              <a:t> Tool</a:t>
            </a:r>
            <a:r>
              <a:rPr lang="pt-BR" dirty="0"/>
              <a:t> — Criar “ondinhas”/franjas no contorno.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</a:t>
            </a:r>
            <a:r>
              <a:rPr lang="pt-BR" b="1" dirty="0" err="1"/>
              <a:t>Crystallize</a:t>
            </a:r>
            <a:r>
              <a:rPr lang="pt-BR" b="1" dirty="0"/>
              <a:t> Tool</a:t>
            </a:r>
            <a:r>
              <a:rPr lang="pt-BR" dirty="0"/>
              <a:t> — Criar “pontas”/efeito espinhos.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</a:t>
            </a:r>
            <a:r>
              <a:rPr lang="pt-BR" b="1" dirty="0" err="1"/>
              <a:t>Wrinkle</a:t>
            </a:r>
            <a:r>
              <a:rPr lang="pt-BR" b="1" dirty="0"/>
              <a:t> Tool</a:t>
            </a:r>
            <a:r>
              <a:rPr lang="pt-BR" dirty="0"/>
              <a:t> — Amassar/enrugar a borda.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Dica: </a:t>
            </a:r>
            <a:r>
              <a:rPr lang="pt-BR" b="1" dirty="0" err="1"/>
              <a:t>Shift+R</a:t>
            </a:r>
            <a:r>
              <a:rPr lang="pt-BR" dirty="0"/>
              <a:t> ativa a </a:t>
            </a:r>
            <a:r>
              <a:rPr lang="pt-BR" b="1" dirty="0" err="1"/>
              <a:t>Warp</a:t>
            </a:r>
            <a:r>
              <a:rPr lang="pt-BR" b="1" dirty="0"/>
              <a:t> Tool</a:t>
            </a:r>
            <a:r>
              <a:rPr lang="pt-BR" dirty="0"/>
              <a:t>. </a:t>
            </a:r>
          </a:p>
          <a:p>
            <a:pPr>
              <a:buNone/>
            </a:pPr>
            <a:r>
              <a:rPr lang="pt-BR" dirty="0"/>
              <a:t>Depois, </a:t>
            </a:r>
            <a:r>
              <a:rPr lang="pt-BR" b="1" dirty="0"/>
              <a:t>clique e segure</a:t>
            </a:r>
            <a:r>
              <a:rPr lang="pt-BR" dirty="0"/>
              <a:t> no ícone para acessar as demais.</a:t>
            </a:r>
          </a:p>
        </p:txBody>
      </p:sp>
    </p:spTree>
    <p:extLst>
      <p:ext uri="{BB962C8B-B14F-4D97-AF65-F5344CB8AC3E}">
        <p14:creationId xmlns:p14="http://schemas.microsoft.com/office/powerpoint/2010/main" val="1646559132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F757E-62DA-D830-4F19-160BDABD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07803EA-ED04-09AD-0E3C-50E318D6A150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Width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Tool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C9C833-BE9E-92C3-49DD-B9ACCC8786AE}"/>
              </a:ext>
            </a:extLst>
          </p:cNvPr>
          <p:cNvSpPr txBox="1"/>
          <p:nvPr/>
        </p:nvSpPr>
        <p:spPr>
          <a:xfrm>
            <a:off x="610643" y="1635737"/>
            <a:ext cx="69425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Atalho:</a:t>
            </a:r>
            <a:r>
              <a:rPr lang="pt-BR" dirty="0"/>
              <a:t> </a:t>
            </a:r>
            <a:r>
              <a:rPr lang="pt-BR" b="1" dirty="0"/>
              <a:t>Shift + W</a:t>
            </a:r>
            <a:br>
              <a:rPr lang="pt-BR" dirty="0"/>
            </a:br>
            <a:r>
              <a:rPr lang="pt-BR" b="1" dirty="0"/>
              <a:t>Localização:</a:t>
            </a:r>
            <a:r>
              <a:rPr lang="pt-BR" dirty="0"/>
              <a:t> Barra de ferramentas principal (lado esquerdo da tela).</a:t>
            </a:r>
            <a:br>
              <a:rPr lang="pt-BR" dirty="0"/>
            </a:br>
            <a:endParaRPr lang="pt-BR" dirty="0"/>
          </a:p>
          <a:p>
            <a:r>
              <a:rPr lang="pt-BR" dirty="0"/>
              <a:t>Diferente das ferramentas de distorção, ela </a:t>
            </a:r>
            <a:r>
              <a:rPr lang="pt-BR" b="1" dirty="0"/>
              <a:t>não fica escondida no grupo </a:t>
            </a:r>
            <a:r>
              <a:rPr lang="pt-BR" b="1" dirty="0" err="1"/>
              <a:t>Warp</a:t>
            </a:r>
            <a:r>
              <a:rPr lang="pt-BR" b="1" dirty="0"/>
              <a:t> Tool</a:t>
            </a:r>
            <a:r>
              <a:rPr lang="pt-BR" dirty="0"/>
              <a:t> — está separada, com o ícone de uma linha com setas apontando para fora.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D5F0DDB-FD07-9A64-867D-D40FD0E7DA01}"/>
              </a:ext>
            </a:extLst>
          </p:cNvPr>
          <p:cNvSpPr txBox="1"/>
          <p:nvPr/>
        </p:nvSpPr>
        <p:spPr>
          <a:xfrm>
            <a:off x="610643" y="3744228"/>
            <a:ext cx="79822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Para que serve?</a:t>
            </a:r>
          </a:p>
          <a:p>
            <a:pPr>
              <a:buNone/>
            </a:pPr>
            <a:r>
              <a:rPr lang="pt-BR" dirty="0"/>
              <a:t>A </a:t>
            </a:r>
            <a:r>
              <a:rPr lang="pt-BR" b="1" dirty="0" err="1"/>
              <a:t>Width</a:t>
            </a:r>
            <a:r>
              <a:rPr lang="pt-BR" b="1" dirty="0"/>
              <a:t> Tool</a:t>
            </a:r>
            <a:r>
              <a:rPr lang="pt-BR" dirty="0"/>
              <a:t> permite “</a:t>
            </a:r>
            <a:r>
              <a:rPr lang="pt-BR" b="1" dirty="0"/>
              <a:t>engordar” partes específicas de um traço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Em vez de todo o contorno ter a mesma espessura, você pode criar </a:t>
            </a:r>
            <a:r>
              <a:rPr lang="pt-BR" b="1" dirty="0"/>
              <a:t>variações de largura</a:t>
            </a:r>
            <a:r>
              <a:rPr lang="pt-BR" dirty="0"/>
              <a:t> ao longo do caminho.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Isso dá mais </a:t>
            </a:r>
            <a:r>
              <a:rPr lang="pt-BR" b="1" dirty="0"/>
              <a:t>expressão e estilo</a:t>
            </a:r>
            <a:r>
              <a:rPr lang="pt-BR" dirty="0"/>
              <a:t> ao desenho.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5D5869E-B0D9-A6DE-8553-2F673CAFD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153" y="1432258"/>
            <a:ext cx="2351203" cy="243828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7E4FDBA-8784-F78E-10A6-EAA751B34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38" t="12785" r="9836" b="23851"/>
          <a:stretch>
            <a:fillRect/>
          </a:stretch>
        </p:blipFill>
        <p:spPr>
          <a:xfrm>
            <a:off x="9230152" y="4037672"/>
            <a:ext cx="2351203" cy="226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25735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900E7-F091-FAE9-6704-7169A11C9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8806069-53B6-AA36-AFBE-FB08F96C7CAE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Observação Importante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120BB4-7D8F-F856-7F8E-C71A610EE69F}"/>
              </a:ext>
            </a:extLst>
          </p:cNvPr>
          <p:cNvSpPr txBox="1"/>
          <p:nvPr/>
        </p:nvSpPr>
        <p:spPr>
          <a:xfrm>
            <a:off x="510435" y="2668414"/>
            <a:ext cx="11063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</a:t>
            </a:r>
            <a:r>
              <a:rPr lang="pt-BR" b="1" dirty="0"/>
              <a:t>passo a passo de uso</a:t>
            </a:r>
            <a:r>
              <a:rPr lang="pt-BR" dirty="0"/>
              <a:t> das ferramentas de distorção no Illustrator CS6 é </a:t>
            </a:r>
            <a:r>
              <a:rPr lang="pt-BR" b="1" dirty="0"/>
              <a:t>sempre muito parecido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Por isso, </a:t>
            </a:r>
            <a:r>
              <a:rPr lang="pt-BR" b="1" dirty="0"/>
              <a:t>não será repetido em todos os slides</a:t>
            </a:r>
            <a:r>
              <a:rPr lang="pt-BR" dirty="0"/>
              <a:t>.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B0DD4D2-5EAE-6D85-FB0A-EA06A2E9D2CE}"/>
              </a:ext>
            </a:extLst>
          </p:cNvPr>
          <p:cNvSpPr txBox="1"/>
          <p:nvPr/>
        </p:nvSpPr>
        <p:spPr>
          <a:xfrm>
            <a:off x="510435" y="3429000"/>
            <a:ext cx="113517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Passo a Passo Base (para todas as ferramentas de distorção)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Selecione</a:t>
            </a:r>
            <a:r>
              <a:rPr lang="pt-BR" dirty="0"/>
              <a:t> um objeto com contorno (linha ou forma).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Se não tiver, desenhe um com a </a:t>
            </a:r>
            <a:r>
              <a:rPr lang="pt-BR" b="1" dirty="0"/>
              <a:t>Pen Tool (P)</a:t>
            </a:r>
            <a:r>
              <a:rPr lang="pt-BR" dirty="0"/>
              <a:t> ou a </a:t>
            </a:r>
            <a:r>
              <a:rPr lang="pt-BR" b="1" dirty="0" err="1"/>
              <a:t>Line</a:t>
            </a:r>
            <a:r>
              <a:rPr lang="pt-BR" b="1" dirty="0"/>
              <a:t> Tool (\) ou Utilize Formas Geométricas.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/>
              <a:t>Ative a ferramenta desejada</a:t>
            </a:r>
            <a:r>
              <a:rPr lang="pt-BR" dirty="0"/>
              <a:t> (</a:t>
            </a:r>
            <a:r>
              <a:rPr lang="pt-BR" dirty="0" err="1"/>
              <a:t>Warp</a:t>
            </a:r>
            <a:r>
              <a:rPr lang="pt-BR" dirty="0"/>
              <a:t>, </a:t>
            </a:r>
            <a:r>
              <a:rPr lang="pt-BR" dirty="0" err="1"/>
              <a:t>Twirl</a:t>
            </a:r>
            <a:r>
              <a:rPr lang="pt-BR" dirty="0"/>
              <a:t>, </a:t>
            </a:r>
            <a:r>
              <a:rPr lang="pt-BR" dirty="0" err="1"/>
              <a:t>Pucker</a:t>
            </a:r>
            <a:r>
              <a:rPr lang="pt-BR" dirty="0"/>
              <a:t>, </a:t>
            </a:r>
            <a:r>
              <a:rPr lang="pt-BR" dirty="0" err="1"/>
              <a:t>Bloat</a:t>
            </a:r>
            <a:r>
              <a:rPr lang="pt-BR" dirty="0"/>
              <a:t>, </a:t>
            </a:r>
            <a:r>
              <a:rPr lang="pt-BR" dirty="0" err="1"/>
              <a:t>Scallop</a:t>
            </a:r>
            <a:r>
              <a:rPr lang="pt-BR" dirty="0"/>
              <a:t>, </a:t>
            </a:r>
            <a:r>
              <a:rPr lang="pt-BR" dirty="0" err="1"/>
              <a:t>Crystallize</a:t>
            </a:r>
            <a:r>
              <a:rPr lang="pt-BR" dirty="0"/>
              <a:t>, </a:t>
            </a:r>
            <a:r>
              <a:rPr lang="pt-BR" dirty="0" err="1"/>
              <a:t>Wrinkle</a:t>
            </a:r>
            <a:r>
              <a:rPr lang="pt-BR" dirty="0"/>
              <a:t> etc.).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Cada uma delas tem um efeito diferente, mas o modo de usar é igual.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Clique nos pontos do seu objeto e arraste </a:t>
            </a:r>
            <a:r>
              <a:rPr lang="pt-BR" dirty="0"/>
              <a:t>para aplicar a distorção.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O efeito muda conforme a ferramenta escolhida.</a:t>
            </a:r>
          </a:p>
        </p:txBody>
      </p:sp>
    </p:spTree>
    <p:extLst>
      <p:ext uri="{BB962C8B-B14F-4D97-AF65-F5344CB8AC3E}">
        <p14:creationId xmlns:p14="http://schemas.microsoft.com/office/powerpoint/2010/main" val="397884160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94F01-502E-7FFD-3AC6-A8FDE2B0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ula 7 e 8">
            <a:hlinkClick r:id="" action="ppaction://media"/>
            <a:extLst>
              <a:ext uri="{FF2B5EF4-FFF2-40B4-BE49-F238E27FC236}">
                <a16:creationId xmlns:a16="http://schemas.microsoft.com/office/drawing/2014/main" id="{28EBE579-89A9-B285-AB2B-A8C7157507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390234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7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D06489-A399-581C-1FDD-00FB326BC31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Ferramenta de Manipulação de Caminhos (Warp Tool)</a:t>
            </a:r>
          </a:p>
        </p:txBody>
      </p:sp>
      <p:sp>
        <p:nvSpPr>
          <p:cNvPr id="5" name="Retângulo 4"/>
          <p:cNvSpPr/>
          <p:nvPr/>
        </p:nvSpPr>
        <p:spPr>
          <a:xfrm>
            <a:off x="299353" y="2079517"/>
            <a:ext cx="90563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Para que serve: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Deforma um objeto como se fosse massinha, puxando ou empurrando pontos do vetor.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Como usar:</a:t>
            </a:r>
          </a:p>
          <a:p>
            <a:pPr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Crie uma forma simples, como um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retângulo ou círculo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Clique no ícone da ferramenta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Warp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(Shift+R).</a:t>
            </a:r>
          </a:p>
          <a:p>
            <a:pPr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Passe o mouse e arraste sobre a borda da forma.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Onde arrastar, a forma vai se entortar.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 prático: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Fazer uma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nuvem fofinha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a partir de um círculo perfeito.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Distorcer um retângulo para parecer uma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bandeira tremulando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3FAA262-D0B5-189E-05AE-D40B32DE3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832" y="1441969"/>
            <a:ext cx="2202093" cy="234570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2502779-C704-EDE2-166C-D593A309BF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03" t="8758" r="13608" b="8305"/>
          <a:stretch>
            <a:fillRect/>
          </a:stretch>
        </p:blipFill>
        <p:spPr>
          <a:xfrm>
            <a:off x="9355697" y="3988093"/>
            <a:ext cx="2580361" cy="234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7461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D06489-A399-581C-1FDD-00FB326BC31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Ferramenta Twirl (Espiralizar)</a:t>
            </a:r>
          </a:p>
        </p:txBody>
      </p:sp>
      <p:sp>
        <p:nvSpPr>
          <p:cNvPr id="3" name="Retângulo 2"/>
          <p:cNvSpPr/>
          <p:nvPr/>
        </p:nvSpPr>
        <p:spPr>
          <a:xfrm>
            <a:off x="555864" y="2262555"/>
            <a:ext cx="824993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Para que serve: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Gira e torce o objeto em formato de espiral, como se fosse redemoinho.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Como usar:</a:t>
            </a:r>
          </a:p>
          <a:p>
            <a:pPr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Selecione uma forma (círculo, estrela, quadrado).</a:t>
            </a:r>
          </a:p>
          <a:p>
            <a:pPr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Ative a ferramenta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Twirl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Clique e segure sobre o objeto → ele começa a girar no centro.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Dica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Clique rapidamente para um efeito leve.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Segure mais tempo para criar uma espiral forte.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C873474-A45D-9C59-B4CA-B2E71C2E2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786" y="1511208"/>
            <a:ext cx="2216563" cy="232100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17A3853-2656-8FDB-C976-42AF8D7C5A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89" t="8584" r="14414" b="4508"/>
          <a:stretch>
            <a:fillRect/>
          </a:stretch>
        </p:blipFill>
        <p:spPr>
          <a:xfrm>
            <a:off x="8893687" y="3956717"/>
            <a:ext cx="2968461" cy="261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061116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D06489-A399-581C-1FDD-00FB326BC31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Ferramenta Pucker (Encolher)</a:t>
            </a:r>
          </a:p>
        </p:txBody>
      </p:sp>
      <p:sp>
        <p:nvSpPr>
          <p:cNvPr id="4" name="Retângulo 3"/>
          <p:cNvSpPr/>
          <p:nvPr/>
        </p:nvSpPr>
        <p:spPr>
          <a:xfrm>
            <a:off x="384314" y="2137327"/>
            <a:ext cx="901020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Para que serve:</a:t>
            </a:r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Puxa os pontos da forma para dentro, como se estivesse amassando.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Como usar:</a:t>
            </a:r>
          </a:p>
          <a:p>
            <a:pPr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Selecione sua forma.</a:t>
            </a:r>
          </a:p>
          <a:p>
            <a:pPr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Ative a ferramenta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Pucker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Clique e segure → os cantos e bordas vão ser puxados para o centro.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 prático: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Transformar um círculo em uma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estrela pontuda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Deixar um quadrado com um visual de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estrela ninja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Google Shape;62;p14">
            <a:extLst>
              <a:ext uri="{FF2B5EF4-FFF2-40B4-BE49-F238E27FC236}">
                <a16:creationId xmlns:a16="http://schemas.microsoft.com/office/drawing/2014/main" id="{5C997577-4A6B-D200-9397-7B71F048B6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5157" r="82350" b="54715"/>
          <a:stretch/>
        </p:blipFill>
        <p:spPr>
          <a:xfrm>
            <a:off x="9775712" y="1627039"/>
            <a:ext cx="2031974" cy="1853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3;p14">
            <a:extLst>
              <a:ext uri="{FF2B5EF4-FFF2-40B4-BE49-F238E27FC236}">
                <a16:creationId xmlns:a16="http://schemas.microsoft.com/office/drawing/2014/main" id="{E3702234-C328-4CDE-2B32-E5293A4E13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6799" t="13577" r="25378" b="9362"/>
          <a:stretch/>
        </p:blipFill>
        <p:spPr>
          <a:xfrm>
            <a:off x="9775711" y="3706988"/>
            <a:ext cx="2031974" cy="26195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7370188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D06489-A399-581C-1FDD-00FB326BC31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Ferramenta Bloat (Inchar)</a:t>
            </a:r>
          </a:p>
        </p:txBody>
      </p:sp>
      <p:sp>
        <p:nvSpPr>
          <p:cNvPr id="3" name="Retângulo 2"/>
          <p:cNvSpPr/>
          <p:nvPr/>
        </p:nvSpPr>
        <p:spPr>
          <a:xfrm>
            <a:off x="517913" y="2518445"/>
            <a:ext cx="88766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Para que serve:</a:t>
            </a:r>
            <a:br>
              <a:rPr lang="pt-BR" dirty="0"/>
            </a:br>
            <a:r>
              <a:rPr lang="pt-BR" dirty="0"/>
              <a:t>O contrário do Pucker. Faz a forma crescer e expandir para fora, criando bordas arredondadas.</a:t>
            </a:r>
          </a:p>
          <a:p>
            <a:r>
              <a:rPr lang="pt-BR" dirty="0"/>
              <a:t> </a:t>
            </a:r>
          </a:p>
          <a:p>
            <a:r>
              <a:rPr lang="pt-BR" b="1" dirty="0"/>
              <a:t>Como usar:</a:t>
            </a:r>
          </a:p>
          <a:p>
            <a:pPr>
              <a:buFont typeface="+mj-lt"/>
              <a:buAutoNum type="arabicPeriod"/>
            </a:pPr>
            <a:r>
              <a:rPr lang="pt-BR" dirty="0"/>
              <a:t>Selecione a forma.</a:t>
            </a:r>
          </a:p>
          <a:p>
            <a:pPr>
              <a:buFont typeface="+mj-lt"/>
              <a:buAutoNum type="arabicPeriod"/>
            </a:pPr>
            <a:r>
              <a:rPr lang="pt-BR" dirty="0"/>
              <a:t>Ative a ferramenta </a:t>
            </a:r>
            <a:r>
              <a:rPr lang="pt-BR" b="1" dirty="0"/>
              <a:t>Bloat</a:t>
            </a:r>
            <a:r>
              <a:rPr lang="pt-BR" dirty="0"/>
              <a:t>.</a:t>
            </a:r>
          </a:p>
          <a:p>
            <a:pPr>
              <a:buFont typeface="+mj-lt"/>
              <a:buAutoNum type="arabicPeriod"/>
            </a:pPr>
            <a:r>
              <a:rPr lang="pt-BR" dirty="0"/>
              <a:t>Clique e segure  OU  Arraste → os pontos vão expandir para fora.</a:t>
            </a:r>
          </a:p>
        </p:txBody>
      </p:sp>
      <p:pic>
        <p:nvPicPr>
          <p:cNvPr id="5" name="Google Shape;70;p15">
            <a:extLst>
              <a:ext uri="{FF2B5EF4-FFF2-40B4-BE49-F238E27FC236}">
                <a16:creationId xmlns:a16="http://schemas.microsoft.com/office/drawing/2014/main" id="{3C93E1A2-1127-ED0C-C807-4AAA676C68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5343" r="82201" b="54716"/>
          <a:stretch/>
        </p:blipFill>
        <p:spPr>
          <a:xfrm>
            <a:off x="9774715" y="1607890"/>
            <a:ext cx="2031974" cy="182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1;p15">
            <a:extLst>
              <a:ext uri="{FF2B5EF4-FFF2-40B4-BE49-F238E27FC236}">
                <a16:creationId xmlns:a16="http://schemas.microsoft.com/office/drawing/2014/main" id="{1E099C32-8DCE-530E-9248-8A6B48B77F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9612" t="13858" r="30510" b="28495"/>
          <a:stretch>
            <a:fillRect/>
          </a:stretch>
        </p:blipFill>
        <p:spPr>
          <a:xfrm>
            <a:off x="9774716" y="3726755"/>
            <a:ext cx="1988675" cy="22998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729791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D06489-A399-581C-1FDD-00FB326BC31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Ferramenta Scallop (Ondular)</a:t>
            </a:r>
          </a:p>
        </p:txBody>
      </p:sp>
      <p:sp>
        <p:nvSpPr>
          <p:cNvPr id="4" name="Retângulo 3"/>
          <p:cNvSpPr/>
          <p:nvPr/>
        </p:nvSpPr>
        <p:spPr>
          <a:xfrm>
            <a:off x="786377" y="2577045"/>
            <a:ext cx="73235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Para que serve:</a:t>
            </a:r>
            <a:br>
              <a:rPr lang="pt-BR" dirty="0"/>
            </a:br>
            <a:r>
              <a:rPr lang="pt-BR" dirty="0"/>
              <a:t>Cria bordas onduladas, como se estivesse beliscando a forma várias vezes.</a:t>
            </a:r>
          </a:p>
          <a:p>
            <a:r>
              <a:rPr lang="pt-BR" dirty="0"/>
              <a:t> </a:t>
            </a:r>
          </a:p>
          <a:p>
            <a:r>
              <a:rPr lang="pt-BR" dirty="0"/>
              <a:t>Como usar:</a:t>
            </a:r>
          </a:p>
          <a:p>
            <a:pPr>
              <a:buFont typeface="+mj-lt"/>
              <a:buAutoNum type="arabicPeriod"/>
            </a:pPr>
            <a:r>
              <a:rPr lang="pt-BR" dirty="0"/>
              <a:t>Selecione sua forma.</a:t>
            </a:r>
          </a:p>
          <a:p>
            <a:pPr>
              <a:buFont typeface="+mj-lt"/>
              <a:buAutoNum type="arabicPeriod"/>
            </a:pPr>
            <a:r>
              <a:rPr lang="pt-BR" dirty="0"/>
              <a:t>Ative a ferramenta </a:t>
            </a:r>
            <a:r>
              <a:rPr lang="pt-BR" b="1" dirty="0"/>
              <a:t>Scallop</a:t>
            </a:r>
            <a:r>
              <a:rPr lang="pt-BR" dirty="0"/>
              <a:t>.</a:t>
            </a:r>
          </a:p>
          <a:p>
            <a:pPr>
              <a:buFont typeface="+mj-lt"/>
              <a:buAutoNum type="arabicPeriod"/>
            </a:pPr>
            <a:r>
              <a:rPr lang="pt-BR" dirty="0"/>
              <a:t>Clique e arraste nas bordas → a forma vai ganhar pequenas ondas.</a:t>
            </a:r>
          </a:p>
        </p:txBody>
      </p:sp>
      <p:pic>
        <p:nvPicPr>
          <p:cNvPr id="5" name="Google Shape;78;p16">
            <a:extLst>
              <a:ext uri="{FF2B5EF4-FFF2-40B4-BE49-F238E27FC236}">
                <a16:creationId xmlns:a16="http://schemas.microsoft.com/office/drawing/2014/main" id="{84CF36A7-4B3C-F3B1-176B-5085C657AC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5717" r="82052" b="55274"/>
          <a:stretch/>
        </p:blipFill>
        <p:spPr>
          <a:xfrm>
            <a:off x="9362896" y="1732057"/>
            <a:ext cx="2060749" cy="174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9;p16">
            <a:extLst>
              <a:ext uri="{FF2B5EF4-FFF2-40B4-BE49-F238E27FC236}">
                <a16:creationId xmlns:a16="http://schemas.microsoft.com/office/drawing/2014/main" id="{4B27C9A2-B50D-ED16-75BD-073EF2772A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7494" t="13459" r="26832" b="17374"/>
          <a:stretch/>
        </p:blipFill>
        <p:spPr>
          <a:xfrm>
            <a:off x="9380897" y="3731207"/>
            <a:ext cx="2024726" cy="24529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1327371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3ACA5-3C64-573D-0BE8-E2C05421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0101A2-6459-691A-4897-EB9E57355532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Ferramenta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Crystallize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no Illustrator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DD03F3-1BFE-CB10-2AB2-4F98C20E416C}"/>
              </a:ext>
            </a:extLst>
          </p:cNvPr>
          <p:cNvSpPr txBox="1"/>
          <p:nvPr/>
        </p:nvSpPr>
        <p:spPr>
          <a:xfrm>
            <a:off x="435278" y="1951672"/>
            <a:ext cx="80323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</a:t>
            </a:r>
            <a:r>
              <a:rPr lang="pt-BR" b="1" dirty="0"/>
              <a:t>Ferramenta </a:t>
            </a:r>
            <a:r>
              <a:rPr lang="pt-BR" b="1" dirty="0" err="1"/>
              <a:t>Crystallize</a:t>
            </a:r>
            <a:r>
              <a:rPr lang="pt-BR" dirty="0"/>
              <a:t> é usada para criar </a:t>
            </a:r>
            <a:r>
              <a:rPr lang="pt-BR" b="1" dirty="0"/>
              <a:t>distorções no contorno</a:t>
            </a:r>
            <a:r>
              <a:rPr lang="pt-BR" dirty="0"/>
              <a:t> de objetos ou textos.</a:t>
            </a:r>
          </a:p>
          <a:p>
            <a:br>
              <a:rPr lang="pt-BR" dirty="0"/>
            </a:br>
            <a:r>
              <a:rPr lang="pt-BR" dirty="0"/>
              <a:t>Ela funciona como se você “puxasse” ou “espalhasse” partes da borda, criando efeitos de espinhos, ondas ou explosões.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1979034-FE9A-D8F0-4333-6A627BB3954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5279" y="3897059"/>
            <a:ext cx="791644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Clique na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Ferramenta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Crystallize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Coloque o mouse sobre a borda do objeto.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Clique e arraste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ver o efeito acontecer.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Dá para criar efeitos de pontas, espinhos ou bordas irregulares.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E640A93-BF5D-59AD-387F-481DE464C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808" y="1653807"/>
            <a:ext cx="2302913" cy="224325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788345D-282C-867C-FA66-9BF4C8255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084" y="4176982"/>
            <a:ext cx="2928359" cy="251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2805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D5E48-27E9-0C71-50DB-F6F3D9A2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26FE577-4072-EA82-3546-4FE9931853FE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Ferramenta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Wrinkle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no Illustrator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4063DF-B1E1-E54A-7470-608812C28216}"/>
              </a:ext>
            </a:extLst>
          </p:cNvPr>
          <p:cNvSpPr txBox="1"/>
          <p:nvPr/>
        </p:nvSpPr>
        <p:spPr>
          <a:xfrm>
            <a:off x="460332" y="1678859"/>
            <a:ext cx="86085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</a:t>
            </a:r>
            <a:r>
              <a:rPr lang="pt-BR" b="1" dirty="0"/>
              <a:t>Ferramenta </a:t>
            </a:r>
            <a:r>
              <a:rPr lang="pt-BR" b="1" dirty="0" err="1"/>
              <a:t>Wrinkle</a:t>
            </a:r>
            <a:r>
              <a:rPr lang="pt-BR" dirty="0"/>
              <a:t> serve para criar </a:t>
            </a:r>
            <a:r>
              <a:rPr lang="pt-BR" b="1" dirty="0"/>
              <a:t>ondulações</a:t>
            </a:r>
            <a:r>
              <a:rPr lang="pt-BR" dirty="0"/>
              <a:t> no contorno dos objetos.</a:t>
            </a:r>
            <a:br>
              <a:rPr lang="pt-BR" dirty="0"/>
            </a:br>
            <a:r>
              <a:rPr lang="pt-BR" dirty="0"/>
              <a:t>Ela funciona como se você amassasse ou enrugasse a borda de uma forma ou texto, deixando o resultado mais irregular e orgânico.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9644FC-BD4C-BBB1-B1AA-B62E6498E904}"/>
              </a:ext>
            </a:extLst>
          </p:cNvPr>
          <p:cNvSpPr txBox="1"/>
          <p:nvPr/>
        </p:nvSpPr>
        <p:spPr>
          <a:xfrm>
            <a:off x="460331" y="3177839"/>
            <a:ext cx="80458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pt-BR" b="1" dirty="0"/>
              <a:t> Selecione O objeto</a:t>
            </a:r>
            <a:r>
              <a:rPr lang="pt-BR" dirty="0"/>
              <a:t> que você deseja modificar </a:t>
            </a:r>
          </a:p>
          <a:p>
            <a:pPr>
              <a:buFont typeface="+mj-lt"/>
              <a:buAutoNum type="arabicPeriod"/>
            </a:pPr>
            <a:r>
              <a:rPr lang="pt-BR" dirty="0"/>
              <a:t>Clique na </a:t>
            </a:r>
            <a:r>
              <a:rPr lang="pt-BR" b="1" dirty="0"/>
              <a:t>Ferramenta </a:t>
            </a:r>
            <a:r>
              <a:rPr lang="pt-BR" b="1" dirty="0" err="1"/>
              <a:t>Wrinkle</a:t>
            </a:r>
            <a:r>
              <a:rPr lang="pt-BR" dirty="0"/>
              <a:t>.</a:t>
            </a:r>
          </a:p>
          <a:p>
            <a:pPr>
              <a:buFont typeface="+mj-lt"/>
              <a:buAutoNum type="arabicPeriod"/>
            </a:pPr>
            <a:r>
              <a:rPr lang="pt-BR" dirty="0"/>
              <a:t>Coloque o mouse sobre a borda do objeto.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Clique e arraste</a:t>
            </a:r>
            <a:r>
              <a:rPr lang="pt-BR" dirty="0"/>
              <a:t> para aplicar a distorção.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O contorno vai ficar com aspecto </a:t>
            </a:r>
            <a:r>
              <a:rPr lang="pt-BR" b="1" dirty="0"/>
              <a:t>ondulado/enrugado</a:t>
            </a:r>
            <a:r>
              <a:rPr lang="pt-BR" dirty="0"/>
              <a:t>.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400C2DF-EB97-0372-1E51-D427BFDE6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30" y="5179141"/>
            <a:ext cx="804588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Wrinkle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não age bem em todas as direções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Illustrator CS6.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Funciona melhor na parte de cima e de baixo das formas.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Nas laterais pode não funcionar ou o efeito ficar invisível.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precisar usar nas laterais, basta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girar a forma, aplicar e depois voltar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6E7954C3-31F6-176D-92C2-865BE5C71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2834" y="1388824"/>
            <a:ext cx="2258834" cy="228286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FA53CAC-5D37-458B-DDF9-8AA891E563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705" t="8533" r="12182" b="5965"/>
          <a:stretch>
            <a:fillRect/>
          </a:stretch>
        </p:blipFill>
        <p:spPr>
          <a:xfrm>
            <a:off x="9354412" y="3915908"/>
            <a:ext cx="2495678" cy="253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38819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D06489-A399-581C-1FDD-00FB326BC31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Atividade Final – O QUE VALE É A TENTATIVA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FD4F81-04A3-DA63-CFF4-D288A2253222}"/>
              </a:ext>
            </a:extLst>
          </p:cNvPr>
          <p:cNvSpPr txBox="1"/>
          <p:nvPr/>
        </p:nvSpPr>
        <p:spPr>
          <a:xfrm>
            <a:off x="297492" y="1674674"/>
            <a:ext cx="110260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Você vai </a:t>
            </a:r>
            <a:r>
              <a:rPr lang="pt-BR" b="1" dirty="0"/>
              <a:t>criar um personagem original</a:t>
            </a:r>
            <a:r>
              <a:rPr lang="pt-BR" dirty="0"/>
              <a:t>, do seu jeito (pode ser engraçado, simples ou criativo).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Use as ferramentas que já conhece: </a:t>
            </a:r>
            <a:r>
              <a:rPr lang="pt-BR" b="1" dirty="0"/>
              <a:t>formas básicas, traços e cores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Depois, aplique pelo menos </a:t>
            </a:r>
            <a:r>
              <a:rPr lang="pt-BR" b="1" dirty="0"/>
              <a:t>uma ou duas ferramentas de distorção</a:t>
            </a:r>
            <a:r>
              <a:rPr lang="pt-BR" dirty="0"/>
              <a:t> para dar um efeito divertido no personagem.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EC9656-5107-2077-0078-6CF6DD5442F4}"/>
              </a:ext>
            </a:extLst>
          </p:cNvPr>
          <p:cNvSpPr txBox="1"/>
          <p:nvPr/>
        </p:nvSpPr>
        <p:spPr>
          <a:xfrm>
            <a:off x="410226" y="2875003"/>
            <a:ext cx="104373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Passo a Passo (guia simples pros alunos):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Desenhe seu personagem</a:t>
            </a:r>
            <a:endParaRPr lang="pt-BR" dirty="0"/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Use </a:t>
            </a:r>
            <a:r>
              <a:rPr lang="pt-BR" b="1" dirty="0"/>
              <a:t>formas geométricas</a:t>
            </a:r>
            <a:r>
              <a:rPr lang="pt-BR" dirty="0"/>
              <a:t> (Elipse, Retângulo, Polígono) ou </a:t>
            </a:r>
            <a:r>
              <a:rPr lang="pt-BR" b="1" dirty="0"/>
              <a:t>traços com a Pen Tool</a:t>
            </a:r>
            <a:r>
              <a:rPr lang="pt-BR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Se Quiser Monte cabeça, corpo, braços, pernas etc. </a:t>
            </a:r>
            <a:r>
              <a:rPr lang="pt-BR" b="1" dirty="0"/>
              <a:t>(NÃO É EXIGIDO TODAS AS PARTES)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Escolha uma ferramenta de distorção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/>
              <a:t>Aplique a distorção</a:t>
            </a:r>
            <a:endParaRPr lang="pt-BR" dirty="0"/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Não precisa exagerar, basta </a:t>
            </a:r>
            <a:r>
              <a:rPr lang="pt-BR" b="1" dirty="0"/>
              <a:t>um ou dois efeitos bem usados</a:t>
            </a:r>
            <a:r>
              <a:rPr lang="pt-BR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O importante é mostrar que </a:t>
            </a:r>
            <a:r>
              <a:rPr lang="pt-BR" b="1" dirty="0"/>
              <a:t>soube usar a ferramenta</a:t>
            </a:r>
            <a:r>
              <a:rPr lang="pt-BR" dirty="0"/>
              <a:t> no personagem.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56AAB2-189C-7BD2-34C5-1F1CE56CE9D5}"/>
              </a:ext>
            </a:extLst>
          </p:cNvPr>
          <p:cNvSpPr txBox="1"/>
          <p:nvPr/>
        </p:nvSpPr>
        <p:spPr>
          <a:xfrm>
            <a:off x="510434" y="5380672"/>
            <a:ext cx="114018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Não é concurso de desenho → não precisa ficar perfeito.</a:t>
            </a:r>
            <a:br>
              <a:rPr lang="pt-BR" dirty="0"/>
            </a:br>
            <a:r>
              <a:rPr lang="pt-BR" dirty="0"/>
              <a:t>O objetivo é </a:t>
            </a:r>
            <a:r>
              <a:rPr lang="pt-BR" b="1" dirty="0"/>
              <a:t>explorar as ferramentas de distorção</a:t>
            </a:r>
            <a:r>
              <a:rPr lang="pt-BR" dirty="0"/>
              <a:t> e perceber como elas mudam a forma dos vetores.</a:t>
            </a:r>
          </a:p>
          <a:p>
            <a:r>
              <a:rPr lang="pt-BR" dirty="0"/>
              <a:t>Usar só ferramentas que </a:t>
            </a:r>
            <a:r>
              <a:rPr lang="pt-BR" b="1" dirty="0"/>
              <a:t>já aprendemos</a:t>
            </a:r>
            <a:r>
              <a:rPr lang="pt-BR" dirty="0"/>
              <a:t> até agora.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573677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B3CB5-86AF-7382-32A2-A58E002E5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46B1781-95EC-1209-3C0B-9E47B9DAFFF2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Introdução à Curva de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Bézier</a:t>
            </a:r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D7F5D03-7CFC-84CA-292A-6FEBE635D487}"/>
              </a:ext>
            </a:extLst>
          </p:cNvPr>
          <p:cNvSpPr txBox="1"/>
          <p:nvPr/>
        </p:nvSpPr>
        <p:spPr>
          <a:xfrm>
            <a:off x="415707" y="1652784"/>
            <a:ext cx="113605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é a Curva de </a:t>
            </a:r>
            <a:r>
              <a:rPr lang="pt-BR" b="1" dirty="0" err="1"/>
              <a:t>Bézier</a:t>
            </a:r>
            <a:r>
              <a:rPr lang="pt-BR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Não é uma ferramenta isolada no Illustrator, mas um </a:t>
            </a:r>
            <a:r>
              <a:rPr lang="pt-BR" b="1" dirty="0"/>
              <a:t>conceito fundamental usado na Pen Tool e em outras ferramentas de desenho vetorial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É uma </a:t>
            </a:r>
            <a:r>
              <a:rPr lang="pt-BR" b="1" dirty="0"/>
              <a:t>curva matemática</a:t>
            </a:r>
            <a:r>
              <a:rPr lang="pt-BR" dirty="0"/>
              <a:t> que permite criar linhas suaves e precisas, usando </a:t>
            </a:r>
            <a:r>
              <a:rPr lang="pt-BR" b="1" dirty="0"/>
              <a:t>pontos de controle</a:t>
            </a:r>
            <a:r>
              <a:rPr lang="pt-B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Pontos de ancoragem:</a:t>
            </a:r>
            <a:r>
              <a:rPr lang="pt-BR" dirty="0"/>
              <a:t> definem início e fim da curva.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Pontos de controle:</a:t>
            </a:r>
            <a:r>
              <a:rPr lang="pt-BR" dirty="0"/>
              <a:t> definem a direção e a curvatura da linha.</a:t>
            </a:r>
          </a:p>
          <a:p>
            <a:pPr>
              <a:buNone/>
            </a:pPr>
            <a:r>
              <a:rPr lang="pt-BR" b="1" dirty="0"/>
              <a:t> </a:t>
            </a:r>
          </a:p>
          <a:p>
            <a:pPr>
              <a:buNone/>
            </a:pPr>
            <a:r>
              <a:rPr lang="pt-BR" b="1" dirty="0"/>
              <a:t>Origem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Criada na década de 1960 pelo engenheiro francês </a:t>
            </a:r>
            <a:r>
              <a:rPr lang="pt-BR" b="1" dirty="0"/>
              <a:t>Pierre </a:t>
            </a:r>
            <a:r>
              <a:rPr lang="pt-BR" b="1" dirty="0" err="1"/>
              <a:t>Bézier</a:t>
            </a:r>
            <a:r>
              <a:rPr lang="pt-BR" dirty="0"/>
              <a:t>, que trabalhava na </a:t>
            </a:r>
            <a:r>
              <a:rPr lang="pt-BR" b="1" dirty="0"/>
              <a:t>indústria automotiva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Usada inicialmente para projetar </a:t>
            </a:r>
            <a:r>
              <a:rPr lang="pt-BR" b="1" dirty="0"/>
              <a:t>carrocerias de automóveis</a:t>
            </a:r>
            <a:r>
              <a:rPr lang="pt-BR" dirty="0"/>
              <a:t> com curvas perfeitas.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Hoje é usada em </a:t>
            </a:r>
            <a:r>
              <a:rPr lang="pt-BR" b="1" dirty="0"/>
              <a:t>design gráfico, ilustração, animação e modelagem 3D</a:t>
            </a:r>
            <a:r>
              <a:rPr lang="pt-BR" dirty="0"/>
              <a:t>.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Por que é importante?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Toda linha ou curva desenhada no Illustrator com a Pen Tool depende desse conceito.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Entender a </a:t>
            </a:r>
            <a:r>
              <a:rPr lang="pt-BR" dirty="0" err="1"/>
              <a:t>Bézier</a:t>
            </a:r>
            <a:r>
              <a:rPr lang="pt-BR" dirty="0"/>
              <a:t> ajuda a </a:t>
            </a:r>
            <a:r>
              <a:rPr lang="pt-BR" b="1" dirty="0"/>
              <a:t>controlar melhor o traço</a:t>
            </a:r>
            <a:r>
              <a:rPr lang="pt-BR" dirty="0"/>
              <a:t>, criar curvas mais suaves e precisas.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Serve como base para todas as </a:t>
            </a:r>
            <a:r>
              <a:rPr lang="pt-BR" b="1" dirty="0"/>
              <a:t>ferramentas de edição de traços e desenho</a:t>
            </a:r>
            <a:r>
              <a:rPr lang="pt-BR" dirty="0"/>
              <a:t> que você verá nas próximas aulas.</a:t>
            </a:r>
          </a:p>
        </p:txBody>
      </p:sp>
    </p:spTree>
    <p:extLst>
      <p:ext uri="{BB962C8B-B14F-4D97-AF65-F5344CB8AC3E}">
        <p14:creationId xmlns:p14="http://schemas.microsoft.com/office/powerpoint/2010/main" val="142092988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D0CA7-A874-D821-6F1D-2580EDD2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0BCF7EC-35CD-BE4F-17C0-08F0765CA6B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1265129"/>
          </a:xfrm>
          <a:prstGeom prst="rect">
            <a:avLst/>
          </a:prstGeom>
          <a:solidFill>
            <a:srgbClr val="FA981B"/>
          </a:solidFill>
          <a:ln>
            <a:solidFill>
              <a:srgbClr val="FA98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Bézier</a:t>
            </a:r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EA5075-939B-7C1A-DF05-98DB3645B570}"/>
              </a:ext>
            </a:extLst>
          </p:cNvPr>
          <p:cNvSpPr txBox="1"/>
          <p:nvPr/>
        </p:nvSpPr>
        <p:spPr>
          <a:xfrm>
            <a:off x="297493" y="1615205"/>
            <a:ext cx="1171496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Prática Online: </a:t>
            </a:r>
            <a:r>
              <a:rPr lang="pt-BR" b="1" dirty="0" err="1">
                <a:hlinkClick r:id="rId3"/>
              </a:rPr>
              <a:t>Bezier</a:t>
            </a:r>
            <a:r>
              <a:rPr lang="pt-BR" b="1" dirty="0">
                <a:hlinkClick r:id="rId3"/>
              </a:rPr>
              <a:t> </a:t>
            </a:r>
            <a:r>
              <a:rPr lang="pt-BR" b="1" dirty="0" err="1">
                <a:hlinkClick r:id="rId3"/>
              </a:rPr>
              <a:t>Method</a:t>
            </a:r>
            <a:endParaRPr lang="pt-BR" b="1" dirty="0"/>
          </a:p>
          <a:p>
            <a:pPr>
              <a:buNone/>
            </a:pPr>
            <a:r>
              <a:rPr lang="pt-BR" b="1" dirty="0"/>
              <a:t>O que 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Um site interativo para </a:t>
            </a:r>
            <a:r>
              <a:rPr lang="pt-BR" b="1" dirty="0"/>
              <a:t>praticar o desenho de curvas de </a:t>
            </a:r>
            <a:r>
              <a:rPr lang="pt-BR" b="1" dirty="0" err="1"/>
              <a:t>Bézier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Permite criar curvas precisas, ajustando pontos de ancoragem e pontos de controle.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Ideal para treinar </a:t>
            </a:r>
            <a:r>
              <a:rPr lang="pt-BR" b="1" dirty="0"/>
              <a:t>coordenação, noção de direção e suavidade</a:t>
            </a:r>
            <a:r>
              <a:rPr lang="pt-BR" dirty="0"/>
              <a:t> das curvas antes de aplicar no Illustrator.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Como usar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Clique nos pontos para criar os nós (pontos de ancoragem).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Arraste as alças</a:t>
            </a:r>
            <a:r>
              <a:rPr lang="pt-BR" dirty="0"/>
              <a:t> que aparecem para ajustar a curvatura da linha.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Complete cada nível tentando </a:t>
            </a:r>
            <a:r>
              <a:rPr lang="pt-BR" b="1" dirty="0"/>
              <a:t>replicar a curva mostrada no desafio</a:t>
            </a:r>
            <a:r>
              <a:rPr lang="pt-BR" dirty="0"/>
              <a:t>.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Dicas de teclas e atalhos no 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Setas do teclado:</a:t>
            </a:r>
            <a:r>
              <a:rPr lang="pt-BR" dirty="0"/>
              <a:t> mover o ponto selecionado com precisão.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Shift + arrastar:</a:t>
            </a:r>
            <a:r>
              <a:rPr lang="pt-BR" dirty="0"/>
              <a:t> restringe movimento a um eixo (horizontal ou vertical).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Delete / </a:t>
            </a:r>
            <a:r>
              <a:rPr lang="pt-BR" b="1" dirty="0" err="1"/>
              <a:t>Backspace</a:t>
            </a:r>
            <a:r>
              <a:rPr lang="pt-BR" b="1" dirty="0"/>
              <a:t>:</a:t>
            </a:r>
            <a:r>
              <a:rPr lang="pt-BR" dirty="0"/>
              <a:t> remove o ponto selecionado.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</a:t>
            </a:r>
            <a:r>
              <a:rPr lang="pt-BR" b="1" dirty="0" err="1"/>
              <a:t>Enter</a:t>
            </a:r>
            <a:r>
              <a:rPr lang="pt-BR" b="1" dirty="0"/>
              <a:t>:</a:t>
            </a:r>
            <a:r>
              <a:rPr lang="pt-BR" dirty="0"/>
              <a:t> confirma a posição do ponto.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Avance os níveis </a:t>
            </a:r>
            <a:r>
              <a:rPr lang="pt-BR" b="1" dirty="0"/>
              <a:t>tentando usar o mínimo de pontos possível</a:t>
            </a:r>
            <a:r>
              <a:rPr lang="pt-BR" dirty="0"/>
              <a:t> — isso ajuda a pensar como aplicar no Illustrator.</a:t>
            </a:r>
          </a:p>
        </p:txBody>
      </p:sp>
    </p:spTree>
    <p:extLst>
      <p:ext uri="{BB962C8B-B14F-4D97-AF65-F5344CB8AC3E}">
        <p14:creationId xmlns:p14="http://schemas.microsoft.com/office/powerpoint/2010/main" val="3235252403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1541</Words>
  <Application>Microsoft Office PowerPoint</Application>
  <PresentationFormat>Widescreen</PresentationFormat>
  <Paragraphs>158</Paragraphs>
  <Slides>15</Slides>
  <Notes>9</Notes>
  <HiddenSlides>0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leo Souza</dc:creator>
  <cp:lastModifiedBy>leo Souza</cp:lastModifiedBy>
  <cp:revision>22</cp:revision>
  <dcterms:created xsi:type="dcterms:W3CDTF">2025-04-18T19:16:35Z</dcterms:created>
  <dcterms:modified xsi:type="dcterms:W3CDTF">2025-09-05T22:54:08Z</dcterms:modified>
</cp:coreProperties>
</file>