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</p:sldIdLst>
  <p:sldSz cy="5715000" cx="9144000"/>
  <p:notesSz cx="6858000" cy="9144000"/>
  <p:embeddedFontLst>
    <p:embeddedFont>
      <p:font typeface="Play"/>
      <p:regular r:id="rId31"/>
      <p:bold r:id="rId3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3" roundtripDataSignature="AMtx7mjALK/qliHFJua9SL8bP71zC1P/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4F169FD-C481-430D-8E22-D2D5D7022F2C}">
  <a:tblStyle styleId="{74F169FD-C481-430D-8E22-D2D5D7022F2C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Play-regular.fntdata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customschemas.google.com/relationships/presentationmetadata" Target="metadata"/><Relationship Id="rId10" Type="http://schemas.openxmlformats.org/officeDocument/2006/relationships/slide" Target="slides/slide5.xml"/><Relationship Id="rId32" Type="http://schemas.openxmlformats.org/officeDocument/2006/relationships/font" Target="fonts/Play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2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3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4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5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6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7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8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9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10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11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12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13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14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15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6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1" name="Google Shape;181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7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9" name="Google Shape;189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8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6" name="Google Shape;196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9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3" name="Google Shape;203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0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1" name="Google Shape;211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1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9" name="Google Shape;219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22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7" name="Google Shape;227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35f9eccaf07_1_0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5" name="Google Shape;235;g35f9eccaf07_1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g35f9eccaf07_1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24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3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1" name="Google Shape;251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2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 Branco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6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" name="Google Shape;17;p26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8" name="Google Shape;18;p26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e Título" type="title">
  <p:cSld name="TITL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7"/>
          <p:cNvSpPr txBox="1"/>
          <p:nvPr>
            <p:ph type="ctrTitle"/>
          </p:nvPr>
        </p:nvSpPr>
        <p:spPr>
          <a:xfrm>
            <a:off x="1143000" y="935303"/>
            <a:ext cx="6858000" cy="1989600"/>
          </a:xfrm>
          <a:prstGeom prst="rect">
            <a:avLst/>
          </a:prstGeom>
          <a:noFill/>
          <a:ln>
            <a:noFill/>
          </a:ln>
        </p:spPr>
        <p:txBody>
          <a:bodyPr anchorCtr="0" anchor="b" bIns="35550" lIns="71100" spcFirstLastPara="1" rIns="71100" wrap="square" tIns="3555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700"/>
              <a:buFont typeface="Play"/>
              <a:buNone/>
              <a:defRPr sz="47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Google Shape;21;p27"/>
          <p:cNvSpPr txBox="1"/>
          <p:nvPr>
            <p:ph idx="1" type="subTitle"/>
          </p:nvPr>
        </p:nvSpPr>
        <p:spPr>
          <a:xfrm>
            <a:off x="1143000" y="3001698"/>
            <a:ext cx="6858000" cy="13797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sz="19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22" name="Google Shape;22;p27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3" name="Google Shape;23;p27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4" name="Google Shape;24;p27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8"/>
          <p:cNvSpPr txBox="1"/>
          <p:nvPr>
            <p:ph type="title"/>
          </p:nvPr>
        </p:nvSpPr>
        <p:spPr>
          <a:xfrm>
            <a:off x="628650" y="304271"/>
            <a:ext cx="7886700" cy="11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Google Shape;27;p28"/>
          <p:cNvSpPr txBox="1"/>
          <p:nvPr>
            <p:ph idx="1" type="body"/>
          </p:nvPr>
        </p:nvSpPr>
        <p:spPr>
          <a:xfrm>
            <a:off x="628650" y="1521354"/>
            <a:ext cx="7886700" cy="36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8" name="Google Shape;28;p28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9" name="Google Shape;29;p28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0" name="Google Shape;30;p28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beçalho da Seção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9"/>
          <p:cNvSpPr txBox="1"/>
          <p:nvPr>
            <p:ph type="title"/>
          </p:nvPr>
        </p:nvSpPr>
        <p:spPr>
          <a:xfrm>
            <a:off x="623888" y="1424782"/>
            <a:ext cx="7886700" cy="2377200"/>
          </a:xfrm>
          <a:prstGeom prst="rect">
            <a:avLst/>
          </a:prstGeom>
          <a:noFill/>
          <a:ln>
            <a:noFill/>
          </a:ln>
        </p:spPr>
        <p:txBody>
          <a:bodyPr anchorCtr="0" anchor="b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700"/>
              <a:buFont typeface="Play"/>
              <a:buNone/>
              <a:defRPr sz="47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3" name="Google Shape;33;p29"/>
          <p:cNvSpPr txBox="1"/>
          <p:nvPr>
            <p:ph idx="1" type="body"/>
          </p:nvPr>
        </p:nvSpPr>
        <p:spPr>
          <a:xfrm>
            <a:off x="623888" y="3824553"/>
            <a:ext cx="7886700" cy="12501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757575"/>
              </a:buClr>
              <a:buSzPts val="1900"/>
              <a:buNone/>
              <a:defRPr sz="19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400"/>
              <a:buNone/>
              <a:defRPr sz="14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34" name="Google Shape;34;p29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Google Shape;35;p29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6" name="Google Shape;36;p29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uas Partes de Conteúdo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0"/>
          <p:cNvSpPr txBox="1"/>
          <p:nvPr>
            <p:ph type="title"/>
          </p:nvPr>
        </p:nvSpPr>
        <p:spPr>
          <a:xfrm>
            <a:off x="628650" y="304271"/>
            <a:ext cx="7886700" cy="11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9" name="Google Shape;39;p30"/>
          <p:cNvSpPr txBox="1"/>
          <p:nvPr>
            <p:ph idx="1" type="body"/>
          </p:nvPr>
        </p:nvSpPr>
        <p:spPr>
          <a:xfrm>
            <a:off x="628650" y="1521354"/>
            <a:ext cx="3886200" cy="36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Google Shape;40;p30"/>
          <p:cNvSpPr txBox="1"/>
          <p:nvPr>
            <p:ph idx="2" type="body"/>
          </p:nvPr>
        </p:nvSpPr>
        <p:spPr>
          <a:xfrm>
            <a:off x="4629150" y="1521354"/>
            <a:ext cx="3886200" cy="36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1" name="Google Shape;41;p30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2" name="Google Shape;42;p30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Google Shape;43;p30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ção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31"/>
          <p:cNvSpPr txBox="1"/>
          <p:nvPr>
            <p:ph type="title"/>
          </p:nvPr>
        </p:nvSpPr>
        <p:spPr>
          <a:xfrm>
            <a:off x="629841" y="304271"/>
            <a:ext cx="7886700" cy="11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6" name="Google Shape;46;p31"/>
          <p:cNvSpPr txBox="1"/>
          <p:nvPr>
            <p:ph idx="1" type="body"/>
          </p:nvPr>
        </p:nvSpPr>
        <p:spPr>
          <a:xfrm>
            <a:off x="629841" y="1400969"/>
            <a:ext cx="3868200" cy="686700"/>
          </a:xfrm>
          <a:prstGeom prst="rect">
            <a:avLst/>
          </a:prstGeom>
          <a:noFill/>
          <a:ln>
            <a:noFill/>
          </a:ln>
        </p:spPr>
        <p:txBody>
          <a:bodyPr anchorCtr="0" anchor="b" bIns="35550" lIns="71100" spcFirstLastPara="1" rIns="71100" wrap="square" tIns="3555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b="1" sz="19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7" name="Google Shape;47;p31"/>
          <p:cNvSpPr txBox="1"/>
          <p:nvPr>
            <p:ph idx="2" type="body"/>
          </p:nvPr>
        </p:nvSpPr>
        <p:spPr>
          <a:xfrm>
            <a:off x="629841" y="2087563"/>
            <a:ext cx="3868200" cy="30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8" name="Google Shape;48;p31"/>
          <p:cNvSpPr txBox="1"/>
          <p:nvPr>
            <p:ph idx="3" type="body"/>
          </p:nvPr>
        </p:nvSpPr>
        <p:spPr>
          <a:xfrm>
            <a:off x="4629150" y="1400969"/>
            <a:ext cx="3887400" cy="686700"/>
          </a:xfrm>
          <a:prstGeom prst="rect">
            <a:avLst/>
          </a:prstGeom>
          <a:noFill/>
          <a:ln>
            <a:noFill/>
          </a:ln>
        </p:spPr>
        <p:txBody>
          <a:bodyPr anchorCtr="0" anchor="b" bIns="35550" lIns="71100" spcFirstLastPara="1" rIns="71100" wrap="square" tIns="3555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b="1" sz="19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9" name="Google Shape;49;p31"/>
          <p:cNvSpPr txBox="1"/>
          <p:nvPr>
            <p:ph idx="4" type="body"/>
          </p:nvPr>
        </p:nvSpPr>
        <p:spPr>
          <a:xfrm>
            <a:off x="4629150" y="2087563"/>
            <a:ext cx="3887400" cy="30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50" name="Google Shape;50;p31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1" name="Google Shape;51;p31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Google Shape;52;p31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mente Título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32"/>
          <p:cNvSpPr txBox="1"/>
          <p:nvPr>
            <p:ph type="title"/>
          </p:nvPr>
        </p:nvSpPr>
        <p:spPr>
          <a:xfrm>
            <a:off x="628650" y="304271"/>
            <a:ext cx="7886700" cy="11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5" name="Google Shape;55;p32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Google Shape;56;p32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7" name="Google Shape;57;p32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údo com Legenda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3"/>
          <p:cNvSpPr txBox="1"/>
          <p:nvPr>
            <p:ph type="title"/>
          </p:nvPr>
        </p:nvSpPr>
        <p:spPr>
          <a:xfrm>
            <a:off x="629841" y="381000"/>
            <a:ext cx="2949300" cy="1333500"/>
          </a:xfrm>
          <a:prstGeom prst="rect">
            <a:avLst/>
          </a:prstGeom>
          <a:noFill/>
          <a:ln>
            <a:noFill/>
          </a:ln>
        </p:spPr>
        <p:txBody>
          <a:bodyPr anchorCtr="0" anchor="b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Play"/>
              <a:buNone/>
              <a:defRPr sz="2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Google Shape;60;p33"/>
          <p:cNvSpPr txBox="1"/>
          <p:nvPr>
            <p:ph idx="1" type="body"/>
          </p:nvPr>
        </p:nvSpPr>
        <p:spPr>
          <a:xfrm>
            <a:off x="3887391" y="822854"/>
            <a:ext cx="4629300" cy="40614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8735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 sz="2500"/>
            </a:lvl1pPr>
            <a:lvl2pPr indent="-3683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  <a:defRPr sz="2200"/>
            </a:lvl2pPr>
            <a:lvl3pPr indent="-34925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 sz="1900"/>
            </a:lvl3pPr>
            <a:lvl4pPr indent="-3302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4pPr>
            <a:lvl5pPr indent="-3302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5pPr>
            <a:lvl6pPr indent="-3302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61" name="Google Shape;61;p33"/>
          <p:cNvSpPr txBox="1"/>
          <p:nvPr>
            <p:ph idx="2" type="body"/>
          </p:nvPr>
        </p:nvSpPr>
        <p:spPr>
          <a:xfrm>
            <a:off x="629841" y="1714500"/>
            <a:ext cx="2949300" cy="31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2" name="Google Shape;62;p33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Google Shape;63;p33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4" name="Google Shape;64;p33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m com Legenda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4"/>
          <p:cNvSpPr txBox="1"/>
          <p:nvPr>
            <p:ph type="title"/>
          </p:nvPr>
        </p:nvSpPr>
        <p:spPr>
          <a:xfrm>
            <a:off x="629841" y="381000"/>
            <a:ext cx="2949300" cy="1333500"/>
          </a:xfrm>
          <a:prstGeom prst="rect">
            <a:avLst/>
          </a:prstGeom>
          <a:noFill/>
          <a:ln>
            <a:noFill/>
          </a:ln>
        </p:spPr>
        <p:txBody>
          <a:bodyPr anchorCtr="0" anchor="b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Play"/>
              <a:buNone/>
              <a:defRPr sz="2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Google Shape;67;p34"/>
          <p:cNvSpPr/>
          <p:nvPr>
            <p:ph idx="2" type="pic"/>
          </p:nvPr>
        </p:nvSpPr>
        <p:spPr>
          <a:xfrm>
            <a:off x="3887391" y="822854"/>
            <a:ext cx="4629300" cy="40614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34"/>
          <p:cNvSpPr txBox="1"/>
          <p:nvPr>
            <p:ph idx="1" type="body"/>
          </p:nvPr>
        </p:nvSpPr>
        <p:spPr>
          <a:xfrm>
            <a:off x="629841" y="1714500"/>
            <a:ext cx="2949300" cy="31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9" name="Google Shape;69;p34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Google Shape;70;p34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1" name="Google Shape;71;p34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exto Vertical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5"/>
          <p:cNvSpPr txBox="1"/>
          <p:nvPr>
            <p:ph type="title"/>
          </p:nvPr>
        </p:nvSpPr>
        <p:spPr>
          <a:xfrm>
            <a:off x="628650" y="304271"/>
            <a:ext cx="7886700" cy="11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4" name="Google Shape;74;p35"/>
          <p:cNvSpPr txBox="1"/>
          <p:nvPr>
            <p:ph idx="1" type="body"/>
          </p:nvPr>
        </p:nvSpPr>
        <p:spPr>
          <a:xfrm rot="5400000">
            <a:off x="2758950" y="-608946"/>
            <a:ext cx="3626100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5" name="Google Shape;75;p35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Google Shape;76;p35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7" name="Google Shape;77;p35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o e Título Vertical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6"/>
          <p:cNvSpPr txBox="1"/>
          <p:nvPr>
            <p:ph type="title"/>
          </p:nvPr>
        </p:nvSpPr>
        <p:spPr>
          <a:xfrm rot="5400000">
            <a:off x="5107950" y="1740071"/>
            <a:ext cx="4843200" cy="19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0" name="Google Shape;80;p36"/>
          <p:cNvSpPr txBox="1"/>
          <p:nvPr>
            <p:ph idx="1" type="body"/>
          </p:nvPr>
        </p:nvSpPr>
        <p:spPr>
          <a:xfrm rot="5400000">
            <a:off x="1107375" y="-174529"/>
            <a:ext cx="4843200" cy="58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1" name="Google Shape;81;p36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2" name="Google Shape;82;p36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3" name="Google Shape;83;p36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5"/>
          <p:cNvSpPr txBox="1"/>
          <p:nvPr>
            <p:ph type="title"/>
          </p:nvPr>
        </p:nvSpPr>
        <p:spPr>
          <a:xfrm>
            <a:off x="628650" y="304271"/>
            <a:ext cx="7886700" cy="11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Play"/>
              <a:buNone/>
              <a:defRPr b="0" i="0" sz="3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11" name="Google Shape;11;p25"/>
          <p:cNvSpPr txBox="1"/>
          <p:nvPr>
            <p:ph idx="1" type="body"/>
          </p:nvPr>
        </p:nvSpPr>
        <p:spPr>
          <a:xfrm>
            <a:off x="628650" y="1521354"/>
            <a:ext cx="7886700" cy="36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683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  <a:defRPr b="0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925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302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25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25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25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747474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/>
          <p:nvPr/>
        </p:nvSpPr>
        <p:spPr>
          <a:xfrm>
            <a:off x="396928" y="660300"/>
            <a:ext cx="83766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3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EXCELÊNCIA NO ATENDIMENTO</a:t>
            </a:r>
            <a:endParaRPr sz="1100"/>
          </a:p>
        </p:txBody>
      </p:sp>
      <p:sp>
        <p:nvSpPr>
          <p:cNvPr id="89" name="Google Shape;89;p1"/>
          <p:cNvSpPr txBox="1"/>
          <p:nvPr/>
        </p:nvSpPr>
        <p:spPr>
          <a:xfrm flipH="1">
            <a:off x="396755" y="1250200"/>
            <a:ext cx="6748200" cy="36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PROFESSOR: LEONILSON SOUZA</a:t>
            </a:r>
            <a:endParaRPr sz="1100"/>
          </a:p>
        </p:txBody>
      </p:sp>
      <p:sp>
        <p:nvSpPr>
          <p:cNvPr id="90" name="Google Shape;90;p1"/>
          <p:cNvSpPr txBox="1"/>
          <p:nvPr/>
        </p:nvSpPr>
        <p:spPr>
          <a:xfrm>
            <a:off x="396915" y="2011709"/>
            <a:ext cx="5906700" cy="11493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O QUE É EXCELÊNCIA NO ATENDIMENTO?</a:t>
            </a:r>
            <a:endParaRPr sz="1100"/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NOÇÕES DE EXCELÊNCIA</a:t>
            </a:r>
            <a:endParaRPr sz="1100"/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RAZÕES PARA A EXCELÊNCIA NO ATENDIMENTO AO CLIENTE</a:t>
            </a:r>
            <a:endParaRPr sz="1100"/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CICLO DE SERVIÇOS</a:t>
            </a:r>
            <a:endParaRPr sz="1100"/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CARACTERÍSTICAS DE QUALIDADE DE SERVIÇO</a:t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"/>
          <p:cNvSpPr/>
          <p:nvPr/>
        </p:nvSpPr>
        <p:spPr>
          <a:xfrm>
            <a:off x="0" y="0"/>
            <a:ext cx="9144000" cy="824700"/>
          </a:xfrm>
          <a:prstGeom prst="rect">
            <a:avLst/>
          </a:prstGeom>
          <a:solidFill>
            <a:srgbClr val="747474"/>
          </a:solidFill>
          <a:ln cap="flat" cmpd="sng" w="19050">
            <a:solidFill>
              <a:srgbClr val="74747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O QUE É EXCELÊNCIA NO ATENDIMENTO?</a:t>
            </a:r>
            <a:endParaRPr sz="1100"/>
          </a:p>
        </p:txBody>
      </p:sp>
      <p:sp>
        <p:nvSpPr>
          <p:cNvPr id="96" name="Google Shape;96;p2"/>
          <p:cNvSpPr txBox="1"/>
          <p:nvPr/>
        </p:nvSpPr>
        <p:spPr>
          <a:xfrm>
            <a:off x="317064" y="1167028"/>
            <a:ext cx="8457300" cy="20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Definição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Excelência no atendimento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é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fazer o cliente se sentir importante e bem tratado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mesmo quando ele está reclamando ou fazendo uma crítica.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Isso significa: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Resolver o problema do cliente com eficiência;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Ser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claro, educado e respeitoso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Criar um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relacionamento de confiança e transparência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Ir além do esperado e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encantar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 cliente!</a:t>
            </a:r>
            <a:endParaRPr sz="1100"/>
          </a:p>
        </p:txBody>
      </p:sp>
      <p:sp>
        <p:nvSpPr>
          <p:cNvPr id="97" name="Google Shape;97;p2"/>
          <p:cNvSpPr txBox="1"/>
          <p:nvPr/>
        </p:nvSpPr>
        <p:spPr>
          <a:xfrm>
            <a:off x="317064" y="3433030"/>
            <a:ext cx="5401500" cy="11493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Por que isso é tão importante?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Um bom atendimento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faz o cliente voltar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(fidelização);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Um cliente fiel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custa menos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do que conquistar um novo;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 atendimento é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mais importante que o preço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para a maioria dos brasileiros!</a:t>
            </a:r>
            <a:endParaRPr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"/>
          <p:cNvSpPr/>
          <p:nvPr/>
        </p:nvSpPr>
        <p:spPr>
          <a:xfrm>
            <a:off x="0" y="0"/>
            <a:ext cx="9144000" cy="824700"/>
          </a:xfrm>
          <a:prstGeom prst="rect">
            <a:avLst/>
          </a:prstGeom>
          <a:solidFill>
            <a:srgbClr val="747474"/>
          </a:solidFill>
          <a:ln cap="flat" cmpd="sng" w="19050">
            <a:solidFill>
              <a:srgbClr val="74747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O QUE É EXCELÊNCIA NO ATENDIMENTO?</a:t>
            </a:r>
            <a:endParaRPr sz="1100"/>
          </a:p>
        </p:txBody>
      </p:sp>
      <p:sp>
        <p:nvSpPr>
          <p:cNvPr id="103" name="Google Shape;103;p3"/>
          <p:cNvSpPr txBox="1"/>
          <p:nvPr/>
        </p:nvSpPr>
        <p:spPr>
          <a:xfrm>
            <a:off x="404355" y="2960901"/>
            <a:ext cx="8335200" cy="93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Onde isso se aplica?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Lojas físicas 🛍️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Atendimento online (chat, e-mail, redes sociais) 💬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Lojas que combinam os dois (omnichannel) 🔁</a:t>
            </a:r>
            <a:endParaRPr sz="1100"/>
          </a:p>
        </p:txBody>
      </p:sp>
      <p:sp>
        <p:nvSpPr>
          <p:cNvPr id="104" name="Google Shape;104;p3"/>
          <p:cNvSpPr/>
          <p:nvPr/>
        </p:nvSpPr>
        <p:spPr>
          <a:xfrm>
            <a:off x="404355" y="1508044"/>
            <a:ext cx="84573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chemeClr val="dk1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Segundo uma pesquisa da </a:t>
            </a:r>
            <a:r>
              <a:rPr b="1" i="0" lang="pt-BR" sz="1400" u="none" cap="none" strike="noStrike">
                <a:solidFill>
                  <a:schemeClr val="dk1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Zendesk</a:t>
            </a:r>
            <a:r>
              <a:rPr b="0" i="0" lang="pt-BR" sz="1400" u="none" cap="none" strike="noStrike">
                <a:solidFill>
                  <a:schemeClr val="dk1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: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chemeClr val="dk1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75% das pessoas no Brasil valorizam </a:t>
            </a:r>
            <a:r>
              <a:rPr b="1" i="0" lang="pt-BR" sz="1400" u="none" cap="none" strike="noStrike">
                <a:solidFill>
                  <a:schemeClr val="dk1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mais o atendimento</a:t>
            </a:r>
            <a:r>
              <a:rPr b="0" i="0" lang="pt-BR" sz="1400" u="none" cap="none" strike="noStrike">
                <a:solidFill>
                  <a:schemeClr val="dk1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 do que o preço do produto.</a:t>
            </a:r>
            <a:br>
              <a:rPr b="0" i="0" lang="pt-BR" sz="1400" u="none" cap="none" strike="noStrike">
                <a:solidFill>
                  <a:schemeClr val="dk1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</a:br>
            <a:r>
              <a:rPr b="0" i="0" lang="pt-BR" sz="1400" u="none" cap="none" strike="noStrike">
                <a:solidFill>
                  <a:schemeClr val="dk1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Ou seja, </a:t>
            </a:r>
            <a:r>
              <a:rPr b="1" i="0" lang="pt-BR" sz="1400" u="none" cap="none" strike="noStrike">
                <a:solidFill>
                  <a:schemeClr val="dk1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atender bem é vender mais!</a:t>
            </a:r>
            <a:endParaRPr b="0" i="0" sz="1400" u="none" cap="none" strike="noStrike">
              <a:solidFill>
                <a:schemeClr val="dk1"/>
              </a:solidFill>
              <a:highlight>
                <a:srgbClr val="FFFF00"/>
              </a:highlight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"/>
          <p:cNvSpPr/>
          <p:nvPr/>
        </p:nvSpPr>
        <p:spPr>
          <a:xfrm>
            <a:off x="0" y="0"/>
            <a:ext cx="9144000" cy="824700"/>
          </a:xfrm>
          <a:prstGeom prst="rect">
            <a:avLst/>
          </a:prstGeom>
          <a:solidFill>
            <a:srgbClr val="747474"/>
          </a:solidFill>
          <a:ln cap="flat" cmpd="sng" w="19050">
            <a:solidFill>
              <a:srgbClr val="74747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NOÇÕES DE EXCELÊNCIA: 10 DICAS PARA UM ATENDIMENTO INESQUECÍVEL</a:t>
            </a:r>
            <a:endParaRPr sz="1100"/>
          </a:p>
        </p:txBody>
      </p:sp>
      <p:sp>
        <p:nvSpPr>
          <p:cNvPr id="110" name="Google Shape;110;p4"/>
          <p:cNvSpPr txBox="1"/>
          <p:nvPr/>
        </p:nvSpPr>
        <p:spPr>
          <a:xfrm>
            <a:off x="447136" y="1434033"/>
            <a:ext cx="8249700" cy="26577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Prometa o que puder cumprir e cumpra o que prometer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Essa é uma das regras mais importantes para conquistar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confiança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b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Muitos profissionais cometem o erro de prometer algo apenas para “agradar o cliente” ou fechar uma venda.</a:t>
            </a:r>
            <a:b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Mas se você promete e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não entrega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o cliente vai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perder a confiança em você e na empresa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b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Não adianta dar aquele “sorriso amarelo” achando que vai disfarçar…</a:t>
            </a:r>
            <a:b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prejuízo vem depois, com devolução, reclamações ou críticas.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Exemplo prático:</a:t>
            </a:r>
            <a:b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 você disser que o produto vai chegar na quarta-feira,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ele tem que chegar na quarta-feira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b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 não tiver certeza, diga com clareza: “Entre quarta e sexta”. Seja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honesto e realista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5"/>
          <p:cNvSpPr/>
          <p:nvPr/>
        </p:nvSpPr>
        <p:spPr>
          <a:xfrm>
            <a:off x="0" y="0"/>
            <a:ext cx="9144000" cy="824700"/>
          </a:xfrm>
          <a:prstGeom prst="rect">
            <a:avLst/>
          </a:prstGeom>
          <a:solidFill>
            <a:srgbClr val="747474"/>
          </a:solidFill>
          <a:ln cap="flat" cmpd="sng" w="19050">
            <a:solidFill>
              <a:srgbClr val="74747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NOÇÕES DE EXCELÊNCIA: 10 DICAS PARA UM ATENDIMENTO INESQUECÍVEL</a:t>
            </a:r>
            <a:endParaRPr sz="1100"/>
          </a:p>
        </p:txBody>
      </p:sp>
      <p:sp>
        <p:nvSpPr>
          <p:cNvPr id="116" name="Google Shape;116;p5"/>
          <p:cNvSpPr txBox="1"/>
          <p:nvPr/>
        </p:nvSpPr>
        <p:spPr>
          <a:xfrm>
            <a:off x="674195" y="1549450"/>
            <a:ext cx="7795500" cy="244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Fale a verdade em qualquer circunstância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Ser verdadeiro constrói relacionamentos duradouros.</a:t>
            </a:r>
            <a:b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 o cliente perguntar se a roupa ficou boa e não ficou,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não minta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só para vender.</a:t>
            </a:r>
            <a:b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 um corte de cabelo não combinou,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explique com jeitinho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 sugira algo melhor.</a:t>
            </a:r>
            <a:b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mentira pode causar prejuízos para ambos os lados, e o cliente não volta mais.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Dica de ouro:</a:t>
            </a:r>
            <a:b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Clientes preferem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quem é sincero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 que os ajuda a tomar boas decisões. Isso cria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respeito e confiança.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6"/>
          <p:cNvSpPr/>
          <p:nvPr/>
        </p:nvSpPr>
        <p:spPr>
          <a:xfrm>
            <a:off x="0" y="0"/>
            <a:ext cx="9144000" cy="824700"/>
          </a:xfrm>
          <a:prstGeom prst="rect">
            <a:avLst/>
          </a:prstGeom>
          <a:solidFill>
            <a:srgbClr val="747474"/>
          </a:solidFill>
          <a:ln cap="flat" cmpd="sng" w="19050">
            <a:solidFill>
              <a:srgbClr val="74747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NOÇÕES DE EXCELÊNCIA: 10 DICAS PARA UM ATENDIMENTO INESQUECÍVEL</a:t>
            </a:r>
            <a:endParaRPr sz="1100"/>
          </a:p>
        </p:txBody>
      </p:sp>
      <p:sp>
        <p:nvSpPr>
          <p:cNvPr id="122" name="Google Shape;122;p6"/>
          <p:cNvSpPr txBox="1"/>
          <p:nvPr/>
        </p:nvSpPr>
        <p:spPr>
          <a:xfrm>
            <a:off x="828623" y="1780283"/>
            <a:ext cx="7486800" cy="20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Respeite e cumpra prazos e horários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Pontualidade é sinal de respeito.</a:t>
            </a:r>
            <a:b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 o atendimento for feito presencialmente,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chegue 10 minutos antes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b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 o prazo é para amanhã,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não deixe para depois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b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 algo sair do previsto,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avise o cliente com antecedência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e nunca invente desculpas.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Importante:</a:t>
            </a:r>
            <a:b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Evite frases como “eu passo aí mais tarde” se você já sabe que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não vai conseguir ir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b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Atrasos e promessas vazias geram frustração e prejudicam sua imagem profissional.</a:t>
            </a:r>
            <a:endParaRPr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7"/>
          <p:cNvSpPr/>
          <p:nvPr/>
        </p:nvSpPr>
        <p:spPr>
          <a:xfrm>
            <a:off x="0" y="0"/>
            <a:ext cx="9144000" cy="824700"/>
          </a:xfrm>
          <a:prstGeom prst="rect">
            <a:avLst/>
          </a:prstGeom>
          <a:solidFill>
            <a:srgbClr val="747474"/>
          </a:solidFill>
          <a:ln cap="flat" cmpd="sng" w="19050">
            <a:solidFill>
              <a:srgbClr val="74747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NOÇÕES DE EXCELÊNCIA: 10 DICAS PARA UM ATENDIMENTO INESQUECÍVEL</a:t>
            </a:r>
            <a:endParaRPr sz="1100"/>
          </a:p>
        </p:txBody>
      </p:sp>
      <p:sp>
        <p:nvSpPr>
          <p:cNvPr id="128" name="Google Shape;128;p7"/>
          <p:cNvSpPr txBox="1"/>
          <p:nvPr/>
        </p:nvSpPr>
        <p:spPr>
          <a:xfrm>
            <a:off x="1317865" y="1664866"/>
            <a:ext cx="6508200" cy="22266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Seja ágil: faça o cliente ganhar tempo com você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Tempo é precioso, e o cliente valoriza quem resolve rápido.</a:t>
            </a:r>
            <a:b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Ser ágil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não é ser apressado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e sim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eficiente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b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Conheça bem os produtos e serviços, ofereça soluções diretas e claras.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Exemplo prático:</a:t>
            </a:r>
            <a:b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Aquele vendedor que já sabe o gosto do cliente, indica rápido, resolve tudo sem enrolar...</a:t>
            </a:r>
            <a:b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Mesmo ocupado, o cliente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prefere esperar por ele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do que começar do zero com outra pessoa.</a:t>
            </a:r>
            <a:endParaRPr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8"/>
          <p:cNvSpPr/>
          <p:nvPr/>
        </p:nvSpPr>
        <p:spPr>
          <a:xfrm>
            <a:off x="0" y="0"/>
            <a:ext cx="9144000" cy="824700"/>
          </a:xfrm>
          <a:prstGeom prst="rect">
            <a:avLst/>
          </a:prstGeom>
          <a:solidFill>
            <a:srgbClr val="747474"/>
          </a:solidFill>
          <a:ln cap="flat" cmpd="sng" w="19050">
            <a:solidFill>
              <a:srgbClr val="74747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NOÇÕES DE EXCELÊNCIA: 10 DICAS PARA UM ATENDIMENTO INESQUECÍVEL</a:t>
            </a:r>
            <a:endParaRPr sz="1100"/>
          </a:p>
        </p:txBody>
      </p:sp>
      <p:sp>
        <p:nvSpPr>
          <p:cNvPr id="134" name="Google Shape;134;p8"/>
          <p:cNvSpPr txBox="1"/>
          <p:nvPr/>
        </p:nvSpPr>
        <p:spPr>
          <a:xfrm>
            <a:off x="1328416" y="1664866"/>
            <a:ext cx="6487200" cy="244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Ouça com sentimento de escutar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Ouvir de verdade é diferente de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apenas escutar palavras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b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É preciso prestar atenção no que o cliente está dizendo, inclusive no tom de voz, expressões e sentimentos.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1"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Dica prática: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Escute com empatia;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Não interrompa;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Confirme o que foi dito (“Entendi, você precisa do produto até amanhã, certo?”);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Foque em resolver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 imediato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se possível.</a:t>
            </a:r>
            <a:endParaRPr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9"/>
          <p:cNvSpPr/>
          <p:nvPr/>
        </p:nvSpPr>
        <p:spPr>
          <a:xfrm>
            <a:off x="0" y="0"/>
            <a:ext cx="9144000" cy="824700"/>
          </a:xfrm>
          <a:prstGeom prst="rect">
            <a:avLst/>
          </a:prstGeom>
          <a:solidFill>
            <a:srgbClr val="747474"/>
          </a:solidFill>
          <a:ln cap="flat" cmpd="sng" w="19050">
            <a:solidFill>
              <a:srgbClr val="74747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NOÇÕES DE EXCELÊNCIA: 10 DICAS PARA UM ATENDIMENTO INESQUECÍVEL</a:t>
            </a:r>
            <a:endParaRPr sz="1100"/>
          </a:p>
        </p:txBody>
      </p:sp>
      <p:sp>
        <p:nvSpPr>
          <p:cNvPr id="140" name="Google Shape;140;p9"/>
          <p:cNvSpPr txBox="1"/>
          <p:nvPr/>
        </p:nvSpPr>
        <p:spPr>
          <a:xfrm>
            <a:off x="1140260" y="1780283"/>
            <a:ext cx="6863400" cy="20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Fale olhando nos olhos do cliente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contato visual transmite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respeito e segurança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b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Evite falar enquanto mexe no celular, olha pro lado ou continua lendo algo.</a:t>
            </a:r>
            <a:b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Isso faz o cliente se sentir ignorado e mal atendido.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Imagine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perguntar algo e a pessoa responde:</a:t>
            </a:r>
            <a:b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“É na segunda porta” — sem nem te olhar.</a:t>
            </a:r>
            <a:b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Desagradável, né?</a:t>
            </a:r>
            <a:b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Por isso,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olhe nos olhos, sorria e seja gentil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0"/>
          <p:cNvSpPr/>
          <p:nvPr/>
        </p:nvSpPr>
        <p:spPr>
          <a:xfrm>
            <a:off x="0" y="0"/>
            <a:ext cx="9144000" cy="824700"/>
          </a:xfrm>
          <a:prstGeom prst="rect">
            <a:avLst/>
          </a:prstGeom>
          <a:solidFill>
            <a:srgbClr val="747474"/>
          </a:solidFill>
          <a:ln cap="flat" cmpd="sng" w="19050">
            <a:solidFill>
              <a:srgbClr val="74747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NOÇÕES DE EXCELÊNCIA: 10 DICAS PARA UM ATENDIMENTO INESQUECÍVEL</a:t>
            </a:r>
            <a:endParaRPr sz="1100"/>
          </a:p>
        </p:txBody>
      </p:sp>
      <p:sp>
        <p:nvSpPr>
          <p:cNvPr id="146" name="Google Shape;146;p10"/>
          <p:cNvSpPr txBox="1"/>
          <p:nvPr/>
        </p:nvSpPr>
        <p:spPr>
          <a:xfrm>
            <a:off x="1460300" y="1895698"/>
            <a:ext cx="6223500" cy="17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Tenha calma e paciência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Ansiedade e pressa são inimigas do bom atendimento.</a:t>
            </a:r>
            <a:b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Muitas vezes o cliente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precisa pensar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fazer perguntas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e isso é normal.</a:t>
            </a:r>
            <a:b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Mostre paciência e evite apressar a decisão dele.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Lembre-se:</a:t>
            </a:r>
            <a:b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Um cliente bem atendido hoje pode ser um cliente fiel por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muito tempo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b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Ganhe no atendimento, não só na pressa.</a:t>
            </a:r>
            <a:endParaRPr sz="1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1"/>
          <p:cNvSpPr/>
          <p:nvPr/>
        </p:nvSpPr>
        <p:spPr>
          <a:xfrm>
            <a:off x="0" y="0"/>
            <a:ext cx="9144000" cy="824700"/>
          </a:xfrm>
          <a:prstGeom prst="rect">
            <a:avLst/>
          </a:prstGeom>
          <a:solidFill>
            <a:srgbClr val="747474"/>
          </a:solidFill>
          <a:ln cap="flat" cmpd="sng" w="19050">
            <a:solidFill>
              <a:srgbClr val="74747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NOÇÕES DE EXCELÊNCIA: 10 DICAS PARA UM ATENDIMENTO INESQUECÍVEL</a:t>
            </a:r>
            <a:endParaRPr sz="1100"/>
          </a:p>
        </p:txBody>
      </p:sp>
      <p:sp>
        <p:nvSpPr>
          <p:cNvPr id="152" name="Google Shape;152;p11"/>
          <p:cNvSpPr txBox="1"/>
          <p:nvPr/>
        </p:nvSpPr>
        <p:spPr>
          <a:xfrm>
            <a:off x="579310" y="1780283"/>
            <a:ext cx="7985400" cy="22266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Dê retorno das solicitações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Nunca deixe o cliente “no vácuo”.</a:t>
            </a:r>
            <a:b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 ele fez um pedido, solicitação ou reclamou de algo,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acompanhe o caso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informe o andamento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1"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Exemplo simples:</a:t>
            </a:r>
            <a:b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Num restaurante, o garçom diz: “Seu prato está quase pronto, só mais alguns minutos”.</a:t>
            </a:r>
            <a:b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Isso acalma e mostra que o cliente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não foi esquecido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Vale para tudo: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loja física, e-commerce, SAC, salão de beleza, clínica etc.</a:t>
            </a:r>
            <a:endParaRPr sz="1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2"/>
          <p:cNvSpPr/>
          <p:nvPr/>
        </p:nvSpPr>
        <p:spPr>
          <a:xfrm>
            <a:off x="0" y="0"/>
            <a:ext cx="9144000" cy="824700"/>
          </a:xfrm>
          <a:prstGeom prst="rect">
            <a:avLst/>
          </a:prstGeom>
          <a:solidFill>
            <a:srgbClr val="747474"/>
          </a:solidFill>
          <a:ln cap="flat" cmpd="sng" w="19050">
            <a:solidFill>
              <a:srgbClr val="74747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NOÇÕES DE EXCELÊNCIA: 10 DICAS PARA UM ATENDIMENTO INESQUECÍVEL</a:t>
            </a:r>
            <a:endParaRPr sz="1100"/>
          </a:p>
        </p:txBody>
      </p:sp>
      <p:sp>
        <p:nvSpPr>
          <p:cNvPr id="158" name="Google Shape;158;p12"/>
          <p:cNvSpPr txBox="1"/>
          <p:nvPr/>
        </p:nvSpPr>
        <p:spPr>
          <a:xfrm>
            <a:off x="1265110" y="2011115"/>
            <a:ext cx="6613800" cy="15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Cuidado com a arrogância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Arrogância afasta as pessoas.</a:t>
            </a:r>
            <a:b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Pense sempre: “Estou aqui para servir, não para impor”.</a:t>
            </a:r>
            <a:b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Tenha humildade para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aprender com os outros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ouvir sugestões e críticas.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Um bom profissional está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sempre disposto a melhorar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 atender com empatia.</a:t>
            </a:r>
            <a:b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 colocar no lugar do outro é essencial para oferecer um bom serviço.</a:t>
            </a:r>
            <a:endParaRPr sz="11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3"/>
          <p:cNvSpPr/>
          <p:nvPr/>
        </p:nvSpPr>
        <p:spPr>
          <a:xfrm>
            <a:off x="0" y="0"/>
            <a:ext cx="9144000" cy="824700"/>
          </a:xfrm>
          <a:prstGeom prst="rect">
            <a:avLst/>
          </a:prstGeom>
          <a:solidFill>
            <a:srgbClr val="747474"/>
          </a:solidFill>
          <a:ln cap="flat" cmpd="sng" w="19050">
            <a:solidFill>
              <a:srgbClr val="74747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NOÇÕES DE EXCELÊNCIA: 10 DICAS PARA UM ATENDIMENTO INESQUECÍVEL</a:t>
            </a:r>
            <a:endParaRPr sz="1100"/>
          </a:p>
        </p:txBody>
      </p:sp>
      <p:sp>
        <p:nvSpPr>
          <p:cNvPr id="164" name="Google Shape;164;p13"/>
          <p:cNvSpPr txBox="1"/>
          <p:nvPr/>
        </p:nvSpPr>
        <p:spPr>
          <a:xfrm>
            <a:off x="974965" y="1780283"/>
            <a:ext cx="7194000" cy="20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Sorria! O sorriso transforma o atendimento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sorriso é uma das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ferramentas mais poderosas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no atendimento.</a:t>
            </a:r>
            <a:b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Ele acalma, aproxima e passa simpatia.</a:t>
            </a:r>
            <a:b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Clientes se sentem mais confortáveis ao serem recebidos com um sorriso sincero.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“Mas eu não gosto muito de sorrir…”</a:t>
            </a:r>
            <a:b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Então lembre-se: sorrir gasta só 14 músculos. Já franzir a testa usa 72!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Dica final:</a:t>
            </a:r>
            <a:b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Treine o hábito de sorrir naturalmente, mesmo ao telefone. O cliente sente a diferença!</a:t>
            </a:r>
            <a:endParaRPr sz="11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4"/>
          <p:cNvSpPr/>
          <p:nvPr/>
        </p:nvSpPr>
        <p:spPr>
          <a:xfrm>
            <a:off x="0" y="0"/>
            <a:ext cx="9144000" cy="824700"/>
          </a:xfrm>
          <a:prstGeom prst="rect">
            <a:avLst/>
          </a:prstGeom>
          <a:solidFill>
            <a:srgbClr val="747474"/>
          </a:solidFill>
          <a:ln cap="flat" cmpd="sng" w="19050">
            <a:solidFill>
              <a:srgbClr val="74747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RAZÕES PARA INVESTIR NA EXCELÊNCIA DO ATENDIMENTO AO CLIENTE</a:t>
            </a:r>
            <a:endParaRPr sz="1100"/>
          </a:p>
        </p:txBody>
      </p:sp>
      <p:sp>
        <p:nvSpPr>
          <p:cNvPr id="170" name="Google Shape;170;p14"/>
          <p:cNvSpPr txBox="1"/>
          <p:nvPr/>
        </p:nvSpPr>
        <p:spPr>
          <a:xfrm>
            <a:off x="268136" y="1082333"/>
            <a:ext cx="8607600" cy="17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Atendimento excelente é uma estratégia poderosa de fidelização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Quando o cliente é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bem tratado, ouvido e respeitado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ele se sente valorizado.</a:t>
            </a:r>
            <a:b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 um cliente que se sente valorizado tem muito mais chances de: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Voltar a comprar com você;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Recomendar seus serviços;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Defender sua empresa mesmo diante de problemas.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Ou seja, um bom atendimento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cria vínculo emocional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e isso vale mais do que qualquer cupom de desconto.</a:t>
            </a:r>
            <a:endParaRPr sz="1100"/>
          </a:p>
        </p:txBody>
      </p:sp>
      <p:sp>
        <p:nvSpPr>
          <p:cNvPr id="171" name="Google Shape;171;p14"/>
          <p:cNvSpPr txBox="1"/>
          <p:nvPr/>
        </p:nvSpPr>
        <p:spPr>
          <a:xfrm>
            <a:off x="268136" y="3231136"/>
            <a:ext cx="8448000" cy="17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Custa muito mais caro conquistar um novo cliente do que manter um já existente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Segundo 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TMI – Time Manager International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conquistar um novo cliente pode custar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cinco a seis vezes mais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do que manter um cliente atual.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Reflexão importante:</a:t>
            </a:r>
            <a:b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Muitas empresas gastam fortunas com publicidade para atrair novos consumidores, mas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esquecem de investir no bom atendimento aos que já estão na casa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É como tentar encher um balde furado: você despeja água (dinheiro em anúncios), mas ela escapa (clientes insatisfeitos com o atendimento).</a:t>
            </a:r>
            <a:endParaRPr sz="11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5"/>
          <p:cNvSpPr/>
          <p:nvPr/>
        </p:nvSpPr>
        <p:spPr>
          <a:xfrm>
            <a:off x="0" y="0"/>
            <a:ext cx="9144000" cy="824700"/>
          </a:xfrm>
          <a:prstGeom prst="rect">
            <a:avLst/>
          </a:prstGeom>
          <a:solidFill>
            <a:srgbClr val="747474"/>
          </a:solidFill>
          <a:ln cap="flat" cmpd="sng" w="19050">
            <a:solidFill>
              <a:srgbClr val="74747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RAZÕES PARA INVESTIR NA EXCELÊNCIA DO ATENDIMENTO AO CLIENTE</a:t>
            </a:r>
            <a:endParaRPr sz="1100"/>
          </a:p>
        </p:txBody>
      </p:sp>
      <p:sp>
        <p:nvSpPr>
          <p:cNvPr id="177" name="Google Shape;177;p15"/>
          <p:cNvSpPr txBox="1"/>
          <p:nvPr/>
        </p:nvSpPr>
        <p:spPr>
          <a:xfrm>
            <a:off x="288881" y="1092772"/>
            <a:ext cx="8466900" cy="17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mal atendimento é a principal causa de perda de clientes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Segundo 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Ciclo Consultoria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apenas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9% dos clientes deixam uma empresa por causa de preço ou concorrência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Já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80%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dos consumidores entrevistados disseram que deixaram de comprar com uma empresa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por causa do atendimento ruim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Em resumo:</a:t>
            </a:r>
            <a:b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Atendimento ruim = cliente perdido.</a:t>
            </a:r>
            <a:b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Atendimento excelente = cliente fiel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15"/>
          <p:cNvSpPr txBox="1"/>
          <p:nvPr/>
        </p:nvSpPr>
        <p:spPr>
          <a:xfrm>
            <a:off x="288881" y="3284517"/>
            <a:ext cx="8466900" cy="20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Reclamações sobre atendimento se espalham rápido na internet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Vivemos na era digital e 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reputação online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de uma empresa pode ser destruída com apenas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um post negativo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Sites como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Reclame Aqui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redes sociais, grupos no WhatsApp… Tudo isso permite que reclamações: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Ganhem visibilidade em minutos;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Influenciem potenciais compradores;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Atrapalhem a imagem da empresa por muito tempo.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Por isso, investir em bom atendimento é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uma forma de proteger a imagem da empresa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 evitar danos à reputação.</a:t>
            </a:r>
            <a:endParaRPr sz="11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6"/>
          <p:cNvSpPr/>
          <p:nvPr/>
        </p:nvSpPr>
        <p:spPr>
          <a:xfrm>
            <a:off x="0" y="0"/>
            <a:ext cx="9144000" cy="824700"/>
          </a:xfrm>
          <a:prstGeom prst="rect">
            <a:avLst/>
          </a:prstGeom>
          <a:solidFill>
            <a:srgbClr val="747474"/>
          </a:solidFill>
          <a:ln cap="flat" cmpd="sng" w="19050">
            <a:solidFill>
              <a:srgbClr val="74747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RAZÕES PARA INVESTIR NA EXCELÊNCIA DO ATENDIMENTO AO CLIENTE</a:t>
            </a:r>
            <a:endParaRPr sz="1100"/>
          </a:p>
        </p:txBody>
      </p:sp>
      <p:sp>
        <p:nvSpPr>
          <p:cNvPr id="185" name="Google Shape;185;p16"/>
          <p:cNvSpPr txBox="1"/>
          <p:nvPr/>
        </p:nvSpPr>
        <p:spPr>
          <a:xfrm>
            <a:off x="273705" y="958180"/>
            <a:ext cx="8541900" cy="20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Atendimento de qualidade cria identidade forte para a empresa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Empresas que oferecem atendimento memorável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marcam presença no coração e na mente dos clientes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b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Isso gera: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Propaganda espontânea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clientes falam bem sem você pedir.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Reconhecimento da marca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as pessoas lembram da empresa não só pelo produto, mas pela forma como foram tratadas.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Exemplo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você já deixou de ir em uma loja com bons preços só porque o atendimento foi péssimo?</a:t>
            </a:r>
            <a:b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Pois é. O contrário também acontece: muita gente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prefere pagar mais, mas ser bem atendida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/>
          </a:p>
        </p:txBody>
      </p:sp>
      <p:sp>
        <p:nvSpPr>
          <p:cNvPr id="186" name="Google Shape;186;p16"/>
          <p:cNvSpPr txBox="1"/>
          <p:nvPr/>
        </p:nvSpPr>
        <p:spPr>
          <a:xfrm>
            <a:off x="273705" y="3019472"/>
            <a:ext cx="8541900" cy="22266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Um bom atendimento aumenta o lucro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conta é simples: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Cliente bem atendido =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mais satisfação;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Mais satisfação =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mais compras;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Mais compras =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mais lucro.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Clientes satisfeitos também: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Indicam sua empresa a amigos;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Se tornam fãs e defensores da marca;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Confiam mais e compram com frequência.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Resultado: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empresa lucra mais com menos esforço.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7"/>
          <p:cNvSpPr/>
          <p:nvPr/>
        </p:nvSpPr>
        <p:spPr>
          <a:xfrm>
            <a:off x="0" y="0"/>
            <a:ext cx="9144000" cy="824700"/>
          </a:xfrm>
          <a:prstGeom prst="rect">
            <a:avLst/>
          </a:prstGeom>
          <a:solidFill>
            <a:srgbClr val="747474"/>
          </a:solidFill>
          <a:ln cap="flat" cmpd="sng" w="19050">
            <a:solidFill>
              <a:srgbClr val="74747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RAZÕES PARA INVESTIR NA EXCELÊNCIA DO ATENDIMENTO AO CLIENTE</a:t>
            </a:r>
            <a:endParaRPr sz="1100"/>
          </a:p>
        </p:txBody>
      </p:sp>
      <p:sp>
        <p:nvSpPr>
          <p:cNvPr id="193" name="Google Shape;193;p17"/>
          <p:cNvSpPr txBox="1"/>
          <p:nvPr/>
        </p:nvSpPr>
        <p:spPr>
          <a:xfrm>
            <a:off x="766045" y="1203201"/>
            <a:ext cx="7611900" cy="30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Satisfação dos funcionários também influencia no atendimento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Um bom atendimento ao cliente só é possível quando os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colaboradores também estão satisfeitos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b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Funcionários motivados: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Atendem melhor;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Trabalham com mais empatia;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Transmitem uma imagem mais positiva da empresa.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Por isso, investir em: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Treinamentos,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Reconhecimento,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Ambiente agradável,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Incentivos reais...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...é fundamental para que 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cultura do bom atendimento seja mantida todos os dias.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8"/>
          <p:cNvSpPr/>
          <p:nvPr/>
        </p:nvSpPr>
        <p:spPr>
          <a:xfrm>
            <a:off x="0" y="0"/>
            <a:ext cx="9144000" cy="824700"/>
          </a:xfrm>
          <a:prstGeom prst="rect">
            <a:avLst/>
          </a:prstGeom>
          <a:solidFill>
            <a:srgbClr val="747474"/>
          </a:solidFill>
          <a:ln cap="flat" cmpd="sng" w="19050">
            <a:solidFill>
              <a:srgbClr val="74747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RAZÕES PARA INVESTIR NA EXCELÊNCIA DO ATENDIMENTO AO CLIENTE</a:t>
            </a:r>
            <a:endParaRPr sz="1100"/>
          </a:p>
        </p:txBody>
      </p:sp>
      <p:sp>
        <p:nvSpPr>
          <p:cNvPr id="200" name="Google Shape;200;p18"/>
          <p:cNvSpPr txBox="1"/>
          <p:nvPr/>
        </p:nvSpPr>
        <p:spPr>
          <a:xfrm>
            <a:off x="676797" y="1664866"/>
            <a:ext cx="7790400" cy="22266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Atender bem é uma questão de sobrevivência no mercado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 final das contas, nenhuma empresa sobrevive sem clientes.</a:t>
            </a:r>
            <a:b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 se o cliente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não for bem atendido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ele vai embora — e o concorrente agradece.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Em um mundo tão competitivo, o atendimento se tornou um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diferencial decisivo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para manter a empresa viva e relevante.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Frase para levar pra vida:</a:t>
            </a:r>
            <a:b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“O cliente é o nosso patrão. Ele é quem paga todos os salários. E ele pode demitir toda a empresa apenas trocando de lugar para comprar.”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9"/>
          <p:cNvSpPr/>
          <p:nvPr/>
        </p:nvSpPr>
        <p:spPr>
          <a:xfrm>
            <a:off x="0" y="0"/>
            <a:ext cx="9144000" cy="824700"/>
          </a:xfrm>
          <a:prstGeom prst="rect">
            <a:avLst/>
          </a:prstGeom>
          <a:solidFill>
            <a:srgbClr val="747474"/>
          </a:solidFill>
          <a:ln cap="flat" cmpd="sng" w="19050">
            <a:solidFill>
              <a:srgbClr val="74747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O que é um Ciclo de Serviços</a:t>
            </a:r>
            <a:endParaRPr sz="1100"/>
          </a:p>
        </p:txBody>
      </p:sp>
      <p:sp>
        <p:nvSpPr>
          <p:cNvPr id="207" name="Google Shape;207;p19"/>
          <p:cNvSpPr txBox="1"/>
          <p:nvPr/>
        </p:nvSpPr>
        <p:spPr>
          <a:xfrm>
            <a:off x="523745" y="987139"/>
            <a:ext cx="8232000" cy="8721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</a:pPr>
            <a:r>
              <a:rPr lang="pt-BR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Segundo </a:t>
            </a:r>
            <a:r>
              <a:rPr b="1" lang="pt-BR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Karl Albrecht</a:t>
            </a:r>
            <a:r>
              <a:rPr lang="pt-BR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um </a:t>
            </a:r>
            <a:r>
              <a:rPr b="1" lang="pt-BR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Ciclo de Serviços</a:t>
            </a:r>
            <a:r>
              <a:rPr lang="pt-BR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é o </a:t>
            </a:r>
            <a:r>
              <a:rPr b="1" lang="pt-BR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conjunto de etapas ou momentos</a:t>
            </a:r>
            <a:r>
              <a:rPr lang="pt-BR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pelos quais um cliente passa </a:t>
            </a:r>
            <a:r>
              <a:rPr b="1" lang="pt-BR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desde o primeiro contato com a empresa até o fim da experiência</a:t>
            </a:r>
            <a:r>
              <a:rPr lang="pt-BR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com o serviço.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Ou seja, é </a:t>
            </a:r>
            <a:r>
              <a:rPr b="1" lang="pt-BR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como uma jornada</a:t>
            </a:r>
            <a:r>
              <a:rPr lang="pt-BR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onde cada ponto de contato (como uma ligação, uma visita, uma compra, um atendimento ou até um pós-venda) </a:t>
            </a:r>
            <a:r>
              <a:rPr b="1" lang="pt-BR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influencia na forma como o cliente enxerga a empresa</a:t>
            </a:r>
            <a:r>
              <a:rPr lang="pt-BR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/>
          </a:p>
        </p:txBody>
      </p:sp>
      <p:sp>
        <p:nvSpPr>
          <p:cNvPr id="208" name="Google Shape;208;p19"/>
          <p:cNvSpPr txBox="1"/>
          <p:nvPr/>
        </p:nvSpPr>
        <p:spPr>
          <a:xfrm>
            <a:off x="523745" y="1959758"/>
            <a:ext cx="8232000" cy="18726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</a:pPr>
            <a:r>
              <a:rPr b="1" lang="pt-BR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Exemplo prático: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</a:pPr>
            <a:r>
              <a:rPr lang="pt-BR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Imagine um cliente indo a uma barbearia:</a:t>
            </a:r>
            <a:endParaRPr sz="1100"/>
          </a:p>
          <a:p>
            <a:pPr indent="-8255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Play"/>
              <a:buAutoNum type="arabicPeriod"/>
            </a:pPr>
            <a:r>
              <a:rPr lang="pt-BR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Ele liga para agendar → atendimento telefônico.</a:t>
            </a:r>
            <a:endParaRPr sz="1100"/>
          </a:p>
          <a:p>
            <a:pPr indent="-8255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Play"/>
              <a:buAutoNum type="arabicPeriod"/>
            </a:pPr>
            <a:r>
              <a:rPr lang="pt-BR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Chega ao local → recepção e ambiente.</a:t>
            </a:r>
            <a:endParaRPr sz="1100"/>
          </a:p>
          <a:p>
            <a:pPr indent="-8255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Play"/>
              <a:buAutoNum type="arabicPeriod"/>
            </a:pPr>
            <a:r>
              <a:rPr lang="pt-BR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É atendido → qualidade do corte, simpatia do profissional.</a:t>
            </a:r>
            <a:endParaRPr sz="1100"/>
          </a:p>
          <a:p>
            <a:pPr indent="-8255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Play"/>
              <a:buAutoNum type="arabicPeriod"/>
            </a:pPr>
            <a:r>
              <a:rPr lang="pt-BR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Paga e vai embora → forma de pagamento, agradecimento final.</a:t>
            </a:r>
            <a:endParaRPr sz="1100"/>
          </a:p>
          <a:p>
            <a:pPr indent="-8255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Play"/>
              <a:buAutoNum type="arabicPeriod"/>
            </a:pPr>
            <a:r>
              <a:rPr lang="pt-BR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Recebe mensagem dias depois → pós-venda ou lembrete.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Tudo isso faz parte do ciclo</a:t>
            </a:r>
            <a:r>
              <a:rPr lang="pt-BR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br>
              <a:rPr lang="pt-BR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 se uma parte falha, a </a:t>
            </a:r>
            <a:r>
              <a:rPr b="1" lang="pt-BR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experiência como um todo pode ser prejudicada.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0"/>
          <p:cNvSpPr/>
          <p:nvPr/>
        </p:nvSpPr>
        <p:spPr>
          <a:xfrm>
            <a:off x="0" y="0"/>
            <a:ext cx="9144000" cy="824700"/>
          </a:xfrm>
          <a:prstGeom prst="rect">
            <a:avLst/>
          </a:prstGeom>
          <a:solidFill>
            <a:srgbClr val="747474"/>
          </a:solidFill>
          <a:ln cap="flat" cmpd="sng" w="19050">
            <a:solidFill>
              <a:srgbClr val="74747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CARACTERÍSTICAS DE QUALIDADE DE SERVIÇOS</a:t>
            </a:r>
            <a:endParaRPr sz="1100"/>
          </a:p>
        </p:txBody>
      </p:sp>
      <p:sp>
        <p:nvSpPr>
          <p:cNvPr id="215" name="Google Shape;215;p20"/>
          <p:cNvSpPr txBox="1"/>
          <p:nvPr/>
        </p:nvSpPr>
        <p:spPr>
          <a:xfrm>
            <a:off x="456025" y="3001571"/>
            <a:ext cx="8232000" cy="11493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que é qualidade em serviços?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Qualidade em serviços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é o grau em que o serviço prestado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atende ou supera as expectativas do cliente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b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Ou seja, não basta apenas fazer o serviço — ele precisa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encantar o cliente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gerar uma percepção positiva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/>
          </a:p>
        </p:txBody>
      </p:sp>
      <p:sp>
        <p:nvSpPr>
          <p:cNvPr id="216" name="Google Shape;216;p20"/>
          <p:cNvSpPr txBox="1"/>
          <p:nvPr/>
        </p:nvSpPr>
        <p:spPr>
          <a:xfrm>
            <a:off x="456025" y="1220603"/>
            <a:ext cx="8232000" cy="127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</a:pPr>
            <a:r>
              <a:rPr b="1" lang="pt-BR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Por que isso importa?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</a:pPr>
            <a:r>
              <a:rPr lang="pt-BR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Porque </a:t>
            </a:r>
            <a:r>
              <a:rPr b="1" lang="pt-BR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não basta apenas prestar o serviço bem feito</a:t>
            </a:r>
            <a:r>
              <a:rPr lang="pt-BR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br>
              <a:rPr lang="pt-BR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Cada pequeno contato conta e </a:t>
            </a:r>
            <a:r>
              <a:rPr b="1" lang="pt-BR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precisa ser pensado com atenção</a:t>
            </a:r>
            <a:r>
              <a:rPr lang="pt-BR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para garantir que o cliente:</a:t>
            </a:r>
            <a:endParaRPr sz="1100"/>
          </a:p>
          <a:p>
            <a:pPr indent="-8255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</a:pPr>
            <a:r>
              <a:rPr lang="pt-BR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Se sinta bem tratado do começo ao fim;</a:t>
            </a:r>
            <a:endParaRPr sz="1100"/>
          </a:p>
          <a:p>
            <a:pPr indent="-8255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</a:pPr>
            <a:r>
              <a:rPr lang="pt-BR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Tenha uma experiência positiva e completa;</a:t>
            </a:r>
            <a:endParaRPr sz="1100"/>
          </a:p>
          <a:p>
            <a:pPr indent="-8255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</a:pPr>
            <a:r>
              <a:rPr lang="pt-BR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Queira voltar ou indicar para outros.</a:t>
            </a:r>
            <a:endParaRPr sz="11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21"/>
          <p:cNvSpPr/>
          <p:nvPr/>
        </p:nvSpPr>
        <p:spPr>
          <a:xfrm>
            <a:off x="0" y="0"/>
            <a:ext cx="9144000" cy="824700"/>
          </a:xfrm>
          <a:prstGeom prst="rect">
            <a:avLst/>
          </a:prstGeom>
          <a:solidFill>
            <a:srgbClr val="747474"/>
          </a:solidFill>
          <a:ln cap="flat" cmpd="sng" w="19050">
            <a:solidFill>
              <a:srgbClr val="74747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CARACTERÍSTICAS DE QUALIDADE DE SERVIÇOS</a:t>
            </a:r>
            <a:endParaRPr sz="1100"/>
          </a:p>
        </p:txBody>
      </p:sp>
      <p:sp>
        <p:nvSpPr>
          <p:cNvPr id="223" name="Google Shape;223;p21"/>
          <p:cNvSpPr txBox="1"/>
          <p:nvPr/>
        </p:nvSpPr>
        <p:spPr>
          <a:xfrm>
            <a:off x="250718" y="928064"/>
            <a:ext cx="8654100" cy="7182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que determina a qualidade de um serviço?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Segundo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Gianesi e Corrêa (1994)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os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principais fatores que influenciam a qualidade de um serviço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são:</a:t>
            </a:r>
            <a:endParaRPr sz="1100"/>
          </a:p>
        </p:txBody>
      </p:sp>
      <p:graphicFrame>
        <p:nvGraphicFramePr>
          <p:cNvPr id="224" name="Google Shape;224;p21"/>
          <p:cNvGraphicFramePr/>
          <p:nvPr/>
        </p:nvGraphicFramePr>
        <p:xfrm>
          <a:off x="250718" y="157089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{74F169FD-C481-430D-8E22-D2D5D7022F2C}</a:tableStyleId>
              </a:tblPr>
              <a:tblGrid>
                <a:gridCol w="4272650"/>
                <a:gridCol w="4253850"/>
              </a:tblGrid>
              <a:tr h="217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3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Fator</a:t>
                      </a:r>
                      <a:endParaRPr sz="1200"/>
                    </a:p>
                  </a:txBody>
                  <a:tcPr marT="25900" marB="25900" marR="46625" marL="466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Explicação</a:t>
                      </a:r>
                      <a:endParaRPr sz="1200"/>
                    </a:p>
                  </a:txBody>
                  <a:tcPr marT="25900" marB="25900" marR="46625" marL="466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4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300">
                          <a:latin typeface="Arial"/>
                          <a:ea typeface="Arial"/>
                          <a:cs typeface="Arial"/>
                          <a:sym typeface="Arial"/>
                        </a:rPr>
                        <a:t>Tangíveis</a:t>
                      </a:r>
                      <a:endParaRPr sz="13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900" marB="25900" marR="46625" marL="466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Elementos físicos que representam o serviço, como uniforme, limpeza do ambiente, materiais usados etc.</a:t>
                      </a:r>
                      <a:endParaRPr sz="1200"/>
                    </a:p>
                  </a:txBody>
                  <a:tcPr marT="25900" marB="25900" marR="46625" marL="466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300">
                          <a:latin typeface="Arial"/>
                          <a:ea typeface="Arial"/>
                          <a:cs typeface="Arial"/>
                          <a:sym typeface="Arial"/>
                        </a:rPr>
                        <a:t>Consistência</a:t>
                      </a:r>
                      <a:endParaRPr sz="13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900" marB="25900" marR="46625" marL="466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O serviço precisa manter o mesmo padrão de qualidade, sempre. Sem variações negativas.</a:t>
                      </a:r>
                      <a:endParaRPr sz="1200"/>
                    </a:p>
                  </a:txBody>
                  <a:tcPr marT="25900" marB="25900" marR="46625" marL="466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300">
                          <a:latin typeface="Arial"/>
                          <a:ea typeface="Arial"/>
                          <a:cs typeface="Arial"/>
                          <a:sym typeface="Arial"/>
                        </a:rPr>
                        <a:t>Competência</a:t>
                      </a:r>
                      <a:endParaRPr sz="13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900" marB="25900" marR="46625" marL="466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O profissional deve demonstrar conhecimento técnico e preparo.</a:t>
                      </a:r>
                      <a:endParaRPr sz="1200"/>
                    </a:p>
                  </a:txBody>
                  <a:tcPr marT="25900" marB="25900" marR="46625" marL="466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300">
                          <a:latin typeface="Arial"/>
                          <a:ea typeface="Arial"/>
                          <a:cs typeface="Arial"/>
                          <a:sym typeface="Arial"/>
                        </a:rPr>
                        <a:t>Velocidade de atendimento</a:t>
                      </a:r>
                      <a:endParaRPr sz="13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900" marB="25900" marR="46625" marL="466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O tempo de espera ou execução deve ser adequado e eficiente.</a:t>
                      </a:r>
                      <a:endParaRPr sz="1200"/>
                    </a:p>
                  </a:txBody>
                  <a:tcPr marT="25900" marB="25900" marR="46625" marL="466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300">
                          <a:latin typeface="Arial"/>
                          <a:ea typeface="Arial"/>
                          <a:cs typeface="Arial"/>
                          <a:sym typeface="Arial"/>
                        </a:rPr>
                        <a:t>Atmosfera de atendimento</a:t>
                      </a:r>
                      <a:endParaRPr sz="13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900" marB="25900" marR="46625" marL="466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Ambiente agradável, acolhedor e que transmita confiança.</a:t>
                      </a:r>
                      <a:endParaRPr sz="1200"/>
                    </a:p>
                  </a:txBody>
                  <a:tcPr marT="25900" marB="25900" marR="46625" marL="466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300">
                          <a:latin typeface="Arial"/>
                          <a:ea typeface="Arial"/>
                          <a:cs typeface="Arial"/>
                          <a:sym typeface="Arial"/>
                        </a:rPr>
                        <a:t>Flexibilidade</a:t>
                      </a:r>
                      <a:endParaRPr sz="13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900" marB="25900" marR="46625" marL="466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Capacidade de se adaptar às necessidades do cliente.</a:t>
                      </a:r>
                      <a:endParaRPr sz="1200"/>
                    </a:p>
                  </a:txBody>
                  <a:tcPr marT="25900" marB="25900" marR="46625" marL="466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300">
                          <a:latin typeface="Arial"/>
                          <a:ea typeface="Arial"/>
                          <a:cs typeface="Arial"/>
                          <a:sym typeface="Arial"/>
                        </a:rPr>
                        <a:t>Credibilidade</a:t>
                      </a:r>
                      <a:endParaRPr sz="13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900" marB="25900" marR="46625" marL="466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O cliente precisa confiar na empresa e no que está sendo oferecido.</a:t>
                      </a:r>
                      <a:endParaRPr sz="1200"/>
                    </a:p>
                  </a:txBody>
                  <a:tcPr marT="25900" marB="25900" marR="46625" marL="466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300">
                          <a:latin typeface="Arial"/>
                          <a:ea typeface="Arial"/>
                          <a:cs typeface="Arial"/>
                          <a:sym typeface="Arial"/>
                        </a:rPr>
                        <a:t>Acesso</a:t>
                      </a:r>
                      <a:endParaRPr sz="13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900" marB="25900" marR="46625" marL="466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Facilidade de contato, localização, canais de atendimento abertos.</a:t>
                      </a:r>
                      <a:endParaRPr sz="1200"/>
                    </a:p>
                  </a:txBody>
                  <a:tcPr marT="25900" marB="25900" marR="46625" marL="466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300">
                          <a:latin typeface="Arial"/>
                          <a:ea typeface="Arial"/>
                          <a:cs typeface="Arial"/>
                          <a:sym typeface="Arial"/>
                        </a:rPr>
                        <a:t>Custo</a:t>
                      </a:r>
                      <a:endParaRPr sz="13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900" marB="25900" marR="46625" marL="466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O preço deve estar de acordo com o valor percebido pelo cliente.</a:t>
                      </a:r>
                      <a:endParaRPr sz="1200"/>
                    </a:p>
                  </a:txBody>
                  <a:tcPr marT="25900" marB="25900" marR="46625" marL="466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2"/>
          <p:cNvSpPr/>
          <p:nvPr/>
        </p:nvSpPr>
        <p:spPr>
          <a:xfrm>
            <a:off x="0" y="0"/>
            <a:ext cx="9144000" cy="824700"/>
          </a:xfrm>
          <a:prstGeom prst="rect">
            <a:avLst/>
          </a:prstGeom>
          <a:solidFill>
            <a:srgbClr val="747474"/>
          </a:solidFill>
          <a:ln cap="flat" cmpd="sng" w="19050">
            <a:solidFill>
              <a:srgbClr val="74747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CARACTERÍSTICAS DE QUALIDADE DE SERVIÇOS</a:t>
            </a:r>
            <a:endParaRPr sz="1100"/>
          </a:p>
        </p:txBody>
      </p:sp>
      <p:sp>
        <p:nvSpPr>
          <p:cNvPr id="231" name="Google Shape;231;p22"/>
          <p:cNvSpPr txBox="1"/>
          <p:nvPr/>
        </p:nvSpPr>
        <p:spPr>
          <a:xfrm>
            <a:off x="418447" y="994748"/>
            <a:ext cx="8307000" cy="7182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As 4 características principais dos serviços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Além dos fatores acima, os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serviços têm 4 características naturais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que impactam diretamente sua qualidade:</a:t>
            </a:r>
            <a:endParaRPr sz="1100"/>
          </a:p>
        </p:txBody>
      </p:sp>
      <p:graphicFrame>
        <p:nvGraphicFramePr>
          <p:cNvPr id="232" name="Google Shape;232;p22"/>
          <p:cNvGraphicFramePr/>
          <p:nvPr/>
        </p:nvGraphicFramePr>
        <p:xfrm>
          <a:off x="428251" y="193430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{74F169FD-C481-430D-8E22-D2D5D7022F2C}</a:tableStyleId>
              </a:tblPr>
              <a:tblGrid>
                <a:gridCol w="4148650"/>
                <a:gridCol w="4148650"/>
              </a:tblGrid>
              <a:tr h="190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>
                          <a:latin typeface="Arial"/>
                          <a:ea typeface="Arial"/>
                          <a:cs typeface="Arial"/>
                          <a:sym typeface="Arial"/>
                        </a:rPr>
                        <a:t>Característica</a:t>
                      </a:r>
                      <a:endParaRPr sz="1200"/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>
                          <a:latin typeface="Arial"/>
                          <a:ea typeface="Arial"/>
                          <a:cs typeface="Arial"/>
                          <a:sym typeface="Arial"/>
                        </a:rPr>
                        <a:t>O que significa?</a:t>
                      </a:r>
                      <a:endParaRPr sz="1200"/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500">
                          <a:latin typeface="Arial"/>
                          <a:ea typeface="Arial"/>
                          <a:cs typeface="Arial"/>
                          <a:sym typeface="Arial"/>
                        </a:rPr>
                        <a:t>Inseparabilidade</a:t>
                      </a:r>
                      <a:endParaRPr sz="15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>
                          <a:latin typeface="Arial"/>
                          <a:ea typeface="Arial"/>
                          <a:cs typeface="Arial"/>
                          <a:sym typeface="Arial"/>
                        </a:rPr>
                        <a:t>O serviço é produzido e consumido ao mesmo tempo. Ex: um corte de cabelo só acontece com o cliente presente.</a:t>
                      </a:r>
                      <a:endParaRPr sz="1200"/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500">
                          <a:latin typeface="Arial"/>
                          <a:ea typeface="Arial"/>
                          <a:cs typeface="Arial"/>
                          <a:sym typeface="Arial"/>
                        </a:rPr>
                        <a:t>Variabilidade (ou heterogeneidade)</a:t>
                      </a:r>
                      <a:endParaRPr sz="15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>
                          <a:latin typeface="Arial"/>
                          <a:ea typeface="Arial"/>
                          <a:cs typeface="Arial"/>
                          <a:sym typeface="Arial"/>
                        </a:rPr>
                        <a:t>Um mesmo serviço pode variar de acordo com o dia, o profissional ou o cliente. Por isso, manter a </a:t>
                      </a:r>
                      <a:r>
                        <a:rPr b="1" lang="pt-BR" sz="1400">
                          <a:latin typeface="Arial"/>
                          <a:ea typeface="Arial"/>
                          <a:cs typeface="Arial"/>
                          <a:sym typeface="Arial"/>
                        </a:rPr>
                        <a:t>padronização</a:t>
                      </a:r>
                      <a:r>
                        <a:rPr lang="pt-BR" sz="1400">
                          <a:latin typeface="Arial"/>
                          <a:ea typeface="Arial"/>
                          <a:cs typeface="Arial"/>
                          <a:sym typeface="Arial"/>
                        </a:rPr>
                        <a:t> é um desafio.</a:t>
                      </a:r>
                      <a:endParaRPr sz="1200"/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500">
                          <a:latin typeface="Arial"/>
                          <a:ea typeface="Arial"/>
                          <a:cs typeface="Arial"/>
                          <a:sym typeface="Arial"/>
                        </a:rPr>
                        <a:t>Intangibilidade</a:t>
                      </a:r>
                      <a:endParaRPr sz="15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>
                          <a:latin typeface="Arial"/>
                          <a:ea typeface="Arial"/>
                          <a:cs typeface="Arial"/>
                          <a:sym typeface="Arial"/>
                        </a:rPr>
                        <a:t>Serviços não podem ser tocados ou estocados. O cliente </a:t>
                      </a:r>
                      <a:r>
                        <a:rPr b="1" lang="pt-BR" sz="1400">
                          <a:latin typeface="Arial"/>
                          <a:ea typeface="Arial"/>
                          <a:cs typeface="Arial"/>
                          <a:sym typeface="Arial"/>
                        </a:rPr>
                        <a:t>compra a experiência</a:t>
                      </a:r>
                      <a:r>
                        <a:rPr lang="pt-BR" sz="1400">
                          <a:latin typeface="Arial"/>
                          <a:ea typeface="Arial"/>
                          <a:cs typeface="Arial"/>
                          <a:sym typeface="Arial"/>
                        </a:rPr>
                        <a:t>, não um produto físico.</a:t>
                      </a:r>
                      <a:endParaRPr sz="1200"/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500">
                          <a:latin typeface="Arial"/>
                          <a:ea typeface="Arial"/>
                          <a:cs typeface="Arial"/>
                          <a:sym typeface="Arial"/>
                        </a:rPr>
                        <a:t>Perecibilidade</a:t>
                      </a:r>
                      <a:endParaRPr sz="15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>
                          <a:latin typeface="Arial"/>
                          <a:ea typeface="Arial"/>
                          <a:cs typeface="Arial"/>
                          <a:sym typeface="Arial"/>
                        </a:rPr>
                        <a:t>O serviço </a:t>
                      </a:r>
                      <a:r>
                        <a:rPr b="1" lang="pt-BR" sz="1400">
                          <a:latin typeface="Arial"/>
                          <a:ea typeface="Arial"/>
                          <a:cs typeface="Arial"/>
                          <a:sym typeface="Arial"/>
                        </a:rPr>
                        <a:t>não pode ser guardado</a:t>
                      </a:r>
                      <a:r>
                        <a:rPr lang="pt-BR" sz="1400">
                          <a:latin typeface="Arial"/>
                          <a:ea typeface="Arial"/>
                          <a:cs typeface="Arial"/>
                          <a:sym typeface="Arial"/>
                        </a:rPr>
                        <a:t> para usar depois. Se um horário de atendimento é perdido, ele não pode ser recuperado.</a:t>
                      </a:r>
                      <a:endParaRPr sz="1200"/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5f9eccaf07_1_0"/>
          <p:cNvSpPr/>
          <p:nvPr/>
        </p:nvSpPr>
        <p:spPr>
          <a:xfrm>
            <a:off x="0" y="0"/>
            <a:ext cx="9144000" cy="824700"/>
          </a:xfrm>
          <a:prstGeom prst="rect">
            <a:avLst/>
          </a:prstGeom>
          <a:solidFill>
            <a:srgbClr val="747474"/>
          </a:solidFill>
          <a:ln cap="flat" cmpd="sng" w="19050">
            <a:solidFill>
              <a:srgbClr val="74747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900">
                <a:solidFill>
                  <a:schemeClr val="lt1"/>
                </a:solidFill>
              </a:rPr>
              <a:t>CARACTERÍSTICAS DE QUALIDADE DE SERVIÇOS</a:t>
            </a:r>
            <a:endParaRPr b="1" sz="1900">
              <a:solidFill>
                <a:schemeClr val="lt1"/>
              </a:solidFill>
            </a:endParaRPr>
          </a:p>
        </p:txBody>
      </p:sp>
      <p:sp>
        <p:nvSpPr>
          <p:cNvPr id="239" name="Google Shape;239;g35f9eccaf07_1_0"/>
          <p:cNvSpPr txBox="1"/>
          <p:nvPr/>
        </p:nvSpPr>
        <p:spPr>
          <a:xfrm>
            <a:off x="702239" y="1135339"/>
            <a:ext cx="7799700" cy="13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Conclusão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Para garantir qualidade no atendimento e nos serviços prestados, é fundamental: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Conhecer as expectativas do cliente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Treinar a equipe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com base nos fatores de qualidade;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Monitorar e padronizar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 experiência do cliente;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Corrigir falhas rapidamente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 buscar sempre a melhoria contínua.</a:t>
            </a:r>
            <a:endParaRPr sz="1100"/>
          </a:p>
        </p:txBody>
      </p:sp>
      <p:sp>
        <p:nvSpPr>
          <p:cNvPr id="240" name="Google Shape;240;g35f9eccaf07_1_0"/>
          <p:cNvSpPr txBox="1"/>
          <p:nvPr/>
        </p:nvSpPr>
        <p:spPr>
          <a:xfrm>
            <a:off x="702239" y="2720418"/>
            <a:ext cx="7715400" cy="24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lang="pt-BR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Quais os 5 pilares da qualidade do atendimento ao cliente?</a:t>
            </a:r>
            <a:endParaRPr sz="1100"/>
          </a:p>
          <a:p>
            <a:pPr indent="0" lvl="0" marL="0" marR="0" rtl="0" algn="l">
              <a:lnSpc>
                <a:spcPct val="11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Coloque-se no lugar do consumidor;</a:t>
            </a:r>
            <a:endParaRPr sz="1100"/>
          </a:p>
          <a:p>
            <a:pPr indent="0" lvl="0" marL="0" marR="0" rtl="0" algn="l">
              <a:lnSpc>
                <a:spcPct val="11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Comprometa-se com seu cliente;</a:t>
            </a:r>
            <a:endParaRPr sz="1100"/>
          </a:p>
          <a:p>
            <a:pPr indent="0" lvl="0" marL="0" marR="0" rtl="0" algn="l">
              <a:lnSpc>
                <a:spcPct val="11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Atenda as necessidades do cliente;</a:t>
            </a:r>
            <a:endParaRPr sz="1100"/>
          </a:p>
          <a:p>
            <a:pPr indent="0" lvl="0" marL="0" marR="0" rtl="0" algn="l">
              <a:lnSpc>
                <a:spcPct val="11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Mantenha seus prazos organizados;</a:t>
            </a:r>
            <a:endParaRPr sz="1100"/>
          </a:p>
          <a:p>
            <a:pPr indent="0" lvl="0" marL="0" marR="0" rtl="0" algn="l">
              <a:lnSpc>
                <a:spcPct val="11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Supere as expectativas.</a:t>
            </a:r>
            <a:endParaRPr b="1"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747474"/>
        </a:solidFill>
      </p:bgPr>
    </p:bg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24"/>
          <p:cNvSpPr txBox="1"/>
          <p:nvPr/>
        </p:nvSpPr>
        <p:spPr>
          <a:xfrm>
            <a:off x="396928" y="660300"/>
            <a:ext cx="84057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EXCELÊNCIA NO ATENDIMENTO</a:t>
            </a:r>
            <a:endParaRPr sz="1100"/>
          </a:p>
        </p:txBody>
      </p:sp>
      <p:sp>
        <p:nvSpPr>
          <p:cNvPr id="246" name="Google Shape;246;p24"/>
          <p:cNvSpPr txBox="1"/>
          <p:nvPr/>
        </p:nvSpPr>
        <p:spPr>
          <a:xfrm flipH="1">
            <a:off x="396779" y="1250200"/>
            <a:ext cx="6207300" cy="36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PROFESSOR: LEONILSON SOUZA</a:t>
            </a:r>
            <a:endParaRPr sz="1100"/>
          </a:p>
        </p:txBody>
      </p:sp>
      <p:sp>
        <p:nvSpPr>
          <p:cNvPr id="247" name="Google Shape;247;p24"/>
          <p:cNvSpPr txBox="1"/>
          <p:nvPr/>
        </p:nvSpPr>
        <p:spPr>
          <a:xfrm>
            <a:off x="1468285" y="2224834"/>
            <a:ext cx="62073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ATIV</a:t>
            </a:r>
            <a:r>
              <a:rPr b="1" lang="pt-BR" sz="3100">
                <a:solidFill>
                  <a:schemeClr val="lt1"/>
                </a:solidFill>
              </a:rPr>
              <a:t>IDADE</a:t>
            </a:r>
            <a:endParaRPr sz="1100"/>
          </a:p>
        </p:txBody>
      </p:sp>
      <p:sp>
        <p:nvSpPr>
          <p:cNvPr id="248" name="Google Shape;248;p24"/>
          <p:cNvSpPr txBox="1"/>
          <p:nvPr/>
        </p:nvSpPr>
        <p:spPr>
          <a:xfrm>
            <a:off x="67686" y="3146367"/>
            <a:ext cx="9008700" cy="1149300"/>
          </a:xfrm>
          <a:prstGeom prst="rect">
            <a:avLst/>
          </a:prstGeom>
          <a:solidFill>
            <a:srgbClr val="7F340D"/>
          </a:solidFill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Instruções:</a:t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Você pode usar o Google e outras fontes online para responder.</a:t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As respostas deve ser bem elaboradas (não precisa escrever muito, mas também não vale só uma frase curta).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Evite copiar e colar direto da internet. Leia, entenda e escreva com suas próprias palavras.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Todo empenho e esforço para respostas com suas próprias palavras será notado.</a:t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23"/>
          <p:cNvSpPr/>
          <p:nvPr/>
        </p:nvSpPr>
        <p:spPr>
          <a:xfrm>
            <a:off x="0" y="0"/>
            <a:ext cx="9144000" cy="824700"/>
          </a:xfrm>
          <a:prstGeom prst="rect">
            <a:avLst/>
          </a:prstGeom>
          <a:solidFill>
            <a:srgbClr val="747474"/>
          </a:solidFill>
          <a:ln cap="flat" cmpd="sng" w="19050">
            <a:solidFill>
              <a:srgbClr val="74747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900">
                <a:solidFill>
                  <a:schemeClr val="lt1"/>
                </a:solidFill>
              </a:rPr>
              <a:t>ATIVIDADE</a:t>
            </a:r>
            <a:endParaRPr sz="1100"/>
          </a:p>
        </p:txBody>
      </p:sp>
      <p:sp>
        <p:nvSpPr>
          <p:cNvPr id="255" name="Google Shape;255;p23"/>
          <p:cNvSpPr txBox="1"/>
          <p:nvPr/>
        </p:nvSpPr>
        <p:spPr>
          <a:xfrm>
            <a:off x="68750" y="1118050"/>
            <a:ext cx="8948400" cy="42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-273050" lvl="0" marL="355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</a:pPr>
            <a:r>
              <a:rPr b="1" lang="pt-BR" sz="1500">
                <a:solidFill>
                  <a:schemeClr val="dk1"/>
                </a:solidFill>
                <a:highlight>
                  <a:srgbClr val="FF0000"/>
                </a:highlight>
              </a:rPr>
              <a:t>1.</a:t>
            </a:r>
            <a:r>
              <a:rPr b="1" lang="pt-BR" sz="1500">
                <a:solidFill>
                  <a:schemeClr val="dk1"/>
                </a:solidFill>
              </a:rPr>
              <a:t> O que significa "Excelência no Atendimento"? Dê uma definição simples com suas palavras.</a:t>
            </a:r>
            <a:endParaRPr b="1" sz="1500">
              <a:solidFill>
                <a:schemeClr val="dk1"/>
              </a:solidFill>
            </a:endParaRPr>
          </a:p>
          <a:p>
            <a:pPr indent="-273050" lvl="0" marL="355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</a:pPr>
            <a:r>
              <a:rPr b="1" lang="pt-BR" sz="1500">
                <a:solidFill>
                  <a:schemeClr val="dk1"/>
                </a:solidFill>
                <a:highlight>
                  <a:srgbClr val="FF0000"/>
                </a:highlight>
              </a:rPr>
              <a:t>2.</a:t>
            </a:r>
            <a:r>
              <a:rPr b="1" lang="pt-BR" sz="1500">
                <a:solidFill>
                  <a:schemeClr val="dk1"/>
                </a:solidFill>
              </a:rPr>
              <a:t> Por que o bom atendimento pode ser mais importante do que o preço de um produto?</a:t>
            </a:r>
            <a:endParaRPr b="1" sz="1500">
              <a:solidFill>
                <a:schemeClr val="dk1"/>
              </a:solidFill>
            </a:endParaRPr>
          </a:p>
          <a:p>
            <a:pPr indent="-273050" lvl="0" marL="355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</a:pPr>
            <a:r>
              <a:rPr b="1" lang="pt-BR" sz="1500">
                <a:solidFill>
                  <a:schemeClr val="dk1"/>
                </a:solidFill>
                <a:highlight>
                  <a:srgbClr val="FF0000"/>
                </a:highlight>
              </a:rPr>
              <a:t>3.</a:t>
            </a:r>
            <a:r>
              <a:rPr b="1" lang="pt-BR" sz="1500">
                <a:solidFill>
                  <a:schemeClr val="dk1"/>
                </a:solidFill>
              </a:rPr>
              <a:t> O que é fidelização de clientes e por que ela é importante para uma empresa?</a:t>
            </a:r>
            <a:endParaRPr b="1" sz="1500">
              <a:solidFill>
                <a:schemeClr val="dk1"/>
              </a:solidFill>
            </a:endParaRPr>
          </a:p>
          <a:p>
            <a:pPr indent="-273050" lvl="0" marL="355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</a:pPr>
            <a:r>
              <a:rPr b="1" lang="pt-BR" sz="1500">
                <a:solidFill>
                  <a:schemeClr val="dk1"/>
                </a:solidFill>
                <a:highlight>
                  <a:srgbClr val="FF0000"/>
                </a:highlight>
              </a:rPr>
              <a:t>4.</a:t>
            </a:r>
            <a:r>
              <a:rPr b="1" lang="pt-BR" sz="1500">
                <a:solidFill>
                  <a:schemeClr val="dk1"/>
                </a:solidFill>
              </a:rPr>
              <a:t> Segundo especialistas, quais são as consequências de prometer e não cumprir no atendimento?</a:t>
            </a:r>
            <a:endParaRPr b="1" sz="1500">
              <a:solidFill>
                <a:schemeClr val="dk1"/>
              </a:solidFill>
            </a:endParaRPr>
          </a:p>
          <a:p>
            <a:pPr indent="-273050" lvl="0" marL="355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</a:pPr>
            <a:r>
              <a:rPr b="1" lang="pt-BR" sz="1500">
                <a:solidFill>
                  <a:schemeClr val="dk1"/>
                </a:solidFill>
                <a:highlight>
                  <a:srgbClr val="FF0000"/>
                </a:highlight>
              </a:rPr>
              <a:t>5.</a:t>
            </a:r>
            <a:r>
              <a:rPr b="1" lang="pt-BR" sz="1500">
                <a:solidFill>
                  <a:schemeClr val="dk1"/>
                </a:solidFill>
              </a:rPr>
              <a:t> Explique com suas palavras por que falar a verdade é essencial no atendimento ao cliente.</a:t>
            </a:r>
            <a:endParaRPr b="1" sz="1500">
              <a:solidFill>
                <a:schemeClr val="dk1"/>
              </a:solidFill>
            </a:endParaRPr>
          </a:p>
          <a:p>
            <a:pPr indent="-273050" lvl="0" marL="355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</a:pPr>
            <a:r>
              <a:rPr b="1" lang="pt-BR" sz="1500">
                <a:solidFill>
                  <a:schemeClr val="dk1"/>
                </a:solidFill>
                <a:highlight>
                  <a:srgbClr val="FF0000"/>
                </a:highlight>
              </a:rPr>
              <a:t>6.</a:t>
            </a:r>
            <a:r>
              <a:rPr b="1" lang="pt-BR" sz="1500">
                <a:solidFill>
                  <a:schemeClr val="dk1"/>
                </a:solidFill>
              </a:rPr>
              <a:t> O que pode acontecer com a imagem de uma empresa que não cumpre prazos?</a:t>
            </a:r>
            <a:endParaRPr b="1" sz="1500">
              <a:solidFill>
                <a:schemeClr val="dk1"/>
              </a:solidFill>
            </a:endParaRPr>
          </a:p>
          <a:p>
            <a:pPr indent="-273050" lvl="0" marL="355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</a:pPr>
            <a:r>
              <a:rPr b="1" lang="pt-BR" sz="1500">
                <a:solidFill>
                  <a:schemeClr val="dk1"/>
                </a:solidFill>
                <a:highlight>
                  <a:srgbClr val="FF0000"/>
                </a:highlight>
              </a:rPr>
              <a:t>7.</a:t>
            </a:r>
            <a:r>
              <a:rPr b="1" lang="pt-BR" sz="1500">
                <a:solidFill>
                  <a:schemeClr val="dk1"/>
                </a:solidFill>
              </a:rPr>
              <a:t> Como a agilidade no atendimento pode influenciar na decisão de compra de um cliente?</a:t>
            </a:r>
            <a:endParaRPr b="1" sz="1500">
              <a:solidFill>
                <a:schemeClr val="dk1"/>
              </a:solidFill>
            </a:endParaRPr>
          </a:p>
          <a:p>
            <a:pPr indent="-273050" lvl="0" marL="355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</a:pPr>
            <a:r>
              <a:rPr b="1" lang="pt-BR" sz="1500">
                <a:solidFill>
                  <a:schemeClr val="dk1"/>
                </a:solidFill>
                <a:highlight>
                  <a:srgbClr val="FF0000"/>
                </a:highlight>
              </a:rPr>
              <a:t>8. </a:t>
            </a:r>
            <a:r>
              <a:rPr b="1" lang="pt-BR" sz="1500">
                <a:solidFill>
                  <a:schemeClr val="dk1"/>
                </a:solidFill>
              </a:rPr>
              <a:t>O que significa ouvir com sentimento de escutar? Como isso pode ajudar no atendimento?</a:t>
            </a:r>
            <a:endParaRPr b="1" sz="1500">
              <a:solidFill>
                <a:schemeClr val="dk1"/>
              </a:solidFill>
            </a:endParaRPr>
          </a:p>
          <a:p>
            <a:pPr indent="-273050" lvl="0" marL="355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</a:pPr>
            <a:r>
              <a:rPr b="1" lang="pt-BR" sz="1500">
                <a:solidFill>
                  <a:schemeClr val="dk1"/>
                </a:solidFill>
                <a:highlight>
                  <a:srgbClr val="FF0000"/>
                </a:highlight>
              </a:rPr>
              <a:t>9.</a:t>
            </a:r>
            <a:r>
              <a:rPr b="1" lang="pt-BR" sz="1500">
                <a:solidFill>
                  <a:schemeClr val="dk1"/>
                </a:solidFill>
              </a:rPr>
              <a:t> Por que é importante olhar nos olhos do cliente durante o atendimento?</a:t>
            </a:r>
            <a:endParaRPr b="1" sz="1500">
              <a:solidFill>
                <a:schemeClr val="dk1"/>
              </a:solidFill>
            </a:endParaRPr>
          </a:p>
          <a:p>
            <a:pPr indent="-273050" lvl="0" marL="355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</a:pPr>
            <a:r>
              <a:rPr b="1" lang="pt-BR" sz="1500">
                <a:solidFill>
                  <a:schemeClr val="dk1"/>
                </a:solidFill>
                <a:highlight>
                  <a:srgbClr val="FF0000"/>
                </a:highlight>
              </a:rPr>
              <a:t>10.</a:t>
            </a:r>
            <a:r>
              <a:rPr b="1" lang="pt-BR" sz="1500">
                <a:solidFill>
                  <a:schemeClr val="dk1"/>
                </a:solidFill>
              </a:rPr>
              <a:t> O que a ansiedade pode causar em quem trabalha com atendimento? Como controlar isso?</a:t>
            </a:r>
            <a:endParaRPr b="1" sz="1500">
              <a:solidFill>
                <a:schemeClr val="dk1"/>
              </a:solidFill>
            </a:endParaRPr>
          </a:p>
          <a:p>
            <a:pPr indent="-273050" lvl="0" marL="355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</a:pPr>
            <a:r>
              <a:rPr b="1" lang="pt-BR" sz="1500">
                <a:solidFill>
                  <a:schemeClr val="dk1"/>
                </a:solidFill>
                <a:highlight>
                  <a:srgbClr val="FF0000"/>
                </a:highlight>
              </a:rPr>
              <a:t>11.</a:t>
            </a:r>
            <a:r>
              <a:rPr b="1" lang="pt-BR" sz="1500">
                <a:solidFill>
                  <a:schemeClr val="dk1"/>
                </a:solidFill>
              </a:rPr>
              <a:t> Qual a importância de dar retorno ao cliente mesmo que o problema ainda não tenha sido resolvido?</a:t>
            </a:r>
            <a:endParaRPr b="1" sz="1500">
              <a:solidFill>
                <a:schemeClr val="dk1"/>
              </a:solidFill>
            </a:endParaRPr>
          </a:p>
          <a:p>
            <a:pPr indent="-273050" lvl="0" marL="355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</a:pPr>
            <a:r>
              <a:rPr b="1" lang="pt-BR" sz="1500">
                <a:solidFill>
                  <a:schemeClr val="dk1"/>
                </a:solidFill>
                <a:highlight>
                  <a:srgbClr val="FF0000"/>
                </a:highlight>
              </a:rPr>
              <a:t>12.</a:t>
            </a:r>
            <a:r>
              <a:rPr b="1" lang="pt-BR" sz="1500">
                <a:solidFill>
                  <a:schemeClr val="dk1"/>
                </a:solidFill>
              </a:rPr>
              <a:t> De que forma um sorriso sincero pode influenciar no relacionamento com o cliente?</a:t>
            </a:r>
            <a:endParaRPr b="1" sz="1500">
              <a:solidFill>
                <a:schemeClr val="dk1"/>
              </a:solidFill>
            </a:endParaRPr>
          </a:p>
          <a:p>
            <a:pPr indent="0" lvl="0" marL="3556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o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o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2025-05-21T18:03:11Z</dcterms:created>
  <dc:creator>leo Souza</dc:creator>
</cp:coreProperties>
</file>