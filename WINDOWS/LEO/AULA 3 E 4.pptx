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715000" cx="9144000"/>
  <p:notesSz cx="6858000" cy="9144000"/>
  <p:embeddedFontLst>
    <p:embeddedFont>
      <p:font typeface="Play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F8BD26E-B4AA-44EE-BE93-97244FB82E38}">
  <a:tblStyle styleId="{5F8BD26E-B4AA-44EE-BE93-97244FB82E3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lay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Play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87836d7ef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87836d7efd_0_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72dfab385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72dfab3851_0_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5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6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7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8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9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89"/>
              <a:buFont typeface="Play"/>
              <a:buNone/>
              <a:defRPr sz="2488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17" name="Google Shape;17;p2"/>
          <p:cNvSpPr/>
          <p:nvPr>
            <p:ph idx="2" type="pic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" name="Google Shape;18;p2"/>
          <p:cNvSpPr txBox="1"/>
          <p:nvPr>
            <p:ph idx="1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1pPr>
            <a:lvl2pPr indent="-2286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089"/>
              <a:buNone/>
              <a:defRPr sz="1088"/>
            </a:lvl2pPr>
            <a:lvl3pPr indent="-2286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933"/>
              <a:buNone/>
              <a:defRPr sz="933"/>
            </a:lvl3pPr>
            <a:lvl4pPr indent="-2286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4pPr>
            <a:lvl5pPr indent="-2286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5pPr>
            <a:lvl6pPr indent="-2286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6pPr>
            <a:lvl7pPr indent="-2286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7pPr>
            <a:lvl8pPr indent="-2286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8pPr>
            <a:lvl9pPr indent="-2286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20" name="Google Shape;20;p2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ctrTitle"/>
          </p:nvPr>
        </p:nvSpPr>
        <p:spPr>
          <a:xfrm>
            <a:off x="1143000" y="935303"/>
            <a:ext cx="6858000" cy="19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67"/>
              <a:buFont typeface="Play"/>
              <a:buNone/>
              <a:defRPr sz="4666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28" name="Google Shape;28;p4"/>
          <p:cNvSpPr txBox="1"/>
          <p:nvPr>
            <p:ph idx="1" type="subTitle"/>
          </p:nvPr>
        </p:nvSpPr>
        <p:spPr>
          <a:xfrm>
            <a:off x="1143000" y="3001698"/>
            <a:ext cx="68580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6"/>
            </a:lvl1pPr>
            <a:lvl2pPr lvl="1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None/>
              <a:defRPr sz="1555"/>
            </a:lvl2pPr>
            <a:lvl3pPr lvl="2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4pPr>
            <a:lvl5pPr lvl="4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5pPr>
            <a:lvl6pPr lvl="5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6pPr>
            <a:lvl7pPr lvl="6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7pPr>
            <a:lvl8pPr lvl="7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8pPr>
            <a:lvl9pPr lvl="8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422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34" name="Google Shape;34;p5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623888" y="1424782"/>
            <a:ext cx="7886700" cy="23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67"/>
              <a:buFont typeface="Play"/>
              <a:buNone/>
              <a:defRPr sz="4666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40" name="Google Shape;40;p6"/>
          <p:cNvSpPr txBox="1"/>
          <p:nvPr>
            <p:ph idx="1" type="body"/>
          </p:nvPr>
        </p:nvSpPr>
        <p:spPr>
          <a:xfrm>
            <a:off x="623888" y="3824553"/>
            <a:ext cx="78867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rgbClr val="757575"/>
              </a:buClr>
              <a:buSzPts val="1867"/>
              <a:buNone/>
              <a:defRPr sz="1866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556"/>
              <a:buNone/>
              <a:defRPr sz="1555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244"/>
              <a:buNone/>
              <a:defRPr sz="1244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244"/>
              <a:buNone/>
              <a:defRPr sz="1244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244"/>
              <a:buNone/>
              <a:defRPr sz="1244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244"/>
              <a:buNone/>
              <a:defRPr sz="1244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244"/>
              <a:buNone/>
              <a:defRPr sz="1244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244"/>
              <a:buNone/>
              <a:defRPr sz="1244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422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6286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46291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48" name="Google Shape;48;p7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49" name="Google Shape;49;p7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629841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422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53" name="Google Shape;53;p8"/>
          <p:cNvSpPr txBox="1"/>
          <p:nvPr>
            <p:ph idx="1" type="body"/>
          </p:nvPr>
        </p:nvSpPr>
        <p:spPr>
          <a:xfrm>
            <a:off x="629841" y="1400969"/>
            <a:ext cx="38682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b="1" sz="1866"/>
            </a:lvl1pPr>
            <a:lvl2pPr indent="-2286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None/>
              <a:defRPr b="1" sz="1555"/>
            </a:lvl2pPr>
            <a:lvl3pPr indent="-2286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4pPr>
            <a:lvl5pPr indent="-2286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5pPr>
            <a:lvl6pPr indent="-2286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6pPr>
            <a:lvl7pPr indent="-2286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7pPr>
            <a:lvl8pPr indent="-2286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8pPr>
            <a:lvl9pPr indent="-2286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9pPr>
          </a:lstStyle>
          <a:p/>
        </p:txBody>
      </p:sp>
      <p:sp>
        <p:nvSpPr>
          <p:cNvPr id="54" name="Google Shape;54;p8"/>
          <p:cNvSpPr txBox="1"/>
          <p:nvPr>
            <p:ph idx="2" type="body"/>
          </p:nvPr>
        </p:nvSpPr>
        <p:spPr>
          <a:xfrm>
            <a:off x="629841" y="2087563"/>
            <a:ext cx="38682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55" name="Google Shape;55;p8"/>
          <p:cNvSpPr txBox="1"/>
          <p:nvPr>
            <p:ph idx="3" type="body"/>
          </p:nvPr>
        </p:nvSpPr>
        <p:spPr>
          <a:xfrm>
            <a:off x="4629150" y="1400969"/>
            <a:ext cx="3887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b="1" sz="1866"/>
            </a:lvl1pPr>
            <a:lvl2pPr indent="-2286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None/>
              <a:defRPr b="1" sz="1555"/>
            </a:lvl2pPr>
            <a:lvl3pPr indent="-2286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4pPr>
            <a:lvl5pPr indent="-2286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5pPr>
            <a:lvl6pPr indent="-2286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6pPr>
            <a:lvl7pPr indent="-2286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7pPr>
            <a:lvl8pPr indent="-2286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8pPr>
            <a:lvl9pPr indent="-2286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9pPr>
          </a:lstStyle>
          <a:p/>
        </p:txBody>
      </p:sp>
      <p:sp>
        <p:nvSpPr>
          <p:cNvPr id="56" name="Google Shape;56;p8"/>
          <p:cNvSpPr txBox="1"/>
          <p:nvPr>
            <p:ph idx="4" type="body"/>
          </p:nvPr>
        </p:nvSpPr>
        <p:spPr>
          <a:xfrm>
            <a:off x="4629150" y="2087563"/>
            <a:ext cx="38874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57" name="Google Shape;57;p8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58" name="Google Shape;58;p8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422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89"/>
              <a:buFont typeface="Play"/>
              <a:buNone/>
              <a:defRPr sz="2488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86644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2489"/>
              <a:buChar char="•"/>
              <a:defRPr sz="2488"/>
            </a:lvl1pPr>
            <a:lvl2pPr indent="-366889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2178"/>
              <a:buChar char="•"/>
              <a:defRPr sz="2177"/>
            </a:lvl2pPr>
            <a:lvl3pPr indent="-347133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867"/>
              <a:buChar char="•"/>
              <a:defRPr sz="1866"/>
            </a:lvl3pPr>
            <a:lvl4pPr indent="-327378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4pPr>
            <a:lvl5pPr indent="-327378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5pPr>
            <a:lvl6pPr indent="-327378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6pPr>
            <a:lvl7pPr indent="-327378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7pPr>
            <a:lvl8pPr indent="-327378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8pPr>
            <a:lvl9pPr indent="-327378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9pPr>
          </a:lstStyle>
          <a:p/>
        </p:txBody>
      </p:sp>
      <p:sp>
        <p:nvSpPr>
          <p:cNvPr id="68" name="Google Shape;68;p10"/>
          <p:cNvSpPr txBox="1"/>
          <p:nvPr>
            <p:ph idx="2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1pPr>
            <a:lvl2pPr indent="-2286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089"/>
              <a:buNone/>
              <a:defRPr sz="1088"/>
            </a:lvl2pPr>
            <a:lvl3pPr indent="-2286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933"/>
              <a:buNone/>
              <a:defRPr sz="933"/>
            </a:lvl3pPr>
            <a:lvl4pPr indent="-2286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4pPr>
            <a:lvl5pPr indent="-2286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5pPr>
            <a:lvl6pPr indent="-2286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6pPr>
            <a:lvl7pPr indent="-2286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7pPr>
            <a:lvl8pPr indent="-2286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8pPr>
            <a:lvl9pPr indent="-2286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422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758950" y="-608946"/>
            <a:ext cx="36261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5107950" y="1740071"/>
            <a:ext cx="48432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422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107375" y="-174529"/>
            <a:ext cx="48432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22"/>
              <a:buFont typeface="Play"/>
              <a:buNone/>
              <a:defRPr b="0" i="0" sz="342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66889" lvl="0" marL="457200" marR="0" rtl="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2178"/>
              <a:buFont typeface="Arial"/>
              <a:buChar char="•"/>
              <a:defRPr b="0" i="0" sz="21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7133" lvl="1" marL="9144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Char char="•"/>
              <a:defRPr b="0" i="0" sz="18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7378" lvl="2" marL="13716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Char char="•"/>
              <a:defRPr b="0" i="0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060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5035463" y="981206"/>
            <a:ext cx="3335100" cy="3705600"/>
          </a:xfrm>
          <a:prstGeom prst="ellipse">
            <a:avLst/>
          </a:prstGeom>
          <a:solidFill>
            <a:schemeClr val="lt1"/>
          </a:solidFill>
          <a:ln cap="flat" cmpd="sng" w="148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 txBox="1"/>
          <p:nvPr>
            <p:ph type="title"/>
          </p:nvPr>
        </p:nvSpPr>
        <p:spPr>
          <a:xfrm>
            <a:off x="1389615" y="2489548"/>
            <a:ext cx="25644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33"/>
              <a:buFont typeface="Arial"/>
              <a:buNone/>
            </a:pPr>
            <a:r>
              <a:rPr lang="pt-BR" sz="3733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WINDOWS</a:t>
            </a:r>
            <a:r>
              <a:rPr lang="pt-BR" sz="3733">
                <a:latin typeface="Arial"/>
                <a:ea typeface="Arial"/>
                <a:cs typeface="Arial"/>
                <a:sym typeface="Arial"/>
              </a:rPr>
              <a:t> </a:t>
            </a:r>
            <a:endParaRPr sz="2488"/>
          </a:p>
        </p:txBody>
      </p:sp>
      <p:sp>
        <p:nvSpPr>
          <p:cNvPr id="90" name="Google Shape;90;p13"/>
          <p:cNvSpPr txBox="1"/>
          <p:nvPr>
            <p:ph idx="1" type="body"/>
          </p:nvPr>
        </p:nvSpPr>
        <p:spPr>
          <a:xfrm>
            <a:off x="629840" y="3204573"/>
            <a:ext cx="46029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 fontScale="85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pt-BR" sz="2488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 sz="1244"/>
          </a:p>
        </p:txBody>
      </p:sp>
      <p:pic>
        <p:nvPicPr>
          <p:cNvPr descr="Tela de computador com fundo azul&#10;&#10;O conteúdo gerado por IA pode estar incorreto." id="91" name="Google Shape;91;p1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0043" r="20042" t="0"/>
          <a:stretch/>
        </p:blipFill>
        <p:spPr>
          <a:xfrm>
            <a:off x="4847573" y="1358762"/>
            <a:ext cx="3522944" cy="29505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48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4"/>
          <p:cNvSpPr txBox="1"/>
          <p:nvPr/>
        </p:nvSpPr>
        <p:spPr>
          <a:xfrm flipH="1">
            <a:off x="879001" y="155400"/>
            <a:ext cx="79248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7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BLOCO DE NOTAS: MUITO MAIS DO QUE SÓ DIGITAR</a:t>
            </a:r>
            <a:endParaRPr sz="1088"/>
          </a:p>
        </p:txBody>
      </p:sp>
      <p:sp>
        <p:nvSpPr>
          <p:cNvPr id="98" name="Google Shape;98;p14"/>
          <p:cNvSpPr/>
          <p:nvPr/>
        </p:nvSpPr>
        <p:spPr>
          <a:xfrm>
            <a:off x="170091" y="1070942"/>
            <a:ext cx="8803800" cy="22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None/>
            </a:pPr>
            <a:r>
              <a:rPr b="0" i="0" lang="pt-BR" sz="18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b="1" i="0" lang="pt-BR" sz="18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Bloco de Notas</a:t>
            </a:r>
            <a:r>
              <a:rPr b="0" i="0" lang="pt-BR" sz="18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um programa simples do Windows que parece ser só p</a:t>
            </a:r>
            <a:r>
              <a:rPr lang="pt-BR" sz="18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pt-BR" sz="18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 escrever…</a:t>
            </a:r>
            <a:br>
              <a:rPr b="0" i="0" lang="pt-BR" sz="18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8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 a verdade é que </a:t>
            </a:r>
            <a:r>
              <a:rPr b="1" i="0" lang="pt-BR" sz="18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dá pra fazer MUITA coisa legal com ele!</a:t>
            </a:r>
            <a:r>
              <a:rPr b="0" i="0" lang="pt-BR" sz="18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None/>
            </a:pPr>
            <a:r>
              <a:rPr b="0" i="0" lang="pt-BR" sz="18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ele, você pode:</a:t>
            </a:r>
            <a:endParaRPr sz="1088"/>
          </a:p>
          <a:p>
            <a:pPr indent="-118533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Char char="•"/>
            </a:pPr>
            <a:r>
              <a:rPr lang="pt-BR" sz="1866">
                <a:solidFill>
                  <a:schemeClr val="dk1"/>
                </a:solidFill>
              </a:rPr>
              <a:t> </a:t>
            </a:r>
            <a:r>
              <a:rPr b="0" i="0" lang="pt-BR" sz="18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Escrever textos</a:t>
            </a:r>
            <a:endParaRPr sz="1088"/>
          </a:p>
          <a:p>
            <a:pPr indent="-118533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Char char="•"/>
            </a:pPr>
            <a:r>
              <a:rPr lang="pt-BR" sz="1866">
                <a:solidFill>
                  <a:schemeClr val="dk1"/>
                </a:solidFill>
              </a:rPr>
              <a:t> </a:t>
            </a:r>
            <a:r>
              <a:rPr b="0" i="0" lang="pt-BR" sz="18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Fazer anotações</a:t>
            </a:r>
            <a:endParaRPr sz="1088"/>
          </a:p>
          <a:p>
            <a:pPr indent="-118533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Char char="•"/>
            </a:pPr>
            <a:r>
              <a:rPr lang="pt-BR" sz="1866">
                <a:solidFill>
                  <a:schemeClr val="dk1"/>
                </a:solidFill>
              </a:rPr>
              <a:t> </a:t>
            </a:r>
            <a:r>
              <a:rPr b="0" i="0" lang="pt-BR" sz="18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 um diário com data e hora e muito mais.</a:t>
            </a:r>
            <a:endParaRPr sz="1088"/>
          </a:p>
        </p:txBody>
      </p:sp>
      <p:sp>
        <p:nvSpPr>
          <p:cNvPr id="99" name="Google Shape;99;p14"/>
          <p:cNvSpPr txBox="1"/>
          <p:nvPr/>
        </p:nvSpPr>
        <p:spPr>
          <a:xfrm>
            <a:off x="216441" y="4309638"/>
            <a:ext cx="8711100" cy="12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None/>
            </a:pPr>
            <a:r>
              <a:rPr b="1" lang="pt-BR" sz="155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Personalizar e Formalizar seu texto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None/>
            </a:pPr>
            <a:r>
              <a:rPr lang="pt-BR" sz="155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Além de escrever, o Bloco de Notas permite:</a:t>
            </a:r>
            <a:endParaRPr sz="1088"/>
          </a:p>
          <a:p>
            <a:pPr indent="-98778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Char char="•"/>
            </a:pPr>
            <a:r>
              <a:rPr b="1" lang="pt-BR" sz="1555">
                <a:solidFill>
                  <a:schemeClr val="dk1"/>
                </a:solidFill>
              </a:rPr>
              <a:t> </a:t>
            </a:r>
            <a:r>
              <a:rPr b="1" lang="pt-BR" sz="155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Colocar cabeçalho e rodapé</a:t>
            </a:r>
            <a:r>
              <a:rPr lang="pt-BR" sz="155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menu “Arquivo &gt; Configurar página”</a:t>
            </a:r>
            <a:endParaRPr sz="1088"/>
          </a:p>
          <a:p>
            <a:pPr indent="-98778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Char char="•"/>
            </a:pPr>
            <a:r>
              <a:rPr b="1" lang="pt-BR" sz="1555">
                <a:solidFill>
                  <a:schemeClr val="dk1"/>
                </a:solidFill>
              </a:rPr>
              <a:t> </a:t>
            </a:r>
            <a:r>
              <a:rPr b="1" lang="pt-BR" sz="155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Mudar a fonte</a:t>
            </a:r>
            <a:r>
              <a:rPr lang="pt-BR" sz="155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(tipo de letra) acessando “Formatar &gt; Fonte”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5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Isso ajuda a deixar os textos mais organizados e com o nosso estilo.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48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7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COMO SALVAR E ABRIR ARQUIVOS NO BLOCO DE NOTAS</a:t>
            </a:r>
            <a:endParaRPr sz="1088"/>
          </a:p>
        </p:txBody>
      </p:sp>
      <p:sp>
        <p:nvSpPr>
          <p:cNvPr id="105" name="Google Shape;105;p15"/>
          <p:cNvSpPr txBox="1"/>
          <p:nvPr/>
        </p:nvSpPr>
        <p:spPr>
          <a:xfrm>
            <a:off x="326953" y="1074908"/>
            <a:ext cx="4728900" cy="43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Sabe quando a gente escreve algo e não quer perder? Aí que entra a função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salvar o arquivo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Bloco de Notas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é bem fácil: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salvar seu texto: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no menu lá em cima, onde está escrito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Arquivo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Salvar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(se for a primeira vez ou se só quiser atualizar o que já escreveu)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quiser fazer uma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cópia diferente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Salvar Como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Você pode escolher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nome do arquivo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a </a:t>
            </a:r>
            <a:r>
              <a:rPr i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pasta onde ele vai ficar guardado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(como a pasta “Documentos”).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abrir um texto que já está salvo: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de novo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Arquivo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Depois, escolha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Abrir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Vai aparecer uma janela com os arquivos.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pt-BR" sz="1400">
                <a:solidFill>
                  <a:schemeClr val="dk1"/>
                </a:solidFill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duas vezes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que você quer abrir — pronto!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terface gráfica do usuário, Aplicativo, Email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7584" y="1074908"/>
            <a:ext cx="3209463" cy="17001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ce gráfica do usuário, Aplicativo&#10;&#10;O conteúdo gerado por IA pode estar incorreto."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79926" y="3306288"/>
            <a:ext cx="1864779" cy="180762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/>
          <p:nvPr/>
        </p:nvSpPr>
        <p:spPr>
          <a:xfrm>
            <a:off x="5209409" y="1904277"/>
            <a:ext cx="566100" cy="115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1482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5996834" y="3885667"/>
            <a:ext cx="566100" cy="119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1482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060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/>
          <p:nvPr/>
        </p:nvSpPr>
        <p:spPr>
          <a:xfrm>
            <a:off x="5035463" y="981206"/>
            <a:ext cx="3335100" cy="3705600"/>
          </a:xfrm>
          <a:prstGeom prst="ellipse">
            <a:avLst/>
          </a:prstGeom>
          <a:solidFill>
            <a:schemeClr val="lt1"/>
          </a:solidFill>
          <a:ln cap="flat" cmpd="sng" w="148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6"/>
          <p:cNvSpPr txBox="1"/>
          <p:nvPr>
            <p:ph type="title"/>
          </p:nvPr>
        </p:nvSpPr>
        <p:spPr>
          <a:xfrm>
            <a:off x="1389615" y="2489548"/>
            <a:ext cx="25644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33"/>
              <a:buFont typeface="Arial"/>
              <a:buNone/>
            </a:pPr>
            <a:r>
              <a:rPr lang="pt-BR" sz="3733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WINDOWS</a:t>
            </a:r>
            <a:r>
              <a:rPr lang="pt-BR" sz="3733">
                <a:latin typeface="Arial"/>
                <a:ea typeface="Arial"/>
                <a:cs typeface="Arial"/>
                <a:sym typeface="Arial"/>
              </a:rPr>
              <a:t> </a:t>
            </a:r>
            <a:endParaRPr sz="2488"/>
          </a:p>
        </p:txBody>
      </p:sp>
      <p:sp>
        <p:nvSpPr>
          <p:cNvPr id="116" name="Google Shape;116;p16"/>
          <p:cNvSpPr txBox="1"/>
          <p:nvPr>
            <p:ph idx="1" type="body"/>
          </p:nvPr>
        </p:nvSpPr>
        <p:spPr>
          <a:xfrm>
            <a:off x="629840" y="3204573"/>
            <a:ext cx="46029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 fontScale="85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pt-BR" sz="2488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 sz="1244"/>
          </a:p>
        </p:txBody>
      </p:sp>
      <p:pic>
        <p:nvPicPr>
          <p:cNvPr descr="Tela de computador com fundo azul&#10;&#10;O conteúdo gerado por IA pode estar incorreto." id="117" name="Google Shape;117;p1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0040" r="20046" t="0"/>
          <a:stretch/>
        </p:blipFill>
        <p:spPr>
          <a:xfrm>
            <a:off x="4847573" y="1358762"/>
            <a:ext cx="3522944" cy="2950503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571500" y="3794125"/>
            <a:ext cx="44640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77">
                <a:solidFill>
                  <a:schemeClr val="lt1"/>
                </a:solidFill>
              </a:rPr>
              <a:t>TEXTO PARA DIGITAÇÃO</a:t>
            </a:r>
            <a:endParaRPr b="1" sz="2177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48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77">
                <a:solidFill>
                  <a:schemeClr val="lt1"/>
                </a:solidFill>
              </a:rPr>
              <a:t>ESCREVA O TEXTO</a:t>
            </a:r>
            <a:endParaRPr sz="1088"/>
          </a:p>
        </p:txBody>
      </p:sp>
      <p:sp>
        <p:nvSpPr>
          <p:cNvPr id="124" name="Google Shape;124;p17"/>
          <p:cNvSpPr txBox="1"/>
          <p:nvPr/>
        </p:nvSpPr>
        <p:spPr>
          <a:xfrm>
            <a:off x="249600" y="996002"/>
            <a:ext cx="8436900" cy="48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33"/>
              </a:spcBef>
              <a:spcAft>
                <a:spcPts val="933"/>
              </a:spcAft>
              <a:buNone/>
            </a:pPr>
            <a:r>
              <a:rPr b="1" lang="pt-BR" sz="2077">
                <a:solidFill>
                  <a:schemeClr val="dk1"/>
                </a:solidFill>
              </a:rPr>
              <a:t>O cheiro salgado do mar e o grito das gaivotas enchiam o ar. Eu estava na praia, mas não era um dia de folga. A névoa se espalhava pela água, densa e misteriosa, e as ondas pareciam sussurrar nomes antigos, me chamando para o fundo do abismo. Segurei a minha caneta, que pesava em minha mão como uma âncora, e a encarei, sabendo que a qualquer momento ela poderia se transformar em uma espada de bronze celestial. À minha frente, a névoa começou a se agitar, ganhando forma. Não era um monstro, mas algo muito pior: uma figura alta e sombria, de olhos que brilhavam com a fúria de uma tempestade. Ele me olhou, e eu soube que minha paz tinha acabado. E, como sempre, o destino de uma civilização inteira estava prestes a cair sobre os meus ombros adolescentes.</a:t>
            </a:r>
            <a:endParaRPr b="1" sz="2077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/>
          <p:nvPr/>
        </p:nvSpPr>
        <p:spPr>
          <a:xfrm>
            <a:off x="0" y="0"/>
            <a:ext cx="9144000" cy="897900"/>
          </a:xfrm>
          <a:prstGeom prst="rect">
            <a:avLst/>
          </a:prstGeom>
          <a:solidFill>
            <a:srgbClr val="002060"/>
          </a:solidFill>
          <a:ln cap="flat" cmpd="sng" w="148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7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TRUQUES DO BLOCO DE NOTAS</a:t>
            </a:r>
            <a:endParaRPr sz="1088"/>
          </a:p>
        </p:txBody>
      </p:sp>
      <p:sp>
        <p:nvSpPr>
          <p:cNvPr id="130" name="Google Shape;130;p18"/>
          <p:cNvSpPr txBox="1"/>
          <p:nvPr/>
        </p:nvSpPr>
        <p:spPr>
          <a:xfrm>
            <a:off x="361507" y="1030484"/>
            <a:ext cx="8421000" cy="4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 a parte mais divertida: dá até pra brincar com códigos e fazer umas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"mágicas" no computador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(com segurança!).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Esse parece que está carregando algo importante, mas é só brincadeira.</a:t>
            </a:r>
            <a:endParaRPr b="1" sz="186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@echo off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color 0a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echo Carregando dados secretos...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ping localhost -n 3 &gt;nul</a:t>
            </a:r>
            <a:endParaRPr b="1" sz="186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echo Acesso permitido, todas as respostas da prova foram encontradas!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pause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Criando um diário </a:t>
            </a:r>
            <a:br>
              <a:rPr b="0" i="0" lang="pt-BR" sz="18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8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você começar um arquivo com a palavra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.LOG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pt-BR" sz="18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18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Bloco de Notas </a:t>
            </a:r>
            <a:r>
              <a:rPr b="1" i="0" lang="pt-BR" sz="18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vai colocar a data e hora automaticamente</a:t>
            </a:r>
            <a:r>
              <a:rPr b="0" i="0" lang="pt-BR" sz="18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toda vez que você abrir!</a:t>
            </a:r>
            <a:endParaRPr sz="186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7091479" y="3798373"/>
            <a:ext cx="169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67"/>
              <a:buFont typeface="Arial"/>
              <a:buNone/>
            </a:pPr>
            <a:r>
              <a:rPr b="1" i="0" lang="pt-BR" sz="11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Salve como carregando.bat </a:t>
            </a:r>
            <a:endParaRPr sz="1088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48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17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CONHECENDO O TECLADO</a:t>
            </a:r>
            <a:endParaRPr sz="1088"/>
          </a:p>
        </p:txBody>
      </p:sp>
      <p:sp>
        <p:nvSpPr>
          <p:cNvPr id="137" name="Google Shape;137;p19"/>
          <p:cNvSpPr txBox="1"/>
          <p:nvPr/>
        </p:nvSpPr>
        <p:spPr>
          <a:xfrm>
            <a:off x="347598" y="1075151"/>
            <a:ext cx="84363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teclado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como uma ponte entre a gente e o computador.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com ele que escrevemos, clicamos em coisas, acessamos jogos, fazemos contas e muito mais!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 você sabia que o teclado tem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várias partes diferentes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Vamos conhecer os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principais grupos de teclas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088"/>
          </a:p>
        </p:txBody>
      </p:sp>
      <p:sp>
        <p:nvSpPr>
          <p:cNvPr id="138" name="Google Shape;138;p19"/>
          <p:cNvSpPr txBox="1"/>
          <p:nvPr/>
        </p:nvSpPr>
        <p:spPr>
          <a:xfrm>
            <a:off x="360123" y="2252878"/>
            <a:ext cx="4020900" cy="28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Teclado Numérico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Fica do lado direito (em teclados grandes).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Serve pra digitar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números rapidinho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como numa calculadora.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👉 Exemplo: Quando vamos somar 25 + 13, usamos esse bloquinho.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Teclas de Digitação (ou Alfanuméricas)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São as letras, os números, os sinais de pontuação (!) (?) e os símbolos (# $ %).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a parte onde a gente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escreve frases, palavras e textos.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👉 Exemplo: Quando você digita seu nome ou escreve uma mensagem.</a:t>
            </a:r>
            <a:endParaRPr sz="1088"/>
          </a:p>
        </p:txBody>
      </p:sp>
      <p:pic>
        <p:nvPicPr>
          <p:cNvPr descr="Diagrama&#10;&#10;O conteúdo gerado por IA pode estar incorreto." id="139" name="Google Shape;13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71375" y="2252877"/>
            <a:ext cx="3912503" cy="29296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48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7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CONHECENDO O TECLADO</a:t>
            </a:r>
            <a:endParaRPr sz="1088"/>
          </a:p>
        </p:txBody>
      </p:sp>
      <p:sp>
        <p:nvSpPr>
          <p:cNvPr id="145" name="Google Shape;145;p20"/>
          <p:cNvSpPr txBox="1"/>
          <p:nvPr/>
        </p:nvSpPr>
        <p:spPr>
          <a:xfrm>
            <a:off x="422753" y="913459"/>
            <a:ext cx="4020900" cy="22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Teclas de Controle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Usadas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sozinhas ou combinadas com outras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elas fazem várias funções no computador.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mais usadas são: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tecla do Windows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👉 Exemplo: Ctrl + C serve pra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copiar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Ctrl + V serve pra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</p:txBody>
      </p:sp>
      <p:sp>
        <p:nvSpPr>
          <p:cNvPr id="146" name="Google Shape;146;p20"/>
          <p:cNvSpPr txBox="1"/>
          <p:nvPr/>
        </p:nvSpPr>
        <p:spPr>
          <a:xfrm>
            <a:off x="2646124" y="3160963"/>
            <a:ext cx="38517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Teclas de Função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Estão na parte de cima do teclado, com nomes como F1, F2, F3... até F12.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Cada uma faz algo diferente, dependendo do programa.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👉 Exemplo: No navegador,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F5 atualiza a página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sz="1088"/>
          </a:p>
        </p:txBody>
      </p:sp>
      <p:sp>
        <p:nvSpPr>
          <p:cNvPr id="147" name="Google Shape;147;p20"/>
          <p:cNvSpPr txBox="1"/>
          <p:nvPr/>
        </p:nvSpPr>
        <p:spPr>
          <a:xfrm>
            <a:off x="291230" y="4875333"/>
            <a:ext cx="8561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</a:rPr>
              <a:t>C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ada grupo de teclas tem uma função,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precisam decorar tudo agora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— o mais importante é entender que o teclado é organizado como uma "caix</a:t>
            </a:r>
            <a:r>
              <a:rPr lang="pt-BR">
                <a:solidFill>
                  <a:schemeClr val="dk1"/>
                </a:solidFill>
              </a:rPr>
              <a:t>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ferramentas" com partes diferentes.</a:t>
            </a:r>
            <a:endParaRPr sz="1088"/>
          </a:p>
        </p:txBody>
      </p:sp>
      <p:sp>
        <p:nvSpPr>
          <p:cNvPr id="148" name="Google Shape;148;p20"/>
          <p:cNvSpPr txBox="1"/>
          <p:nvPr/>
        </p:nvSpPr>
        <p:spPr>
          <a:xfrm>
            <a:off x="5292247" y="946455"/>
            <a:ext cx="3851700" cy="20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Teclas de Navegação e Especiais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Essas ajudam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mexer em páginas ou documentos.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Algumas delas: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Setinhas →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(pra subir, descer, ir pro lado)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Page Up / Page Down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(pra ir mais rápido numa página)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Home / End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(pra ir pro começo ou fim do texto)</a:t>
            </a:r>
            <a:endParaRPr sz="1088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lt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48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7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EXEMPLO DE ATALHOS</a:t>
            </a:r>
            <a:endParaRPr sz="1088"/>
          </a:p>
        </p:txBody>
      </p:sp>
      <p:graphicFrame>
        <p:nvGraphicFramePr>
          <p:cNvPr id="154" name="Google Shape;154;p21"/>
          <p:cNvGraphicFramePr/>
          <p:nvPr/>
        </p:nvGraphicFramePr>
        <p:xfrm>
          <a:off x="328809" y="11377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{5F8BD26E-B4AA-44EE-BE93-97244FB82E38}</a:tableStyleId>
              </a:tblPr>
              <a:tblGrid>
                <a:gridCol w="1814300"/>
                <a:gridCol w="6903850"/>
              </a:tblGrid>
              <a:tr h="453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667"/>
                        <a:buFont typeface="Arial"/>
                        <a:buNone/>
                      </a:pPr>
                      <a:r>
                        <a:rPr b="1" lang="pt-BR" sz="16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Atalho</a:t>
                      </a:r>
                      <a:endParaRPr b="1" sz="16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667"/>
                        <a:buFont typeface="Arial"/>
                        <a:buNone/>
                      </a:pPr>
                      <a:r>
                        <a:rPr b="1" lang="pt-BR" sz="16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Ação</a:t>
                      </a:r>
                      <a:endParaRPr b="1" sz="16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667"/>
                        <a:buFont typeface="Arial"/>
                        <a:buNone/>
                      </a:pPr>
                      <a:r>
                        <a:rPr lang="pt-BR" sz="16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CTRL + A</a:t>
                      </a:r>
                      <a:endParaRPr sz="16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667"/>
                        <a:buFont typeface="Arial"/>
                        <a:buNone/>
                      </a:pPr>
                      <a:r>
                        <a:rPr lang="pt-BR" sz="16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Selecionar tudo</a:t>
                      </a:r>
                      <a:endParaRPr sz="16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667"/>
                        <a:buFont typeface="Arial"/>
                        <a:buNone/>
                      </a:pPr>
                      <a:r>
                        <a:rPr lang="pt-BR" sz="16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CTRL + C</a:t>
                      </a:r>
                      <a:endParaRPr sz="16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667"/>
                        <a:buFont typeface="Arial"/>
                        <a:buNone/>
                      </a:pPr>
                      <a:r>
                        <a:rPr lang="pt-BR" sz="16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Copiar itens para a área de transferência</a:t>
                      </a:r>
                      <a:endParaRPr sz="16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667"/>
                        <a:buFont typeface="Arial"/>
                        <a:buNone/>
                      </a:pPr>
                      <a:r>
                        <a:rPr lang="pt-BR" sz="16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CTRL + X</a:t>
                      </a:r>
                      <a:endParaRPr sz="16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667"/>
                        <a:buFont typeface="Arial"/>
                        <a:buNone/>
                      </a:pPr>
                      <a:r>
                        <a:rPr lang="pt-BR" sz="16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Recortar itens para a área de transferência</a:t>
                      </a:r>
                      <a:endParaRPr sz="16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667"/>
                        <a:buFont typeface="Arial"/>
                        <a:buNone/>
                      </a:pPr>
                      <a:r>
                        <a:rPr lang="pt-BR" sz="16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CTRL + V </a:t>
                      </a:r>
                      <a:endParaRPr sz="16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667"/>
                        <a:buFont typeface="Arial"/>
                        <a:buNone/>
                      </a:pPr>
                      <a:r>
                        <a:rPr lang="pt-BR" sz="16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Colar itens da área de transferência</a:t>
                      </a:r>
                      <a:endParaRPr sz="16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667"/>
                        <a:buFont typeface="Arial"/>
                        <a:buNone/>
                      </a:pPr>
                      <a:r>
                        <a:rPr lang="pt-BR" sz="16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CTRL + Z</a:t>
                      </a:r>
                      <a:endParaRPr sz="16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667"/>
                        <a:buFont typeface="Arial"/>
                        <a:buNone/>
                      </a:pPr>
                      <a:r>
                        <a:rPr lang="pt-BR" sz="16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Desfazer ação</a:t>
                      </a:r>
                      <a:endParaRPr sz="16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667"/>
                        <a:buFont typeface="Arial"/>
                        <a:buNone/>
                      </a:pPr>
                      <a:r>
                        <a:rPr lang="pt-BR" sz="16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CTRL + Y</a:t>
                      </a:r>
                      <a:endParaRPr sz="16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667"/>
                        <a:buFont typeface="Arial"/>
                        <a:buNone/>
                      </a:pPr>
                      <a:r>
                        <a:rPr lang="pt-BR" sz="16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Refazer ação</a:t>
                      </a:r>
                      <a:endParaRPr sz="16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667"/>
                        <a:buFont typeface="Arial"/>
                        <a:buNone/>
                      </a:pPr>
                      <a:r>
                        <a:rPr lang="pt-BR" sz="16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 + F4</a:t>
                      </a:r>
                      <a:endParaRPr sz="16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667"/>
                        <a:buFont typeface="Arial"/>
                        <a:buNone/>
                      </a:pPr>
                      <a:r>
                        <a:rPr lang="pt-BR" sz="16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Fechar janela atual (se nenhuma estiver aberta, exibe opções de desligamento)</a:t>
                      </a:r>
                      <a:endParaRPr sz="16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667"/>
                        <a:buFont typeface="Arial"/>
                        <a:buNone/>
                      </a:pPr>
                      <a:r>
                        <a:rPr lang="pt-BR" sz="16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CTRL + D ou Delete</a:t>
                      </a:r>
                      <a:endParaRPr sz="16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667"/>
                        <a:buFont typeface="Arial"/>
                        <a:buNone/>
                      </a:pPr>
                      <a:r>
                        <a:rPr lang="pt-BR" sz="16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Deletar itens selecionados</a:t>
                      </a:r>
                      <a:endParaRPr sz="16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lt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48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7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EXEMPLO DE ATALHOS</a:t>
            </a:r>
            <a:endParaRPr sz="1088"/>
          </a:p>
        </p:txBody>
      </p:sp>
      <p:graphicFrame>
        <p:nvGraphicFramePr>
          <p:cNvPr id="160" name="Google Shape;160;p22"/>
          <p:cNvGraphicFramePr/>
          <p:nvPr/>
        </p:nvGraphicFramePr>
        <p:xfrm>
          <a:off x="441188" y="10577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{5F8BD26E-B4AA-44EE-BE93-97244FB82E38}</a:tableStyleId>
              </a:tblPr>
              <a:tblGrid>
                <a:gridCol w="2202675"/>
                <a:gridCol w="6140000"/>
              </a:tblGrid>
              <a:tr h="406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Arial"/>
                        <a:buNone/>
                      </a:pPr>
                      <a:r>
                        <a:rPr lang="pt-BR" sz="150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Shift + Delete</a:t>
                      </a:r>
                      <a:endParaRPr sz="15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Arial"/>
                        <a:buNone/>
                      </a:pPr>
                      <a:r>
                        <a:rPr lang="pt-BR" sz="150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Excluir itens permanentemente</a:t>
                      </a:r>
                      <a:endParaRPr sz="15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Arial"/>
                        <a:buNone/>
                      </a:pPr>
                      <a:r>
                        <a:rPr lang="pt-BR" sz="150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F2</a:t>
                      </a:r>
                      <a:endParaRPr sz="15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Arial"/>
                        <a:buNone/>
                      </a:pPr>
                      <a:r>
                        <a:rPr lang="pt-BR" sz="150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Renomear item selecionado</a:t>
                      </a:r>
                      <a:endParaRPr sz="15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Arial"/>
                        <a:buNone/>
                      </a:pPr>
                      <a:r>
                        <a:rPr lang="pt-BR" sz="150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Esc</a:t>
                      </a:r>
                      <a:endParaRPr sz="15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Arial"/>
                        <a:buNone/>
                      </a:pPr>
                      <a:r>
                        <a:rPr lang="pt-BR" sz="150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Cancelar ação</a:t>
                      </a:r>
                      <a:endParaRPr sz="15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Arial"/>
                        <a:buNone/>
                      </a:pPr>
                      <a:r>
                        <a:rPr lang="pt-BR" sz="150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 + Tab</a:t>
                      </a:r>
                      <a:endParaRPr sz="15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Arial"/>
                        <a:buNone/>
                      </a:pPr>
                      <a:r>
                        <a:rPr lang="pt-BR" sz="150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Alternar entre janelas</a:t>
                      </a:r>
                      <a:endParaRPr sz="15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Arial"/>
                        <a:buNone/>
                      </a:pPr>
                      <a:r>
                        <a:rPr lang="pt-BR" sz="150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PrtScn</a:t>
                      </a:r>
                      <a:endParaRPr sz="15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Arial"/>
                        <a:buNone/>
                      </a:pPr>
                      <a:r>
                        <a:rPr lang="pt-BR" sz="150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Salvar uma captura de tela na área de transferência</a:t>
                      </a:r>
                      <a:endParaRPr sz="15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Arial"/>
                        <a:buNone/>
                      </a:pPr>
                      <a:r>
                        <a:rPr lang="pt-BR" sz="150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Tecla Windows + I</a:t>
                      </a:r>
                      <a:endParaRPr sz="15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Arial"/>
                        <a:buNone/>
                      </a:pPr>
                      <a:r>
                        <a:rPr lang="pt-BR" sz="150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Abre as configurações do sistema</a:t>
                      </a:r>
                      <a:endParaRPr sz="15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Arial"/>
                        <a:buNone/>
                      </a:pPr>
                      <a:r>
                        <a:rPr lang="pt-BR" sz="150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Tecla Windows + E</a:t>
                      </a:r>
                      <a:endParaRPr sz="15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Arial"/>
                        <a:buNone/>
                      </a:pPr>
                      <a:r>
                        <a:rPr lang="pt-BR" sz="150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Abre o Explorador de Arquivos</a:t>
                      </a:r>
                      <a:endParaRPr sz="15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Arial"/>
                        <a:buNone/>
                      </a:pPr>
                      <a:r>
                        <a:rPr lang="pt-BR" sz="150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Tecla Windows + A</a:t>
                      </a:r>
                      <a:endParaRPr sz="15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Arial"/>
                        <a:buNone/>
                      </a:pPr>
                      <a:r>
                        <a:rPr lang="pt-BR" sz="150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Abre a Central de Ações</a:t>
                      </a:r>
                      <a:endParaRPr sz="15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Arial"/>
                        <a:buNone/>
                      </a:pPr>
                      <a:r>
                        <a:rPr lang="pt-BR" sz="150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Tecla Windows + V</a:t>
                      </a:r>
                      <a:endParaRPr sz="15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Arial"/>
                        <a:buNone/>
                      </a:pPr>
                      <a:r>
                        <a:rPr lang="pt-BR" sz="150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Abre o histórico da área de transferência</a:t>
                      </a:r>
                      <a:endParaRPr sz="15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Arial"/>
                        <a:buNone/>
                      </a:pPr>
                      <a:r>
                        <a:rPr lang="pt-BR" sz="150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Tecla Windows + Shift + S</a:t>
                      </a:r>
                      <a:endParaRPr sz="15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Arial"/>
                        <a:buNone/>
                      </a:pPr>
                      <a:r>
                        <a:rPr lang="pt-BR" sz="150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Permite capturar parte da tela utilizando a Ferramenta de Captura</a:t>
                      </a:r>
                      <a:endParaRPr sz="15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Arial"/>
                        <a:buNone/>
                      </a:pPr>
                      <a:r>
                        <a:rPr lang="pt-BR" sz="150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Tecla Windows + PrtScn</a:t>
                      </a:r>
                      <a:endParaRPr sz="15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Arial"/>
                        <a:buNone/>
                      </a:pPr>
                      <a:r>
                        <a:rPr lang="pt-BR" sz="150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Captura e salva a tela automaticamente na pasta Capturas de Tela</a:t>
                      </a:r>
                      <a:endParaRPr sz="15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l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3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48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7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EXEMPLO DE ATALHOS</a:t>
            </a:r>
            <a:endParaRPr sz="1088"/>
          </a:p>
        </p:txBody>
      </p:sp>
      <p:graphicFrame>
        <p:nvGraphicFramePr>
          <p:cNvPr id="166" name="Google Shape;166;p23"/>
          <p:cNvGraphicFramePr/>
          <p:nvPr/>
        </p:nvGraphicFramePr>
        <p:xfrm>
          <a:off x="198031" y="9065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{5F8BD26E-B4AA-44EE-BE93-97244FB82E38}</a:tableStyleId>
              </a:tblPr>
              <a:tblGrid>
                <a:gridCol w="1951500"/>
                <a:gridCol w="6796450"/>
              </a:tblGrid>
              <a:tr h="209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b="1"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Atalho</a:t>
                      </a:r>
                      <a:endParaRPr b="1"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b="1"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Ação</a:t>
                      </a:r>
                      <a:endParaRPr b="1"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CTRL + N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Abre uma nova janela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CTRL + W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Fecha a janela atual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CTRL + F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Abra a área de busca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6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CTRL + scroll do mouse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Muda a visualização do arquivo/pasta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6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CTRL + Shift + N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Cria uma nova pasta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6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 + Enter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Abre a janela de propriedades do arquivo selecionado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F11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Alterna para o modo de tela cheia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F5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Atualiza a página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8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Home</a:t>
                      </a:r>
                      <a:endParaRPr sz="1166"/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Volta para o início da tela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End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Desliza para o final da tela</a:t>
                      </a:r>
                      <a:endParaRPr sz="1166"/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ALT + seta direita</a:t>
                      </a:r>
                      <a:endParaRPr sz="1166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Visualiza a próxima pasta</a:t>
                      </a:r>
                      <a:endParaRPr sz="1166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highlight>
                            <a:srgbClr val="F8F8F8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ALT + seta esquerda</a:t>
                      </a:r>
                      <a:endParaRPr sz="1166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Visualizar pasta anterior</a:t>
                      </a:r>
                      <a:endParaRPr sz="1166"/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48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4"/>
          <p:cNvSpPr txBox="1"/>
          <p:nvPr/>
        </p:nvSpPr>
        <p:spPr>
          <a:xfrm>
            <a:off x="795403" y="290820"/>
            <a:ext cx="75531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78"/>
              <a:buFont typeface="Arial"/>
              <a:buNone/>
            </a:pPr>
            <a:r>
              <a:rPr b="1" lang="pt-BR" sz="217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ATALHOS DO PRÓPRIO DESKTOP (ÁREA DE TRABALHO)</a:t>
            </a:r>
            <a:endParaRPr sz="1088"/>
          </a:p>
        </p:txBody>
      </p:sp>
      <p:graphicFrame>
        <p:nvGraphicFramePr>
          <p:cNvPr id="173" name="Google Shape;173;p24"/>
          <p:cNvGraphicFramePr/>
          <p:nvPr/>
        </p:nvGraphicFramePr>
        <p:xfrm>
          <a:off x="225524" y="1145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{5F8BD26E-B4AA-44EE-BE93-97244FB82E38}</a:tableStyleId>
              </a:tblPr>
              <a:tblGrid>
                <a:gridCol w="2465875"/>
                <a:gridCol w="6184125"/>
              </a:tblGrid>
              <a:tr h="37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b="1"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Atalho</a:t>
                      </a:r>
                      <a:endParaRPr b="1"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b="1"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Ação</a:t>
                      </a:r>
                      <a:endParaRPr b="1"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Tecla Windows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Abre o menu Iniciar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CTRL + seta para cima/baixo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Altera o tamanho do menu Iniciar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CTRL + Shift + ESC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Abre o Gerenciador de Tarefas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CTRL + ALT + Tab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Visualiza todos os programas abertos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CTRL + setas + espaço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Seleciona múltiplos arquivos 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 + Tab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Alterna entre programas abertos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PageUp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Move a tela para cima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PageDown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Move a tela para baixo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 + ESC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Transita entre as janelas abertas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CTRL + Shift + clique no ícone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Executa o programa como administrador (a partir da Barra de Tarefas)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5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48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5"/>
          <p:cNvSpPr txBox="1"/>
          <p:nvPr/>
        </p:nvSpPr>
        <p:spPr>
          <a:xfrm>
            <a:off x="801441" y="290820"/>
            <a:ext cx="75411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78"/>
              <a:buFont typeface="Arial"/>
              <a:buNone/>
            </a:pPr>
            <a:r>
              <a:rPr b="1" lang="pt-BR" sz="217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ATALHOS DO PRÓPRIO DESKTOP (ÁREA DE TRABALHO)</a:t>
            </a:r>
            <a:endParaRPr sz="1088"/>
          </a:p>
        </p:txBody>
      </p:sp>
      <p:graphicFrame>
        <p:nvGraphicFramePr>
          <p:cNvPr id="180" name="Google Shape;180;p25"/>
          <p:cNvGraphicFramePr/>
          <p:nvPr/>
        </p:nvGraphicFramePr>
        <p:xfrm>
          <a:off x="225524" y="11455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{5F8BD26E-B4AA-44EE-BE93-97244FB82E38}</a:tableStyleId>
              </a:tblPr>
              <a:tblGrid>
                <a:gridCol w="2998950"/>
                <a:gridCol w="5730800"/>
              </a:tblGrid>
              <a:tr h="379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b="1"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Atalho</a:t>
                      </a:r>
                      <a:endParaRPr b="1"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b="1"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Ação</a:t>
                      </a:r>
                      <a:endParaRPr b="1"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Shift + clique com botão direito no ícone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Exibe o menu do programa (a partir da Barra de Tarefas)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CTRL + seta para esquerda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Move o cursor para o início da palavra (funciona em editores e caixas de texto)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CTRL + seta para direita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Move o cursor para o final da palavra (funciona em editores e caixas de texto)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CTRL + seta para cima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Move o cursor para o início do parágrafo (funciona em editores e caixas de texto)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CTRL + seta para baixo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Move o cursor para o final do parágrafo (funciona em editores e caixas de texto)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CTRL + Shift + seta para cima/baixo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Seleciona todo o parágrafo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CTRL + ALT + seta para direita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Gira a tela em 90 graus (pode não funcionar em todos os PCs)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CTRL + ALT + seta para baixo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Gira a tela em 180 graus (pode não funcionar em todos os PCs)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CTRL + ALT + seta para esquerda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Gira a tela em 270 graus (pode não funcionar em todos os PCs)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CTRL + ALT + seta para cima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Retorna a rotação vertical da tela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48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 txBox="1"/>
          <p:nvPr/>
        </p:nvSpPr>
        <p:spPr>
          <a:xfrm>
            <a:off x="2149043" y="235548"/>
            <a:ext cx="48459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78"/>
              <a:buFont typeface="Arial"/>
              <a:buNone/>
            </a:pPr>
            <a:r>
              <a:rPr b="1" lang="pt-BR" sz="217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ATALHOS COM A TECLA WINDOWS</a:t>
            </a:r>
            <a:endParaRPr sz="1088"/>
          </a:p>
        </p:txBody>
      </p:sp>
      <p:graphicFrame>
        <p:nvGraphicFramePr>
          <p:cNvPr id="187" name="Google Shape;187;p26"/>
          <p:cNvGraphicFramePr/>
          <p:nvPr/>
        </p:nvGraphicFramePr>
        <p:xfrm>
          <a:off x="225525" y="11455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{5F8BD26E-B4AA-44EE-BE93-97244FB82E38}</a:tableStyleId>
              </a:tblPr>
              <a:tblGrid>
                <a:gridCol w="2112075"/>
                <a:gridCol w="6514025"/>
              </a:tblGrid>
              <a:tr h="379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b="1"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Atalho</a:t>
                      </a:r>
                      <a:endParaRPr b="1"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b="1"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Ação</a:t>
                      </a:r>
                      <a:endParaRPr b="1"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Tecla Windows + S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Abre o menu de busca do sistema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Tecla Windows + D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Exibe/oculta o desktop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Tecla Windows + L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Bloqueia o PC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Tecla Windows + M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Minimiza todas as janelas abertas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Tecla Windows + C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Abra a Cortana (assistente virtual)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Tecla Windows + G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Abre o Xbox Game Bar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Tecla Windows + ALT + R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Inicia uma gravação de tela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Tecla Windows + T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Alterna entre programas da Barra de Tarefas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Tecla Windows + R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Abre o Executar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Tecla Windows + X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67"/>
                        <a:buFont typeface="Arial"/>
                        <a:buNone/>
                      </a:pPr>
                      <a:r>
                        <a:rPr lang="pt-BR" sz="1166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Abre o menu de Acesso Rápido</a:t>
                      </a:r>
                      <a:endParaRPr sz="1166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48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7"/>
          <p:cNvSpPr txBox="1"/>
          <p:nvPr/>
        </p:nvSpPr>
        <p:spPr>
          <a:xfrm>
            <a:off x="2200530" y="279713"/>
            <a:ext cx="47430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78"/>
              <a:buFont typeface="Arial"/>
              <a:buNone/>
            </a:pPr>
            <a:r>
              <a:rPr b="1" lang="pt-BR" sz="217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ATALHOS COM A TECLA WINDOWS</a:t>
            </a:r>
            <a:endParaRPr sz="1088"/>
          </a:p>
        </p:txBody>
      </p:sp>
      <p:graphicFrame>
        <p:nvGraphicFramePr>
          <p:cNvPr id="194" name="Google Shape;194;p27"/>
          <p:cNvGraphicFramePr/>
          <p:nvPr/>
        </p:nvGraphicFramePr>
        <p:xfrm>
          <a:off x="211162" y="11075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{5F8BD26E-B4AA-44EE-BE93-97244FB82E38}</a:tableStyleId>
              </a:tblPr>
              <a:tblGrid>
                <a:gridCol w="2954575"/>
                <a:gridCol w="5646000"/>
              </a:tblGrid>
              <a:tr h="460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333"/>
                        <a:buFont typeface="Arial"/>
                        <a:buNone/>
                      </a:pPr>
                      <a:r>
                        <a:rPr b="1" lang="pt-BR" sz="1333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Atalho</a:t>
                      </a:r>
                      <a:endParaRPr b="1" sz="1333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333"/>
                        <a:buFont typeface="Arial"/>
                        <a:buNone/>
                      </a:pPr>
                      <a:r>
                        <a:rPr b="1" lang="pt-BR" sz="1333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Ação</a:t>
                      </a:r>
                      <a:endParaRPr b="1" sz="1333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333"/>
                        <a:buFont typeface="Arial"/>
                        <a:buNone/>
                      </a:pPr>
                      <a:r>
                        <a:rPr lang="pt-BR" sz="1333" u="none" cap="none" strike="noStrike">
                          <a:solidFill>
                            <a:srgbClr val="212121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Tecla Windows + P</a:t>
                      </a:r>
                      <a:endParaRPr sz="1333" u="none" cap="none" strike="noStrike">
                        <a:solidFill>
                          <a:srgbClr val="212121"/>
                        </a:solidFill>
                        <a:highlight>
                          <a:srgbClr val="FFFFFF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333"/>
                        <a:buFont typeface="Arial"/>
                        <a:buNone/>
                      </a:pPr>
                      <a:r>
                        <a:rPr lang="pt-BR" sz="1333" u="none" cap="none" strike="noStrike">
                          <a:solidFill>
                            <a:srgbClr val="212121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Abre o menu Projetar</a:t>
                      </a:r>
                      <a:endParaRPr sz="1333" u="none" cap="none" strike="noStrike">
                        <a:solidFill>
                          <a:srgbClr val="212121"/>
                        </a:solidFill>
                        <a:highlight>
                          <a:srgbClr val="FFFFFF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333"/>
                        <a:buFont typeface="Arial"/>
                        <a:buNone/>
                      </a:pPr>
                      <a:r>
                        <a:rPr lang="pt-BR" sz="1333" u="none" cap="none" strike="noStrike">
                          <a:solidFill>
                            <a:srgbClr val="212121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Tecla Windows + sinal de mais</a:t>
                      </a:r>
                      <a:endParaRPr sz="1333" u="none" cap="none" strike="noStrike">
                        <a:solidFill>
                          <a:srgbClr val="212121"/>
                        </a:solidFill>
                        <a:highlight>
                          <a:srgbClr val="FFFFFF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333"/>
                        <a:buFont typeface="Arial"/>
                        <a:buNone/>
                      </a:pPr>
                      <a:r>
                        <a:rPr lang="pt-BR" sz="1333" u="none" cap="none" strike="noStrike">
                          <a:solidFill>
                            <a:srgbClr val="212121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Aumenta o zoom da tela com a Lupa</a:t>
                      </a:r>
                      <a:endParaRPr sz="1333" u="none" cap="none" strike="noStrike">
                        <a:solidFill>
                          <a:srgbClr val="212121"/>
                        </a:solidFill>
                        <a:highlight>
                          <a:srgbClr val="FFFFFF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333"/>
                        <a:buFont typeface="Arial"/>
                        <a:buNone/>
                      </a:pPr>
                      <a:r>
                        <a:rPr lang="pt-BR" sz="1333" u="none" cap="none" strike="noStrike">
                          <a:solidFill>
                            <a:srgbClr val="212121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Tecla Windows + sinal de menos</a:t>
                      </a:r>
                      <a:endParaRPr sz="1333" u="none" cap="none" strike="noStrike">
                        <a:solidFill>
                          <a:srgbClr val="212121"/>
                        </a:solidFill>
                        <a:highlight>
                          <a:srgbClr val="FFFFFF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333"/>
                        <a:buFont typeface="Arial"/>
                        <a:buNone/>
                      </a:pPr>
                      <a:r>
                        <a:rPr lang="pt-BR" sz="1333" u="none" cap="none" strike="noStrike">
                          <a:solidFill>
                            <a:srgbClr val="212121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Diminui o zoom da tela com a Lupa</a:t>
                      </a:r>
                      <a:endParaRPr sz="1333" u="none" cap="none" strike="noStrike">
                        <a:solidFill>
                          <a:srgbClr val="212121"/>
                        </a:solidFill>
                        <a:highlight>
                          <a:srgbClr val="FFFFFF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333"/>
                        <a:buFont typeface="Arial"/>
                        <a:buNone/>
                      </a:pPr>
                      <a:r>
                        <a:rPr lang="pt-BR" sz="1333" u="none" cap="none" strike="noStrike">
                          <a:solidFill>
                            <a:srgbClr val="212121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Tecla Windows + ESC</a:t>
                      </a:r>
                      <a:endParaRPr sz="1333" u="none" cap="none" strike="noStrike">
                        <a:solidFill>
                          <a:srgbClr val="212121"/>
                        </a:solidFill>
                        <a:highlight>
                          <a:srgbClr val="FFFFFF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333"/>
                        <a:buFont typeface="Arial"/>
                        <a:buNone/>
                      </a:pPr>
                      <a:r>
                        <a:rPr lang="pt-BR" sz="1333" u="none" cap="none" strike="noStrike">
                          <a:solidFill>
                            <a:srgbClr val="212121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Fecha a Lupa</a:t>
                      </a:r>
                      <a:endParaRPr sz="1333" u="none" cap="none" strike="noStrike">
                        <a:solidFill>
                          <a:srgbClr val="212121"/>
                        </a:solidFill>
                        <a:highlight>
                          <a:srgbClr val="FFFFFF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333"/>
                        <a:buFont typeface="Arial"/>
                        <a:buNone/>
                      </a:pPr>
                      <a:r>
                        <a:rPr lang="pt-BR" sz="1333" u="none" cap="none" strike="noStrike">
                          <a:solidFill>
                            <a:srgbClr val="212121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Tecla Windows + seta para cima</a:t>
                      </a:r>
                      <a:endParaRPr sz="1333" u="none" cap="none" strike="noStrike">
                        <a:solidFill>
                          <a:srgbClr val="212121"/>
                        </a:solidFill>
                        <a:highlight>
                          <a:srgbClr val="FFFFFF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333"/>
                        <a:buFont typeface="Arial"/>
                        <a:buNone/>
                      </a:pPr>
                      <a:r>
                        <a:rPr lang="pt-BR" sz="1333" u="none" cap="none" strike="noStrike">
                          <a:solidFill>
                            <a:srgbClr val="212121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Maximizar</a:t>
                      </a:r>
                      <a:endParaRPr sz="1333" u="none" cap="none" strike="noStrike">
                        <a:solidFill>
                          <a:srgbClr val="212121"/>
                        </a:solidFill>
                        <a:highlight>
                          <a:srgbClr val="FFFFFF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333"/>
                        <a:buFont typeface="Arial"/>
                        <a:buNone/>
                      </a:pPr>
                      <a:r>
                        <a:rPr lang="pt-BR" sz="1333" u="none" cap="none" strike="noStrike">
                          <a:solidFill>
                            <a:srgbClr val="212121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Tecla Windows + seta para baixo</a:t>
                      </a:r>
                      <a:endParaRPr sz="1333" u="none" cap="none" strike="noStrike">
                        <a:solidFill>
                          <a:srgbClr val="212121"/>
                        </a:solidFill>
                        <a:highlight>
                          <a:srgbClr val="FFFFFF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333"/>
                        <a:buFont typeface="Arial"/>
                        <a:buNone/>
                      </a:pPr>
                      <a:r>
                        <a:rPr lang="pt-BR" sz="1333" u="none" cap="none" strike="noStrike">
                          <a:solidFill>
                            <a:srgbClr val="212121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Minimizar</a:t>
                      </a:r>
                      <a:endParaRPr sz="1333" u="none" cap="none" strike="noStrike">
                        <a:solidFill>
                          <a:srgbClr val="212121"/>
                        </a:solidFill>
                        <a:highlight>
                          <a:srgbClr val="FFFFFF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333"/>
                        <a:buFont typeface="Arial"/>
                        <a:buNone/>
                      </a:pPr>
                      <a:r>
                        <a:rPr lang="pt-BR" sz="1333" u="none" cap="none" strike="noStrike">
                          <a:solidFill>
                            <a:srgbClr val="212121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Tecla Windows + seta para esquerda</a:t>
                      </a:r>
                      <a:endParaRPr sz="1333" u="none" cap="none" strike="noStrike">
                        <a:solidFill>
                          <a:srgbClr val="212121"/>
                        </a:solidFill>
                        <a:highlight>
                          <a:srgbClr val="FFFFFF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333"/>
                        <a:buFont typeface="Arial"/>
                        <a:buNone/>
                      </a:pPr>
                      <a:r>
                        <a:rPr lang="pt-BR" sz="1333" u="none" cap="none" strike="noStrike">
                          <a:solidFill>
                            <a:srgbClr val="212121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Ajusta a janela atual para a metade esquerda da tela</a:t>
                      </a:r>
                      <a:endParaRPr sz="1333" u="none" cap="none" strike="noStrike">
                        <a:solidFill>
                          <a:srgbClr val="212121"/>
                        </a:solidFill>
                        <a:highlight>
                          <a:srgbClr val="FFFFFF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333"/>
                        <a:buFont typeface="Arial"/>
                        <a:buNone/>
                      </a:pPr>
                      <a:r>
                        <a:rPr lang="pt-BR" sz="1333" u="none" cap="none" strike="noStrike">
                          <a:solidFill>
                            <a:srgbClr val="212121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Tecla Windows + seta para direita</a:t>
                      </a:r>
                      <a:endParaRPr sz="1333" u="none" cap="none" strike="noStrike">
                        <a:solidFill>
                          <a:srgbClr val="212121"/>
                        </a:solidFill>
                        <a:highlight>
                          <a:srgbClr val="FFFFFF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333"/>
                        <a:buFont typeface="Arial"/>
                        <a:buNone/>
                      </a:pPr>
                      <a:r>
                        <a:rPr lang="pt-BR" sz="1333" u="none" cap="none" strike="noStrike">
                          <a:solidFill>
                            <a:srgbClr val="212121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Ajusta a janela atual para a metade direita da tela</a:t>
                      </a:r>
                      <a:endParaRPr sz="1333" u="none" cap="none" strike="noStrike">
                        <a:solidFill>
                          <a:srgbClr val="212121"/>
                        </a:solidFill>
                        <a:highlight>
                          <a:srgbClr val="FFFFFF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68575" marL="68575">
                    <a:lnL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lt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48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7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CALCULADORA DO WINDOWS</a:t>
            </a:r>
            <a:endParaRPr sz="1088"/>
          </a:p>
        </p:txBody>
      </p:sp>
      <p:pic>
        <p:nvPicPr>
          <p:cNvPr descr="Calendário&#10;&#10;O conteúdo gerado por IA pode estar incorreto." id="200" name="Google Shape;20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00431" y="968089"/>
            <a:ext cx="2647506" cy="315141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8"/>
          <p:cNvSpPr txBox="1"/>
          <p:nvPr/>
        </p:nvSpPr>
        <p:spPr>
          <a:xfrm>
            <a:off x="477974" y="1138575"/>
            <a:ext cx="5268900" cy="24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Calculadora do Windows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parece simples, mas tem várias funções incríveis!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 serve pra fazer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contas básicas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como: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+ 2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 x 5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 ÷ 4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Mas ela também tem modos especiais: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Científico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para cálculos mais avançados (pra quem já tá grandão no conteúdo)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Programador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pra quem entende de códigos (futuramente 😉)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Conversor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que transforma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medidas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em outras!</a:t>
            </a:r>
            <a:endParaRPr sz="1088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9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48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7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PAINT</a:t>
            </a:r>
            <a:endParaRPr sz="1088"/>
          </a:p>
        </p:txBody>
      </p:sp>
      <p:sp>
        <p:nvSpPr>
          <p:cNvPr id="207" name="Google Shape;207;p29"/>
          <p:cNvSpPr txBox="1"/>
          <p:nvPr/>
        </p:nvSpPr>
        <p:spPr>
          <a:xfrm>
            <a:off x="477982" y="1138583"/>
            <a:ext cx="8365800" cy="20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Paint é um programa do Windows feito pra você desenhar, pintar e criar direto no computador!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 existe desde as primeiras versões do Windows e continua sendo muito usado, especialmente pra quem está começando a explorar o mundo da arte digital.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o Paint você pode: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Desenhar com o lápis ou pincel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Pintar com balde de tinta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Usar formas prontas (coração, estrela, quadrado...)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Escrever palavras com a ferramenta de texto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Apagar e começar de novo quantas vezes quiser!</a:t>
            </a:r>
            <a:endParaRPr sz="1088"/>
          </a:p>
        </p:txBody>
      </p:sp>
      <p:sp>
        <p:nvSpPr>
          <p:cNvPr id="208" name="Google Shape;208;p29"/>
          <p:cNvSpPr txBox="1"/>
          <p:nvPr/>
        </p:nvSpPr>
        <p:spPr>
          <a:xfrm>
            <a:off x="477981" y="3492360"/>
            <a:ext cx="6204600" cy="20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Caixa de ferramentas do paint possibilita ao usuário desenhar, preencher formas, pintar e até mesmo digitar textos.</a:t>
            </a:r>
            <a:endParaRPr sz="1088"/>
          </a:p>
          <a:p>
            <a:pPr indent="-261760" lvl="0" marL="355600" marR="0" rtl="0" algn="l">
              <a:lnSpc>
                <a:spcPct val="95000"/>
              </a:lnSpc>
              <a:spcBef>
                <a:spcPts val="856"/>
              </a:spcBef>
              <a:spcAft>
                <a:spcPts val="0"/>
              </a:spcAft>
              <a:buClr>
                <a:srgbClr val="000000"/>
              </a:buClr>
              <a:buSzPts val="1322"/>
              <a:buFont typeface="Arial"/>
              <a:buChar char="•"/>
            </a:pPr>
            <a:r>
              <a:rPr b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LÁPIS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permite desenhar uma linha de forma livre com a largura da linha selecionada</a:t>
            </a:r>
            <a:endParaRPr sz="1088"/>
          </a:p>
          <a:p>
            <a:pPr indent="-261760" lvl="0" marL="3556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2"/>
              <a:buFont typeface="Arial"/>
              <a:buChar char="•"/>
            </a:pPr>
            <a:r>
              <a:rPr b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BALDE DE TINTA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Permite o preenchimento de alguma área</a:t>
            </a:r>
            <a:endParaRPr sz="1088"/>
          </a:p>
          <a:p>
            <a:pPr indent="-261760" lvl="0" marL="3556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2"/>
              <a:buFont typeface="Arial"/>
              <a:buChar char="•"/>
            </a:pPr>
            <a:r>
              <a:rPr b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TEXTO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Permite inserir textos no desenho</a:t>
            </a:r>
            <a:endParaRPr sz="1088"/>
          </a:p>
          <a:p>
            <a:pPr indent="-261760" lvl="0" marL="3556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2"/>
              <a:buFont typeface="Arial"/>
              <a:buChar char="•"/>
            </a:pPr>
            <a:r>
              <a:rPr b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BORRACHA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Apaga parte da imagem</a:t>
            </a:r>
            <a:endParaRPr sz="1088"/>
          </a:p>
          <a:p>
            <a:pPr indent="-261760" lvl="0" marL="3556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2"/>
              <a:buFont typeface="Arial"/>
              <a:buChar char="•"/>
            </a:pPr>
            <a:r>
              <a:rPr b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CONTA-GOTAS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Captura uma cor para usar no desenho</a:t>
            </a:r>
            <a:endParaRPr sz="1088"/>
          </a:p>
          <a:p>
            <a:pPr indent="-261760" lvl="0" marL="3556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2"/>
              <a:buFont typeface="Arial"/>
              <a:buChar char="•"/>
            </a:pPr>
            <a:r>
              <a:rPr b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LUPA: 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Altera a ampliação de parte da imagem </a:t>
            </a:r>
            <a:r>
              <a:rPr b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(ZOOM)</a:t>
            </a:r>
            <a:endParaRPr sz="1088"/>
          </a:p>
        </p:txBody>
      </p:sp>
      <p:pic>
        <p:nvPicPr>
          <p:cNvPr descr="Texto, Quadro de comunicações&#10;&#10;O conteúdo gerado por IA pode estar incorreto." id="209" name="Google Shape;209;p29"/>
          <p:cNvPicPr preferRelativeResize="0"/>
          <p:nvPr/>
        </p:nvPicPr>
        <p:blipFill rotWithShape="1">
          <a:blip r:embed="rId3">
            <a:alphaModFix/>
          </a:blip>
          <a:srcRect b="11326" l="-894" r="8045" t="8735"/>
          <a:stretch/>
        </p:blipFill>
        <p:spPr>
          <a:xfrm>
            <a:off x="6756387" y="3429000"/>
            <a:ext cx="1656625" cy="195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0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48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66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CAIXA DE CORES: ESCOLHENDO COMO VAI FICAR SEU DESENHO!</a:t>
            </a:r>
            <a:endParaRPr sz="1088"/>
          </a:p>
        </p:txBody>
      </p:sp>
      <p:sp>
        <p:nvSpPr>
          <p:cNvPr id="215" name="Google Shape;215;p30"/>
          <p:cNvSpPr txBox="1"/>
          <p:nvPr/>
        </p:nvSpPr>
        <p:spPr>
          <a:xfrm>
            <a:off x="476074" y="1063256"/>
            <a:ext cx="5409000" cy="20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Caixa de Cores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Paint é o lugar onde você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escolhe as cores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vai usar pra pintar, desenhar ou apagar.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parte de cima do Paint, tem várias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bolinhas coloridas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São elas que você pode usar no seu desenho!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Paint usa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duas cores principais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 1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é a cor principal do desenho (como o lápis ou o balde de tinta)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 2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é a cor secundária (usada com a borracha ou o botão direito do mouse)</a:t>
            </a:r>
            <a:endParaRPr sz="1088"/>
          </a:p>
        </p:txBody>
      </p:sp>
      <p:pic>
        <p:nvPicPr>
          <p:cNvPr descr="Tabela&#10;&#10;O conteúdo gerado por IA pode estar incorreto." id="216" name="Google Shape;216;p30"/>
          <p:cNvPicPr preferRelativeResize="0"/>
          <p:nvPr/>
        </p:nvPicPr>
        <p:blipFill rotWithShape="1">
          <a:blip r:embed="rId3">
            <a:alphaModFix/>
          </a:blip>
          <a:srcRect b="8713" l="0" r="0" t="0"/>
          <a:stretch/>
        </p:blipFill>
        <p:spPr>
          <a:xfrm>
            <a:off x="5896391" y="1289994"/>
            <a:ext cx="3164461" cy="89769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0"/>
          <p:cNvSpPr txBox="1"/>
          <p:nvPr/>
        </p:nvSpPr>
        <p:spPr>
          <a:xfrm>
            <a:off x="410311" y="3217692"/>
            <a:ext cx="7918500" cy="22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 as cores: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pintar com a Cor 1: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com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botão esquerdo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mouse na cor que quer usar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Depois clique no seu desenho para pintar!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pintar com a Cor 2: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com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botão direito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mouse na cor desejada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Depois, use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botão direito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mouse para aplicar essa cor no desenho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 importante: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 2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também é a cor usada pela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borracha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Então, se você quer apagar com outra cor além do branco, é só mudar a Cor 2!</a:t>
            </a:r>
            <a:endParaRPr sz="1088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1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48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66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CAIXA DE COMPLEMENTOS: PINCÉIS E FORMAS </a:t>
            </a:r>
            <a:endParaRPr sz="1088"/>
          </a:p>
        </p:txBody>
      </p:sp>
      <p:sp>
        <p:nvSpPr>
          <p:cNvPr id="223" name="Google Shape;223;p31"/>
          <p:cNvSpPr txBox="1"/>
          <p:nvPr/>
        </p:nvSpPr>
        <p:spPr>
          <a:xfrm>
            <a:off x="303028" y="1329070"/>
            <a:ext cx="8188800" cy="17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Pincéis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Caixa de Complementos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você encontra vários tipos de pincéis.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Eles são como canetas e lápis com estilos diferentes!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pode escolher um que faz riscos fininhos, outro que parece pincel de tinta e até um que parece giz!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Pra usar: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 o pincel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 arraste o mouse na tela pra desenhar do seu jeito</a:t>
            </a:r>
            <a:endParaRPr sz="1088"/>
          </a:p>
        </p:txBody>
      </p:sp>
      <p:sp>
        <p:nvSpPr>
          <p:cNvPr id="224" name="Google Shape;224;p31"/>
          <p:cNvSpPr txBox="1"/>
          <p:nvPr/>
        </p:nvSpPr>
        <p:spPr>
          <a:xfrm>
            <a:off x="603397" y="3101585"/>
            <a:ext cx="8277600" cy="19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Além dos pincéis temos Formas prontas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Círculos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Quadrados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Estrelas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Corações 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Setas</a:t>
            </a:r>
            <a:endParaRPr sz="1088"/>
          </a:p>
          <a:p>
            <a:pPr indent="-79021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Char char="•"/>
            </a:pPr>
            <a:r>
              <a:rPr b="1" lang="pt-BR" sz="124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Pra usar: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na forma que você quer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Depois,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 arraste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mouse na tela até ela ficar do tamanho que você quiser!</a:t>
            </a:r>
            <a:endParaRPr sz="1088"/>
          </a:p>
        </p:txBody>
      </p:sp>
      <p:pic>
        <p:nvPicPr>
          <p:cNvPr descr="Interface gráfica do usuário, Texto, Aplicativo&#10;&#10;O conteúdo gerado por IA pode estar incorreto." id="225" name="Google Shape;225;p31"/>
          <p:cNvPicPr preferRelativeResize="0"/>
          <p:nvPr/>
        </p:nvPicPr>
        <p:blipFill rotWithShape="1">
          <a:blip r:embed="rId3">
            <a:alphaModFix/>
          </a:blip>
          <a:srcRect b="8633" l="0" r="3646" t="0"/>
          <a:stretch/>
        </p:blipFill>
        <p:spPr>
          <a:xfrm>
            <a:off x="4478966" y="3285808"/>
            <a:ext cx="4316818" cy="1312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2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48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7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</a:t>
            </a:r>
            <a:r>
              <a:rPr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088"/>
          </a:p>
        </p:txBody>
      </p:sp>
      <p:sp>
        <p:nvSpPr>
          <p:cNvPr id="232" name="Google Shape;232;p32"/>
          <p:cNvSpPr txBox="1"/>
          <p:nvPr/>
        </p:nvSpPr>
        <p:spPr>
          <a:xfrm>
            <a:off x="295055" y="1080977"/>
            <a:ext cx="8405100" cy="18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Font typeface="Arial"/>
              <a:buNone/>
            </a:pP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Crie uma </a:t>
            </a:r>
            <a:r>
              <a:rPr b="1"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paisagem completa</a:t>
            </a: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Paint. Pode ser parecida com o lugar onde você mora, com um lugar dos seus sonhos ou algo totalmente inventado!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Font typeface="Arial"/>
              <a:buNone/>
            </a:pP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Sua paisagem deve ter:</a:t>
            </a:r>
            <a:endParaRPr sz="1088"/>
          </a:p>
          <a:p>
            <a:pPr indent="-93839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Font typeface="Arial"/>
              <a:buChar char="•"/>
            </a:pPr>
            <a:r>
              <a:rPr lang="pt-BR" sz="1477">
                <a:solidFill>
                  <a:schemeClr val="dk1"/>
                </a:solidFill>
              </a:rPr>
              <a:t> </a:t>
            </a: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Céu com nuvens e sol ou lua</a:t>
            </a:r>
            <a:endParaRPr sz="1088"/>
          </a:p>
          <a:p>
            <a:pPr indent="-93839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Font typeface="Arial"/>
              <a:buChar char="•"/>
            </a:pPr>
            <a:r>
              <a:rPr lang="pt-BR" sz="1477">
                <a:solidFill>
                  <a:schemeClr val="dk1"/>
                </a:solidFill>
              </a:rPr>
              <a:t> </a:t>
            </a: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</a:t>
            </a:r>
            <a:r>
              <a:rPr b="1"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casa</a:t>
            </a:r>
            <a:endParaRPr sz="147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3839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Font typeface="Arial"/>
              <a:buChar char="•"/>
            </a:pPr>
            <a:r>
              <a:rPr lang="pt-BR" sz="1477">
                <a:solidFill>
                  <a:schemeClr val="dk1"/>
                </a:solidFill>
              </a:rPr>
              <a:t> </a:t>
            </a: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</a:t>
            </a:r>
            <a:r>
              <a:rPr b="1"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bicicleta</a:t>
            </a:r>
            <a:endParaRPr sz="1088"/>
          </a:p>
          <a:p>
            <a:pPr indent="-93839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Font typeface="Arial"/>
              <a:buChar char="•"/>
            </a:pPr>
            <a:r>
              <a:rPr lang="pt-BR" sz="1477">
                <a:solidFill>
                  <a:schemeClr val="dk1"/>
                </a:solidFill>
              </a:rPr>
              <a:t> </a:t>
            </a: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</a:t>
            </a:r>
            <a:r>
              <a:rPr b="1"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animal de estimação</a:t>
            </a: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(pode ser um gato, cachorro, passarinho...)</a:t>
            </a:r>
            <a:endParaRPr sz="1088"/>
          </a:p>
          <a:p>
            <a:pPr indent="-93839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Font typeface="Arial"/>
              <a:buChar char="•"/>
            </a:pPr>
            <a:r>
              <a:rPr b="1" lang="pt-BR" sz="1477">
                <a:solidFill>
                  <a:schemeClr val="dk1"/>
                </a:solidFill>
              </a:rPr>
              <a:t> </a:t>
            </a:r>
            <a:r>
              <a:rPr b="1"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mesmo</a:t>
            </a:r>
            <a:r>
              <a:rPr lang="pt-BR" sz="14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desenho (e se quiser, seus amigos ou família também!)</a:t>
            </a:r>
            <a:endParaRPr sz="1088"/>
          </a:p>
        </p:txBody>
      </p:sp>
      <p:sp>
        <p:nvSpPr>
          <p:cNvPr id="233" name="Google Shape;233;p32"/>
          <p:cNvSpPr txBox="1"/>
          <p:nvPr/>
        </p:nvSpPr>
        <p:spPr>
          <a:xfrm>
            <a:off x="295055" y="3204098"/>
            <a:ext cx="84051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Dicas para usar as formas:</a:t>
            </a:r>
            <a:endParaRPr sz="1088"/>
          </a:p>
          <a:p>
            <a:pPr indent="-222250" lvl="0" marL="2222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quadrado ou retângulo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fazer a base da casa</a:t>
            </a:r>
            <a:endParaRPr sz="1088"/>
          </a:p>
          <a:p>
            <a:pPr indent="-222250" lvl="0" marL="2222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triângulo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fazer o telhado</a:t>
            </a:r>
            <a:endParaRPr sz="1088"/>
          </a:p>
          <a:p>
            <a:pPr indent="-222250" lvl="0" marL="2222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círculo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fazer o sol,  rodas, óculos ou até rostos</a:t>
            </a:r>
            <a:endParaRPr sz="1088"/>
          </a:p>
          <a:p>
            <a:pPr indent="-222250" lvl="0" marL="2222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estrela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pra enfeitar o céu à noite</a:t>
            </a:r>
            <a:endParaRPr sz="1088"/>
          </a:p>
          <a:p>
            <a:pPr indent="-222250" lvl="0" marL="2222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texto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pra colocar seu nome ou dar título ao seu desenho!</a:t>
            </a:r>
            <a:endParaRPr sz="1088"/>
          </a:p>
          <a:p>
            <a:pPr indent="-222250" lvl="0" marL="2222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não se esqueça de usar as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mais combinam com você!</a:t>
            </a:r>
            <a:endParaRPr sz="1088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3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48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66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COMO SALVAR SUA ARTE NO COMPUTADOR </a:t>
            </a:r>
            <a:endParaRPr sz="1088"/>
          </a:p>
        </p:txBody>
      </p:sp>
      <p:sp>
        <p:nvSpPr>
          <p:cNvPr id="240" name="Google Shape;240;p33"/>
          <p:cNvSpPr txBox="1"/>
          <p:nvPr/>
        </p:nvSpPr>
        <p:spPr>
          <a:xfrm>
            <a:off x="255856" y="1549449"/>
            <a:ext cx="8612700" cy="29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1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Salvar é importante pra que você </a:t>
            </a:r>
            <a:r>
              <a:rPr b="1" lang="pt-BR" sz="171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perca o que criou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1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11"/>
              <a:buFont typeface="Arial"/>
              <a:buNone/>
            </a:pPr>
            <a:r>
              <a:rPr b="1" lang="pt-BR" sz="171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a passo pra salvar sua ilustração:</a:t>
            </a:r>
            <a:endParaRPr sz="1088"/>
          </a:p>
          <a:p>
            <a:pPr indent="-79021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AutoNum type="arabicPeriod"/>
            </a:pPr>
            <a:r>
              <a:rPr lang="pt-BR" sz="1711">
                <a:solidFill>
                  <a:schemeClr val="dk1"/>
                </a:solidFill>
              </a:rPr>
              <a:t> </a:t>
            </a:r>
            <a:r>
              <a:rPr lang="pt-BR" sz="171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o </a:t>
            </a:r>
            <a:r>
              <a:rPr b="1" lang="pt-BR" sz="171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menu Arquivo</a:t>
            </a:r>
            <a:r>
              <a:rPr lang="pt-BR" sz="171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(fica no cantinho de cima, à esquerda)</a:t>
            </a:r>
            <a:endParaRPr sz="1088"/>
          </a:p>
          <a:p>
            <a:pPr indent="-79021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AutoNum type="arabicPeriod"/>
            </a:pPr>
            <a:r>
              <a:rPr lang="pt-BR" sz="1711">
                <a:solidFill>
                  <a:schemeClr val="dk1"/>
                </a:solidFill>
              </a:rPr>
              <a:t> </a:t>
            </a:r>
            <a:r>
              <a:rPr lang="pt-BR" sz="171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lang="pt-BR" sz="171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Salvar</a:t>
            </a:r>
            <a:endParaRPr sz="171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9021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AutoNum type="arabicPeriod"/>
            </a:pPr>
            <a:r>
              <a:rPr lang="pt-BR" sz="1711">
                <a:solidFill>
                  <a:schemeClr val="dk1"/>
                </a:solidFill>
              </a:rPr>
              <a:t> </a:t>
            </a:r>
            <a:r>
              <a:rPr lang="pt-BR" sz="171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 a </a:t>
            </a:r>
            <a:r>
              <a:rPr b="1" lang="pt-BR" sz="171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pasta onde o desenho vai ficar guardado</a:t>
            </a:r>
            <a:r>
              <a:rPr lang="pt-BR" sz="171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(pode ser na área de trabalho ou em “Imagens”)</a:t>
            </a:r>
            <a:endParaRPr sz="1088"/>
          </a:p>
          <a:p>
            <a:pPr indent="-79021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AutoNum type="arabicPeriod"/>
            </a:pPr>
            <a:r>
              <a:rPr lang="pt-BR" sz="1711">
                <a:solidFill>
                  <a:schemeClr val="dk1"/>
                </a:solidFill>
              </a:rPr>
              <a:t> </a:t>
            </a:r>
            <a:r>
              <a:rPr lang="pt-BR" sz="171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Dê um </a:t>
            </a:r>
            <a:r>
              <a:rPr b="1" lang="pt-BR" sz="171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nome  pro seu arquivo</a:t>
            </a:r>
            <a:r>
              <a:rPr lang="pt-BR" sz="171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 “minha paisagem – seu nome”)</a:t>
            </a:r>
            <a:endParaRPr sz="1088"/>
          </a:p>
          <a:p>
            <a:pPr indent="-79021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AutoNum type="arabicPeriod"/>
            </a:pPr>
            <a:r>
              <a:rPr lang="pt-BR" sz="1711">
                <a:solidFill>
                  <a:schemeClr val="dk1"/>
                </a:solidFill>
              </a:rPr>
              <a:t> </a:t>
            </a:r>
            <a:r>
              <a:rPr lang="pt-BR" sz="171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lang="pt-BR" sz="171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Salvar</a:t>
            </a:r>
            <a:r>
              <a:rPr lang="pt-BR" sz="171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pronto!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1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 seu desenho está guardado no computador e você pode abrir sempre que quiser!</a:t>
            </a:r>
            <a:endParaRPr sz="1088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lt1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4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48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66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COMO COLOCAR SEU DESENHO COMO FUNDO DO COMPUTADOR!</a:t>
            </a:r>
            <a:endParaRPr sz="1088"/>
          </a:p>
        </p:txBody>
      </p:sp>
      <p:sp>
        <p:nvSpPr>
          <p:cNvPr id="247" name="Google Shape;247;p34"/>
          <p:cNvSpPr txBox="1"/>
          <p:nvPr/>
        </p:nvSpPr>
        <p:spPr>
          <a:xfrm>
            <a:off x="214294" y="1224687"/>
            <a:ext cx="85497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11"/>
              <a:buFont typeface="Arial"/>
              <a:buNone/>
            </a:pPr>
            <a:r>
              <a:rPr b="1" lang="pt-BR" sz="171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a passo: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711">
                <a:solidFill>
                  <a:schemeClr val="dk1"/>
                </a:solidFill>
              </a:rPr>
              <a:t> </a:t>
            </a:r>
            <a:r>
              <a:rPr lang="pt-BR" sz="171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no </a:t>
            </a:r>
            <a:r>
              <a:rPr b="1" lang="pt-BR" sz="171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botão Iniciar</a:t>
            </a:r>
            <a:r>
              <a:rPr lang="pt-BR" sz="171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(aquele com a janelinha 🪟 no canto da tela)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711">
                <a:solidFill>
                  <a:schemeClr val="dk1"/>
                </a:solidFill>
              </a:rPr>
              <a:t> </a:t>
            </a:r>
            <a:r>
              <a:rPr lang="pt-BR" sz="171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Depois, clique na </a:t>
            </a:r>
            <a:r>
              <a:rPr b="1" lang="pt-BR" sz="171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engrenagem</a:t>
            </a:r>
            <a:r>
              <a:rPr lang="pt-BR" sz="171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(⚙️) para abrir as </a:t>
            </a:r>
            <a:r>
              <a:rPr b="1" lang="pt-BR" sz="171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Configurações</a:t>
            </a:r>
            <a:endParaRPr sz="171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711">
                <a:solidFill>
                  <a:schemeClr val="dk1"/>
                </a:solidFill>
              </a:rPr>
              <a:t> </a:t>
            </a:r>
            <a:r>
              <a:rPr lang="pt-BR" sz="171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em </a:t>
            </a:r>
            <a:r>
              <a:rPr b="1" lang="pt-BR" sz="171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Personalização</a:t>
            </a:r>
            <a:endParaRPr sz="171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711">
                <a:solidFill>
                  <a:schemeClr val="dk1"/>
                </a:solidFill>
              </a:rPr>
              <a:t> </a:t>
            </a:r>
            <a:r>
              <a:rPr lang="pt-BR" sz="171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lang="pt-BR" sz="171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Tela de fundo</a:t>
            </a:r>
            <a:endParaRPr sz="171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711">
                <a:solidFill>
                  <a:schemeClr val="dk1"/>
                </a:solidFill>
              </a:rPr>
              <a:t> </a:t>
            </a:r>
            <a:r>
              <a:rPr lang="pt-BR" sz="171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parte que diz “Tela de fundo”, escolha a opção </a:t>
            </a:r>
            <a:r>
              <a:rPr b="1" lang="pt-BR" sz="171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Imagem</a:t>
            </a:r>
            <a:endParaRPr sz="171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711">
                <a:solidFill>
                  <a:schemeClr val="dk1"/>
                </a:solidFill>
              </a:rPr>
              <a:t> </a:t>
            </a:r>
            <a:r>
              <a:rPr lang="pt-BR" sz="171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 clique em </a:t>
            </a:r>
            <a:r>
              <a:rPr b="1" lang="pt-BR" sz="171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Procurar...</a:t>
            </a:r>
            <a:endParaRPr sz="171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711">
                <a:solidFill>
                  <a:schemeClr val="dk1"/>
                </a:solidFill>
              </a:rPr>
              <a:t> </a:t>
            </a:r>
            <a:r>
              <a:rPr lang="pt-BR" sz="171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Vai abrir uma janela com as pastas do seu computador.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711">
                <a:solidFill>
                  <a:schemeClr val="dk1"/>
                </a:solidFill>
              </a:rPr>
              <a:t> </a:t>
            </a:r>
            <a:r>
              <a:rPr b="1" lang="pt-BR" sz="171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Procure seu desenho</a:t>
            </a:r>
            <a:r>
              <a:rPr lang="pt-BR" sz="171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(onde você salvou ele, tipo em “Imagens” ou “Área de trabalho”)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711">
                <a:solidFill>
                  <a:schemeClr val="dk1"/>
                </a:solidFill>
              </a:rPr>
              <a:t> </a:t>
            </a:r>
            <a:r>
              <a:rPr lang="pt-BR" sz="171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na imagem que você criou e… </a:t>
            </a:r>
            <a:r>
              <a:rPr b="1" lang="pt-BR" sz="171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pronto!</a:t>
            </a:r>
            <a:br>
              <a:rPr lang="pt-BR" sz="171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71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Seu plano de fundo foi atualizado com a </a:t>
            </a:r>
            <a:r>
              <a:rPr b="1" lang="pt-BR" sz="171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sua arte</a:t>
            </a:r>
            <a:r>
              <a:rPr lang="pt-BR" sz="171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sz="1088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5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48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66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 FINAL – DESAFIO DO PLANO DE FUNDO!</a:t>
            </a:r>
            <a:endParaRPr sz="1088"/>
          </a:p>
        </p:txBody>
      </p:sp>
      <p:sp>
        <p:nvSpPr>
          <p:cNvPr id="254" name="Google Shape;254;p35"/>
          <p:cNvSpPr txBox="1"/>
          <p:nvPr/>
        </p:nvSpPr>
        <p:spPr>
          <a:xfrm>
            <a:off x="193591" y="1018953"/>
            <a:ext cx="4870200" cy="4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1"/>
              <a:buFont typeface="Arial"/>
              <a:buNone/>
            </a:pPr>
            <a:r>
              <a:rPr b="1" lang="pt-BR" sz="136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Objetivo:</a:t>
            </a:r>
            <a:r>
              <a:rPr lang="pt-BR" sz="136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Criar, no Paint, uma imagem que você vai usar como </a:t>
            </a:r>
            <a:r>
              <a:rPr b="1" lang="pt-BR" sz="136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plano de fundo do seu computador</a:t>
            </a:r>
            <a:r>
              <a:rPr lang="pt-BR" sz="136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1"/>
              <a:buFont typeface="Arial"/>
              <a:buNone/>
            </a:pPr>
            <a:r>
              <a:t/>
            </a:r>
            <a:endParaRPr b="1" sz="136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1"/>
              <a:buFont typeface="Arial"/>
              <a:buNone/>
            </a:pPr>
            <a:r>
              <a:rPr b="1" lang="pt-BR" sz="136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Inspiração:</a:t>
            </a:r>
            <a:r>
              <a:rPr lang="pt-BR" sz="136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Olhe a </a:t>
            </a:r>
            <a:r>
              <a:rPr b="1" lang="pt-BR" sz="136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ilustração ao lado</a:t>
            </a:r>
            <a:r>
              <a:rPr lang="pt-BR" sz="136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(feita em um programa profissional de design).</a:t>
            </a:r>
            <a:br>
              <a:rPr lang="pt-BR" sz="136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36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1"/>
              <a:buFont typeface="Arial"/>
              <a:buNone/>
            </a:pPr>
            <a:r>
              <a:rPr lang="pt-BR" sz="136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Sua missão é </a:t>
            </a:r>
            <a:r>
              <a:rPr b="1" lang="pt-BR" sz="136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fazer algo parecido no Paint</a:t>
            </a:r>
            <a:r>
              <a:rPr lang="pt-BR" sz="136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usando:</a:t>
            </a:r>
            <a:endParaRPr sz="1088"/>
          </a:p>
          <a:p>
            <a:pPr indent="-81491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3"/>
              <a:buFont typeface="Arial"/>
              <a:buChar char="•"/>
            </a:pPr>
            <a:r>
              <a:rPr lang="pt-BR" sz="1361">
                <a:solidFill>
                  <a:schemeClr val="dk1"/>
                </a:solidFill>
              </a:rPr>
              <a:t> </a:t>
            </a:r>
            <a:r>
              <a:rPr lang="pt-BR" sz="136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formas geométricas</a:t>
            </a:r>
            <a:endParaRPr sz="1088"/>
          </a:p>
          <a:p>
            <a:pPr indent="-81491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3"/>
              <a:buFont typeface="Arial"/>
              <a:buChar char="•"/>
            </a:pPr>
            <a:r>
              <a:rPr lang="pt-BR" sz="1361">
                <a:solidFill>
                  <a:schemeClr val="dk1"/>
                </a:solidFill>
              </a:rPr>
              <a:t> </a:t>
            </a:r>
            <a:r>
              <a:rPr lang="pt-BR" sz="136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caixa de ferramentas</a:t>
            </a:r>
            <a:endParaRPr sz="1088"/>
          </a:p>
          <a:p>
            <a:pPr indent="-81491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3"/>
              <a:buFont typeface="Arial"/>
              <a:buChar char="•"/>
            </a:pPr>
            <a:r>
              <a:rPr lang="pt-BR" sz="1361">
                <a:solidFill>
                  <a:schemeClr val="dk1"/>
                </a:solidFill>
              </a:rPr>
              <a:t> </a:t>
            </a:r>
            <a:r>
              <a:rPr lang="pt-BR" sz="136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caixa de cores</a:t>
            </a:r>
            <a:endParaRPr sz="1088"/>
          </a:p>
          <a:p>
            <a:pPr indent="-81491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3"/>
              <a:buFont typeface="Arial"/>
              <a:buChar char="•"/>
            </a:pPr>
            <a:r>
              <a:rPr lang="pt-BR" sz="1361">
                <a:solidFill>
                  <a:schemeClr val="dk1"/>
                </a:solidFill>
              </a:rPr>
              <a:t> </a:t>
            </a:r>
            <a:r>
              <a:rPr lang="pt-BR" sz="136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E, claro, sua criatividade!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1"/>
              <a:buFont typeface="Arial"/>
              <a:buNone/>
            </a:pPr>
            <a:r>
              <a:rPr b="1" lang="pt-BR" sz="136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Dica:</a:t>
            </a:r>
            <a:r>
              <a:rPr lang="pt-BR" sz="136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Sua imagem </a:t>
            </a:r>
            <a:r>
              <a:rPr b="1" lang="pt-BR" sz="136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precisa ser igual</a:t>
            </a:r>
            <a:r>
              <a:rPr lang="pt-BR" sz="136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 importante é tentar fazer </a:t>
            </a:r>
            <a:r>
              <a:rPr b="1" lang="pt-BR" sz="136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mais parecido possível com o que você tem no Paint</a:t>
            </a:r>
            <a:r>
              <a:rPr lang="pt-BR" sz="136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1"/>
              <a:buFont typeface="Arial"/>
              <a:buNone/>
            </a:pPr>
            <a:r>
              <a:rPr lang="pt-BR" sz="136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tudo que aprendeu:</a:t>
            </a:r>
            <a:endParaRPr sz="1088"/>
          </a:p>
          <a:p>
            <a:pPr indent="-81491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3"/>
              <a:buFont typeface="Arial"/>
              <a:buChar char="•"/>
            </a:pPr>
            <a:r>
              <a:rPr lang="pt-BR" sz="1361">
                <a:solidFill>
                  <a:schemeClr val="dk1"/>
                </a:solidFill>
              </a:rPr>
              <a:t> </a:t>
            </a:r>
            <a:r>
              <a:rPr lang="pt-BR" sz="136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Círculos, quadrados, triângulos</a:t>
            </a:r>
            <a:endParaRPr sz="1088"/>
          </a:p>
          <a:p>
            <a:pPr indent="-81491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3"/>
              <a:buFont typeface="Arial"/>
              <a:buChar char="•"/>
            </a:pPr>
            <a:r>
              <a:rPr lang="pt-BR" sz="1361">
                <a:solidFill>
                  <a:schemeClr val="dk1"/>
                </a:solidFill>
              </a:rPr>
              <a:t> </a:t>
            </a:r>
            <a:r>
              <a:rPr lang="pt-BR" sz="136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Pincel, balde de tinta</a:t>
            </a:r>
            <a:endParaRPr sz="1088"/>
          </a:p>
          <a:p>
            <a:pPr indent="-81491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3"/>
              <a:buFont typeface="Arial"/>
              <a:buChar char="•"/>
            </a:pPr>
            <a:r>
              <a:rPr lang="pt-BR" sz="1361">
                <a:solidFill>
                  <a:schemeClr val="dk1"/>
                </a:solidFill>
              </a:rPr>
              <a:t> </a:t>
            </a:r>
            <a:r>
              <a:rPr lang="pt-BR" sz="136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até o texto, se quiser colocar uma frase ou seu nome!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6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Quando terminar, </a:t>
            </a:r>
            <a:r>
              <a:rPr b="1" lang="pt-BR" sz="136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salve seu desenho com o seu nome</a:t>
            </a:r>
            <a:r>
              <a:rPr lang="pt-BR" sz="136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aplique como plano de fundo!</a:t>
            </a:r>
            <a:endParaRPr sz="1088"/>
          </a:p>
        </p:txBody>
      </p:sp>
      <p:pic>
        <p:nvPicPr>
          <p:cNvPr descr="Uma imagem contendo placar, comida&#10;&#10;O conteúdo gerado por IA pode estar incorreto." id="255" name="Google Shape;25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58700" y="2113450"/>
            <a:ext cx="3893775" cy="262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