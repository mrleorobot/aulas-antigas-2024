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715000" cx="9144000"/>
  <p:notesSz cx="6858000" cy="9144000"/>
  <p:embeddedFontLst>
    <p:embeddedFont>
      <p:font typeface="Play"/>
      <p:regular r:id="rId33"/>
      <p:bold r:id="rId34"/>
    </p:embeddedFont>
    <p:embeddedFont>
      <p:font typeface="Merriweather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gHPDdTLzxxhJ0JIijgav2S59jf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Play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Merriweather-regular.fntdata"/><Relationship Id="rId12" Type="http://schemas.openxmlformats.org/officeDocument/2006/relationships/slide" Target="slides/slide8.xml"/><Relationship Id="rId34" Type="http://schemas.openxmlformats.org/officeDocument/2006/relationships/font" Target="fonts/Play-bold.fntdata"/><Relationship Id="rId15" Type="http://schemas.openxmlformats.org/officeDocument/2006/relationships/slide" Target="slides/slide11.xml"/><Relationship Id="rId37" Type="http://schemas.openxmlformats.org/officeDocument/2006/relationships/font" Target="fonts/Merriweather-italic.fntdata"/><Relationship Id="rId14" Type="http://schemas.openxmlformats.org/officeDocument/2006/relationships/slide" Target="slides/slide10.xml"/><Relationship Id="rId36" Type="http://schemas.openxmlformats.org/officeDocument/2006/relationships/font" Target="fonts/Merriweather-bold.fntdata"/><Relationship Id="rId17" Type="http://schemas.openxmlformats.org/officeDocument/2006/relationships/slide" Target="slides/slide13.xml"/><Relationship Id="rId39" Type="http://customschemas.google.com/relationships/presentationmetadata" Target="metadata"/><Relationship Id="rId16" Type="http://schemas.openxmlformats.org/officeDocument/2006/relationships/slide" Target="slides/slide12.xml"/><Relationship Id="rId38" Type="http://schemas.openxmlformats.org/officeDocument/2006/relationships/font" Target="fonts/Merriweather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a26339e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7a26339e6e_0_0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34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34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34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3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36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3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37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7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3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3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035463" y="981206"/>
            <a:ext cx="3335100" cy="3705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357917" y="981206"/>
            <a:ext cx="25644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b="0" i="0" lang="pt-BR" sz="3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b="0" i="0" lang="pt-BR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  <p:sp>
        <p:nvSpPr>
          <p:cNvPr id="86" name="Google Shape;86;p1"/>
          <p:cNvSpPr txBox="1"/>
          <p:nvPr/>
        </p:nvSpPr>
        <p:spPr>
          <a:xfrm>
            <a:off x="432556" y="1552962"/>
            <a:ext cx="46029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Tela de computador com fundo azul&#10;&#10;O conteúdo gerado por IA pode estar incorreto." id="87" name="Google Shape;87;p1"/>
          <p:cNvPicPr preferRelativeResize="0"/>
          <p:nvPr/>
        </p:nvPicPr>
        <p:blipFill rotWithShape="1">
          <a:blip r:embed="rId3">
            <a:alphaModFix/>
          </a:blip>
          <a:srcRect b="0" l="20043" r="20042" t="0"/>
          <a:stretch/>
        </p:blipFill>
        <p:spPr>
          <a:xfrm>
            <a:off x="4847573" y="1358762"/>
            <a:ext cx="3522944" cy="29505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1020020" y="1888567"/>
            <a:ext cx="3458700" cy="21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 DE SISTEMA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LIMPEZA DE DISCO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CMD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CHDSK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DESFRAGMENTADOR DE DISCO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INFORMAÇÕES DE DISCO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PAINEL DE CONTROLE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FONTES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MOUSE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VÍDEO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TECLADO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a26339e6e_0_0"/>
          <p:cNvSpPr txBox="1"/>
          <p:nvPr/>
        </p:nvSpPr>
        <p:spPr>
          <a:xfrm>
            <a:off x="976350" y="1770075"/>
            <a:ext cx="7191300" cy="24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>
                <a:solidFill>
                  <a:srgbClr val="FFFFFF"/>
                </a:solidFill>
              </a:rPr>
              <a:t>ATENÇÃO - PARA A </a:t>
            </a:r>
            <a:r>
              <a:rPr b="1" lang="pt-BR" sz="2700">
                <a:solidFill>
                  <a:srgbClr val="FFFFFF"/>
                </a:solidFill>
              </a:rPr>
              <a:t>SEGURANÇA DOS COMPUTADORES ESTA AULA SERÁ REALIZADA VERBALMENTE! NÃO MEXA NAS FUNÇÕES SEM PERMISSÕES. </a:t>
            </a:r>
            <a:r>
              <a:rPr b="1" lang="pt-BR" sz="2700">
                <a:solidFill>
                  <a:srgbClr val="FFFFFF"/>
                </a:solidFill>
              </a:rPr>
              <a:t> </a:t>
            </a:r>
            <a:endParaRPr b="1" sz="2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 DO SISTEMA</a:t>
            </a:r>
            <a:endParaRPr sz="1100"/>
          </a:p>
        </p:txBody>
      </p:sp>
      <p:sp>
        <p:nvSpPr>
          <p:cNvPr id="99" name="Google Shape;99;p2"/>
          <p:cNvSpPr txBox="1"/>
          <p:nvPr/>
        </p:nvSpPr>
        <p:spPr>
          <a:xfrm>
            <a:off x="136071" y="777072"/>
            <a:ext cx="8871900" cy="27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980000"/>
                </a:solidFill>
              </a:rPr>
              <a:t>O QUE SÃO E PARA QUE SERVEM?</a:t>
            </a:r>
            <a:endParaRPr b="1" sz="1100">
              <a:solidFill>
                <a:srgbClr val="9800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ferramentas do sistema são programas do próprio Windows que ajudam a manter o computador funcionando bem.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 permitem que o usuário monitore, organize e otimize o sistema, além de identificar e corrigir problemas antes que eles afetem o desempenho da máquina.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essas ferramentas, é possível acompanhar informações detalhadas sobre o computador, fazer manutenção preventiva, verificar erros de memória, limpar arquivos desnecessários e melhorar o desempenho geral do sistema.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ALGUMAS DAS PRINCIPAIS FERRAMENTAS DISPONÍVEIS NO SISTEMA:</a:t>
            </a:r>
            <a:endParaRPr sz="1100"/>
          </a:p>
        </p:txBody>
      </p:sp>
      <p:sp>
        <p:nvSpPr>
          <p:cNvPr id="105" name="Google Shape;105;p3"/>
          <p:cNvSpPr/>
          <p:nvPr/>
        </p:nvSpPr>
        <p:spPr>
          <a:xfrm>
            <a:off x="471268" y="776706"/>
            <a:ext cx="8423100" cy="4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Agendador de tarefas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automatiza ações no computador, como abrir um programa em determinado horário.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Configuração do sistema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gerencia quais programas abrem com o Windows, facilitando o desempenho na inicialização.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Desfragmentar e otimizar unidades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organiza os arquivos do HD para que o acesso aos dados seja mais rápido.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Diagnóstico de memória do Windows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verifica se há problemas na memória RAM.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Firewall do Windows com segurança avançada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ajuda a proteger o computador contra acessos não autorizados.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Fontes de dados ODBC (32 e 64 bits</a:t>
            </a:r>
            <a:r>
              <a:rPr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gerenciam conexões com bancos de dados (mais usados por profissionais da área).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Gerenciamento do computador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painel completo com acesso a várias ferramentas de administração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ALGUMAS DAS PRINCIPAIS FERRAMENTAS DISPONÍVEIS NO SISTEMA:</a:t>
            </a:r>
            <a:endParaRPr sz="1100"/>
          </a:p>
        </p:txBody>
      </p:sp>
      <p:sp>
        <p:nvSpPr>
          <p:cNvPr id="111" name="Google Shape;111;p4"/>
          <p:cNvSpPr/>
          <p:nvPr/>
        </p:nvSpPr>
        <p:spPr>
          <a:xfrm>
            <a:off x="124850" y="735258"/>
            <a:ext cx="8894400" cy="4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Informações do sistema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mostra dados completos sobre o hardware e o sistema instalado.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Iniciador iSCSI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conecta o computador a dispositivos de armazenamento em rede (uso mais técnico).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Limpeza de disco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remove arquivos temporários e desnecessários, liberando espaço.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Monitor de desempenho</a:t>
            </a:r>
            <a:r>
              <a:rPr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acompanha em tempo real o uso da CPU, memória, disco e rede.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Monitor de recursos</a:t>
            </a:r>
            <a:r>
              <a:rPr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oferece detalhes técnicos sobre os processos e o uso de recursos do sistema.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Política de segurança local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define regras de acesso e segurança do sistema.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Serviços de componentes</a:t>
            </a:r>
            <a:r>
              <a:rPr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gerencia aplicações mais avançadas que rodam em segundo plano.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Serviços</a:t>
            </a:r>
            <a:r>
              <a:rPr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iniciar, parar e configurar serviços do Windows.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Visualizador de eventos</a:t>
            </a:r>
            <a:r>
              <a:rPr lang="pt-BR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mostra registros de erros, avisos e informações importantes sobre o funcionamento do sistema.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ACESSAR AS FERRAMENTAS DO SISTEMA?</a:t>
            </a:r>
            <a:endParaRPr sz="1100"/>
          </a:p>
        </p:txBody>
      </p:sp>
      <p:sp>
        <p:nvSpPr>
          <p:cNvPr id="117" name="Google Shape;117;p5"/>
          <p:cNvSpPr/>
          <p:nvPr/>
        </p:nvSpPr>
        <p:spPr>
          <a:xfrm>
            <a:off x="485001" y="1693150"/>
            <a:ext cx="8198700" cy="16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600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Menu Iniciar.</a:t>
            </a:r>
            <a:endParaRPr sz="1100"/>
          </a:p>
          <a:p>
            <a:pPr indent="-1651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600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Digite na barra de pesquisa: Ferramentas Administrativas.</a:t>
            </a:r>
            <a:endParaRPr sz="1100"/>
          </a:p>
          <a:p>
            <a:pPr indent="-1651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600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programa que aparece. Lá você verá uma lista com todas essas ferramentas organizadas.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LIMPEZA DE DISCO: O QUE É E PARA QUE SERVE?</a:t>
            </a:r>
            <a:endParaRPr sz="1100"/>
          </a:p>
        </p:txBody>
      </p:sp>
      <p:sp>
        <p:nvSpPr>
          <p:cNvPr id="123" name="Google Shape;123;p6"/>
          <p:cNvSpPr/>
          <p:nvPr/>
        </p:nvSpPr>
        <p:spPr>
          <a:xfrm>
            <a:off x="492368" y="826248"/>
            <a:ext cx="82437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imaginar o seu computador como uma casa. Com o tempo, ela vai acumulando coisas que você não usa mais: objetos velhos, papéis espalhados, utensílios guardados há anos — tudo isso ocupa espaço.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Limpeza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Disco do Windows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 como uma faxina digital. Ela percorre o "interior" do seu computador e identifica tudo aquilo que está sobrando e ocupando espaço à toa. Depois, sugere que você apague esses arquivos, ajudando a deixar o sistema mais leve, rápido e organizado.</a:t>
            </a:r>
            <a:endParaRPr sz="1100"/>
          </a:p>
        </p:txBody>
      </p:sp>
      <p:sp>
        <p:nvSpPr>
          <p:cNvPr id="124" name="Google Shape;124;p6"/>
          <p:cNvSpPr/>
          <p:nvPr/>
        </p:nvSpPr>
        <p:spPr>
          <a:xfrm>
            <a:off x="492368" y="2732430"/>
            <a:ext cx="42555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A LIMPEZA DE DISCO REMOVE?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Arquivos temporários da Internet e do sistema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Arquivos de instalação antigos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Itens da Lixeira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Arquivos em cache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Miniaturas de imagens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Relatórios de erros do sistema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Arquivos antigos de atualizações do Windows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LIMPEZA DE DISCO: O QUE É E PARA QUE SERVE?</a:t>
            </a:r>
            <a:endParaRPr sz="1100"/>
          </a:p>
        </p:txBody>
      </p:sp>
      <p:sp>
        <p:nvSpPr>
          <p:cNvPr id="130" name="Google Shape;130;p7"/>
          <p:cNvSpPr/>
          <p:nvPr/>
        </p:nvSpPr>
        <p:spPr>
          <a:xfrm>
            <a:off x="951327" y="2746038"/>
            <a:ext cx="72414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USAR A LIMPEZA DE DISCO?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Libera espaço no HD ou SSD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melhorar o desempenho do computador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Ajuda a manter o sistema mais organizado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 arquivos inúteis que só ocupam espaço</a:t>
            </a:r>
            <a:endParaRPr sz="1100"/>
          </a:p>
        </p:txBody>
      </p:sp>
      <p:sp>
        <p:nvSpPr>
          <p:cNvPr id="131" name="Google Shape;131;p7"/>
          <p:cNvSpPr/>
          <p:nvPr/>
        </p:nvSpPr>
        <p:spPr>
          <a:xfrm>
            <a:off x="951327" y="1079476"/>
            <a:ext cx="7563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EXTRA: COMPACTAÇÃO DE ARQUIVOS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Além de excluir o que não é mais necessário, a Limpeza de Disco também pode compactar arquivos pouco usados, ou seja, deixá-los menores para economizar espaço — como se estivesse guardando coisas que você quase não usa na “</a:t>
            </a:r>
            <a:r>
              <a:rPr lang="pt-BR">
                <a:solidFill>
                  <a:schemeClr val="dk1"/>
                </a:solidFill>
              </a:rPr>
              <a:t>garagem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 do PC.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EXECUTAR A LIMPEZA DE DISCO</a:t>
            </a:r>
            <a:endParaRPr sz="1100"/>
          </a:p>
        </p:txBody>
      </p:sp>
      <p:sp>
        <p:nvSpPr>
          <p:cNvPr id="137" name="Google Shape;137;p8"/>
          <p:cNvSpPr/>
          <p:nvPr/>
        </p:nvSpPr>
        <p:spPr>
          <a:xfrm>
            <a:off x="407963" y="868675"/>
            <a:ext cx="84018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Usar a Limpeza de Disco no Windows 10 é uma forma simples de liberar espaço e melhorar o desempenho do computador.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Siga os passos abaixo para realizar a limpeza: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campo de busca da barra de tarefas, digite "Limpeza de disco" e clique para abrir o programa.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Caso seu computador tenha mais de uma unidade, selecione a que deseja limpar e clique em OK.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sistema irá escanear os arquivos que podem ser excluídos e apresentará uma lista.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Marque as caixas dos itens que deseja remover. Se quiser entender o que cada item representa, clique sobre ele para ler a descrição.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“OK” e depois em “Excluir arquivos” para concluir a limpeza.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LIMPEZA DE DISCO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713935" y="1005723"/>
            <a:ext cx="7980000" cy="26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Mesmo que seu computador não apresente lentidão ou falte espaço, é importante adotar o hábito de realizar limpezas regulares para manter o bom desempenho.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há muitos arquivos desnecessários armazenados, o sistema pode ficar sobrecarregado, dificultando encontrar o que você precisa, ocupando espaço útil e diminuindo a eficiência do computador.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Assim como manter sua casa organizada, manter o computador limpo ajuda a garantir que tudo funcione com mais agilidade e praticidade.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ferramenta Limpeza de Disco regularmente para manter o sistema leve e eficiente.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LIMPEZA DO SISTEMA</a:t>
            </a:r>
            <a:endParaRPr sz="1100"/>
          </a:p>
        </p:txBody>
      </p:sp>
      <p:sp>
        <p:nvSpPr>
          <p:cNvPr id="149" name="Google Shape;149;p10"/>
          <p:cNvSpPr/>
          <p:nvPr/>
        </p:nvSpPr>
        <p:spPr>
          <a:xfrm>
            <a:off x="787790" y="698274"/>
            <a:ext cx="7536900" cy="4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LIMPEZA DO SISTEMA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“Limpar arquivos do sistema”. Para isso, você precisa estar conectado como administrador, pois essa função exige permissões especiais para modificar arquivos importantes do sistema.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Marque as caixas dos arquivos e programas que deseja remover.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“OK” para confirmar e excluir os arquivos selecionados.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DESINSTALAR PROGRAMAS 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quiser remover programas que não utiliza mais: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a Limpeza de Disco e faça login como administrador.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guia “Mais opções”.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“Limpar” na seção Programas e Recursos.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será direcionado ao Painel de Controle, onde poderá selecionar e desinstalar os programas desejados.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ferramenta simples ajuda a liberar espaço, melhorar a performance e tornar o uso do computador mais eficiente.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CMD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3117" y="2574854"/>
            <a:ext cx="3468978" cy="260825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1"/>
          <p:cNvSpPr/>
          <p:nvPr/>
        </p:nvSpPr>
        <p:spPr>
          <a:xfrm>
            <a:off x="249701" y="755073"/>
            <a:ext cx="4572000" cy="46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O PROMPT DE COMANDO?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Prompt de Comando (também conhecido como CMD) é uma ferramenta dos sistemas operacionais Windows que simula uma interface de texto, onde o usuário digita comandos para o computador.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Apesar de o Windows ser um sistema com interface gráfica (tudo por janelas, ícones e cliques), o CMD permite que você interaja diretamente com o sistema por meio de textos e códigos.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ele, é possível:Executar tarefas administrativas mais avançadas;Automatizar processos;Realizar diagnósticos e resolver problemas no sistema;Acessar informações detalhadas do computador.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ferramenta é muito útil principalmente para quem deseja entender mais a fundo o funcionamento do sistema operacional e realizar comandos de forma direta e rápida.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CMD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313006" y="1061158"/>
            <a:ext cx="5070000" cy="1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COMO ABRIR O PROMPT DE COMANDO NO WINDOWS 10? </a:t>
            </a:r>
            <a:r>
              <a:rPr lang="pt-BR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O usuário deve ir até o menu iniciar e digitar CMD.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9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Depois é só clicar no programa e abrir.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12"/>
          <p:cNvPicPr preferRelativeResize="0"/>
          <p:nvPr/>
        </p:nvPicPr>
        <p:blipFill rotWithShape="1">
          <a:blip r:embed="rId3">
            <a:alphaModFix/>
          </a:blip>
          <a:srcRect b="0" l="0" r="68933" t="40252"/>
          <a:stretch/>
        </p:blipFill>
        <p:spPr>
          <a:xfrm>
            <a:off x="5638463" y="1245872"/>
            <a:ext cx="2488310" cy="4253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COMANDOS MAIS CONHECIDOS DO CMD</a:t>
            </a:r>
            <a:endParaRPr sz="1100"/>
          </a:p>
        </p:txBody>
      </p:sp>
      <p:sp>
        <p:nvSpPr>
          <p:cNvPr id="169" name="Google Shape;169;p13"/>
          <p:cNvSpPr/>
          <p:nvPr/>
        </p:nvSpPr>
        <p:spPr>
          <a:xfrm>
            <a:off x="198706" y="754931"/>
            <a:ext cx="8746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MPORTANTE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Essas informações são apenas para conhecimento.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Não utilizar sem a permissão do Professor.</a:t>
            </a:r>
            <a:endParaRPr sz="1100">
              <a:solidFill>
                <a:srgbClr val="9800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recomendamos o uso desses comandos sem a supervisão de um profissional, pois podem causar mudanças no funcionamento do computador.</a:t>
            </a:r>
            <a:endParaRPr sz="1100"/>
          </a:p>
        </p:txBody>
      </p:sp>
      <p:sp>
        <p:nvSpPr>
          <p:cNvPr id="170" name="Google Shape;170;p13"/>
          <p:cNvSpPr/>
          <p:nvPr/>
        </p:nvSpPr>
        <p:spPr>
          <a:xfrm>
            <a:off x="198705" y="1974243"/>
            <a:ext cx="8746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cd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(alterar diretório): Serve para indicar um novo caminho (pasta) dentro do sistema. Com esse comando, é possível navegar por dentro das pastas do computador via linha de comando.Exemplo: cd\windows\system32 mudaria o caminho até a pasta system32 (mas não recomendamos executar</a:t>
            </a:r>
            <a:endParaRPr sz="1100"/>
          </a:p>
        </p:txBody>
      </p:sp>
      <p:sp>
        <p:nvSpPr>
          <p:cNvPr id="171" name="Google Shape;171;p13"/>
          <p:cNvSpPr/>
          <p:nvPr/>
        </p:nvSpPr>
        <p:spPr>
          <a:xfrm>
            <a:off x="198704" y="2885778"/>
            <a:ext cx="87465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(ver arquivos e pastas): Mostra tudo o que tem dentro da pasta atual. Além disso, mostra datas e tamanhos dos arquivos.Exemplo: dir no CMD mostra os arquivos daquela pasta.</a:t>
            </a:r>
            <a:endParaRPr sz="1100"/>
          </a:p>
        </p:txBody>
      </p:sp>
      <p:sp>
        <p:nvSpPr>
          <p:cNvPr id="172" name="Google Shape;172;p13"/>
          <p:cNvSpPr/>
          <p:nvPr/>
        </p:nvSpPr>
        <p:spPr>
          <a:xfrm>
            <a:off x="198704" y="3568493"/>
            <a:ext cx="86007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ipconfig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(ver dados da rede): Mostra detalhes da conexão com a internet, como o endereço IP e outros dados importantes da rede.</a:t>
            </a:r>
            <a:endParaRPr sz="1100"/>
          </a:p>
        </p:txBody>
      </p:sp>
      <p:sp>
        <p:nvSpPr>
          <p:cNvPr id="173" name="Google Shape;173;p13"/>
          <p:cNvSpPr/>
          <p:nvPr/>
        </p:nvSpPr>
        <p:spPr>
          <a:xfrm>
            <a:off x="198704" y="4251208"/>
            <a:ext cx="86007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ping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(testar conexão): Esse comando serve para testar se o computador está conseguindo se comunicar com outro dispositivo na rede.</a:t>
            </a:r>
            <a:endParaRPr sz="1100"/>
          </a:p>
        </p:txBody>
      </p:sp>
      <p:sp>
        <p:nvSpPr>
          <p:cNvPr id="174" name="Google Shape;174;p13"/>
          <p:cNvSpPr/>
          <p:nvPr/>
        </p:nvSpPr>
        <p:spPr>
          <a:xfrm>
            <a:off x="198704" y="4924100"/>
            <a:ext cx="88434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help ou /?**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(ajuda de comandos): Mostra explicações sobre o funcionamento de outros comandos.Exemplo: ipconfig /? mostra o que o comando ipconfig pode fazer.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CHKDSK (Check Disk) — Verificação de Disco</a:t>
            </a:r>
            <a:endParaRPr sz="1100"/>
          </a:p>
        </p:txBody>
      </p:sp>
      <p:sp>
        <p:nvSpPr>
          <p:cNvPr id="180" name="Google Shape;180;p14"/>
          <p:cNvSpPr/>
          <p:nvPr/>
        </p:nvSpPr>
        <p:spPr>
          <a:xfrm>
            <a:off x="407963" y="803638"/>
            <a:ext cx="81171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CHKDSK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uma ferramenta do Windows usada para verificar e corrigir problemas em discos rígidos.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analisa a integridade do sistema de arquivos e dos dados armazenados, localizando erros ou setores defeituosos que possam causar falhas no computador.</a:t>
            </a:r>
            <a:endParaRPr sz="1100"/>
          </a:p>
        </p:txBody>
      </p:sp>
      <p:sp>
        <p:nvSpPr>
          <p:cNvPr id="181" name="Google Shape;181;p14"/>
          <p:cNvSpPr/>
          <p:nvPr/>
        </p:nvSpPr>
        <p:spPr>
          <a:xfrm>
            <a:off x="407963" y="1994712"/>
            <a:ext cx="8296500" cy="30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serve?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Identifica e corrige erros de sistema de arquivos, como arquivos corrompidos ou dados fora de ordem;Verifica a presença de setores defeituosos;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 bad sectors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causados por erro de gravação e possíveis de corrigir.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 bad sectors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causados por danos físicos no disco, e são isolados para que não sejam usados novamente;Pode ajudar quando o computador apresenta falhas, travamentos ou foi desligado de forma incorreta.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Importância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recomendável utilizar o CHKDSK periodicamente, como parte da manutenção do computador, especialmente:Após quedas de energia;Quando o sistema trava ou apresenta erros ao abrir programas;Como prevenção para manter o desempenho do disco.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CHKDSK (Check Disk) — Verificação de Disco</a:t>
            </a:r>
            <a:endParaRPr sz="1100"/>
          </a:p>
        </p:txBody>
      </p:sp>
      <p:sp>
        <p:nvSpPr>
          <p:cNvPr id="187" name="Google Shape;187;p15"/>
          <p:cNvSpPr/>
          <p:nvPr/>
        </p:nvSpPr>
        <p:spPr>
          <a:xfrm>
            <a:off x="524021" y="860438"/>
            <a:ext cx="81594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CHKDSK pode ser acessado por meio do explorador de arquivos ou do prompt de comando, mas sua execução pode modificar arquivos do sistema.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isso, é uma ferramenta indicada apenas para uso técnico ou com supervisão profissional.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DESFRAGMENTADOR DE DISCO – O que é e para que serve?</a:t>
            </a:r>
            <a:endParaRPr sz="1100"/>
          </a:p>
        </p:txBody>
      </p:sp>
      <p:sp>
        <p:nvSpPr>
          <p:cNvPr id="193" name="Google Shape;193;p16"/>
          <p:cNvSpPr/>
          <p:nvPr/>
        </p:nvSpPr>
        <p:spPr>
          <a:xfrm>
            <a:off x="323557" y="753259"/>
            <a:ext cx="8349300" cy="30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tempo de uso, é normal que o computador fique mais lento. Isso acontece, entre outros motivos, porque os arquivos e programas salvos no HD ficam fragmentados, ou seja, espalhados em várias partes do disco.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isso acontece? Sempre que você instala ou salva algo, o sistema grava o arquivo onde houver espaço disponível, mesmo que precise “dividir” esse arquivo em partes diferentes do disco.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isso, o computador precisa trabalhar mais para localizar e abrir tudo corretamente, o que gera lentidão.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a desfragmentação faz? A desfragmentação organiza os pedaços de arquivos, agrupando-os em um mesmo local. Isso melhora o desempenho do computador, pois facilita o trabalho do sistema ao abrir programas ou acessar dados.</a:t>
            </a:r>
            <a:endParaRPr sz="1100"/>
          </a:p>
        </p:txBody>
      </p:sp>
      <p:sp>
        <p:nvSpPr>
          <p:cNvPr id="194" name="Google Shape;194;p16"/>
          <p:cNvSpPr/>
          <p:nvPr/>
        </p:nvSpPr>
        <p:spPr>
          <a:xfrm>
            <a:off x="323557" y="4131177"/>
            <a:ext cx="83493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fazer a desfragmentação no Windows?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barra de pesquisa, digite “desfragmentar”;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unidade desejada e clique em “Analisar”;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 fragmentação estiver alta, clique em “Otimizar” para iniciar o processo.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INFORMAÇÕES DE DISCO – VERIFICAR ESPAÇO E ERROS</a:t>
            </a:r>
            <a:endParaRPr sz="1100"/>
          </a:p>
        </p:txBody>
      </p:sp>
      <p:sp>
        <p:nvSpPr>
          <p:cNvPr id="200" name="Google Shape;200;p17"/>
          <p:cNvSpPr/>
          <p:nvPr/>
        </p:nvSpPr>
        <p:spPr>
          <a:xfrm>
            <a:off x="545122" y="867697"/>
            <a:ext cx="77901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Windows permite aos usuários verificar o espaço de armazenamento disponível e realizar verificações de erros no disco rígido, garantindo o bom funcionamento do sistema.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verificar o espaço disponível no disco: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o Explorador de Arquivos (pela barra de tarefas ou Menu Iniciar);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Este Computador;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seção Dispositivos e unidades, será exibido o espaço disponível em cada drive.</a:t>
            </a:r>
            <a:endParaRPr sz="1100"/>
          </a:p>
        </p:txBody>
      </p:sp>
      <p:sp>
        <p:nvSpPr>
          <p:cNvPr id="201" name="Google Shape;201;p17"/>
          <p:cNvSpPr/>
          <p:nvPr/>
        </p:nvSpPr>
        <p:spPr>
          <a:xfrm>
            <a:off x="271303" y="2662927"/>
            <a:ext cx="87390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verificar erros no disco: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Explorador de Arquivos, clique com o botão direito sobre o disco desejado;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Propriedades;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aba Ferramentas e clique em Verificar, na área de verificação de erros;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Mesmo que o Windows não detecte problemas automaticamente, você pode optar por digitalizar a unidade;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sistema examinará a unidade e tentará reparar erros que não exigem reinicialização;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forem encontrados erros que exigem reinício, o Windows solicitará que você reinicie o computador. O reparo será feito automaticamente na próxima inicialização, com progresso exibido na tela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PAINEL DE CONTROLE – O QUE É E PARA QUE SERVE</a:t>
            </a:r>
            <a:endParaRPr sz="1100"/>
          </a:p>
        </p:txBody>
      </p:sp>
      <p:sp>
        <p:nvSpPr>
          <p:cNvPr id="207" name="Google Shape;207;p18"/>
          <p:cNvSpPr/>
          <p:nvPr/>
        </p:nvSpPr>
        <p:spPr>
          <a:xfrm>
            <a:off x="302456" y="813547"/>
            <a:ext cx="8623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Painel de Controle do Windows é uma ferramenta essencial que permite ao usuário configurar e personalizar vários aspectos do sistema operacional. Ele funciona como um centro de controle para ajustes visuais e técnicos do computador.</a:t>
            </a:r>
            <a:endParaRPr sz="1100"/>
          </a:p>
        </p:txBody>
      </p:sp>
      <p:sp>
        <p:nvSpPr>
          <p:cNvPr id="208" name="Google Shape;208;p18"/>
          <p:cNvSpPr/>
          <p:nvPr/>
        </p:nvSpPr>
        <p:spPr>
          <a:xfrm>
            <a:off x="302456" y="1689913"/>
            <a:ext cx="86235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ele, é possível: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Alterar a aparência do sistema (como papel de parede ou temas);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Instalar e desinstalar programas;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Configurar hardware e dispositivos;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backups e restaurar arquivos;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Gerenciar contas de usuário, som, rede, entre outros.</a:t>
            </a:r>
            <a:endParaRPr sz="1100"/>
          </a:p>
        </p:txBody>
      </p:sp>
      <p:sp>
        <p:nvSpPr>
          <p:cNvPr id="209" name="Google Shape;209;p18"/>
          <p:cNvSpPr/>
          <p:nvPr/>
        </p:nvSpPr>
        <p:spPr>
          <a:xfrm>
            <a:off x="302456" y="3598194"/>
            <a:ext cx="86235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acessar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Abra o Menu Iniciar, digite Painel de Controle na barra de pesquisa e clique para abrir o programa.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PAINEL DE CONTROLE – O QUE É E PARA QUE SERVE</a:t>
            </a:r>
            <a:endParaRPr sz="1100"/>
          </a:p>
        </p:txBody>
      </p:sp>
      <p:sp>
        <p:nvSpPr>
          <p:cNvPr id="215" name="Google Shape;215;p19"/>
          <p:cNvSpPr/>
          <p:nvPr/>
        </p:nvSpPr>
        <p:spPr>
          <a:xfrm>
            <a:off x="281354" y="771118"/>
            <a:ext cx="739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Funções do Painel de Controle no Windows</a:t>
            </a:r>
            <a:endParaRPr sz="1100"/>
          </a:p>
        </p:txBody>
      </p:sp>
      <p:sp>
        <p:nvSpPr>
          <p:cNvPr id="216" name="Google Shape;216;p19"/>
          <p:cNvSpPr/>
          <p:nvPr/>
        </p:nvSpPr>
        <p:spPr>
          <a:xfrm>
            <a:off x="77775" y="1230625"/>
            <a:ext cx="6282000" cy="11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pt-BR" sz="1400">
                <a:solidFill>
                  <a:schemeClr val="dk1"/>
                </a:solidFill>
              </a:rPr>
              <a:t>Sistema e Segurança:</a:t>
            </a:r>
            <a:endParaRPr b="1" sz="1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Verifica o status do computador e do firewall.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Ajuda a identificar e corrigir problemas comuns.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 informações como memória RAM e velocidade do processador.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configurar a bateria, o espaço em disco e realizar backups.</a:t>
            </a:r>
            <a:endParaRPr sz="1100"/>
          </a:p>
        </p:txBody>
      </p:sp>
      <p:sp>
        <p:nvSpPr>
          <p:cNvPr id="217" name="Google Shape;217;p19"/>
          <p:cNvSpPr/>
          <p:nvPr/>
        </p:nvSpPr>
        <p:spPr>
          <a:xfrm>
            <a:off x="77775" y="2392800"/>
            <a:ext cx="55182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pt-BR" sz="1400">
                <a:solidFill>
                  <a:schemeClr val="dk1"/>
                </a:solidFill>
              </a:rPr>
              <a:t>Rede e Internet</a:t>
            </a:r>
            <a:r>
              <a:rPr b="1" lang="pt-BR" sz="1400">
                <a:solidFill>
                  <a:schemeClr val="dk1"/>
                </a:solidFill>
              </a:rPr>
              <a:t>:</a:t>
            </a:r>
            <a:r>
              <a:rPr b="1" lang="pt-BR" sz="1400">
                <a:solidFill>
                  <a:schemeClr val="dk1"/>
                </a:solidFill>
              </a:rPr>
              <a:t> </a:t>
            </a:r>
            <a:endParaRPr b="1" sz="1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Gerencia conexões de rede.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 o status da internet.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apagar cookies e o histórico de navegação.</a:t>
            </a:r>
            <a:endParaRPr sz="1100"/>
          </a:p>
        </p:txBody>
      </p:sp>
      <p:sp>
        <p:nvSpPr>
          <p:cNvPr id="218" name="Google Shape;218;p19"/>
          <p:cNvSpPr/>
          <p:nvPr/>
        </p:nvSpPr>
        <p:spPr>
          <a:xfrm>
            <a:off x="77775" y="3322200"/>
            <a:ext cx="52203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1" lang="pt-BR" sz="1400">
                <a:solidFill>
                  <a:schemeClr val="dk1"/>
                </a:solidFill>
              </a:rPr>
              <a:t>Hardware e Sons: </a:t>
            </a:r>
            <a:endParaRPr b="1" sz="1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 e configura dispositivos como impressoras e mouses.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 configurações de som, vídeo, bateria e mobilidade.</a:t>
            </a:r>
            <a:endParaRPr sz="1100"/>
          </a:p>
        </p:txBody>
      </p:sp>
      <p:sp>
        <p:nvSpPr>
          <p:cNvPr id="219" name="Google Shape;219;p19"/>
          <p:cNvSpPr/>
          <p:nvPr/>
        </p:nvSpPr>
        <p:spPr>
          <a:xfrm>
            <a:off x="77775" y="4135550"/>
            <a:ext cx="4934700" cy="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1" lang="pt-BR" sz="1400">
                <a:solidFill>
                  <a:schemeClr val="dk1"/>
                </a:solidFill>
              </a:rPr>
              <a:t>Programas: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Desinstala programas e visualiza atualizações instaladas.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Ativa ou desativa recursos do Windows.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 configurações padrão de programas.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PAINEL DE CONTROLE – O QUE É E PARA QUE SERVE</a:t>
            </a:r>
            <a:endParaRPr sz="1100"/>
          </a:p>
        </p:txBody>
      </p:sp>
      <p:sp>
        <p:nvSpPr>
          <p:cNvPr id="225" name="Google Shape;225;p20"/>
          <p:cNvSpPr/>
          <p:nvPr/>
        </p:nvSpPr>
        <p:spPr>
          <a:xfrm>
            <a:off x="168725" y="727400"/>
            <a:ext cx="45912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1" lang="pt-BR" sz="1400">
                <a:solidFill>
                  <a:schemeClr val="dk1"/>
                </a:solidFill>
              </a:rPr>
              <a:t>Contas de Usuário: </a:t>
            </a:r>
            <a:endParaRPr b="1" sz="1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Cria, remove ou edita contas de usuário.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Gerencia senhas, credenciais e contas do Outlook.</a:t>
            </a:r>
            <a:endParaRPr sz="1100"/>
          </a:p>
        </p:txBody>
      </p:sp>
      <p:sp>
        <p:nvSpPr>
          <p:cNvPr id="226" name="Google Shape;226;p20"/>
          <p:cNvSpPr/>
          <p:nvPr/>
        </p:nvSpPr>
        <p:spPr>
          <a:xfrm>
            <a:off x="168725" y="1539848"/>
            <a:ext cx="84651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r>
              <a:rPr b="1" lang="pt-BR" sz="1400">
                <a:solidFill>
                  <a:schemeClr val="dk1"/>
                </a:solidFill>
              </a:rPr>
              <a:t> Aparência e Personalização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 temas, fontes, cores e configurações do mouse.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 barra de tarefas, contraste e recursos de acessibilidade visual.</a:t>
            </a:r>
            <a:endParaRPr sz="1100"/>
          </a:p>
        </p:txBody>
      </p:sp>
      <p:sp>
        <p:nvSpPr>
          <p:cNvPr id="227" name="Google Shape;227;p20"/>
          <p:cNvSpPr/>
          <p:nvPr/>
        </p:nvSpPr>
        <p:spPr>
          <a:xfrm>
            <a:off x="168725" y="2460303"/>
            <a:ext cx="8465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</a:t>
            </a:r>
            <a:r>
              <a:rPr b="1" lang="pt-BR" sz="1400">
                <a:solidFill>
                  <a:schemeClr val="dk1"/>
                </a:solidFill>
              </a:rPr>
              <a:t>Relógio e Região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 data, hora, fuso horário e formato regional.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 relógios de outras regiões.</a:t>
            </a:r>
            <a:endParaRPr sz="1100"/>
          </a:p>
        </p:txBody>
      </p:sp>
      <p:sp>
        <p:nvSpPr>
          <p:cNvPr id="228" name="Google Shape;228;p20"/>
          <p:cNvSpPr/>
          <p:nvPr/>
        </p:nvSpPr>
        <p:spPr>
          <a:xfrm>
            <a:off x="168725" y="3264406"/>
            <a:ext cx="84651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</a:t>
            </a:r>
            <a:r>
              <a:rPr b="1" lang="pt-BR" sz="1400">
                <a:solidFill>
                  <a:schemeClr val="dk1"/>
                </a:solidFill>
              </a:rPr>
              <a:t>Facilidade de Acesso: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Ativa reconhecimento de fala.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Oferece sugestões de configurações para melhorar a experiência de uso.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 acessibilidade para pessoas com deficiência.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Fontes no Windows</a:t>
            </a:r>
            <a:endParaRPr sz="1100"/>
          </a:p>
        </p:txBody>
      </p:sp>
      <p:sp>
        <p:nvSpPr>
          <p:cNvPr id="234" name="Google Shape;234;p21"/>
          <p:cNvSpPr/>
          <p:nvPr/>
        </p:nvSpPr>
        <p:spPr>
          <a:xfrm>
            <a:off x="302455" y="836992"/>
            <a:ext cx="85917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Windows já vem com várias fontes instaladas por padrão, mas é possível visualizar outras e até instalar novas de forma simples. Isso é muito útil para quem trabalha com textos, design ou apresentações</a:t>
            </a:r>
            <a:endParaRPr sz="1100"/>
          </a:p>
        </p:txBody>
      </p:sp>
      <p:sp>
        <p:nvSpPr>
          <p:cNvPr id="235" name="Google Shape;235;p21"/>
          <p:cNvSpPr/>
          <p:nvPr/>
        </p:nvSpPr>
        <p:spPr>
          <a:xfrm>
            <a:off x="302454" y="1830589"/>
            <a:ext cx="85917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visualizar as fontes disponíveis no sistema?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Acesse o Painel de Controle.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Aparência e Personalização.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opção Fontes.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Lá você verá todas as fontes instaladas no seu computador e poderá visualizar como cada uma delas aparece no texto.</a:t>
            </a:r>
            <a:endParaRPr sz="1100"/>
          </a:p>
        </p:txBody>
      </p:sp>
      <p:sp>
        <p:nvSpPr>
          <p:cNvPr id="236" name="Google Shape;236;p21"/>
          <p:cNvSpPr/>
          <p:nvPr/>
        </p:nvSpPr>
        <p:spPr>
          <a:xfrm>
            <a:off x="302453" y="3329732"/>
            <a:ext cx="85917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instalar novas fontes no Windows?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Procure na internet por uma fonte que você goste (existem sites como dafont.com ou Google Fonts).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Baixe o arquivo da fonte — normalmente ele vem em formato .ttf ou .otf.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botão direito no arquivo e selecione “Instalar”.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Após a instalação, a nova fonte já estará disponível nos seus programas de edição, como Word, PowerPoint e outros.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Mouse: Personalização no Windows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207498" y="808103"/>
            <a:ext cx="870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Windows permite ao usuário personalizar o comportamento e a aparência do mouse de forma prática.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207498" y="1311144"/>
            <a:ext cx="87078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acessar as configurações do mouse: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Painel de Controle.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Altere a visualização para Ícones grandes.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opção Mouse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caixa de diálogo será aberta com várias guias de configuração.</a:t>
            </a:r>
            <a:endParaRPr sz="1100"/>
          </a:p>
        </p:txBody>
      </p:sp>
      <p:sp>
        <p:nvSpPr>
          <p:cNvPr id="244" name="Google Shape;244;p22"/>
          <p:cNvSpPr/>
          <p:nvPr/>
        </p:nvSpPr>
        <p:spPr>
          <a:xfrm>
            <a:off x="207498" y="2737516"/>
            <a:ext cx="80220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guias de configuração: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Botões: Permite alternar entre os botões primário e secundário.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 a velocidade do clique duplo.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Ativar a trava do clique.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Ponteiros: Altere a aparência do cursor.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de ponteiros: Ajuste a velocidade de movimento e visibilidade do ponteiro.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Roda: Configura o comportamento da rolagem (scroll).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Hardware: Exibe as informações do modelo de mouse conectado ao computador.</a:t>
            </a:r>
            <a:endParaRPr sz="1100"/>
          </a:p>
        </p:txBody>
      </p:sp>
      <p:pic>
        <p:nvPicPr>
          <p:cNvPr id="245" name="Google Shape;245;p22"/>
          <p:cNvPicPr preferRelativeResize="0"/>
          <p:nvPr/>
        </p:nvPicPr>
        <p:blipFill rotWithShape="1">
          <a:blip r:embed="rId3">
            <a:alphaModFix/>
          </a:blip>
          <a:srcRect b="34402" l="16455" r="51937" t="20313"/>
          <a:stretch/>
        </p:blipFill>
        <p:spPr>
          <a:xfrm>
            <a:off x="6985000" y="1115900"/>
            <a:ext cx="1930301" cy="264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Barra de Tarefas e Menu Iniciar: Personalização</a:t>
            </a:r>
            <a:endParaRPr sz="1100"/>
          </a:p>
        </p:txBody>
      </p:sp>
      <p:sp>
        <p:nvSpPr>
          <p:cNvPr id="251" name="Google Shape;251;p23"/>
          <p:cNvSpPr/>
          <p:nvPr/>
        </p:nvSpPr>
        <p:spPr>
          <a:xfrm>
            <a:off x="196947" y="819825"/>
            <a:ext cx="865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Windows permite ao usuário configurar a Barra de Tarefas e o Menu Iniciar de acordo com suas preferências.</a:t>
            </a:r>
            <a:endParaRPr sz="1100"/>
          </a:p>
        </p:txBody>
      </p:sp>
      <p:sp>
        <p:nvSpPr>
          <p:cNvPr id="252" name="Google Shape;252;p23"/>
          <p:cNvSpPr/>
          <p:nvPr/>
        </p:nvSpPr>
        <p:spPr>
          <a:xfrm>
            <a:off x="196946" y="1682868"/>
            <a:ext cx="56694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Como configurar o Menu Iniciar:</a:t>
            </a:r>
            <a:endParaRPr b="1"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Painel de Controle.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Personalização.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opção Menu Iniciar.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menu será exibido, permitindo que você faça as configurações desejadas, como exibir ou ocultar pastas, ícones, aplicativos recentes e muito mais.</a:t>
            </a:r>
            <a:endParaRPr sz="1100"/>
          </a:p>
        </p:txBody>
      </p:sp>
      <p:pic>
        <p:nvPicPr>
          <p:cNvPr id="253" name="Google Shape;253;p23"/>
          <p:cNvPicPr preferRelativeResize="0"/>
          <p:nvPr/>
        </p:nvPicPr>
        <p:blipFill rotWithShape="1">
          <a:blip r:embed="rId3">
            <a:alphaModFix/>
          </a:blip>
          <a:srcRect b="25325" l="21384" r="21787" t="21457"/>
          <a:stretch/>
        </p:blipFill>
        <p:spPr>
          <a:xfrm>
            <a:off x="5486401" y="2860430"/>
            <a:ext cx="3446586" cy="2760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Barra de Tarefas e Menu Iniciar: Personalização</a:t>
            </a:r>
            <a:endParaRPr sz="1100"/>
          </a:p>
        </p:txBody>
      </p:sp>
      <p:sp>
        <p:nvSpPr>
          <p:cNvPr id="259" name="Google Shape;259;p24"/>
          <p:cNvSpPr/>
          <p:nvPr/>
        </p:nvSpPr>
        <p:spPr>
          <a:xfrm>
            <a:off x="196947" y="819825"/>
            <a:ext cx="865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Windows permite ao usuário configurar a Barra de Tarefas e o Menu Iniciar de acordo com suas preferências.</a:t>
            </a:r>
            <a:endParaRPr sz="1100"/>
          </a:p>
        </p:txBody>
      </p:sp>
      <p:pic>
        <p:nvPicPr>
          <p:cNvPr id="260" name="Google Shape;260;p24"/>
          <p:cNvPicPr preferRelativeResize="0"/>
          <p:nvPr/>
        </p:nvPicPr>
        <p:blipFill rotWithShape="1">
          <a:blip r:embed="rId3">
            <a:alphaModFix/>
          </a:blip>
          <a:srcRect b="22481" l="22568" r="45825" t="26459"/>
          <a:stretch/>
        </p:blipFill>
        <p:spPr>
          <a:xfrm>
            <a:off x="6143604" y="1334589"/>
            <a:ext cx="2502918" cy="359435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/>
          <p:nvPr/>
        </p:nvSpPr>
        <p:spPr>
          <a:xfrm>
            <a:off x="196947" y="1234742"/>
            <a:ext cx="5838000" cy="28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configurar a Barra de Tarefas no Windows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Acesse o Painel de Controle.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Personalização.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Barra de Tarefas e Navegação.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menu será exibido com diversas opções para personalizar a barra de tarefas,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como: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Ocultar automaticamente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Bloquear a barra de tarefas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Alterar posição (inferior, lateral ou superior)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 ou ocultar ícones e botões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Essas configurações permitem adaptar a barra de tarefas conforme suas preferências de uso e visual.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CONFIGURAÇÕES DE VÍDEO E TECLADO NO WINDOWS</a:t>
            </a:r>
            <a:endParaRPr sz="1100"/>
          </a:p>
        </p:txBody>
      </p:sp>
      <p:sp>
        <p:nvSpPr>
          <p:cNvPr id="267" name="Google Shape;267;p25"/>
          <p:cNvSpPr/>
          <p:nvPr/>
        </p:nvSpPr>
        <p:spPr>
          <a:xfrm>
            <a:off x="302456" y="798194"/>
            <a:ext cx="84231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Windows permite que o usuário personalize tanto as configurações de vídeo quanto do teclado, ajustando conforme suas necessidades e preferências.</a:t>
            </a:r>
            <a:endParaRPr sz="1100"/>
          </a:p>
        </p:txBody>
      </p:sp>
      <p:sp>
        <p:nvSpPr>
          <p:cNvPr id="268" name="Google Shape;268;p25"/>
          <p:cNvSpPr/>
          <p:nvPr/>
        </p:nvSpPr>
        <p:spPr>
          <a:xfrm>
            <a:off x="302456" y="1522160"/>
            <a:ext cx="84231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CONFIGURAR O VÍDEO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Acesse o Painel de Controle.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Personalização.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opção Vídeo.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menu será exibido, onde você poderá ajustar:Tamanho do textoResolução da telaBrilho e contraste (dependendo do monitor)</a:t>
            </a:r>
            <a:endParaRPr sz="1100"/>
          </a:p>
        </p:txBody>
      </p:sp>
      <p:pic>
        <p:nvPicPr>
          <p:cNvPr id="269" name="Google Shape;269;p25"/>
          <p:cNvPicPr preferRelativeResize="0"/>
          <p:nvPr/>
        </p:nvPicPr>
        <p:blipFill rotWithShape="1">
          <a:blip r:embed="rId3">
            <a:alphaModFix/>
          </a:blip>
          <a:srcRect b="64690" l="0" r="0" t="0"/>
          <a:stretch/>
        </p:blipFill>
        <p:spPr>
          <a:xfrm>
            <a:off x="1019000" y="3169455"/>
            <a:ext cx="6761344" cy="212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CONFIGURAÇÕES DE VÍDEO E TECLADO NO WINDOWS</a:t>
            </a:r>
            <a:endParaRPr sz="1100"/>
          </a:p>
        </p:txBody>
      </p:sp>
      <p:sp>
        <p:nvSpPr>
          <p:cNvPr id="275" name="Google Shape;275;p26"/>
          <p:cNvSpPr/>
          <p:nvPr/>
        </p:nvSpPr>
        <p:spPr>
          <a:xfrm>
            <a:off x="302456" y="798194"/>
            <a:ext cx="84231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Windows permite que o usuário personalize tanto as configurações de vídeo quanto do teclado, ajustando conforme suas necessidades e preferências.</a:t>
            </a:r>
            <a:endParaRPr sz="1100"/>
          </a:p>
        </p:txBody>
      </p:sp>
      <p:sp>
        <p:nvSpPr>
          <p:cNvPr id="276" name="Google Shape;276;p26"/>
          <p:cNvSpPr/>
          <p:nvPr/>
        </p:nvSpPr>
        <p:spPr>
          <a:xfrm>
            <a:off x="302456" y="1522160"/>
            <a:ext cx="84231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CONFIGURAR O TECLADO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Acesse o Painel de Controle.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Exibir por, selecione Ícones grandes.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Teclado.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janela será aberta com opções como: Velocidade de repetição das teclas, Tempo de espera entre pressionamentos, Cursor do teclado.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26"/>
          <p:cNvPicPr preferRelativeResize="0"/>
          <p:nvPr/>
        </p:nvPicPr>
        <p:blipFill rotWithShape="1">
          <a:blip r:embed="rId3">
            <a:alphaModFix/>
          </a:blip>
          <a:srcRect b="46888" l="26595" r="41948" t="8385"/>
          <a:stretch/>
        </p:blipFill>
        <p:spPr>
          <a:xfrm>
            <a:off x="6662077" y="2984098"/>
            <a:ext cx="1957901" cy="241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"/>
          <p:cNvSpPr/>
          <p:nvPr/>
        </p:nvSpPr>
        <p:spPr>
          <a:xfrm>
            <a:off x="5035463" y="981206"/>
            <a:ext cx="3335100" cy="3705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7"/>
          <p:cNvSpPr txBox="1"/>
          <p:nvPr/>
        </p:nvSpPr>
        <p:spPr>
          <a:xfrm>
            <a:off x="1078798" y="2048006"/>
            <a:ext cx="25644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pt-BR" sz="3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lang="pt-BR" sz="3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  <p:pic>
        <p:nvPicPr>
          <p:cNvPr descr="Tela de computador com fundo azul&#10;&#10;O conteúdo gerado por IA pode estar incorreto." id="284" name="Google Shape;284;p27"/>
          <p:cNvPicPr preferRelativeResize="0"/>
          <p:nvPr/>
        </p:nvPicPr>
        <p:blipFill rotWithShape="1">
          <a:blip r:embed="rId3">
            <a:alphaModFix/>
          </a:blip>
          <a:srcRect b="0" l="20043" r="20042" t="0"/>
          <a:stretch/>
        </p:blipFill>
        <p:spPr>
          <a:xfrm>
            <a:off x="4847573" y="1358762"/>
            <a:ext cx="3522944" cy="2950503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7"/>
          <p:cNvSpPr txBox="1"/>
          <p:nvPr/>
        </p:nvSpPr>
        <p:spPr>
          <a:xfrm>
            <a:off x="798475" y="2736800"/>
            <a:ext cx="33351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IMPRESSA</a:t>
            </a:r>
            <a:endParaRPr b="1" i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2025-05-01T13:20:56Z</dcterms:created>
  <dc:creator>leo Souza</dc:creator>
</cp:coreProperties>
</file>