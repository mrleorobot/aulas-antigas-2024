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715000" cx="9144000"/>
  <p:notesSz cx="6858000" cy="9144000"/>
  <p:embeddedFontLst>
    <p:embeddedFont>
      <p:font typeface="Play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5uZvXocJuZK9aVnfJuROOpu2W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6FCFC6-D299-4DAE-BC3C-BA0FAF1B70B7}">
  <a:tblStyle styleId="{0C6FCFC6-D299-4DAE-BC3C-BA0FAF1B70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Play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15b6c2a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815b6c2a79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4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4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4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type="title"/>
          </p:nvPr>
        </p:nvSpPr>
        <p:spPr>
          <a:xfrm>
            <a:off x="1258620" y="1504942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pt-BR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37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514256" y="2164332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pt-BR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Tela de computador com fundo azul&#10;&#10;O conteúdo gerado por IA pode estar incorreto." id="91" name="Google Shape;91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À INFORMÁTICA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279328" y="1041659"/>
            <a:ext cx="8605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Informática?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Informática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área das ciências da informação e da computação que estuda tudo que envolve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tratamento automático de dados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surgiu da junção das palavras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informação + automática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seu principal objetivo 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coletar, armazenar, processar, transferir e compartilhar informações de forma digital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279328" y="3545602"/>
            <a:ext cx="8605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a Informática está presente?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em dia, a informática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todos os lugares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(empresas, comércio, escritórios, hospitais)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educação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(escolas, faculdades, cursos online)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entretenimento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(jogos, filmes, redes sociais)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até 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atividades mais simples do dia a dia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(usar um celular, fazer um pagamento, pedir comida, etc.)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À INFORMÁTICA</a:t>
            </a:r>
            <a:endParaRPr sz="1100"/>
          </a:p>
        </p:txBody>
      </p:sp>
      <p:sp>
        <p:nvSpPr>
          <p:cNvPr id="105" name="Google Shape;105;p3"/>
          <p:cNvSpPr txBox="1"/>
          <p:nvPr/>
        </p:nvSpPr>
        <p:spPr>
          <a:xfrm>
            <a:off x="202272" y="1042331"/>
            <a:ext cx="87363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aprender Informática Básica?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Saber usar um computador é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exigência comum no mercado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Além disso, facilita a vida em tarefas do dia a dia.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aprender informática básica, você será capaz 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e organizar arquivos e pastas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Acessar a internet e navegar com segurança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navegadores e pesquisar no Google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textos, planilhas e apresentações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 e transferir arquivos por pen drive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Entender o básico sobre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operacional Windows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02272" y="3572232"/>
            <a:ext cx="77268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Sistema Operacional?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principal do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responsável por controlar tudo que acontece nele. O mais comum 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Através dele você consegue: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Abrir programas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e salvar arquivos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Instalar ou remover aplicativos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ferramentas como a calculadora, bloco de notas, WordPad, etc.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DEFINIÇÕES E CONCEITOS</a:t>
            </a:r>
            <a:endParaRPr sz="1100"/>
          </a:p>
        </p:txBody>
      </p:sp>
      <p:sp>
        <p:nvSpPr>
          <p:cNvPr id="113" name="Google Shape;113;p4"/>
          <p:cNvSpPr txBox="1"/>
          <p:nvPr/>
        </p:nvSpPr>
        <p:spPr>
          <a:xfrm>
            <a:off x="242406" y="1968653"/>
            <a:ext cx="8659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x Software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tudo que 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tocar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computador.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 teclado, mouse, monitor, memória, placa de vídeo, HD, placa-mãe.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o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toca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faz tudo funcionar.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 sistema operacional (Windows), programas (Word, navegador, jogos).</a:t>
            </a:r>
            <a:endParaRPr sz="1100"/>
          </a:p>
        </p:txBody>
      </p:sp>
      <p:sp>
        <p:nvSpPr>
          <p:cNvPr id="114" name="Google Shape;114;p4"/>
          <p:cNvSpPr/>
          <p:nvPr/>
        </p:nvSpPr>
        <p:spPr>
          <a:xfrm>
            <a:off x="215982" y="986694"/>
            <a:ext cx="86592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Computador?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equipamentos que trabalham em conjunto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receber, processar, armazenar e mostrar informações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computador é dividido em duas partes principais que funcionam juntas: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215981" y="3527693"/>
            <a:ext cx="6970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(Parte Física)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inglês, "hardware" significa "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equipamento pesado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itens são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computador.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DEFINIÇÕES E CONCEITOS</a:t>
            </a:r>
            <a:endParaRPr sz="1100"/>
          </a:p>
        </p:txBody>
      </p:sp>
      <p:sp>
        <p:nvSpPr>
          <p:cNvPr id="122" name="Google Shape;122;p5"/>
          <p:cNvSpPr txBox="1"/>
          <p:nvPr/>
        </p:nvSpPr>
        <p:spPr>
          <a:xfrm>
            <a:off x="385206" y="1248252"/>
            <a:ext cx="7909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(Parte Lógica)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Tudo aquilo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pode tocar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o funcionamento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computador.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Windows, Word, navegador, jogos, aplicativos.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software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o 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funcionar e realizar tarefas.</a:t>
            </a:r>
            <a:endParaRPr sz="1100"/>
          </a:p>
        </p:txBody>
      </p:sp>
      <p:sp>
        <p:nvSpPr>
          <p:cNvPr id="123" name="Google Shape;123;p5"/>
          <p:cNvSpPr/>
          <p:nvPr/>
        </p:nvSpPr>
        <p:spPr>
          <a:xfrm>
            <a:off x="170972" y="2409672"/>
            <a:ext cx="8802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as duas grandes partes (Hardware e Software).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são as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peças físicas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monitor, teclado, HD) que formam o hardware.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Conceitos Importantes</a:t>
            </a:r>
            <a:endParaRPr sz="1100"/>
          </a:p>
        </p:txBody>
      </p:sp>
      <p:graphicFrame>
        <p:nvGraphicFramePr>
          <p:cNvPr id="130" name="Google Shape;130;p6"/>
          <p:cNvGraphicFramePr/>
          <p:nvPr/>
        </p:nvGraphicFramePr>
        <p:xfrm>
          <a:off x="169223" y="1118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2182100"/>
                <a:gridCol w="6590825"/>
              </a:tblGrid>
              <a:tr h="25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Termo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é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Operacional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Programa principal que comanda o computador. Ex: Windows.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CPU (Processador)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“cérebro” do computador. Faz os cálculos e processa dados.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Disco Rígido (HD)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Onde os arquivos e programas ficam salvos. É a “memória permanente”.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Memória RAM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Memória temporária usada enquanto o computador está ligado.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Placa-mãe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Placa principal que conecta todas as partes do computador.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Monitor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 tela onde você vê tudo.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Periféricos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Acessórios conectados ao computador. Ex: impressora, mouse, teclado.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Dispositivos Portáteis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Pendrive, cartão SD, HD externo. Armazenam dados e podem ser levados para outros lugares.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Navegador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Programa para acessar a internet. Ex: Google Chrome, Firefox.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Nuvem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Lugar na internet onde você pode guardar arquivos. Ex: Google Drive.</a:t>
                      </a:r>
                      <a:endParaRPr sz="1200"/>
                    </a:p>
                  </a:txBody>
                  <a:tcPr marT="25550" marB="25550" marR="45950" marL="45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Conceitos Importantes</a:t>
            </a:r>
            <a:endParaRPr sz="1100"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36295" l="27707" r="28895" t="28182"/>
          <a:stretch/>
        </p:blipFill>
        <p:spPr>
          <a:xfrm>
            <a:off x="292704" y="1431382"/>
            <a:ext cx="4275878" cy="3711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5480016" y="1256984"/>
            <a:ext cx="35982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imagem ao lado mostra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dos componentes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fazem o computador funcionar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monitor, teclado, HD, placa-mãe).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708394" y="3226910"/>
            <a:ext cx="4275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são apenas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físicos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(parte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divisão do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mais ampla e inclui: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parte física (os componentes da imagem).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parte lógica (os programas que controlam tudo).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INFORMÁTICA</a:t>
            </a:r>
            <a:endParaRPr sz="1100"/>
          </a:p>
        </p:txBody>
      </p:sp>
      <p:sp>
        <p:nvSpPr>
          <p:cNvPr id="146" name="Google Shape;146;p8"/>
          <p:cNvSpPr txBox="1"/>
          <p:nvPr/>
        </p:nvSpPr>
        <p:spPr>
          <a:xfrm>
            <a:off x="322859" y="1235018"/>
            <a:ext cx="8396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 Informática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informática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coloca a tecnologia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serviço das pessoas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trazendo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gestão da informação.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ela, é possível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criar, acessar, armazenar, processar e distribuir 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rápida e eficiente.</a:t>
            </a:r>
            <a:endParaRPr sz="1100"/>
          </a:p>
        </p:txBody>
      </p:sp>
      <p:sp>
        <p:nvSpPr>
          <p:cNvPr id="147" name="Google Shape;147;p8"/>
          <p:cNvSpPr txBox="1"/>
          <p:nvPr/>
        </p:nvSpPr>
        <p:spPr>
          <a:xfrm>
            <a:off x="354054" y="2384328"/>
            <a:ext cx="8334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Urnas Eletrônicas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da informática, a contagem de votos no Brasil podia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levar dias ou até semanas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Hoje,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urnas eletrônicas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resultado sai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poucas horas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processo é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rápido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fraudes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comuns no voto impresso.</a:t>
            </a:r>
            <a:endParaRPr sz="1100"/>
          </a:p>
        </p:txBody>
      </p:sp>
      <p:sp>
        <p:nvSpPr>
          <p:cNvPr id="148" name="Google Shape;148;p8"/>
          <p:cNvSpPr txBox="1"/>
          <p:nvPr/>
        </p:nvSpPr>
        <p:spPr>
          <a:xfrm>
            <a:off x="322859" y="3598182"/>
            <a:ext cx="83967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Áreas de Atuação da Informática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informática abrange diversas áreas,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criar e desenvolver software.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Análise de Sistemas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entender como os sistemas funcionam e melhorar sua eficiência.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Desenvolvimento de 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criar e melhorar as peças físicas do computador.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Tecnologia da Informação (TI)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cuidar de redes, segurança e dados.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Manutenção de Computadores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reparar e melhorar os dispositivos.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Inteligência Artificial (IA)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criar máquinas que pensam e aprendem.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história da informática </a:t>
            </a:r>
            <a:endParaRPr sz="1100"/>
          </a:p>
        </p:txBody>
      </p:sp>
      <p:sp>
        <p:nvSpPr>
          <p:cNvPr id="155" name="Google Shape;155;p9"/>
          <p:cNvSpPr txBox="1"/>
          <p:nvPr/>
        </p:nvSpPr>
        <p:spPr>
          <a:xfrm>
            <a:off x="278328" y="1096473"/>
            <a:ext cx="869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tudo começou?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informática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surgiu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necessidade de fazer cálculos com mais rapidez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antes dos computadores modernos, o ser humano já buscava formas de automatizar a matemática.</a:t>
            </a:r>
            <a:endParaRPr sz="1100"/>
          </a:p>
        </p:txBody>
      </p:sp>
      <p:sp>
        <p:nvSpPr>
          <p:cNvPr id="156" name="Google Shape;156;p9"/>
          <p:cNvSpPr txBox="1"/>
          <p:nvPr/>
        </p:nvSpPr>
        <p:spPr>
          <a:xfrm>
            <a:off x="278328" y="2158578"/>
            <a:ext cx="4582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Evolução dos Computadores – As 4 Gerações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história da informática é contada pelas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gerações de computadores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sp>
        <p:nvSpPr>
          <p:cNvPr id="157" name="Google Shape;157;p9"/>
          <p:cNvSpPr txBox="1"/>
          <p:nvPr/>
        </p:nvSpPr>
        <p:spPr>
          <a:xfrm>
            <a:off x="278327" y="3220682"/>
            <a:ext cx="8574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1ª Geração (1951–1959)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Computadores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grandes e lentos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Consumiam muita energia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Tinha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baixa capacidade de memória e processamento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ENIAC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um dos primeiros computadores do mundo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história da informática </a:t>
            </a:r>
            <a:endParaRPr sz="1100"/>
          </a:p>
        </p:txBody>
      </p:sp>
      <p:sp>
        <p:nvSpPr>
          <p:cNvPr id="164" name="Google Shape;164;p10"/>
          <p:cNvSpPr txBox="1"/>
          <p:nvPr/>
        </p:nvSpPr>
        <p:spPr>
          <a:xfrm>
            <a:off x="429739" y="1205329"/>
            <a:ext cx="4582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2ª Geração (1959–1965)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Já eram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pouco menores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Menor consumo de energia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ainda lentos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Usados pela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vez em empresas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confiáveis que os da geração anterior</a:t>
            </a:r>
            <a:endParaRPr sz="1100"/>
          </a:p>
        </p:txBody>
      </p:sp>
      <p:sp>
        <p:nvSpPr>
          <p:cNvPr id="165" name="Google Shape;165;p10"/>
          <p:cNvSpPr txBox="1"/>
          <p:nvPr/>
        </p:nvSpPr>
        <p:spPr>
          <a:xfrm>
            <a:off x="429739" y="2857500"/>
            <a:ext cx="4582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3ª Geração (1965–1975)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Surgimento dos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chips (circuitos integrados)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Computadores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menores, mais rápidos e mais baratos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Primeiros computadores pessoais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aparecem nesse período</a:t>
            </a:r>
            <a:endParaRPr sz="1100"/>
          </a:p>
        </p:txBody>
      </p:sp>
      <p:sp>
        <p:nvSpPr>
          <p:cNvPr id="166" name="Google Shape;166;p10"/>
          <p:cNvSpPr txBox="1"/>
          <p:nvPr/>
        </p:nvSpPr>
        <p:spPr>
          <a:xfrm>
            <a:off x="429739" y="4401503"/>
            <a:ext cx="5635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4ª Geração (1975 em diante)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Evolução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rápida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tecnologia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Computadores cada vez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potentes, inteligentes e acessíveis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Surgimento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celulares, tablets e muito mais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ENTENDENDO COMO FUNCIONA O COMPUTADOR</a:t>
            </a:r>
            <a:endParaRPr sz="1100"/>
          </a:p>
        </p:txBody>
      </p:sp>
      <p:sp>
        <p:nvSpPr>
          <p:cNvPr id="173" name="Google Shape;173;p11"/>
          <p:cNvSpPr txBox="1"/>
          <p:nvPr/>
        </p:nvSpPr>
        <p:spPr>
          <a:xfrm>
            <a:off x="456458" y="1086577"/>
            <a:ext cx="8450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computador entende o que fazemos?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funcionar, o computador precisa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comunicar-se com o usuário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comunicação acontece por meio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processamento de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4" name="Google Shape;174;p11"/>
          <p:cNvSpPr txBox="1"/>
          <p:nvPr/>
        </p:nvSpPr>
        <p:spPr>
          <a:xfrm>
            <a:off x="456458" y="2044897"/>
            <a:ext cx="4582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Etapas da Comunicação Usuário x Máquina</a:t>
            </a:r>
            <a:endParaRPr sz="1100"/>
          </a:p>
        </p:txBody>
      </p:sp>
      <p:graphicFrame>
        <p:nvGraphicFramePr>
          <p:cNvPr id="175" name="Google Shape;175;p11"/>
          <p:cNvGraphicFramePr/>
          <p:nvPr/>
        </p:nvGraphicFramePr>
        <p:xfrm>
          <a:off x="456458" y="2541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2628900"/>
                <a:gridCol w="2628900"/>
                <a:gridCol w="26289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Etapa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que é?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Exemplo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Entrada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Quando o usuário </a:t>
                      </a:r>
                      <a:r>
                        <a:rPr b="1" lang="pt-BR" sz="1500"/>
                        <a:t>envia uma informação</a:t>
                      </a:r>
                      <a:r>
                        <a:rPr lang="pt-BR" sz="1500"/>
                        <a:t> para o computador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Digitar no teclado, clicar com o mouse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Processamento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computador </a:t>
                      </a:r>
                      <a:r>
                        <a:rPr b="1" lang="pt-BR" sz="1500"/>
                        <a:t>analisa e entende</a:t>
                      </a:r>
                      <a:r>
                        <a:rPr lang="pt-BR" sz="1500"/>
                        <a:t> o que foi enviado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processador interpreta o comando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Saída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computador </a:t>
                      </a:r>
                      <a:r>
                        <a:rPr b="1" lang="pt-BR" sz="1500"/>
                        <a:t>responde</a:t>
                      </a:r>
                      <a:r>
                        <a:rPr lang="pt-BR" sz="1500"/>
                        <a:t> com uma ação ou resultado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A letra aparece na tela, o som sai da caixa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1"/>
          <p:cNvSpPr txBox="1"/>
          <p:nvPr/>
        </p:nvSpPr>
        <p:spPr>
          <a:xfrm>
            <a:off x="503550" y="4675150"/>
            <a:ext cx="7792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Analogia com o cérebro humano: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Receber o estímulo (ex: ver, ouvir)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Pensar e decidir o que fazer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Saída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Reagir (ex: falar, levantar a mão)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PROCESSAMENTO: EXEMPLO DO DIA A DIA</a:t>
            </a:r>
            <a:endParaRPr sz="1100"/>
          </a:p>
        </p:txBody>
      </p:sp>
      <p:sp>
        <p:nvSpPr>
          <p:cNvPr id="183" name="Google Shape;183;p12"/>
          <p:cNvSpPr txBox="1"/>
          <p:nvPr/>
        </p:nvSpPr>
        <p:spPr>
          <a:xfrm>
            <a:off x="224888" y="1116265"/>
            <a:ext cx="8681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entender melhor com um exemplo simples: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está andando na rua e encontra uma pessoa querida.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Vocês param para conversar e colocar o papo em dia.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momento envolve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informação, igual ao funcionamento de um computador:</a:t>
            </a:r>
            <a:endParaRPr sz="1100"/>
          </a:p>
        </p:txBody>
      </p:sp>
      <p:graphicFrame>
        <p:nvGraphicFramePr>
          <p:cNvPr id="184" name="Google Shape;184;p12"/>
          <p:cNvGraphicFramePr/>
          <p:nvPr/>
        </p:nvGraphicFramePr>
        <p:xfrm>
          <a:off x="224888" y="256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Etapa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Explicação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Entrada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Você </a:t>
                      </a:r>
                      <a:r>
                        <a:rPr b="1" lang="pt-BR" sz="1500"/>
                        <a:t>vê a pessoa</a:t>
                      </a:r>
                      <a:r>
                        <a:rPr lang="pt-BR" sz="1500"/>
                        <a:t> → a imagem entra pelos </a:t>
                      </a:r>
                      <a:r>
                        <a:rPr b="1" lang="pt-BR" sz="1500"/>
                        <a:t>olhos</a:t>
                      </a:r>
                      <a:r>
                        <a:rPr lang="pt-BR" sz="1500"/>
                        <a:t> (entrada de dados)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Processamento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</a:t>
                      </a:r>
                      <a:r>
                        <a:rPr b="1" lang="pt-BR" sz="1500"/>
                        <a:t>cérebro reconhece</a:t>
                      </a:r>
                      <a:r>
                        <a:rPr lang="pt-BR" sz="1500"/>
                        <a:t> quem é, lembra de conversas anteriores, analisa o contexto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Saída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Você </a:t>
                      </a:r>
                      <a:r>
                        <a:rPr b="1" lang="pt-BR" sz="1500"/>
                        <a:t>fala com a pessoa</a:t>
                      </a:r>
                      <a:r>
                        <a:rPr lang="pt-BR" sz="1500"/>
                        <a:t> → a informação sai pela </a:t>
                      </a:r>
                      <a:r>
                        <a:rPr b="1" lang="pt-BR" sz="1500"/>
                        <a:t>fala</a:t>
                      </a:r>
                      <a:r>
                        <a:rPr lang="pt-BR" sz="1500"/>
                        <a:t> (resposta)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2"/>
          <p:cNvSpPr/>
          <p:nvPr/>
        </p:nvSpPr>
        <p:spPr>
          <a:xfrm>
            <a:off x="224889" y="4598735"/>
            <a:ext cx="2420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Olhos = Entrada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Cérebro = Processamento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Boca = Saída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4168238" y="4598734"/>
            <a:ext cx="4582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mesmo ciclo acontece no computador!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Teclado ou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entrada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processamento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 ou impressora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saída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PODEMOS REPRESENTAR NESSE CASO:</a:t>
            </a:r>
            <a:endParaRPr sz="1100"/>
          </a:p>
        </p:txBody>
      </p:sp>
      <p:pic>
        <p:nvPicPr>
          <p:cNvPr id="193" name="Google Shape;193;p13"/>
          <p:cNvPicPr preferRelativeResize="0"/>
          <p:nvPr/>
        </p:nvPicPr>
        <p:blipFill rotWithShape="1">
          <a:blip r:embed="rId3">
            <a:alphaModFix/>
          </a:blip>
          <a:srcRect b="52182" l="21968" r="21339" t="36978"/>
          <a:stretch/>
        </p:blipFill>
        <p:spPr>
          <a:xfrm>
            <a:off x="2298553" y="1110111"/>
            <a:ext cx="4546893" cy="77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3"/>
          <p:cNvSpPr txBox="1"/>
          <p:nvPr/>
        </p:nvSpPr>
        <p:spPr>
          <a:xfrm>
            <a:off x="269421" y="2095170"/>
            <a:ext cx="864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 NO COMPUTADOR?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 Digitação em um editor de texto</a:t>
            </a:r>
            <a:endParaRPr sz="1100"/>
          </a:p>
        </p:txBody>
      </p:sp>
      <p:sp>
        <p:nvSpPr>
          <p:cNvPr id="195" name="Google Shape;195;p13"/>
          <p:cNvSpPr txBox="1"/>
          <p:nvPr/>
        </p:nvSpPr>
        <p:spPr>
          <a:xfrm>
            <a:off x="269421" y="2846192"/>
            <a:ext cx="4582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da Informação no Computador</a:t>
            </a:r>
            <a:endParaRPr sz="1100"/>
          </a:p>
        </p:txBody>
      </p:sp>
      <p:graphicFrame>
        <p:nvGraphicFramePr>
          <p:cNvPr id="196" name="Google Shape;196;p13"/>
          <p:cNvGraphicFramePr/>
          <p:nvPr/>
        </p:nvGraphicFramePr>
        <p:xfrm>
          <a:off x="269420" y="3366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4358625"/>
                <a:gridCol w="435862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Etapa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que acontece?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Entrada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Você digita no </a:t>
                      </a:r>
                      <a:r>
                        <a:rPr b="1" lang="pt-BR" sz="1500"/>
                        <a:t>teclado</a:t>
                      </a:r>
                      <a:r>
                        <a:rPr lang="pt-BR" sz="1500"/>
                        <a:t> → os dados entram no computador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Processamento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A </a:t>
                      </a:r>
                      <a:r>
                        <a:rPr b="1" lang="pt-BR" sz="1500"/>
                        <a:t>CPU</a:t>
                      </a:r>
                      <a:r>
                        <a:rPr lang="pt-BR" sz="1500"/>
                        <a:t> (Unidade Central de Processamento) </a:t>
                      </a:r>
                      <a:r>
                        <a:rPr b="1" lang="pt-BR" sz="1500"/>
                        <a:t>interpreta e organiza</a:t>
                      </a:r>
                      <a:r>
                        <a:rPr lang="pt-BR" sz="1500"/>
                        <a:t> os dados digitados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Saída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texto aparece no </a:t>
                      </a:r>
                      <a:r>
                        <a:rPr b="1" lang="pt-BR" sz="1500"/>
                        <a:t>monitor</a:t>
                      </a:r>
                      <a:r>
                        <a:rPr lang="pt-BR" sz="1500"/>
                        <a:t> ou é </a:t>
                      </a:r>
                      <a:r>
                        <a:rPr b="1" lang="pt-BR" sz="1500"/>
                        <a:t>impresso no papel</a:t>
                      </a:r>
                      <a:r>
                        <a:rPr lang="pt-BR" sz="1500"/>
                        <a:t> pela impressora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PODEMOS REPRESENTAR NESSE CASO:</a:t>
            </a:r>
            <a:endParaRPr sz="1100"/>
          </a:p>
        </p:txBody>
      </p:sp>
      <p:sp>
        <p:nvSpPr>
          <p:cNvPr id="203" name="Google Shape;203;p14"/>
          <p:cNvSpPr/>
          <p:nvPr/>
        </p:nvSpPr>
        <p:spPr>
          <a:xfrm>
            <a:off x="240475" y="1254694"/>
            <a:ext cx="8648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Visual: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Teclado (Entrada)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(Processamento)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Monitor/Impressora (Saída)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240475" y="2024482"/>
            <a:ext cx="8648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Lembre-se: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 que você envia para o computador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Onde tudo é analisado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Saída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O que você vê ou recebe de volta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SISTEMA OPERACIONAL?</a:t>
            </a:r>
            <a:endParaRPr sz="1100"/>
          </a:p>
        </p:txBody>
      </p:sp>
      <p:sp>
        <p:nvSpPr>
          <p:cNvPr id="211" name="Google Shape;211;p15"/>
          <p:cNvSpPr txBox="1"/>
          <p:nvPr/>
        </p:nvSpPr>
        <p:spPr>
          <a:xfrm>
            <a:off x="331766" y="1195434"/>
            <a:ext cx="8565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Definição: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Operacional (SO)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mais importante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computador.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ele,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nada funciona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como um carro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combustível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</p:txBody>
      </p:sp>
      <p:sp>
        <p:nvSpPr>
          <p:cNvPr id="212" name="Google Shape;212;p15"/>
          <p:cNvSpPr txBox="1"/>
          <p:nvPr/>
        </p:nvSpPr>
        <p:spPr>
          <a:xfrm>
            <a:off x="331765" y="2288187"/>
            <a:ext cx="8565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ele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controlador geral do computador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 entre o usuário e a máquina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Traduz os comandos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damos para que o computador entenda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Executa os programas e aplicativos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corretamente</a:t>
            </a:r>
            <a:endParaRPr sz="1100"/>
          </a:p>
        </p:txBody>
      </p:sp>
      <p:sp>
        <p:nvSpPr>
          <p:cNvPr id="213" name="Google Shape;213;p15"/>
          <p:cNvSpPr txBox="1"/>
          <p:nvPr/>
        </p:nvSpPr>
        <p:spPr>
          <a:xfrm>
            <a:off x="331765" y="3842604"/>
            <a:ext cx="4582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de Sistema Operacional: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Windows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Linux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macOS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Android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celulares)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(iPhone e iPad)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SISTEMA OPERACIONAL?</a:t>
            </a:r>
            <a:endParaRPr sz="1100"/>
          </a:p>
        </p:txBody>
      </p:sp>
      <p:sp>
        <p:nvSpPr>
          <p:cNvPr id="220" name="Google Shape;220;p16"/>
          <p:cNvSpPr txBox="1"/>
          <p:nvPr/>
        </p:nvSpPr>
        <p:spPr>
          <a:xfrm>
            <a:off x="385205" y="1175757"/>
            <a:ext cx="68769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do Sistema Operacional: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Iniciar o computador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Controlar os dispositivos de hardware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(mouse, teclado, impressora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Gerenciar a memória e os arquivos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Executar programas e aplicativos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as tarefas do computador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Garantir a comunicação entre usuário e máquina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15784" y="3354093"/>
            <a:ext cx="8959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Sistema Operacional é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coração do computador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pois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comanda tudo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acontece nele.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O SISTEMA OPERACIONAL WINDOWS</a:t>
            </a:r>
            <a:endParaRPr sz="1100"/>
          </a:p>
        </p:txBody>
      </p:sp>
      <p:sp>
        <p:nvSpPr>
          <p:cNvPr id="228" name="Google Shape;228;p21"/>
          <p:cNvSpPr txBox="1"/>
          <p:nvPr/>
        </p:nvSpPr>
        <p:spPr>
          <a:xfrm>
            <a:off x="385205" y="1129613"/>
            <a:ext cx="8574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Windows?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dos sistemas operacionais mais populares do mundo. Ele se destaca por: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gráfica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(você clica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em vez de digitar comandos)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multitarefa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roda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programas ao mesmo tempo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multiusuário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permite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contas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mesmo computador</a:t>
            </a:r>
            <a:endParaRPr sz="1100"/>
          </a:p>
        </p:txBody>
      </p:sp>
      <p:sp>
        <p:nvSpPr>
          <p:cNvPr id="229" name="Google Shape;229;p21"/>
          <p:cNvSpPr txBox="1"/>
          <p:nvPr/>
        </p:nvSpPr>
        <p:spPr>
          <a:xfrm>
            <a:off x="385204" y="2592635"/>
            <a:ext cx="579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ele é fácil de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precisa decorar comandos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símbolos visuais (ícones)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facilitam a navegação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abrir, salvar ou imprimir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arquivos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menus padronizados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85205" y="3964821"/>
            <a:ext cx="47613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multitarefa: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Lendo um texto no Word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Imprimindo uma planilha do Excel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Ouvindo música ao mesmo tempo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O SISTEMA OPERACIONAL WINDOWS</a:t>
            </a:r>
            <a:endParaRPr sz="1100"/>
          </a:p>
        </p:txBody>
      </p:sp>
      <p:sp>
        <p:nvSpPr>
          <p:cNvPr id="237" name="Google Shape;237;p22"/>
          <p:cNvSpPr txBox="1"/>
          <p:nvPr/>
        </p:nvSpPr>
        <p:spPr>
          <a:xfrm>
            <a:off x="356566" y="1089846"/>
            <a:ext cx="538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Tipos de conta no Windows:</a:t>
            </a:r>
            <a:endParaRPr b="1" sz="1200"/>
          </a:p>
        </p:txBody>
      </p:sp>
      <p:graphicFrame>
        <p:nvGraphicFramePr>
          <p:cNvPr id="238" name="Google Shape;238;p22"/>
          <p:cNvGraphicFramePr/>
          <p:nvPr/>
        </p:nvGraphicFramePr>
        <p:xfrm>
          <a:off x="272390" y="158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Tipo de Conta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O que pode fazer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Administrador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Instalar programas, mudar configurações, editar contas de outros usuários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Usuário padrão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Usar o computador sem mudar configurações importantes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2"/>
          <p:cNvSpPr/>
          <p:nvPr/>
        </p:nvSpPr>
        <p:spPr>
          <a:xfrm>
            <a:off x="204850" y="3694084"/>
            <a:ext cx="8755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é um sistema moderno, fácil de usar, multitarefa e com contas personalizadas para cada usuário.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5b6c2a79_0_0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815b6c2a79_0_0"/>
          <p:cNvSpPr txBox="1"/>
          <p:nvPr>
            <p:ph type="title"/>
          </p:nvPr>
        </p:nvSpPr>
        <p:spPr>
          <a:xfrm>
            <a:off x="1258620" y="1504942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pt-BR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37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6" name="Google Shape;246;g3815b6c2a79_0_0"/>
          <p:cNvSpPr txBox="1"/>
          <p:nvPr>
            <p:ph idx="1" type="body"/>
          </p:nvPr>
        </p:nvSpPr>
        <p:spPr>
          <a:xfrm>
            <a:off x="514256" y="2164332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pt-BR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Tela de computador com fundo azul&#10;&#10;O conteúdo gerado por IA pode estar incorreto." id="247" name="Google Shape;247;g3815b6c2a79_0_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40" r="20046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GERENCIADOR DE ARQUIVOS E DIRETÓRIOS (PASTAS)</a:t>
            </a:r>
            <a:endParaRPr sz="1100"/>
          </a:p>
        </p:txBody>
      </p:sp>
      <p:sp>
        <p:nvSpPr>
          <p:cNvPr id="254" name="Google Shape;254;p17"/>
          <p:cNvSpPr txBox="1"/>
          <p:nvPr/>
        </p:nvSpPr>
        <p:spPr>
          <a:xfrm>
            <a:off x="224889" y="1122824"/>
            <a:ext cx="869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Operacional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 os dados dos usuários por meio de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arquivos e pastas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dentro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 rígido (HD)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outro local de armazenamento.</a:t>
            </a:r>
            <a:endParaRPr sz="1100"/>
          </a:p>
        </p:txBody>
      </p:sp>
      <p:sp>
        <p:nvSpPr>
          <p:cNvPr id="255" name="Google Shape;255;p17"/>
          <p:cNvSpPr txBox="1"/>
          <p:nvPr/>
        </p:nvSpPr>
        <p:spPr>
          <a:xfrm>
            <a:off x="224888" y="2011114"/>
            <a:ext cx="5929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 um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sistema: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um nome para o arquivo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um local de armazenamento (pasta ou diretório)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Grava essas informações na memória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encontrar o arquivo depois</a:t>
            </a:r>
            <a:endParaRPr sz="1100"/>
          </a:p>
        </p:txBody>
      </p:sp>
      <p:sp>
        <p:nvSpPr>
          <p:cNvPr id="256" name="Google Shape;256;p17"/>
          <p:cNvSpPr txBox="1"/>
          <p:nvPr/>
        </p:nvSpPr>
        <p:spPr>
          <a:xfrm>
            <a:off x="224887" y="3361069"/>
            <a:ext cx="6961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é importante?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arquivos com facilidade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o que é pessoal, profissional ou escolar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o computador limpo e eficiente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permitir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usuários usem o mesmo computador sem bagunça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GERENCIADOR DE ARQUIVOS E DIRETÓRIOS (PASTAS)</a:t>
            </a:r>
            <a:endParaRPr sz="1100"/>
          </a:p>
        </p:txBody>
      </p:sp>
      <p:sp>
        <p:nvSpPr>
          <p:cNvPr id="263" name="Google Shape;263;p18"/>
          <p:cNvSpPr/>
          <p:nvPr/>
        </p:nvSpPr>
        <p:spPr>
          <a:xfrm>
            <a:off x="285008" y="1200177"/>
            <a:ext cx="80871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salva uma foto na pasta "Imagens"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sistema grava: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arquivo: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foto_viagem.jpg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Local: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C:\Usuários\Leo\Imagens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285008" y="2631676"/>
            <a:ext cx="87285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Gerenciador de Arquivos ajuda você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guardar, organizar e achar tudo o que salva no computador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GERENCIADOR DE APLICAÇÕES</a:t>
            </a:r>
            <a:endParaRPr sz="1100"/>
          </a:p>
        </p:txBody>
      </p:sp>
      <p:sp>
        <p:nvSpPr>
          <p:cNvPr id="271" name="Google Shape;271;p19"/>
          <p:cNvSpPr txBox="1"/>
          <p:nvPr/>
        </p:nvSpPr>
        <p:spPr>
          <a:xfrm>
            <a:off x="313954" y="1241693"/>
            <a:ext cx="8512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uma aplicação (ou programa)?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todo software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executa uma função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Word (texto)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Excel (planilhas)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Google Chrome (navegador)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Paint (edição de imagem)</a:t>
            </a:r>
            <a:endParaRPr sz="1100"/>
          </a:p>
        </p:txBody>
      </p:sp>
      <p:sp>
        <p:nvSpPr>
          <p:cNvPr id="272" name="Google Shape;272;p19"/>
          <p:cNvSpPr txBox="1"/>
          <p:nvPr/>
        </p:nvSpPr>
        <p:spPr>
          <a:xfrm>
            <a:off x="313953" y="3011370"/>
            <a:ext cx="8512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Sistema Operacional gerencia as aplicações?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usuário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 para 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programa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sistema operacional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 o programa no HD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Carrega o programa na memória RAM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o funcionamento e o uso da memória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o programa é fechado, o sistema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libera a memória RAM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GERENCIADOR DE APLICAÇÕES</a:t>
            </a:r>
            <a:endParaRPr sz="1100"/>
          </a:p>
        </p:txBody>
      </p:sp>
      <p:sp>
        <p:nvSpPr>
          <p:cNvPr id="279" name="Google Shape;279;p20"/>
          <p:cNvSpPr txBox="1"/>
          <p:nvPr/>
        </p:nvSpPr>
        <p:spPr>
          <a:xfrm>
            <a:off x="349580" y="1314187"/>
            <a:ext cx="8521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quando muitos programas estão abertos?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Sistema Operacional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 os recursos do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(memória, processador)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 tudo para evitar travamentos e lentidão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é chamado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Gerenciamento de Recursos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160317" y="2838935"/>
            <a:ext cx="8710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Sistema Operacional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abre, organiza e fecha os programas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usa, garantindo que o computador funcione de forma suave.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 10: CONHECENDO SUAS VERSÕES</a:t>
            </a:r>
            <a:endParaRPr sz="1100"/>
          </a:p>
        </p:txBody>
      </p:sp>
      <p:sp>
        <p:nvSpPr>
          <p:cNvPr id="287" name="Google Shape;287;p23"/>
          <p:cNvSpPr txBox="1"/>
          <p:nvPr/>
        </p:nvSpPr>
        <p:spPr>
          <a:xfrm>
            <a:off x="208931" y="1053273"/>
            <a:ext cx="87261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Lançado em 2015 pela Microsoft, o Windows 10 trouxe melhorias importantes em relação ao Windows 8.1: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Interface mais intuitiva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Novas ferramentas para agilizar tarefas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Suporte para vários tipos de dispositivos</a:t>
            </a:r>
            <a:endParaRPr sz="1100"/>
          </a:p>
        </p:txBody>
      </p:sp>
      <p:sp>
        <p:nvSpPr>
          <p:cNvPr id="288" name="Google Shape;288;p23"/>
          <p:cNvSpPr txBox="1"/>
          <p:nvPr/>
        </p:nvSpPr>
        <p:spPr>
          <a:xfrm>
            <a:off x="233794" y="2055209"/>
            <a:ext cx="4582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Edições do Windows 10 – Qual é pra quem?</a:t>
            </a:r>
            <a:endParaRPr sz="1100"/>
          </a:p>
        </p:txBody>
      </p:sp>
      <p:graphicFrame>
        <p:nvGraphicFramePr>
          <p:cNvPr id="289" name="Google Shape;289;p23"/>
          <p:cNvGraphicFramePr/>
          <p:nvPr/>
        </p:nvGraphicFramePr>
        <p:xfrm>
          <a:off x="184068" y="23046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2527225"/>
                <a:gridCol w="6198925"/>
              </a:tblGrid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Versão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Indicado para...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Home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Usuário comum (notebooks, desktops, tablets)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Mobile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Celulares e tablets com tela touchscreen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Pro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Pequenas empresas (segurança, nuvem, suporte remoto)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Enterprise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Médias e grandes empresas (alta segurança digital)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Education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Escolas, alunos, professores e administradores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Mobile Enterprise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Celulares/tablets com foco corporativo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Windows 10 IoT Core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Equipamentos como caixas eletrônicos e robôs industriais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23"/>
          <p:cNvSpPr/>
          <p:nvPr/>
        </p:nvSpPr>
        <p:spPr>
          <a:xfrm>
            <a:off x="184068" y="5105481"/>
            <a:ext cx="838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highlight>
                  <a:srgbClr val="61D6FF"/>
                </a:highlight>
                <a:latin typeface="Arial"/>
                <a:ea typeface="Arial"/>
                <a:cs typeface="Arial"/>
                <a:sym typeface="Arial"/>
              </a:rPr>
              <a:t>Cada versão do Windows 10 foi pensada para atender um público específico — do usuário doméstico ao setor industrial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REQUISITOS MÍNIMOS PARA INSTALAR O WINDOWS 10</a:t>
            </a:r>
            <a:endParaRPr sz="1100"/>
          </a:p>
        </p:txBody>
      </p:sp>
      <p:sp>
        <p:nvSpPr>
          <p:cNvPr id="297" name="Google Shape;297;p24"/>
          <p:cNvSpPr txBox="1"/>
          <p:nvPr/>
        </p:nvSpPr>
        <p:spPr>
          <a:xfrm>
            <a:off x="349579" y="1199117"/>
            <a:ext cx="8574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rodar o Windows 10, o computador precisa ter no mínimo: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Processador: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GHz ou mais rápido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Memória RAM: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GB (versão 32 bits)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GB (versão 64 bits)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 em disco: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GB (32 bits)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GB (64 bits)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Placa gráfica: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compatível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DirectX 9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 WDDM 1.0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Resolução mínima de tela: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1024 x 600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 com a internet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Microsoft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(necessária para alguns aplicativos e recursos do sistema)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REQUISITOS MÍNIMOS PARA INSTALAR O WINDOWS 10</a:t>
            </a:r>
            <a:endParaRPr sz="1100"/>
          </a:p>
        </p:txBody>
      </p:sp>
      <p:sp>
        <p:nvSpPr>
          <p:cNvPr id="304" name="Google Shape;304;p25"/>
          <p:cNvSpPr txBox="1"/>
          <p:nvPr/>
        </p:nvSpPr>
        <p:spPr>
          <a:xfrm>
            <a:off x="628650" y="1793458"/>
            <a:ext cx="4582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Dicionário Tech do Slide:</a:t>
            </a:r>
            <a:endParaRPr b="1"/>
          </a:p>
        </p:txBody>
      </p:sp>
      <p:graphicFrame>
        <p:nvGraphicFramePr>
          <p:cNvPr id="305" name="Google Shape;305;p25"/>
          <p:cNvGraphicFramePr/>
          <p:nvPr/>
        </p:nvGraphicFramePr>
        <p:xfrm>
          <a:off x="628650" y="2381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{0C6FCFC6-D299-4DAE-BC3C-BA0FAF1B70B7}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Termo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Significado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GHz / MHz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Medem a “velocidade” do processador. Quanto maior, mais rápido o PC.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DirectX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Conjunto de tecnologias que ajudam o computador a lidar com vídeos, jogos e gráficos.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WDDM</a:t>
                      </a:r>
                      <a:endParaRPr sz="15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Modelo de driver usado pelo Windows para controlar a placa de vídeo.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ÁREA DE TRABALHO DO WINDOWS 10</a:t>
            </a:r>
            <a:endParaRPr sz="1100"/>
          </a:p>
        </p:txBody>
      </p:sp>
      <p:sp>
        <p:nvSpPr>
          <p:cNvPr id="312" name="Google Shape;312;p26"/>
          <p:cNvSpPr txBox="1"/>
          <p:nvPr/>
        </p:nvSpPr>
        <p:spPr>
          <a:xfrm>
            <a:off x="242701" y="1093482"/>
            <a:ext cx="86727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 principal do 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onde ficam janelas, ícones, atalhos e a barra de tarefas.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Ocupa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 a área útil do monitor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por onde começamos a interagir com 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Novidade do Windows 10: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Múltiplas áreas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criar diferentes espaços de trabalho.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melhor tarefas e janelas abertas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313" name="Google Shape;313;p26"/>
          <p:cNvSpPr/>
          <p:nvPr/>
        </p:nvSpPr>
        <p:spPr>
          <a:xfrm>
            <a:off x="242701" y="4017818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Rápida: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as múltiplas áreas de trabalho para separar o que é trabalho, estudos e lazer – sem bagunça!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ÍCONES DO WINDOWS 10</a:t>
            </a:r>
            <a:endParaRPr sz="1100"/>
          </a:p>
        </p:txBody>
      </p:sp>
      <p:sp>
        <p:nvSpPr>
          <p:cNvPr id="320" name="Google Shape;320;p27"/>
          <p:cNvSpPr txBox="1"/>
          <p:nvPr/>
        </p:nvSpPr>
        <p:spPr>
          <a:xfrm>
            <a:off x="251608" y="1182431"/>
            <a:ext cx="8690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pequenas imagens que representam arquivos, pastas, programas e funções do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mais comuns na Área de Trabalho: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Pasta do Usuário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armazena documentos, fotos, vídeos, downloads,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Meu Computador (Este PC)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acesso às unidades de disco, dispositivos e ferramentas do sistema.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Lixeira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guarda arquivos excluídos até serem apagados definitivamente.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Google Chrome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navegador usado para acessar a internet.</a:t>
            </a:r>
            <a:endParaRPr sz="1100"/>
          </a:p>
        </p:txBody>
      </p:sp>
      <p:pic>
        <p:nvPicPr>
          <p:cNvPr id="321" name="Google Shape;321;p27"/>
          <p:cNvPicPr preferRelativeResize="0"/>
          <p:nvPr/>
        </p:nvPicPr>
        <p:blipFill rotWithShape="1">
          <a:blip r:embed="rId3">
            <a:alphaModFix/>
          </a:blip>
          <a:srcRect b="7346" l="30060" r="27819" t="8788"/>
          <a:stretch/>
        </p:blipFill>
        <p:spPr>
          <a:xfrm>
            <a:off x="4749970" y="4338622"/>
            <a:ext cx="800024" cy="104114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22" name="Google Shape;3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338" y="4338622"/>
            <a:ext cx="800026" cy="1041146"/>
          </a:xfrm>
          <a:prstGeom prst="rect">
            <a:avLst/>
          </a:prstGeom>
          <a:noFill/>
          <a:ln>
            <a:noFill/>
          </a:ln>
          <a:effectLst>
            <a:outerShdw rotWithShape="0" algn="bl" dir="5400000" dist="19050">
              <a:srgbClr val="000000">
                <a:alpha val="63921"/>
              </a:srgbClr>
            </a:outerShdw>
          </a:effectLst>
        </p:spPr>
      </p:pic>
      <p:pic>
        <p:nvPicPr>
          <p:cNvPr id="323" name="Google Shape;323;p27"/>
          <p:cNvPicPr preferRelativeResize="0"/>
          <p:nvPr/>
        </p:nvPicPr>
        <p:blipFill rotWithShape="1">
          <a:blip r:embed="rId5">
            <a:alphaModFix/>
          </a:blip>
          <a:srcRect b="42382" l="39344" r="53051" t="46704"/>
          <a:stretch/>
        </p:blipFill>
        <p:spPr>
          <a:xfrm>
            <a:off x="6725882" y="4338622"/>
            <a:ext cx="800026" cy="1041147"/>
          </a:xfrm>
          <a:prstGeom prst="rect">
            <a:avLst/>
          </a:prstGeom>
          <a:noFill/>
          <a:ln>
            <a:noFill/>
          </a:ln>
          <a:effectLst>
            <a:outerShdw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24" name="Google Shape;324;p27"/>
          <p:cNvPicPr preferRelativeResize="0"/>
          <p:nvPr/>
        </p:nvPicPr>
        <p:blipFill rotWithShape="1">
          <a:blip r:embed="rId5">
            <a:alphaModFix/>
          </a:blip>
          <a:srcRect b="40417" l="28947" r="61054" t="47612"/>
          <a:stretch/>
        </p:blipFill>
        <p:spPr>
          <a:xfrm>
            <a:off x="7791932" y="4346288"/>
            <a:ext cx="800026" cy="1025812"/>
          </a:xfrm>
          <a:prstGeom prst="rect">
            <a:avLst/>
          </a:prstGeom>
          <a:noFill/>
          <a:ln>
            <a:noFill/>
          </a:ln>
          <a:effectLst>
            <a:outerShdw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25" name="Google Shape;325;p27"/>
          <p:cNvSpPr txBox="1"/>
          <p:nvPr/>
        </p:nvSpPr>
        <p:spPr>
          <a:xfrm>
            <a:off x="112060" y="2929102"/>
            <a:ext cx="45825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PERSONALIZANDO OS ÍCONES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adicionar, remover ou alterar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ícones da área de trabalho: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🔧 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área vazia da área de trabalho.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da direita,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"Temas"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seguida,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"Configurações de ícones da área de trabalho"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ou desmarque os ícones que deseja mostrar.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ÍCONES DO WINDOWS 10</a:t>
            </a:r>
            <a:endParaRPr sz="1100"/>
          </a:p>
        </p:txBody>
      </p:sp>
      <p:sp>
        <p:nvSpPr>
          <p:cNvPr id="332" name="Google Shape;332;p28"/>
          <p:cNvSpPr txBox="1"/>
          <p:nvPr/>
        </p:nvSpPr>
        <p:spPr>
          <a:xfrm>
            <a:off x="293543" y="920183"/>
            <a:ext cx="8556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ALTERANDO A IMAGEM DOS ÍCONES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pode mudar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padrão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ícone: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fazer: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vazia da área de trabalho.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"Temas"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"Configurações de ícones da área de trabalho"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ícone que deseja mudar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"Alterar ícone..."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uma nova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depois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novamente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333" name="Google Shape;333;p28"/>
          <p:cNvSpPr txBox="1"/>
          <p:nvPr/>
        </p:nvSpPr>
        <p:spPr>
          <a:xfrm>
            <a:off x="102003" y="3041990"/>
            <a:ext cx="8940000" cy="24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ORGANIZANDO OS ÍCONES DA ÁREA DE TRABALHO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organizar os ícones para facilitar a visualização e deixar a área de trabalho com a sua cara!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📏 Para ajustar o tamanho dos ícones: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de trabalho.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Escolha:</a:t>
            </a:r>
            <a:endParaRPr sz="1200"/>
          </a:p>
          <a:p>
            <a:pPr indent="-2413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grandes</a:t>
            </a:r>
            <a:endParaRPr sz="1200"/>
          </a:p>
          <a:p>
            <a:pPr indent="-2413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médios</a:t>
            </a:r>
            <a:endParaRPr sz="1200"/>
          </a:p>
          <a:p>
            <a:pPr indent="-2413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pequenos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Outras opções do menu Exibir: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ícones automaticamente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ordena os ícones sem você precisar arrastar.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à grade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mantém todos alinhados.</a:t>
            </a:r>
            <a:endParaRPr sz="12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ícones na área de trabalho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oculta ou exibe todos os ícones.</a:t>
            </a: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MENU INICIAR</a:t>
            </a:r>
            <a:endParaRPr sz="1100"/>
          </a:p>
        </p:txBody>
      </p:sp>
      <p:sp>
        <p:nvSpPr>
          <p:cNvPr id="340" name="Google Shape;340;p29"/>
          <p:cNvSpPr txBox="1"/>
          <p:nvPr/>
        </p:nvSpPr>
        <p:spPr>
          <a:xfrm>
            <a:off x="215983" y="1222131"/>
            <a:ext cx="45825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ponto de partida para usar o Windows! Ele dá acesso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todos os programas e recursos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computador.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abrir o Menu Iniciar: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do Windows na barra de tarefas),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Pressione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partir dele, você pode: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aplicativos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Procurar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Desligar o computador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configurações do sistema</a:t>
            </a:r>
            <a:endParaRPr sz="1100"/>
          </a:p>
        </p:txBody>
      </p:sp>
      <p:pic>
        <p:nvPicPr>
          <p:cNvPr id="341" name="Google Shape;3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7240" y="2995063"/>
            <a:ext cx="4175476" cy="23487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8580000" dist="85725">
              <a:srgbClr val="D9D9D9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TAREFAS</a:t>
            </a:r>
            <a:endParaRPr sz="1100"/>
          </a:p>
        </p:txBody>
      </p:sp>
      <p:sp>
        <p:nvSpPr>
          <p:cNvPr id="348" name="Google Shape;348;p30"/>
          <p:cNvSpPr txBox="1"/>
          <p:nvPr/>
        </p:nvSpPr>
        <p:spPr>
          <a:xfrm>
            <a:off x="394111" y="1106713"/>
            <a:ext cx="83877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normalmente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inferior da tela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serve para facilitar o acesso e o controle dos programas.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ela mostra: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Botão 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(acesso a programas)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Aplicativos em uso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(ícones dos programas abertos)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Cortana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(assistente virtual do Windows)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Área de notificação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(lado direito):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Bateria 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Relógio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notificações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alternar rapidamente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aplicativos abertos.</a:t>
            </a:r>
            <a:endParaRPr sz="1100"/>
          </a:p>
        </p:txBody>
      </p:sp>
      <p:pic>
        <p:nvPicPr>
          <p:cNvPr id="349" name="Google Shape;349;p30"/>
          <p:cNvPicPr preferRelativeResize="0"/>
          <p:nvPr/>
        </p:nvPicPr>
        <p:blipFill rotWithShape="1">
          <a:blip r:embed="rId3">
            <a:alphaModFix/>
          </a:blip>
          <a:srcRect b="0" l="0" r="0" t="90297"/>
          <a:stretch/>
        </p:blipFill>
        <p:spPr>
          <a:xfrm>
            <a:off x="1479448" y="4400338"/>
            <a:ext cx="6464173" cy="415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FIXAR E CONFIGURAR PROGRAMAS NA BARRA DE TAREFAS</a:t>
            </a:r>
            <a:endParaRPr sz="1100"/>
          </a:p>
        </p:txBody>
      </p:sp>
      <p:sp>
        <p:nvSpPr>
          <p:cNvPr id="356" name="Google Shape;356;p31"/>
          <p:cNvSpPr txBox="1"/>
          <p:nvPr/>
        </p:nvSpPr>
        <p:spPr>
          <a:xfrm>
            <a:off x="456458" y="1318617"/>
            <a:ext cx="83163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fixar um programa: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acessar os programas.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programa desejado.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e, em seguida,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Fixar na barra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remover um programa fixado: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ícone na barra de tarefas.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Desafixar da barra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configurar a barra de tarefas: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qualquer espaço vazio da barra.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da barra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Habilite ou desabilite as opções desejadas.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PROGRAMAS E ACESSÓRIOS DO WINDOWS</a:t>
            </a:r>
            <a:endParaRPr sz="1100"/>
          </a:p>
        </p:txBody>
      </p:sp>
      <p:sp>
        <p:nvSpPr>
          <p:cNvPr id="363" name="Google Shape;363;p32"/>
          <p:cNvSpPr/>
          <p:nvPr/>
        </p:nvSpPr>
        <p:spPr>
          <a:xfrm>
            <a:off x="391425" y="1225054"/>
            <a:ext cx="7846500" cy="20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Bloco de Notas: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Função: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Editor de texto simples incluído no Windows desde a versão 1.0 (1985).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Usos Comuns: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 e editar arquivos .txt.</a:t>
            </a:r>
            <a:endParaRPr/>
          </a:p>
          <a:p>
            <a:pPr indent="-952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páginas da web e lidar com linguagens de programação.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Características: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Suporte a formatação simples.</a:t>
            </a:r>
            <a:endParaRPr/>
          </a:p>
          <a:p>
            <a:pPr indent="-952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permite salvar acidentalmente formatação especial.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370" name="Google Shape;370;p33"/>
          <p:cNvSpPr txBox="1"/>
          <p:nvPr/>
        </p:nvSpPr>
        <p:spPr>
          <a:xfrm>
            <a:off x="723166" y="1557323"/>
            <a:ext cx="78354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"Tu te tornas eternamente responsável por aquilo que cativas. Foi o tempo que perdeste com tua rosa que a fez tão importante. As pessoas esqueceram essa verdade, mas tu não deves esquecê-la. És responsável pela tua rosa."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Pequeno Príncipe voltou para ver as outras rosas e disse: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“Vocês não são nada. Ninguém vos cativou e vocês não cativaram ninguém. Minha rosa é única, porque foi ela quem eu reguei, porque foi ela quem eu protegi com o globo, porque foi nela que eu matei os insetos e escutei, mesmo quando se calava. Porque é a minha rosa.”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voltou à raposa.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“Adeus”, disse.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“Eis o meu segredo: só se vê bem com o coração. O essencial é invisível aos olhos.”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777091" y="1026448"/>
            <a:ext cx="4582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</a:rPr>
              <a:t>Texto para digitação – O Pequeno Príncipe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2025-04-13T13:33:08Z</dcterms:created>
  <dc:creator>leo Souza</dc:creator>
</cp:coreProperties>
</file>