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715000" cx="9144000"/>
  <p:notesSz cx="6858000" cy="9144000"/>
  <p:embeddedFontLst>
    <p:embeddedFont>
      <p:font typeface="Play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sPuspqE6PVKPb5AnwnID8Dn8u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7B410C-C845-455D-A161-B524AC2008BF}">
  <a:tblStyle styleId="{CA7B410C-C845-455D-A161-B524AC2008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Play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3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2" name="Google Shape;22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7" name="Google Shape;27;p3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8" name="Google Shape;28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3" name="Google Shape;33;p3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0" name="Google Shape;40;p3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7" name="Google Shape;47;p3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3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9" name="Google Shape;49;p3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5" name="Google Shape;55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cielo.br/j/pg/a/5X5HXkRrM6T7PBCkZjM9rWJ/?format=pdf&amp;lang=p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55241" y="2036901"/>
            <a:ext cx="480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1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088"/>
          </a:p>
        </p:txBody>
      </p:sp>
      <p:sp>
        <p:nvSpPr>
          <p:cNvPr id="91" name="Google Shape;91;p1"/>
          <p:cNvSpPr txBox="1"/>
          <p:nvPr/>
        </p:nvSpPr>
        <p:spPr>
          <a:xfrm>
            <a:off x="648331" y="2898800"/>
            <a:ext cx="4809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REGRAS DA ABNT: IMPORTÂNCIA E CONCEITO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70092" y="933897"/>
            <a:ext cx="8560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ABNT?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ABNT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Associação Brasileira de Normas Técnicas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órgão responsável por criar regras técnicas no Brasil.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Essas regras ajudam a padronizar documentos, produtos e serviços.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Fundada em 1940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é uma entidade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fins lucrativos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utilidade pública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sp>
        <p:nvSpPr>
          <p:cNvPr id="98" name="Google Shape;98;p2"/>
          <p:cNvSpPr txBox="1"/>
          <p:nvPr/>
        </p:nvSpPr>
        <p:spPr>
          <a:xfrm>
            <a:off x="270091" y="2284527"/>
            <a:ext cx="8560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ABNT NO MUNDO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o Brasil em organizações internacionais: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(Organização Internacional de Normalização)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COPANT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(Comissão Panamericana de Normas Técnicas)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AMN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(Associação Mercosul de Normalização)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participa 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Comissão Eletrotécnica Internacional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sp>
        <p:nvSpPr>
          <p:cNvPr id="99" name="Google Shape;99;p2"/>
          <p:cNvSpPr txBox="1"/>
          <p:nvPr/>
        </p:nvSpPr>
        <p:spPr>
          <a:xfrm>
            <a:off x="270091" y="4038171"/>
            <a:ext cx="8560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SERVEM AS NORMAS DA ABNT?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padrão único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apresentação de trabalhos acadêmicos e científicos.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Facilitam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conteúdos.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Evitam confusão ou subjetividade na hora de escrever.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dois alunos diferentes seguem a mesma estrutura ao montar seus trabalhos.</a:t>
            </a:r>
            <a:endParaRPr sz="10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REGRAS DA ABNT: IMPORTÂNCIA E CONCEITO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357382" y="871267"/>
            <a:ext cx="8429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NORMAS USADAS EM TRABALHOS ESCOLARES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NBR 10520 (2002)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Ensina como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texto.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usar aspas, indicar autor, ano e página.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NBR 6023 (2018)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Ensina como montar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referências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final.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livros, sites, artigos consultados.</a:t>
            </a:r>
            <a:endParaRPr sz="1088"/>
          </a:p>
        </p:txBody>
      </p:sp>
      <p:sp>
        <p:nvSpPr>
          <p:cNvPr id="107" name="Google Shape;107;p3"/>
          <p:cNvSpPr txBox="1"/>
          <p:nvPr/>
        </p:nvSpPr>
        <p:spPr>
          <a:xfrm>
            <a:off x="357382" y="2284708"/>
            <a:ext cx="8351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SURGIU A ABNT?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1937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Primeira ideia surgiu numa reunião de laboratórios no Brasil.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1939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proposta foi consolidada em São Paulo.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1940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ABNT foi oficialmente fundada em 28 de setembro, no Rio de Janeiro.</a:t>
            </a:r>
            <a:endParaRPr sz="1088"/>
          </a:p>
        </p:txBody>
      </p:sp>
      <p:sp>
        <p:nvSpPr>
          <p:cNvPr id="108" name="Google Shape;108;p3"/>
          <p:cNvSpPr txBox="1"/>
          <p:nvPr/>
        </p:nvSpPr>
        <p:spPr>
          <a:xfrm>
            <a:off x="357382" y="3467318"/>
            <a:ext cx="8429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– POR QUE AS NORMAS DA ABNT SÃO IMPORTANTES?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trabalhos escolares e científicos.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organização das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Ajudam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padronização nacional e internacional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Garantem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credibilidade e clareza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que é apresentado.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exigidas por escolas, faculdades e concursos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UM TRABALHO ACADÊMICO — ABNT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88881" y="898008"/>
            <a:ext cx="841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TRABALHO ACADÊMICO?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documento formal usado para apresentar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pesquisas, ideias ou aprendizados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seguindo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exigido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pela escola, faculdade ou instituição.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ABNT define a estrutura e formatação desses trabalhos.</a:t>
            </a:r>
            <a:endParaRPr sz="1088"/>
          </a:p>
        </p:txBody>
      </p:sp>
      <p:sp>
        <p:nvSpPr>
          <p:cNvPr id="115" name="Google Shape;115;p4"/>
          <p:cNvSpPr txBox="1"/>
          <p:nvPr/>
        </p:nvSpPr>
        <p:spPr>
          <a:xfrm>
            <a:off x="312368" y="1992407"/>
            <a:ext cx="841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MAIS COMUNS: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Monografia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trabalho final de curso (graduação, técnico, etc.)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Dissertação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trabalho de conclusão do mestrado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trabalho de conclusão do doutorado</a:t>
            </a:r>
            <a:endParaRPr sz="1088"/>
          </a:p>
        </p:txBody>
      </p:sp>
      <p:sp>
        <p:nvSpPr>
          <p:cNvPr id="116" name="Google Shape;116;p4"/>
          <p:cNvSpPr txBox="1"/>
          <p:nvPr/>
        </p:nvSpPr>
        <p:spPr>
          <a:xfrm>
            <a:off x="312367" y="3086805"/>
            <a:ext cx="45798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2D83D4"/>
                </a:highlight>
                <a:latin typeface="Arial"/>
                <a:ea typeface="Arial"/>
                <a:cs typeface="Arial"/>
                <a:sym typeface="Arial"/>
              </a:rPr>
              <a:t>ESTRUTURA DA MONOGRAFIA (ordem obrigatória)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rosto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(em português)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(em língua estrangeira)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202215" y="3005494"/>
            <a:ext cx="32904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2D83D4"/>
                </a:highlight>
                <a:latin typeface="Arial"/>
                <a:ea typeface="Arial"/>
                <a:cs typeface="Arial"/>
                <a:sym typeface="Arial"/>
              </a:rPr>
              <a:t>ESTRUTURA DA DISSERTAÇÃO E DA TESE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rosto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aprovação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(em português)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(em língua estrangeira)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UM TRABALHO ACADÊMICO — ABNT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223120" y="84819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EXPLICAÇÃO SIMPLES DE CADA ITEM:</a:t>
            </a:r>
            <a:endParaRPr sz="1088"/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223120" y="1240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{CA7B410C-C845-455D-A161-B524AC2008BF}</a:tableStyleId>
              </a:tblPr>
              <a:tblGrid>
                <a:gridCol w="1524575"/>
                <a:gridCol w="4581875"/>
              </a:tblGrid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Parte do Trabalho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que é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Capa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Nome da instituição, título, autor, cidade e ano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Folha de rosto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Igual à capa, mas inclui o nome do orientador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Folha de aprovação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Usada em dissertações/teses. Tem data e assinaturas da banca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Resumo (PT e EN)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breve (até 250 palavras) explicando o trabalho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Sumário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Lista com as partes e páginas (gerado no Word)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Introdução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Apresenta o tema e objetivo do trabalho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Desenvolvimento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Parte principal, com explicações, argumentos e citações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Conclusão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Fechamento do assunto com resultados e opiniões finais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Referências</a:t>
                      </a:r>
                      <a:endParaRPr sz="1333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Lista de todas as fontes usadas (livros, sites, artigos...)</a:t>
                      </a:r>
                      <a:endParaRPr sz="1166"/>
                    </a:p>
                  </a:txBody>
                  <a:tcPr marT="34875" marB="34875" marR="62750" marL="6275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ESTRUTURAS DOS PRINCIPAIS TIPOS DE TRABALHO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223120" y="787121"/>
            <a:ext cx="3844800" cy="23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highlight>
                  <a:srgbClr val="2D83D4"/>
                </a:highlight>
                <a:latin typeface="Arial"/>
                <a:ea typeface="Arial"/>
                <a:cs typeface="Arial"/>
                <a:sym typeface="Arial"/>
              </a:rPr>
              <a:t>RELATÓRIO TÉCNICO-CIENTÍFICO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dos elementos:</a:t>
            </a:r>
            <a:endParaRPr sz="13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rosto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Listas (ex: de tabelas, figuras...)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(introdução, desenvolvimento, conclusão)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Ficha de identificação</a:t>
            </a:r>
            <a:endParaRPr sz="1088"/>
          </a:p>
        </p:txBody>
      </p:sp>
      <p:sp>
        <p:nvSpPr>
          <p:cNvPr id="132" name="Google Shape;132;p6"/>
          <p:cNvSpPr txBox="1"/>
          <p:nvPr/>
        </p:nvSpPr>
        <p:spPr>
          <a:xfrm>
            <a:off x="5001017" y="787121"/>
            <a:ext cx="3200400" cy="25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highlight>
                  <a:srgbClr val="2D83D4"/>
                </a:highlight>
                <a:latin typeface="Arial"/>
                <a:ea typeface="Arial"/>
                <a:cs typeface="Arial"/>
                <a:sym typeface="Arial"/>
              </a:rPr>
              <a:t>ARTIGO CIENTÍFICO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dos elementos:</a:t>
            </a:r>
            <a:endParaRPr sz="13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Cabeçalho (título, subtítulo e autoria)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na língua do artigo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Palavras-chave na língua do artigo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e subtítulo em língua estrangeira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em língua estrangeira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Palavras-chave em língua estrangeira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088"/>
          </a:p>
        </p:txBody>
      </p:sp>
      <p:sp>
        <p:nvSpPr>
          <p:cNvPr id="133" name="Google Shape;133;p6"/>
          <p:cNvSpPr txBox="1"/>
          <p:nvPr/>
        </p:nvSpPr>
        <p:spPr>
          <a:xfrm>
            <a:off x="223120" y="3457972"/>
            <a:ext cx="6390600" cy="2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highlight>
                  <a:srgbClr val="2D83D4"/>
                </a:highlight>
                <a:latin typeface="Arial"/>
                <a:ea typeface="Arial"/>
                <a:cs typeface="Arial"/>
                <a:sym typeface="Arial"/>
              </a:rPr>
              <a:t>PROJETO DE PESQUISA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dos elementos:</a:t>
            </a:r>
            <a:endParaRPr sz="13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rosto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 (com justificativa e objetivos)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Referencial teórico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Plano de desenvolvimento (cronograma)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para execução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lang="pt-BR" sz="13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08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UM TRABALHO ACADÊMICO — ABNT</a:t>
            </a:r>
            <a:endParaRPr sz="1088"/>
          </a:p>
        </p:txBody>
      </p:sp>
      <p:sp>
        <p:nvSpPr>
          <p:cNvPr id="139" name="Google Shape;139;p7"/>
          <p:cNvSpPr txBox="1"/>
          <p:nvPr/>
        </p:nvSpPr>
        <p:spPr>
          <a:xfrm>
            <a:off x="291621" y="873567"/>
            <a:ext cx="85608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ELEMENTOS OPCIONAIS (não obrigatórios, mas permitidos)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trabalhos podem incluir também: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Errata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Dedicatória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Agradecimentos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Epígrafe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Listas (de figuras, tabelas...)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Glossário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Anexos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Índice</a:t>
            </a:r>
            <a:endParaRPr sz="108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CITAÇÕES — ABNT (NBR 10520)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213725" y="878319"/>
            <a:ext cx="8635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Nesta aula, vamos trabalhar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NBR 10520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ensina como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citações corretamente em trabalhos acadêmicos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norma NBR 6023 (referências) será vista logo depois.</a:t>
            </a:r>
            <a:endParaRPr sz="1088"/>
          </a:p>
        </p:txBody>
      </p:sp>
      <p:sp>
        <p:nvSpPr>
          <p:cNvPr id="146" name="Google Shape;146;p8"/>
          <p:cNvSpPr txBox="1"/>
          <p:nvPr/>
        </p:nvSpPr>
        <p:spPr>
          <a:xfrm>
            <a:off x="213724" y="1756330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CITAÇÃO E COMO FORMATAR NO WORD</a:t>
            </a:r>
            <a:endParaRPr sz="1088"/>
          </a:p>
        </p:txBody>
      </p:sp>
      <p:sp>
        <p:nvSpPr>
          <p:cNvPr id="147" name="Google Shape;147;p8"/>
          <p:cNvSpPr/>
          <p:nvPr/>
        </p:nvSpPr>
        <p:spPr>
          <a:xfrm>
            <a:off x="213724" y="2172676"/>
            <a:ext cx="5920800" cy="22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CITAÇÃO DIRETA CURTA (até 3 linhas)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ficar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parágrafo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aspas duplas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continua normalmente após a citação.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informar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1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 1 (autor antes da citação):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sua carta a Maria Adelaide Amaral, Caio Fernando Abreu (2002, p. 65) diz:</a:t>
            </a:r>
            <a:b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“Minha vida tá em compasso de espera.”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 2 (autor depois da citação):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“Minha vida tá em compasso de espera.” (ABREU, 2002, p. 65).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CITAÇÕES — ABNT (NBR 10520)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36104" y="1113595"/>
            <a:ext cx="78717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CITAÇÃO DIRETA LONGA (mais de 3 linhas)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ficar em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parágrafo separado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com:</a:t>
            </a:r>
            <a:endParaRPr sz="1088"/>
          </a:p>
          <a:p>
            <a:pPr indent="-8396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 de 4 cm à esquerda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 menor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tamanho 10)</a:t>
            </a:r>
            <a:endParaRPr sz="1088"/>
          </a:p>
          <a:p>
            <a:pPr indent="-8396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aspas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1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0" i="1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força das coisas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Simone de Beauvoir (2009, p. 233) traz relatos de inúmeras viagens: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Cruzamos com duas caravanas: o deserto tornava-se mais imenso, medido no passo balanceado dos camelos; pelo menos o número de homens, animais e bagagens estava de acordo com seu tamanho. Mas de onde vinha, para onde ia aquele homem que surgia de lugar nenhum e que caminhava a passos largos? Nós o seguíamos com os olhos até que fosse de novo absorvido na grande ausência que nos envolvia.</a:t>
            </a:r>
            <a:endParaRPr sz="108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CITAÇÕES — ABNT (NBR 10520)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9726" y="906664"/>
            <a:ext cx="69708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GRIFOS EM CITAÇÕES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quiser destacar uma parte da citação:</a:t>
            </a:r>
            <a:b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(grifo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nosso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 original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grifou:</a:t>
            </a:r>
            <a:b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(grifo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autor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Caio Fernando Abreu (2002, p. 65,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grifo nosso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diz:</a:t>
            </a:r>
            <a:b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“Minha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vida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tá em compasso de espera.”</a:t>
            </a:r>
            <a:endParaRPr sz="1088"/>
          </a:p>
        </p:txBody>
      </p:sp>
      <p:sp>
        <p:nvSpPr>
          <p:cNvPr id="160" name="Google Shape;160;p10"/>
          <p:cNvSpPr/>
          <p:nvPr/>
        </p:nvSpPr>
        <p:spPr>
          <a:xfrm>
            <a:off x="469726" y="3059451"/>
            <a:ext cx="79008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CITAÇÃO INDIRETA (paráfrase)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usar aspas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nem recuo.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indicar 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 e o ano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é reescrito com suas palavras, mas baseado na ideia do autor.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 1: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Simone de Beauvoir (2009) relata uma cena no deserto que representa o vazio existencial.</a:t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 2: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relação ao deserto (BEAUVOIR, 2009), o trecho expressa uma sensação de ausência profunda.</a:t>
            </a:r>
            <a:endParaRPr sz="108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CITAÇÕES — ABNT (NBR 10520)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00625" y="1000455"/>
            <a:ext cx="8332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CITAÇÃO DE CITAÇÃO (fonte secundária)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quando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não teve acesso ao texto original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leu uma citação dele em outro autor.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expressões como: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apud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conforme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citado por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EXEMPLO: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 deserto tornava-se mais imenso, medido no passo balanceado dos camelos...” (apud SOUZA, 2023).</a:t>
            </a:r>
            <a:endParaRPr sz="1088"/>
          </a:p>
        </p:txBody>
      </p:sp>
      <p:sp>
        <p:nvSpPr>
          <p:cNvPr id="167" name="Google Shape;167;p11"/>
          <p:cNvSpPr txBox="1"/>
          <p:nvPr/>
        </p:nvSpPr>
        <p:spPr>
          <a:xfrm>
            <a:off x="300625" y="2755441"/>
            <a:ext cx="45798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DE OURO: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Word, para formatar </a:t>
            </a: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citação longa</a:t>
            </a: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Play"/>
              <a:buAutoNum type="arabicPeriod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parágrafo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Play"/>
              <a:buAutoNum type="arabicPeriod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 à esquerda: 4 cm</a:t>
            </a:r>
            <a:endParaRPr sz="12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Play"/>
              <a:buAutoNum type="arabicPeriod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Diminua a fonte (ex: de 12 para 10)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Play"/>
              <a:buAutoNum type="arabicPeriod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Deixe </a:t>
            </a: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simples</a:t>
            </a:r>
            <a:endParaRPr sz="12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REFERÊNCIAS — ABNT (NBR 6023:2018)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251303" y="1003580"/>
            <a:ext cx="868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FICAM AS REFERÊNCIAS?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colocadas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final do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alfabética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numeração.</a:t>
            </a:r>
            <a:endParaRPr sz="1088"/>
          </a:p>
        </p:txBody>
      </p:sp>
      <p:sp>
        <p:nvSpPr>
          <p:cNvPr id="174" name="Google Shape;174;p12"/>
          <p:cNvSpPr txBox="1"/>
          <p:nvPr/>
        </p:nvSpPr>
        <p:spPr>
          <a:xfrm>
            <a:off x="251303" y="1622129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DE REFERÊNCIA COM EXPLICAÇÃO</a:t>
            </a:r>
            <a:endParaRPr sz="1088"/>
          </a:p>
        </p:txBody>
      </p:sp>
      <p:sp>
        <p:nvSpPr>
          <p:cNvPr id="175" name="Google Shape;175;p12"/>
          <p:cNvSpPr/>
          <p:nvPr/>
        </p:nvSpPr>
        <p:spPr>
          <a:xfrm>
            <a:off x="251303" y="2020228"/>
            <a:ext cx="86829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Livro com um autor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ABREU, Caio Fernando.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Cartas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Rio de Janeiro: Aeroplano, 2002.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SOBRENOME, Nome.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em itálico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Cidade: Editora, ano.</a:t>
            </a:r>
            <a:endParaRPr sz="1088"/>
          </a:p>
        </p:txBody>
      </p:sp>
      <p:sp>
        <p:nvSpPr>
          <p:cNvPr id="176" name="Google Shape;176;p12"/>
          <p:cNvSpPr/>
          <p:nvPr/>
        </p:nvSpPr>
        <p:spPr>
          <a:xfrm>
            <a:off x="251303" y="3211010"/>
            <a:ext cx="86829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2. Livro com tradutor e edição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BEAUVOIR, Simone de.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força das coisas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Tradução de Maria Helena Franco Martins. 2. ed. Rio de Janeiro: Nova Fronteira, 2009.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aparece a partir da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segunda edição em diante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nome do tradutor vem depois do título.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REFERÊNCIAS — ABNT (NBR 6023:2018)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198850" y="978587"/>
            <a:ext cx="86508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3. Livro com até três autores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NICOLA, José de; INFANTE, Ulisses.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Gramática contemporânea da língua portuguesa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9. ed. São Paulo: Scipione, 1992.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Separar os autores com ponto e vírgula (;)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198850" y="2025808"/>
            <a:ext cx="8650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4. Livro com mais de três autores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BARTHES, Roland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estrutural da narrativa: pesquisas semiológicas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Tradução de Maria Zélia Barbosa Pinto. 2. ed. Rio de Janeiro: Vozes, 1972.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</a:t>
            </a:r>
            <a:r>
              <a:rPr b="1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itálico) depois do primeiro autor.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198850" y="3585090"/>
            <a:ext cx="86508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Autor desconhecido (título inicia a referência)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LAZARILHO de Tormes. Tradução de Heloísa Costa Milton e Antonio R. Esteves. 2. ed. São Paulo: Editora 34, 2012.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palavra do título fica em CAIXA ALTA.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REFERÊNCIAS — ABNT (NBR 6023:2018)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291229" y="830123"/>
            <a:ext cx="85395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Artigo publicado em periódico (revista científica)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BYLAARDT, Cid Ottoni. Arte engajada e arte autônoma no pensamento de Theodor Adorno.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Pandaemonium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São Paulo, v. 16, n. 22, p. 84-100, dez. 2013.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destaque em itálico vai no nome do periódico.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291229" y="1997234"/>
            <a:ext cx="85395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7. Artigo publicado na internet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BYLAARDT, Cid Ottoni. Arte engajada e arte autônoma no pensamento de Theodor Adorno.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Pandaemonium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São Paulo, v. 16, n. 22, p. 84-100, dez. 2013. Disponível em: </a:t>
            </a:r>
            <a:r>
              <a:rPr b="0" i="0" lang="pt-BR" sz="1244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https://www.scielo.br/j/pg/a/5X5HXkRrM6T7PBCkZjM9rWJ/?format=pdf&amp;lang=pt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Acesso em: 7 jul. 2023.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usar mais os sinais &lt; &gt;</a:t>
            </a:r>
            <a:b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colocar "Acesso em: dia mês. ano."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291229" y="3699106"/>
            <a:ext cx="85395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8. Capítulo de livro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DUARTE, Rodrigo. Pressupostos teóricos da crítica à indústria cultural.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DUARTE, Rodrigo.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Teoria crítica da indústria cultural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Belo Horizonte: Editora UFMG, 2003.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Explicando: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autor e título do capítulo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da palavra </a:t>
            </a: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itálico), colocar o livro completo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DE REFERÊNCIAS — ABNT (NBR 6023:2018)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345247" y="866098"/>
            <a:ext cx="8513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OBSERVAÇÕES IMPORTANTES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se usa mais traço (______.) para repetir autor.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houver cidade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usar: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[s. l.]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(sem local)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houver editora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usar: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[s. n.]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(sem nome)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usar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negrito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nem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sublinhado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deve estar sempre em itálico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345247" y="2274372"/>
            <a:ext cx="8513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NO WORD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final do trabalho, crie um título: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(centralizado, maiúsculo, sem negrito).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 à esquerda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entrelinhas de 1,5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Separe as referências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linha em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elas.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alfabética pelo sobrenome do autor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TRABALHOS QUE USAM AS NORMAS DA ABNT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123694" y="889391"/>
            <a:ext cx="8896500" cy="45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Artigo Científico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Texto técnico com resultados de pesquisa ou estudo.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Pode ser publicado em revistas acadêmicas.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Monografia ou TCC (Trabalho de Conclusão de Curso)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Trabalho final de cursos técnicos ou superiores.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Tem estrutura completa: capa, introdução, desenvolvimento, conclusão...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Dissertação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Exigida no final do </a:t>
            </a: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mestrado</a:t>
            </a: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Tem pesquisa aprofundada e linguagem técnica.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Tese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Exigida no final do </a:t>
            </a: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doutorado</a:t>
            </a: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Nível mais complexo de pesquisa e contribuição científica.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Memorial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Documento reflexivo com experiências e trajetória acadêmica/profissional.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Muito usado em concursos para professores ou progressão funcional.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Pôster Acadêmico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Apresentação visual de uma pesquisa em formato de cartaz.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Usado em feiras científicas, eventos e congressos.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de Texto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Versão reduzida de um conteúdo lido.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Precisa seguir regras de estrutura e citação.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Fichamento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Registro organizado da leitura de um texto.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Inclui trechos importantes e análise pessoal.</a:t>
            </a:r>
            <a:endParaRPr sz="1088"/>
          </a:p>
          <a:p>
            <a:pPr indent="-6420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Char char="•"/>
            </a:pPr>
            <a:r>
              <a:rPr b="1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Resenha, Resenha Bibliográfica ou Resenha Livre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Comentário crítico sobre um livro, filme ou artigo.</a:t>
            </a:r>
            <a:b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➜ Deve apresentar resumo + opinião argumentada.</a:t>
            </a:r>
            <a:endParaRPr sz="1088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TRABALHOS QUE USAM AS NORMAS DA ABNT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298275" y="904881"/>
            <a:ext cx="8541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tipo de trabalho tem sua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todos devem seguir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padrões de citação e referência da ABNT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Fonte: Times New Roman ou Arial 12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Espaçamento 1,5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Margens: 3 cm (esquerda e superior), 2 cm (direita e inferior)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Referências obrigatórias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Título em negrito e centralizado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Numeração de página a partir da introdução</a:t>
            </a:r>
            <a:endParaRPr sz="1088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CONTEÚDO EXTRA — COMO GERAR UM TEXTO ALEATÓRIO NO WORD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23119" y="865505"/>
            <a:ext cx="86829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recurso do Word gera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textos automáticos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servem para: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Testar formatações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Ajustar margens, espaçamentos e fontes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Fazer testes de impressão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Praticar estrutura de parágrafos</a:t>
            </a:r>
            <a:endParaRPr sz="1088"/>
          </a:p>
        </p:txBody>
      </p:sp>
      <p:sp>
        <p:nvSpPr>
          <p:cNvPr id="218" name="Google Shape;218;p18"/>
          <p:cNvSpPr txBox="1"/>
          <p:nvPr/>
        </p:nvSpPr>
        <p:spPr>
          <a:xfrm>
            <a:off x="223119" y="2459653"/>
            <a:ext cx="868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usa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comando dentro do próprio Word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instalar nada!</a:t>
            </a:r>
            <a:endParaRPr sz="1088"/>
          </a:p>
        </p:txBody>
      </p:sp>
      <p:sp>
        <p:nvSpPr>
          <p:cNvPr id="219" name="Google Shape;219;p18"/>
          <p:cNvSpPr/>
          <p:nvPr/>
        </p:nvSpPr>
        <p:spPr>
          <a:xfrm>
            <a:off x="223119" y="3267567"/>
            <a:ext cx="8667900" cy="20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Microsoft Word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qualquer versão a partir do Word 2007.</a:t>
            </a:r>
            <a:endParaRPr b="1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quantos parágrafos e frases você quer.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parágrafos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frases por parágrafo</a:t>
            </a:r>
            <a:endParaRPr b="1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3Digite o seguinte código no início da página: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=rand(4,3) </a:t>
            </a:r>
            <a:endParaRPr b="1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Enter no teclado.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vai gerar automaticamente 4 parágrafos com 3 frases cada um.</a:t>
            </a:r>
            <a:endParaRPr sz="1088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CONTEÚDO EXTRA — COMO GERAR UM TEXTO ALEATÓRIO NO WORD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66753" y="84819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PRÁTICOS</a:t>
            </a:r>
            <a:endParaRPr sz="1088"/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166753" y="1315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{CA7B410C-C845-455D-A161-B524AC2008BF}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Comando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=rand(1,1)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 parágrafo com 1 frase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=rand(3,5)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 parágrafos com 5 frases cada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=rand(5,2)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 parágrafos com 2 frases cada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19"/>
          <p:cNvSpPr txBox="1"/>
          <p:nvPr/>
        </p:nvSpPr>
        <p:spPr>
          <a:xfrm>
            <a:off x="166753" y="2857500"/>
            <a:ext cx="8551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gerado não é aleatório puro, ele traz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e recursos sobre o próprio Word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apenas se o comando estiver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 de uma tabela ou caixa de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funcionar, verifique 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correção automática está ativado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DE FOLHAS INICIAIS DO TCC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53651" y="940308"/>
            <a:ext cx="77976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CAPA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capa deve conter: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da Instituição (centralizado, em letras maiúsculas)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autor (centralizado)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do trabalho (negrito, centralizado)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Subtítulo (se houver)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Cidade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05321" y="2871633"/>
            <a:ext cx="7694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FOLHA DE ROSTO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conteúdo da capa,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acrescentando a natureza do trabalho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curso, a instituição e o orientador.</a:t>
            </a:r>
            <a:endParaRPr sz="1088"/>
          </a:p>
        </p:txBody>
      </p:sp>
      <p:sp>
        <p:nvSpPr>
          <p:cNvPr id="235" name="Google Shape;235;p20"/>
          <p:cNvSpPr/>
          <p:nvPr/>
        </p:nvSpPr>
        <p:spPr>
          <a:xfrm>
            <a:off x="305321" y="3592868"/>
            <a:ext cx="883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VERSO DA FOLHA DE ROSTO (CATÁLOGRAFO - OPCIONAL)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Deixa-se essa folha em branco ou com os dados catalográficos fornecidos pela biblioteca da instituição.</a:t>
            </a:r>
            <a:endParaRPr sz="1088"/>
          </a:p>
        </p:txBody>
      </p:sp>
      <p:sp>
        <p:nvSpPr>
          <p:cNvPr id="236" name="Google Shape;236;p20"/>
          <p:cNvSpPr/>
          <p:nvPr/>
        </p:nvSpPr>
        <p:spPr>
          <a:xfrm>
            <a:off x="253651" y="4314103"/>
            <a:ext cx="5424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FOLHA DE APROVAÇÃO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Contém os dados da banca, data de aprovação e assinatura dos avaliadores.</a:t>
            </a:r>
            <a:endParaRPr sz="1088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DE FOLHAS INICIAIS DO TCC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06679" y="883685"/>
            <a:ext cx="9648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DEDICATÓRIA (OPCIONAL)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texto breve dedicado a alguém especial.</a:t>
            </a:r>
            <a:endParaRPr sz="1088"/>
          </a:p>
        </p:txBody>
      </p:sp>
      <p:sp>
        <p:nvSpPr>
          <p:cNvPr id="244" name="Google Shape;244;p21"/>
          <p:cNvSpPr/>
          <p:nvPr/>
        </p:nvSpPr>
        <p:spPr>
          <a:xfrm>
            <a:off x="206679" y="1512595"/>
            <a:ext cx="3741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AGRADECIMENTOS (OPCIONAL)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agradecendo professores, colegas, família etc.</a:t>
            </a:r>
            <a:endParaRPr sz="1088"/>
          </a:p>
        </p:txBody>
      </p:sp>
      <p:sp>
        <p:nvSpPr>
          <p:cNvPr id="245" name="Google Shape;245;p21"/>
          <p:cNvSpPr/>
          <p:nvPr/>
        </p:nvSpPr>
        <p:spPr>
          <a:xfrm>
            <a:off x="206679" y="2184528"/>
            <a:ext cx="3013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EPÍGRAFE (OPCIONAL)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Frase ou citação inspiradora, com autoria.</a:t>
            </a:r>
            <a:endParaRPr sz="1088"/>
          </a:p>
        </p:txBody>
      </p:sp>
      <p:sp>
        <p:nvSpPr>
          <p:cNvPr id="246" name="Google Shape;246;p21"/>
          <p:cNvSpPr/>
          <p:nvPr/>
        </p:nvSpPr>
        <p:spPr>
          <a:xfrm>
            <a:off x="206679" y="2804344"/>
            <a:ext cx="6297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RESUMO EM PORTUGUÊS (OBRIGATÓRIO)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150 a 500 palavras, sem parágrafos. Explica objetivo, método, resultados e conclusão.</a:t>
            </a:r>
            <a:endParaRPr sz="1088"/>
          </a:p>
        </p:txBody>
      </p:sp>
      <p:sp>
        <p:nvSpPr>
          <p:cNvPr id="247" name="Google Shape;247;p21"/>
          <p:cNvSpPr/>
          <p:nvPr/>
        </p:nvSpPr>
        <p:spPr>
          <a:xfrm>
            <a:off x="206679" y="3524594"/>
            <a:ext cx="4741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RESUMO EM LÍNGUA ESTRANGEIRA (OBRIGATÓRIO)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Versão do resumo em inglês (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espanhol (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etc.</a:t>
            </a:r>
            <a:endParaRPr sz="1088"/>
          </a:p>
        </p:txBody>
      </p:sp>
      <p:sp>
        <p:nvSpPr>
          <p:cNvPr id="248" name="Google Shape;248;p21"/>
          <p:cNvSpPr txBox="1"/>
          <p:nvPr/>
        </p:nvSpPr>
        <p:spPr>
          <a:xfrm>
            <a:off x="206679" y="4096093"/>
            <a:ext cx="49320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LISTAS E SUMÁRIO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ilustrações (opcional)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tabelas (opcional)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abreviaturas e siglas (opcional)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símbolos (opcional)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Sumário (obrigatório)</a:t>
            </a: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deve seguir a estrutura do documento com número de páginas.</a:t>
            </a:r>
            <a:endParaRPr sz="1088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A CAPA DE UM TCC NO WORD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206676" y="696562"/>
            <a:ext cx="100614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1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Abra o Word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novo documento em branco.</a:t>
            </a:r>
            <a:endParaRPr b="1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Margens ABNT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 Personalizadas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cm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Inferior: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cm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Esquerda: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cm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Direita: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cm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06675" y="2585703"/>
            <a:ext cx="100614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Fonte e espaçamento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pt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entre linhas: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Parágrafo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entre linhas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1,5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06675" y="3798790"/>
            <a:ext cx="100614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Digite as informações na ordem correta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Enter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blocos principais (como Autor → Título).</a:t>
            </a:r>
            <a:b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Enter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blocos complementares (como Nome da instituição → Nome do curso).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None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informações centralizadas!</a:t>
            </a:r>
            <a:b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Use: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E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centralizar o texto.</a:t>
            </a:r>
            <a:endParaRPr sz="108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A CAPA DE UM TCC NO WORD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91230" y="2267375"/>
            <a:ext cx="80418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PRÁTICAS: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usar negrito ou sublinhado.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Deixe tudo em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alta (letras maiúsculas)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Verifique a ortografia e se a cidade está com a primeira letra maiúscula.</a:t>
            </a:r>
            <a:endParaRPr sz="1088"/>
          </a:p>
          <a:p>
            <a:pPr indent="-839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houver mais de um volume, adicione após o título: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1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FOLHA DE ROSTO – OBRIGATÓRIA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664661" y="825534"/>
            <a:ext cx="79782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folha de rosto é a </a:t>
            </a: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página interna do TCC</a:t>
            </a: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traz dados importantes sobre o autor e o trabalho.</a:t>
            </a:r>
            <a:b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dividida em duas partes: </a:t>
            </a: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anverso (frente)</a:t>
            </a: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verso (usado para ficha catalográfica)</a:t>
            </a: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sp>
        <p:nvSpPr>
          <p:cNvPr id="269" name="Google Shape;269;p24"/>
          <p:cNvSpPr/>
          <p:nvPr/>
        </p:nvSpPr>
        <p:spPr>
          <a:xfrm>
            <a:off x="664661" y="1839863"/>
            <a:ext cx="80793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ANVERSO – o que deve conter (na ordem):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autor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do trabalho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 houver, separado por dois pontos)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volumes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 for mais de um)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Natureza do trabalho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nome da instituição, curso e nome do orientador. Exemplo: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 de Conclusão de Curso apresentado ao [nome do curso] da [nome da instituição], como requisito parcial para a obtenção do título de [nome do título]. Orientador: Prof. [nome do orientador].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 startAt="6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(cidade)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 startAt="6"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 de depósito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t/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VERSO DA FOLHA DE ROSTO – O QUE VAI?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217639" y="719987"/>
            <a:ext cx="8708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AUTORIZAÇÃO DE PUBLICAÇÃO (se exigida pela instituição)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Trata-se de um pequeno texto, geralmente assinado pelo(a) autor(a), que permite a publicação ou consulta do trabalho no acervo da instituição.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Exemplo de texto: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"Autorizo a publicação e disponibilização deste trabalho no acervo da biblioteca da [Nome da Instituição], para fins acadêmicos e de pesquisa, conforme as normas da instituição."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[Nome do autor]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[Assinatura]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1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[Cidade], [Data]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17639" y="3193239"/>
            <a:ext cx="87087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1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2. FICHA CATALOGRÁFICA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ficha catalográfica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elemento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obrigatório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trabalhos de conclusão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impressos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 exigido por muitas instituições também em PDFs).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funciona como uma “identificação técnica” da obra, organizada por um bibliotecário.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feita pelo aluno.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ser solicitada à biblioteca da instituição, geralmente por formulário online ou presencialmente.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pronta, ela é enviada em um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PDF ou DOC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ser colada no verso da folha de rosto.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BANCA EXAMINADORA – O QUE É E O QUE ELA AVALIA?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204330" y="906069"/>
            <a:ext cx="8682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banca?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banca examinadora é o grupo de professores responsáveis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avaliar o TCC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(Trabalho de Conclusão de Curso). Eles analisam se: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pesquisa é relevante;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estão bem apresentados;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aluno domina o conteúdo;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trabalho segue os padrões acadêmicos.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banca aprovar, o aluno conclui o curso!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204330" y="3046810"/>
            <a:ext cx="85794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PERGUNTAS COMUNS FEITAS PELA BANCA: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escolheu esse tema?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definiu o título do trabalho?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foram os principais desafios da pesquisa?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foram suas principais fontes?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escolheu essa metodologia?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os resultados mais relevantes?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conclui com sua pesquisa?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esse tema pode ser útil na prática?</a:t>
            </a:r>
            <a:endParaRPr sz="1088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BANCA EXAMINADORA – O QUE É E O QUE ELA AVALIA?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890131" y="814192"/>
            <a:ext cx="7123500" cy="4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 BANCA AVALIA UM TCC?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evitar erros e insegurança, é importante saber o que geralmente é analisado: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1. Título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 claro?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bem o tema?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 o foco da pesquisa?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2. Referências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no formato correto (ABNT)?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fontes são confiáveis e atualizadas?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 variedade de autores?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3. Metodologia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tipo de pesquisa foi bem escolhido?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forma de coleta de dados foi adequada?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análise foi coerente com o objetivo?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4. Resultados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foram apresentados de forma clara?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e gráficos ajudam na explicação?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Há ligação entre os dados e os objetivos?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5. Conclusão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aluno respondeu à pergunta da pesquisa?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conclusão está relacionada aos objetivos?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Foram feitas sugestões ou observações finais?</a:t>
            </a:r>
            <a:endParaRPr sz="1088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BANCA EXAMINADORA – O QUE É E O QUE ELA AVALIA?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140918" y="999284"/>
            <a:ext cx="92442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 NO TCC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Devem estar organizadas no final do trabalho.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normas da ABNT (como NBR 6023).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Incluir livros, artigos, sites confiáveis, documentos legais etc.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140918" y="2110930"/>
            <a:ext cx="92442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CONCLUINDO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📢 Saber o que a banca espera evita sustos na hora da apresentação.</a:t>
            </a:r>
            <a:b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📚 Um bom TCC tem clareza, lógica, domínio do conteúdo e referências confiáveis.</a:t>
            </a:r>
            <a:b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Dica final: treine a apresentação em voz alta e peça para alguém fazer perguntas simulando a banca!</a:t>
            </a:r>
            <a:endParaRPr sz="1088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SUMÁRIO NO TCC (ABNT NBR 6027)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40918" y="971695"/>
            <a:ext cx="9216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sumário?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organizada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todas as divisões do trabalho (capítulos, seções e subseções),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ordem em que aparecem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como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facilitar a navegação no conteúdo.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Obrigatório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trabalhos acadêmicos.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140918" y="2433633"/>
            <a:ext cx="8718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segundo a ABNT NBR 6027: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último elemento pré-textual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(vem antes da Introdução).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inclui: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dedicatória, agradecimentos, resumo, epígrafe.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a mesma grafia e formatação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títulos do texto (se estiver em maiúsculo no corpo, também deve estar no sumário).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 seguir a estrutura hierárquica (Ex: 1, 1.1, 1.1.1...).</a:t>
            </a:r>
            <a:endParaRPr sz="1088"/>
          </a:p>
        </p:txBody>
      </p:sp>
      <p:sp>
        <p:nvSpPr>
          <p:cNvPr id="304" name="Google Shape;304;p29"/>
          <p:cNvSpPr txBox="1"/>
          <p:nvPr/>
        </p:nvSpPr>
        <p:spPr>
          <a:xfrm>
            <a:off x="140918" y="4126403"/>
            <a:ext cx="8643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o sumário no Word (automático):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estilos de título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Word (Título 1, Título 2…).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aba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"Referências"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"Sumário"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Escolha um modelo automático.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atualizar, clique com o botão direito no sumário →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"Atualizar campo"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“Atualizar o índice inteiro”.</a:t>
            </a:r>
            <a:endParaRPr sz="1088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DO SUMÁRIO</a:t>
            </a:r>
            <a:endParaRPr b="1" sz="171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166752" y="878656"/>
            <a:ext cx="88050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FORMATAÇÃO: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Título "SUMÁRIO"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Centralizado na página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maiúscula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negrito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capítulos e seções: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 à esquerda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entre linhas: 1,5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Numeração deve seguir a hierarquia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1, 1.1, 1.1.1)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respeitar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visual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conteúdo (se estiver em maiúsculo no texto, também estará no sumário)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pontos entre título e número da página (pontilhado) são obrigatórios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recuo dos itens deve seguir o título com maior numeração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para manter a hierarquia visual</a:t>
            </a:r>
            <a:endParaRPr sz="1088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155241" y="2036901"/>
            <a:ext cx="480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088"/>
          </a:p>
        </p:txBody>
      </p:sp>
      <p:sp>
        <p:nvSpPr>
          <p:cNvPr id="318" name="Google Shape;318;p31"/>
          <p:cNvSpPr txBox="1"/>
          <p:nvPr/>
        </p:nvSpPr>
        <p:spPr>
          <a:xfrm>
            <a:off x="1057114" y="3035079"/>
            <a:ext cx="30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sp>
        <p:nvSpPr>
          <p:cNvPr id="319" name="Google Shape;319;p31"/>
          <p:cNvSpPr txBox="1"/>
          <p:nvPr/>
        </p:nvSpPr>
        <p:spPr>
          <a:xfrm>
            <a:off x="1030550" y="3558737"/>
            <a:ext cx="3006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DIGIMASTER - KAHOOT</a:t>
            </a:r>
            <a:endParaRPr sz="108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