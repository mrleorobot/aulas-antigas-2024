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715000" cx="9144000"/>
  <p:notesSz cx="6858000" cy="9144000"/>
  <p:embeddedFontLst>
    <p:embeddedFont>
      <p:font typeface="Play"/>
      <p:regular r:id="rId26"/>
      <p:bold r:id="rId27"/>
    </p:embeddedFont>
    <p:embeddedFont>
      <p:font typeface="Arim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MWwOVxmg2duRS4uu4AbiN1RnL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7DF68B-60A2-40CB-B5A6-B9CDD9401F64}">
  <a:tblStyle styleId="{177DF68B-60A2-40CB-B5A6-B9CDD9401F6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regular.fntdata"/><Relationship Id="rId25" Type="http://schemas.openxmlformats.org/officeDocument/2006/relationships/slide" Target="slides/slide20.xml"/><Relationship Id="rId28" Type="http://schemas.openxmlformats.org/officeDocument/2006/relationships/font" Target="fonts/Arimo-regular.fnt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d7351f69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6d7351f692_0_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83D4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458214" y="1124731"/>
            <a:ext cx="3119100" cy="34656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Ícone&#10;&#10;O conteúdo gerado por IA pode estar incorreto." id="89" name="Google Shape;8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1961" y="1640005"/>
            <a:ext cx="2191489" cy="219148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155242" y="1118326"/>
            <a:ext cx="4809900" cy="8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5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</a:t>
            </a:r>
            <a:endParaRPr sz="1100"/>
          </a:p>
        </p:txBody>
      </p:sp>
      <p:sp>
        <p:nvSpPr>
          <p:cNvPr id="91" name="Google Shape;91;p1"/>
          <p:cNvSpPr txBox="1"/>
          <p:nvPr/>
        </p:nvSpPr>
        <p:spPr>
          <a:xfrm>
            <a:off x="1180728" y="2147825"/>
            <a:ext cx="37845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sp>
        <p:nvSpPr>
          <p:cNvPr id="92" name="Google Shape;92;p1"/>
          <p:cNvSpPr txBox="1"/>
          <p:nvPr/>
        </p:nvSpPr>
        <p:spPr>
          <a:xfrm>
            <a:off x="664732" y="2561758"/>
            <a:ext cx="4300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FORMATOS DIFERENTES DE DOCUMENTO</a:t>
            </a:r>
            <a:endParaRPr sz="1100"/>
          </a:p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RÉGUA</a:t>
            </a:r>
            <a:endParaRPr sz="1100"/>
          </a:p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AUMENTA OU DIMINUIR O RECUO</a:t>
            </a:r>
            <a:endParaRPr sz="1100"/>
          </a:p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CONFIGURAR PÁGINAS E MARGENS</a:t>
            </a:r>
            <a:endParaRPr sz="1100"/>
          </a:p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SELECIONAR O TEXTO</a:t>
            </a:r>
            <a:endParaRPr sz="1100"/>
          </a:p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COPIAR E RECORTAR UM TEXTO SELECIONADO</a:t>
            </a:r>
            <a:endParaRPr sz="1100"/>
          </a:p>
          <a:p>
            <a:pPr indent="-222250" lvl="0" marL="2286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•"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LOCALIZAR E SUBSTITUIR TEXTOS</a:t>
            </a:r>
            <a:endParaRPr b="1"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d7351f692_0_1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DIGITE O TEXTO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6d7351f692_0_1"/>
          <p:cNvSpPr/>
          <p:nvPr/>
        </p:nvSpPr>
        <p:spPr>
          <a:xfrm>
            <a:off x="129750" y="978152"/>
            <a:ext cx="8884500" cy="3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O Rio Grande do Norte é isso: sal, sol, nordeste. Barreira do Inferno, viagens espaciais, industrialização. Algodão do Seridó, salinas de Mossoró e miragens. Luta contra a seca, praias de areias coloridas, céu limpo. O último forte do folclore brasileiro, a melhor carne-de-sol do Brasil. O litoral potiguar tem um céu limpo todo o ano, ventos fracos e regulares, chuvas rápidas. Saindo das cidades do litoral começa a surgir a imagem do sertão nordestino: as caatingas arbóreas desaparecidas pelas derrubadas acima do recomendável, a terra seca, vestígios da existência das florestas que nunca foram grandes. Escassez de chuvas e secas periódicas. No interior, os grandes problemas estão concentrados nas deficiências em termos de transporte, água, saúde pública, centros de treinamentos, energia e mão-de-obra. Há falta de capital para gerar indústrias. O subsolo é riquíssimo.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FORMATOS DIFERENTES DE DOCUMENTO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283265" y="977350"/>
            <a:ext cx="8577600" cy="33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são Tipos de Formatos Diferentes de Documento?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criamos um arquivo no Word, podemos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salvá-lo em diferentes formatos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dependendo de como ele será usado.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Cada formato tem uma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função específica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Alguns são ideais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outros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enviar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visualizar sem alterar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Entender esses formatos é essencial para: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Garantir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compatibilidade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outros computadores ou programas;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Proteger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conteúdo contra alterações indesejadas;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Reduzir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do 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envio por e-mail, por exemplo.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FORMATOS DIFERENTES DE DOCUMENTO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43073" y="804133"/>
            <a:ext cx="2659200" cy="2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Formatos Mais Comuns No Word: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1" name="Google Shape;111;p3"/>
          <p:cNvGraphicFramePr/>
          <p:nvPr/>
        </p:nvGraphicFramePr>
        <p:xfrm>
          <a:off x="143072" y="1247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{177DF68B-60A2-40CB-B5A6-B9CDD9401F64}</a:tableStyleId>
              </a:tblPr>
              <a:tblGrid>
                <a:gridCol w="1398200"/>
                <a:gridCol w="2812075"/>
                <a:gridCol w="4661450"/>
              </a:tblGrid>
              <a:tr h="247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Extensão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Nome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Para que serve?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C5ED"/>
                    </a:solidFill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.doc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 do Word 97-2003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Arquivos antigos, compatíveis com versões mais velhas.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.docx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 do Word (moderno)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Padrão atual, mais leve e seguro.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.pdf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Formato de Documento Portátil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Arquivo fixo, não editável no Word (ideal para enviar).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7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.txt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sem formatação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Arquivo só com texto, sem estilos.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.rtf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Formato de Texto Rico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Texto com alguma formatação básica (antigo).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5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.odt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Documento do OpenDocument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Usado por outros editores como LibreOffice.</a:t>
                      </a:r>
                      <a:endParaRPr sz="1200"/>
                    </a:p>
                  </a:txBody>
                  <a:tcPr marT="31250" marB="31250" marR="56275" marL="56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TIPOS DE FORMATOS DIFERENTES DE DOCUMENTO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295690" y="1263038"/>
            <a:ext cx="65052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Escreva qualquer texto no Word.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(atalho: Alt + A).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 Como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o local onde deseja salvar (Este Computador, Área de Trabalho, etc.).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janela que abrir, clique na lista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“Tipo”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um dos formatos: .docx, .pdf, .txt, .rtf, etc.</a:t>
            </a:r>
            <a:endParaRPr sz="1100"/>
          </a:p>
          <a:p>
            <a:pPr indent="-889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Salvar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18" name="Google Shape;118;p4"/>
          <p:cNvSpPr/>
          <p:nvPr/>
        </p:nvSpPr>
        <p:spPr>
          <a:xfrm>
            <a:off x="295690" y="936655"/>
            <a:ext cx="365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SALVAR EM FORMATO DIFERENTE</a:t>
            </a:r>
            <a:endParaRPr sz="1100"/>
          </a:p>
        </p:txBody>
      </p:sp>
      <p:pic>
        <p:nvPicPr>
          <p:cNvPr id="119" name="Google Shape;119;p4"/>
          <p:cNvPicPr preferRelativeResize="0"/>
          <p:nvPr/>
        </p:nvPicPr>
        <p:blipFill rotWithShape="1">
          <a:blip r:embed="rId3">
            <a:alphaModFix/>
          </a:blip>
          <a:srcRect b="1020" l="0" r="0" t="8554"/>
          <a:stretch/>
        </p:blipFill>
        <p:spPr>
          <a:xfrm>
            <a:off x="3764658" y="3014869"/>
            <a:ext cx="5248115" cy="2517913"/>
          </a:xfrm>
          <a:prstGeom prst="rect">
            <a:avLst/>
          </a:prstGeom>
          <a:solidFill>
            <a:srgbClr val="A3C5ED"/>
          </a:solidFill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RÉGUAS NO WORD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08721" y="2458252"/>
            <a:ext cx="87663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que servem?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 réguas do Word ajudam a: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Alinhar textos e imagens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mais precisão;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Organizar margens, tabelas e gráficos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Padronizar formatação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trabalhos e documentos acadêmicos.</a:t>
            </a:r>
            <a:endParaRPr sz="1100"/>
          </a:p>
        </p:txBody>
      </p:sp>
      <p:sp>
        <p:nvSpPr>
          <p:cNvPr id="126" name="Google Shape;126;p5"/>
          <p:cNvSpPr/>
          <p:nvPr/>
        </p:nvSpPr>
        <p:spPr>
          <a:xfrm>
            <a:off x="208721" y="3812694"/>
            <a:ext cx="87663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Tipos de Réguas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Régua Horizontal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Fica no topo do documento. Alinha parágrafos, títulos e objetos.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Régua Vertical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Fica à esquerda. Alinha o conteúdo com as margens da página.</a:t>
            </a:r>
            <a:endParaRPr sz="1100"/>
          </a:p>
        </p:txBody>
      </p:sp>
      <p:sp>
        <p:nvSpPr>
          <p:cNvPr id="127" name="Google Shape;127;p5"/>
          <p:cNvSpPr/>
          <p:nvPr/>
        </p:nvSpPr>
        <p:spPr>
          <a:xfrm>
            <a:off x="208721" y="872977"/>
            <a:ext cx="87663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a Régua no Word?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régua é uma ferramenta visual do Word que ajuda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e alinhar os elementos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do documento.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Ela aparece nas laterais da área de trabalho e é muito usada para deixar o texto bem distribuído, com margens corretas, títulos alinhados e parágrafos padronizados.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Saber usar a régua facilita muito na hora de fazer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trabalhos escolares, acadêmicos ou profissionais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garantindo que tudo fique no lugar certo — de forma limpa e bem apresentada.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TRABALHANDO COM RÉGUAS NO WORD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78905" y="852630"/>
            <a:ext cx="87465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ativar as réguas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Word, vá para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guia Exibição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(lá no topo).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a caixinha chamada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Régua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Pronto! A régua horizontal e vertical vai aparecer.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Importante: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réguas só aparecem quando o Word está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modo Layout de Impressão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34" name="Google Shape;134;p6"/>
          <p:cNvSpPr/>
          <p:nvPr/>
        </p:nvSpPr>
        <p:spPr>
          <a:xfrm>
            <a:off x="178905" y="3326370"/>
            <a:ext cx="87465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Extra: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a régua vertical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aparecer mesmo assim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faça o seguinte: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Arquivo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depois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Vá até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Avançado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Role até a parte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Exibir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Marque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“Mostrar régua vertical no modo de layout de impressão”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pic>
        <p:nvPicPr>
          <p:cNvPr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763" y="2725219"/>
            <a:ext cx="8167371" cy="240807"/>
          </a:xfrm>
          <a:prstGeom prst="rect">
            <a:avLst/>
          </a:prstGeom>
          <a:noFill/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RECUO NO WORD?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9452" y="798493"/>
            <a:ext cx="89850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define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distanciamento entre o texto e a margem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página.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 é útil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organizar parágrafos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criar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estilo de formatação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 seguir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regras de trabalhos acadêmicos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ABNT, por exemplo.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Word, a régua permite ajustar esses recuos de forma visual e precisa, com pequenos botões que controlam onde o texto começa e termina.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conhecer cada um deles:</a:t>
            </a:r>
            <a:endParaRPr sz="1100"/>
          </a:p>
        </p:txBody>
      </p:sp>
      <p:pic>
        <p:nvPicPr>
          <p:cNvPr id="142" name="Google Shape;142;p7"/>
          <p:cNvPicPr preferRelativeResize="0"/>
          <p:nvPr/>
        </p:nvPicPr>
        <p:blipFill rotWithShape="1">
          <a:blip r:embed="rId3">
            <a:alphaModFix/>
          </a:blip>
          <a:srcRect b="4932" l="0" r="0" t="0"/>
          <a:stretch/>
        </p:blipFill>
        <p:spPr>
          <a:xfrm>
            <a:off x="707540" y="2756276"/>
            <a:ext cx="7602038" cy="2467289"/>
          </a:xfrm>
          <a:prstGeom prst="rect">
            <a:avLst/>
          </a:prstGeom>
          <a:noFill/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QUE É RECUO NO WORD?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298171" y="755251"/>
            <a:ext cx="47808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  <a:t>Recuo de Primeira Linha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 Parte superior esquerda (triângulo apontando para baixo)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Serve para recuar somente a primeira linha de cada parágrafo.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usado em textos formais e trabalhos acadêmicos.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 arraste para ajustar.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298171" y="1796196"/>
            <a:ext cx="47808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  <a:t>Recuo Deslocado (ou especial)</a:t>
            </a:r>
            <a:br>
              <a:rPr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 Triângulo inferior esquerdo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Recuo de todas as linhas, exceto a primeira (o contrário do item acima).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usado em referências bibliográficas.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Arraste para definir onde o parágrafo começa.</a:t>
            </a:r>
            <a:endParaRPr sz="1100"/>
          </a:p>
        </p:txBody>
      </p:sp>
      <p:sp>
        <p:nvSpPr>
          <p:cNvPr id="150" name="Google Shape;150;p8"/>
          <p:cNvSpPr/>
          <p:nvPr/>
        </p:nvSpPr>
        <p:spPr>
          <a:xfrm>
            <a:off x="298171" y="2829168"/>
            <a:ext cx="4780800" cy="9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  <a:t>Recuo à Esquerda (geral)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 Bloco quadrado abaixo dos triângulos esquerdos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todo o parágrafo para a direita ou esquerda.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Ideal para alinhar blocos de texto.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Mova o bloco para ajustar.</a:t>
            </a:r>
            <a:endParaRPr sz="1100"/>
          </a:p>
        </p:txBody>
      </p:sp>
      <p:sp>
        <p:nvSpPr>
          <p:cNvPr id="151" name="Google Shape;151;p8"/>
          <p:cNvSpPr/>
          <p:nvPr/>
        </p:nvSpPr>
        <p:spPr>
          <a:xfrm>
            <a:off x="298171" y="3835216"/>
            <a:ext cx="47808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  <a:t>Recuo à Direita</a:t>
            </a:r>
            <a:br>
              <a:rPr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Ícone: Triângulo à direita na régua superior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o ponto onde o parágrafo termina.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Ajuda a manter a margem direita organizada.</a:t>
            </a:r>
            <a:endParaRPr sz="1100"/>
          </a:p>
        </p:txBody>
      </p:sp>
      <p:sp>
        <p:nvSpPr>
          <p:cNvPr id="152" name="Google Shape;152;p8"/>
          <p:cNvSpPr/>
          <p:nvPr/>
        </p:nvSpPr>
        <p:spPr>
          <a:xfrm>
            <a:off x="298171" y="4753203"/>
            <a:ext cx="47808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chemeClr val="dk1"/>
                </a:solidFill>
                <a:highlight>
                  <a:srgbClr val="EA9999"/>
                </a:highlight>
                <a:latin typeface="Arial"/>
                <a:ea typeface="Arial"/>
                <a:cs typeface="Arial"/>
                <a:sym typeface="Arial"/>
              </a:rPr>
              <a:t>Margem Direita do Papel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Local: Fim da régua horizontal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 até onde </a:t>
            </a:r>
            <a:r>
              <a:rPr b="1"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o conteúdo da página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Muito útil para padronizar espaço de impressão.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DIGITE O TEXTO ABAIXO: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248479" y="982331"/>
            <a:ext cx="86469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Dorothy girou três vezes no ar, com os olhos bem fechados, e quando finalmente abriu, não estava mais no Kansas.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Ela olhou ao redor e viu um lugar cheio de cores vivas, com flores que cantavam, casinhas redondas e um céu incrivelmente azul.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 homenzinho de chapéu pontudo apareceu sorrindo e disse:</a:t>
            </a:r>
            <a:b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 Seja bem-vinda à Terra dos Munchkins!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Dorothy piscou confusa. 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 cachorro que fala, um espantalho que dança e uma estrada feita de tijolos amarelos? Aquela aventura estava só começando!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248479" y="3561978"/>
            <a:ext cx="8736600" cy="14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pt-BR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vamos praticar os recuos com a régua: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Selecione todo o texto que você digitou.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 até a régua superior e arraste o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Recuo de Primeira Linha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até </a:t>
            </a: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 cm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b="1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r>
              <a:rPr b="0" i="0" lang="pt-BR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Segure a tecla ALT enquanto arrasta para ver a medida exata.</a:t>
            </a:r>
            <a:endParaRPr sz="1100"/>
          </a:p>
          <a:p>
            <a:pPr indent="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CONFIGURAR PÁGINAS E MARGENS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318052" y="815598"/>
            <a:ext cx="85080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que configurar a página é importante?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Antes mesmo de digitar um texto, é importante configurar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espaço da página onde você vai trabalhar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garante que o conteúdo fique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organizado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respeite margens adequadas e esteja pronto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impressão ou envio oficial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trabalhos acadêmicos ou documentos formais, seguir essas configurações evita que seu texto fique cortado, desorganizado ou fora das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normas técnicas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66" name="Google Shape;166;p10"/>
          <p:cNvSpPr/>
          <p:nvPr/>
        </p:nvSpPr>
        <p:spPr>
          <a:xfrm>
            <a:off x="318052" y="2426134"/>
            <a:ext cx="8577600" cy="16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CONFIGURAR PÁGINA E MARGENS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formatação da página no Word é feita pela guia: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(ou só "Layout" nas versões mais novas)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nessa guia que conseguimos: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Escolher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 do papel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(como A4);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Definir as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(superior, inferior, esquerda e direita);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Ajustar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orientação da página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(retrato ou paisagem).</a:t>
            </a:r>
            <a:endParaRPr sz="1100"/>
          </a:p>
        </p:txBody>
      </p:sp>
      <p:pic>
        <p:nvPicPr>
          <p:cNvPr id="167" name="Google Shape;1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5810" y="4267503"/>
            <a:ext cx="3358669" cy="863122"/>
          </a:xfrm>
          <a:prstGeom prst="rect">
            <a:avLst/>
          </a:prstGeom>
          <a:noFill/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4">
            <a:alphaModFix/>
          </a:blip>
          <a:srcRect b="0" l="0" r="0" t="12793"/>
          <a:stretch/>
        </p:blipFill>
        <p:spPr>
          <a:xfrm>
            <a:off x="570569" y="4537188"/>
            <a:ext cx="2060910" cy="419652"/>
          </a:xfrm>
          <a:prstGeom prst="rect">
            <a:avLst/>
          </a:prstGeom>
          <a:noFill/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CONFIGURAR PÁGINAS E MARGENS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/>
          <p:nvPr/>
        </p:nvSpPr>
        <p:spPr>
          <a:xfrm>
            <a:off x="129208" y="790574"/>
            <a:ext cx="44925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Define o espaço entre o texto e as bordas do papel.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Possui modelos prontos (Normal, Estreita, Larga) e opção de personalizar:</a:t>
            </a:r>
            <a:endParaRPr sz="1100"/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Superior, Inferior, Esquerda e Direita.</a:t>
            </a:r>
            <a:endParaRPr sz="1100"/>
          </a:p>
        </p:txBody>
      </p:sp>
      <p:sp>
        <p:nvSpPr>
          <p:cNvPr id="175" name="Google Shape;175;p11"/>
          <p:cNvSpPr/>
          <p:nvPr/>
        </p:nvSpPr>
        <p:spPr>
          <a:xfrm>
            <a:off x="5218043" y="1737231"/>
            <a:ext cx="19482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Orientação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Define se a página será:</a:t>
            </a:r>
            <a:endParaRPr sz="1100"/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Retrato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(em pé)</a:t>
            </a:r>
            <a:endParaRPr sz="1100"/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Paisagem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(deitada)</a:t>
            </a:r>
            <a:endParaRPr sz="1100"/>
          </a:p>
        </p:txBody>
      </p:sp>
      <p:sp>
        <p:nvSpPr>
          <p:cNvPr id="176" name="Google Shape;176;p11"/>
          <p:cNvSpPr/>
          <p:nvPr/>
        </p:nvSpPr>
        <p:spPr>
          <a:xfrm>
            <a:off x="134178" y="1737231"/>
            <a:ext cx="449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Escolhe o tamanho do papel (ex: A4, Carta, Ofício).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Ideal para quem vai imprimir o documento.</a:t>
            </a:r>
            <a:endParaRPr sz="1100"/>
          </a:p>
        </p:txBody>
      </p:sp>
      <p:sp>
        <p:nvSpPr>
          <p:cNvPr id="177" name="Google Shape;177;p11"/>
          <p:cNvSpPr/>
          <p:nvPr/>
        </p:nvSpPr>
        <p:spPr>
          <a:xfrm>
            <a:off x="134178" y="2517175"/>
            <a:ext cx="449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Colunas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Divide o texto em 2 ou mais colunas (como jornais e revistas).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Usado para panfletos, boletins ou layouts criativos.</a:t>
            </a:r>
            <a:endParaRPr sz="1100"/>
          </a:p>
        </p:txBody>
      </p:sp>
      <p:sp>
        <p:nvSpPr>
          <p:cNvPr id="178" name="Google Shape;178;p11"/>
          <p:cNvSpPr/>
          <p:nvPr/>
        </p:nvSpPr>
        <p:spPr>
          <a:xfrm>
            <a:off x="134178" y="3297119"/>
            <a:ext cx="4492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Quebras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Controla onde começa uma nova:</a:t>
            </a:r>
            <a:endParaRPr sz="1100"/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Página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Coluna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Seção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Ideal para separar capítulos, tópicos ou conteúdos em páginas diferentes.</a:t>
            </a:r>
            <a:endParaRPr sz="1100"/>
          </a:p>
        </p:txBody>
      </p:sp>
      <p:sp>
        <p:nvSpPr>
          <p:cNvPr id="179" name="Google Shape;179;p11"/>
          <p:cNvSpPr/>
          <p:nvPr/>
        </p:nvSpPr>
        <p:spPr>
          <a:xfrm>
            <a:off x="5218043" y="790574"/>
            <a:ext cx="36078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Número de Linha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Define como os números de linha aparecem no documento.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Muito usado em trabalhos técnicos e revisões.</a:t>
            </a:r>
            <a:endParaRPr sz="1100"/>
          </a:p>
        </p:txBody>
      </p:sp>
      <p:sp>
        <p:nvSpPr>
          <p:cNvPr id="180" name="Google Shape;180;p11"/>
          <p:cNvSpPr/>
          <p:nvPr/>
        </p:nvSpPr>
        <p:spPr>
          <a:xfrm>
            <a:off x="134178" y="4577201"/>
            <a:ext cx="44925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Hifenização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Ativa ou desativa a </a:t>
            </a:r>
            <a:r>
              <a:rPr b="1"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divisão de palavras com hífen</a:t>
            </a: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final das linhas.</a:t>
            </a:r>
            <a:b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✔️ Ajuda no alinhamento justificado e evita buracos no texto.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CONFIGURAR PÁGINAS E MARGENS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2"/>
          <p:cNvSpPr/>
          <p:nvPr/>
        </p:nvSpPr>
        <p:spPr>
          <a:xfrm>
            <a:off x="268941" y="805370"/>
            <a:ext cx="86061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 ainda temos...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Grupo Parágrafo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Controla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recuo e espaçamento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entre os parágrafos e linhas.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📌 Grupo Organizar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Só aparece quando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objeto (imagem, forma, gráfico...) está selecionado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Permite ajustar a posição, sobreposição e alinhamento desses elementos.</a:t>
            </a:r>
            <a:endParaRPr sz="1100"/>
          </a:p>
        </p:txBody>
      </p:sp>
      <p:sp>
        <p:nvSpPr>
          <p:cNvPr id="187" name="Google Shape;187;p12"/>
          <p:cNvSpPr/>
          <p:nvPr/>
        </p:nvSpPr>
        <p:spPr>
          <a:xfrm>
            <a:off x="268941" y="2347494"/>
            <a:ext cx="79977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CONFIGURAR AS MARGENS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na guia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Layout da Página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Escolha uma das opções prontas (Normal, Estreita, Larga etc.).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uma margem personalizada:</a:t>
            </a:r>
            <a:b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 Personalizadas...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(última opção do menu).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Defina os valores desejados: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Superior: 3 cm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Inferior: 2 cm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Esquerda: 3 cm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Direita: 2 cm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 startAt="6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OK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188" name="Google Shape;188;p12"/>
          <p:cNvSpPr/>
          <p:nvPr/>
        </p:nvSpPr>
        <p:spPr>
          <a:xfrm>
            <a:off x="268941" y="5005308"/>
            <a:ext cx="87372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Obs: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Esses valores são os usados nas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normas da ABNT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que vamos estudar com mais detalhes em uma aula futura.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SELECIONAR O TEXTO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198343" y="823292"/>
            <a:ext cx="8807700" cy="10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“Selecionar Texto”?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um texto no Word significa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marcar parte ou todo o conteúdo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 possamos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editar, copiar, apagar ou aplicar formatações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como negrito, cor, tamanho da fonte, entre outros.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É como “avisar” ao programa: “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Ei, é aqui que quero mexer!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  <p:sp>
        <p:nvSpPr>
          <p:cNvPr id="195" name="Google Shape;195;p13"/>
          <p:cNvSpPr/>
          <p:nvPr/>
        </p:nvSpPr>
        <p:spPr>
          <a:xfrm>
            <a:off x="198343" y="1957926"/>
            <a:ext cx="8807700" cy="14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SELECIONAR UM TEXTO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 simples: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Posicione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seta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início do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você quer selecionar.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Clique,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segure o botão esquerdo do mouse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arraste até o final do trecho.</a:t>
            </a:r>
            <a:endParaRPr sz="1100"/>
          </a:p>
          <a:p>
            <a:pPr indent="-889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Solte o botão. O texto ficará com um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fundo sombreado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(normalmente azul).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Pronto! Agora você pode aplicar ações como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copiar, recortar, alterar fonte, cor, alinhamento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sz="1100"/>
          </a:p>
        </p:txBody>
      </p:sp>
      <p:sp>
        <p:nvSpPr>
          <p:cNvPr id="196" name="Google Shape;196;p13"/>
          <p:cNvSpPr/>
          <p:nvPr/>
        </p:nvSpPr>
        <p:spPr>
          <a:xfrm>
            <a:off x="198343" y="3554224"/>
            <a:ext cx="287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Veja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imagem abaixo:</a:t>
            </a:r>
            <a:endParaRPr sz="1100"/>
          </a:p>
        </p:txBody>
      </p:sp>
      <p:pic>
        <p:nvPicPr>
          <p:cNvPr id="197" name="Google Shape;1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196" y="4069565"/>
            <a:ext cx="8282852" cy="1114728"/>
          </a:xfrm>
          <a:prstGeom prst="rect">
            <a:avLst/>
          </a:prstGeom>
          <a:noFill/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OUTRAS FORMAS DE SELECIONAR TEXTO NO WORD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198344" y="905089"/>
            <a:ext cx="8686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o texto é uma das ações mais usadas no Word, e existem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várias maneiras diferentes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fazer isso — com 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mouse, o teclado ou combinando os dois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Conhecer esses métodos ajuda 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ganhar tempo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ter mais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precisão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na hora de editar.</a:t>
            </a:r>
            <a:endParaRPr sz="1100"/>
          </a:p>
        </p:txBody>
      </p:sp>
      <p:sp>
        <p:nvSpPr>
          <p:cNvPr id="204" name="Google Shape;204;p14"/>
          <p:cNvSpPr/>
          <p:nvPr/>
        </p:nvSpPr>
        <p:spPr>
          <a:xfrm>
            <a:off x="198344" y="1775993"/>
            <a:ext cx="5862900" cy="18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FORMAS DE SELECIONAR TEXTO COM O MOUSE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Na lateral esquerda do texto (cursor virado para a direita):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1 clique → seleciona a </a:t>
            </a: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linha inteira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 cliques → seleciona o </a:t>
            </a: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parágrafo inteiro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3 cliques → seleciona </a:t>
            </a: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todo o texto</a:t>
            </a: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do documento</a:t>
            </a:r>
            <a:endParaRPr sz="11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 o cursor no meio do texto (modo normal):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1 clique → apenas </a:t>
            </a: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posiciona</a:t>
            </a: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 cursor</a:t>
            </a:r>
            <a:endParaRPr sz="1100">
              <a:solidFill>
                <a:schemeClr val="lt1"/>
              </a:solidFill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2 cliques → seleciona a </a:t>
            </a: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palavra inteira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•"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3 cliques → seleciona o </a:t>
            </a:r>
            <a:r>
              <a:rPr b="1"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parágrafo inteiro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198344" y="3685643"/>
            <a:ext cx="6679800" cy="16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FORMAS DE SELECIONAR TEXTO COM O TECLADO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SHIFT + clique com o mouse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onde começa a seleção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SHIFT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Clique onde termina → seleciona tudo entre o início e o fim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CTRL + seleção com o mouse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Selecione 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primeira palavra ou trecho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Pressione 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CTRL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continue clicando nos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outros trechos separados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deseja selecionar</a:t>
            </a:r>
            <a:endParaRPr sz="1100"/>
          </a:p>
        </p:txBody>
      </p:sp>
      <p:sp>
        <p:nvSpPr>
          <p:cNvPr id="206" name="Google Shape;206;p14"/>
          <p:cNvSpPr/>
          <p:nvPr/>
        </p:nvSpPr>
        <p:spPr>
          <a:xfrm>
            <a:off x="5452783" y="3685643"/>
            <a:ext cx="3523200" cy="923400"/>
          </a:xfrm>
          <a:prstGeom prst="rect">
            <a:avLst/>
          </a:prstGeom>
          <a:gradFill>
            <a:gsLst>
              <a:gs pos="0">
                <a:srgbClr val="BBD9FF"/>
              </a:gs>
              <a:gs pos="50000">
                <a:srgbClr val="D3E5FF"/>
              </a:gs>
              <a:gs pos="100000">
                <a:srgbClr val="E8F2FF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 Útil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 CTRL + T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b="1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 todo o texto</a:t>
            </a:r>
            <a:r>
              <a:rPr b="0" i="0" lang="pt-BR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do documento 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(inclusive títulos e subtítulos)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COPIAR, RECORTAR E COLAR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147918" y="798656"/>
            <a:ext cx="8767500" cy="20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é Copiar, Recortar e Colar?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Esses três comandos são usados para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mover ou duplicar partes do texto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do documento ou entre diferentes programas.</a:t>
            </a:r>
            <a:b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Eles funcionam como se você estivesse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pegando o conteúdo com a mão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levando para outro lugar — ou fazendo uma cópia exata dele.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Word, além de usar os botões da faixa de opções, também podemos usar </a:t>
            </a:r>
            <a:r>
              <a:rPr b="1"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atalhos de teclado</a:t>
            </a: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tornam tudo mais rápido.</a:t>
            </a:r>
            <a:endParaRPr sz="1100"/>
          </a:p>
        </p:txBody>
      </p:sp>
      <p:sp>
        <p:nvSpPr>
          <p:cNvPr id="213" name="Google Shape;213;p15"/>
          <p:cNvSpPr/>
          <p:nvPr/>
        </p:nvSpPr>
        <p:spPr>
          <a:xfrm>
            <a:off x="147927" y="2960225"/>
            <a:ext cx="2345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que faz cada um?</a:t>
            </a:r>
            <a:endParaRPr sz="1100"/>
          </a:p>
        </p:txBody>
      </p:sp>
      <p:graphicFrame>
        <p:nvGraphicFramePr>
          <p:cNvPr id="214" name="Google Shape;214;p15"/>
          <p:cNvGraphicFramePr/>
          <p:nvPr/>
        </p:nvGraphicFramePr>
        <p:xfrm>
          <a:off x="147917" y="337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{177DF68B-60A2-40CB-B5A6-B9CDD9401F64}</a:tableStyleId>
              </a:tblPr>
              <a:tblGrid>
                <a:gridCol w="2922500"/>
                <a:gridCol w="2922500"/>
                <a:gridCol w="2922500"/>
              </a:tblGrid>
              <a:tr h="16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Ação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Atalho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C5E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 que faz?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3C5ED"/>
                    </a:solidFill>
                  </a:tcPr>
                </a:tc>
              </a:tr>
              <a:tr h="365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Copiar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C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Copia o texto/imagem, mantendo o original no lugar.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Recortar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X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Remove o texto do local original para mover para outro lugar.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93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Colar</a:t>
                      </a:r>
                      <a:endParaRPr sz="13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Ctrl + V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Cola o que foi copiado ou recortado no local escolhido.</a:t>
                      </a:r>
                      <a:endParaRPr sz="1200"/>
                    </a:p>
                  </a:txBody>
                  <a:tcPr marT="38100" marB="38100" marR="68600" marL="686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5"/>
          <p:cNvSpPr/>
          <p:nvPr/>
        </p:nvSpPr>
        <p:spPr>
          <a:xfrm>
            <a:off x="0" y="5304147"/>
            <a:ext cx="91440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Você também encontra esses botões no grupo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Área de Transferência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 guia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COPIAR, RECORTAR E COLAR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6"/>
          <p:cNvSpPr/>
          <p:nvPr/>
        </p:nvSpPr>
        <p:spPr>
          <a:xfrm>
            <a:off x="189940" y="818133"/>
            <a:ext cx="8764200" cy="22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pt-BR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Atenção ao colar textos da internet!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copiamos algo da Internet, o texto pode vir com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cores, fontes, links e tamanhos diferentes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 que pode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desconfigurar seu documento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Dica: Use “Colar Especial” para evitar isso.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Copie o texto (Ctrl + C)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 Word, clique na setinha embaixo do botão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Escolha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 Especial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AutoNum type="arabicPeriod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Texto não formatado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Isso cola apenas o conteúdo, sem a formatação original da internet.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6"/>
          <p:cNvSpPr/>
          <p:nvPr/>
        </p:nvSpPr>
        <p:spPr>
          <a:xfrm>
            <a:off x="189940" y="3165891"/>
            <a:ext cx="8764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 bônus: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Esse mesmo processo funciona para </a:t>
            </a:r>
            <a:r>
              <a:rPr b="1"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imagens, tabelas e objetos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do Word ou entre diferentes arquivos do Office.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7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LOCALIZAR E SUBSTITUIR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203387" y="789673"/>
            <a:ext cx="87372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 documentos longos, pode ser cansativo procurar uma palavra repetida várias vezes, ou trocar algo que foi escrito errado.</a:t>
            </a:r>
            <a:b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Word tem uma ferramenta chamada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 e Substituir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procura palavras ou frases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permite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trocar tudo de uma vez só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economizando tempo e esforço.</a:t>
            </a:r>
            <a:endParaRPr sz="1100"/>
          </a:p>
        </p:txBody>
      </p:sp>
      <p:sp>
        <p:nvSpPr>
          <p:cNvPr id="229" name="Google Shape;229;p17"/>
          <p:cNvSpPr/>
          <p:nvPr/>
        </p:nvSpPr>
        <p:spPr>
          <a:xfrm>
            <a:off x="186578" y="2268998"/>
            <a:ext cx="87540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COMO USAR O “LOCALIZAR” E “SUBSTITUIR”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Localização do recurso: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Guia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Página Inicial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Grupo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Edição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Botões: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Ou atalho direto: Ctrl + U</a:t>
            </a:r>
            <a:endParaRPr sz="1100"/>
          </a:p>
        </p:txBody>
      </p:sp>
      <p:sp>
        <p:nvSpPr>
          <p:cNvPr id="230" name="Google Shape;230;p17"/>
          <p:cNvSpPr/>
          <p:nvPr/>
        </p:nvSpPr>
        <p:spPr>
          <a:xfrm>
            <a:off x="186578" y="3469782"/>
            <a:ext cx="4825800" cy="19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PASSO A PASSO:</a:t>
            </a:r>
            <a:endParaRPr sz="1100"/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Pressione Ctrl + U ou 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Vai abrir uma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caixa de diálogo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com duas opções: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Localizar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digite a palavra que deseja encontrar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Substituir por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digite o novo texto que irá substituir o antigo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Localizar próxima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ver onde está a palavra.</a:t>
            </a:r>
            <a:b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Depois, escolha: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🔄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troca só aquele caso</a:t>
            </a:r>
            <a:endParaRPr sz="1100"/>
          </a:p>
          <a:p>
            <a:pPr indent="-76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🔁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Substituir Tudo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→ troca </a:t>
            </a:r>
            <a:r>
              <a:rPr b="1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todas as ocorrências</a:t>
            </a:r>
            <a:r>
              <a:rPr b="0" i="0" lang="pt-BR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uma vez só</a:t>
            </a:r>
            <a:endParaRPr sz="1100"/>
          </a:p>
        </p:txBody>
      </p:sp>
      <p:pic>
        <p:nvPicPr>
          <p:cNvPr id="231" name="Google Shape;2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3928" y="2268998"/>
            <a:ext cx="1749169" cy="1610621"/>
          </a:xfrm>
          <a:prstGeom prst="rect">
            <a:avLst/>
          </a:prstGeom>
          <a:solidFill>
            <a:srgbClr val="A3C5ED"/>
          </a:solidFill>
          <a:ln cap="flat" cmpd="sng" w="2857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32" name="Google Shape;232;p17"/>
          <p:cNvSpPr/>
          <p:nvPr/>
        </p:nvSpPr>
        <p:spPr>
          <a:xfrm>
            <a:off x="5012375" y="4857549"/>
            <a:ext cx="4052700" cy="793200"/>
          </a:xfrm>
          <a:prstGeom prst="rect">
            <a:avLst/>
          </a:prstGeom>
          <a:gradFill>
            <a:gsLst>
              <a:gs pos="0">
                <a:srgbClr val="BBD9FF"/>
              </a:gs>
              <a:gs pos="50000">
                <a:srgbClr val="D3E5FF"/>
              </a:gs>
              <a:gs pos="100000">
                <a:srgbClr val="E8F2FF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A3C5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OBSERVAÇÃO IMPORTANTE: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quiser que o Word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diferencie letras maiúsculas de minúsculas</a:t>
            </a: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faça assim: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caixa de diálogo, clique em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Mais &gt;&gt;</a:t>
            </a:r>
            <a:b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Marque a opção </a:t>
            </a:r>
            <a:r>
              <a:rPr b="1" lang="pt-BR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Diferenciar maiúsculas de minúsculas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DIGITE O TEXTO</a:t>
            </a:r>
            <a:endParaRPr b="1" sz="17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18"/>
          <p:cNvSpPr/>
          <p:nvPr/>
        </p:nvSpPr>
        <p:spPr>
          <a:xfrm>
            <a:off x="68916" y="781636"/>
            <a:ext cx="9006300" cy="48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Meu nome é Percy Jackson, e eu nunca fui exatamente uma criança comum. Desde pequeno, eu sabia que havia algo diferente em mim, algo que não conseguia explicar.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Tudo começou no momento em que meu professor de latim atacou-me com uma espada, e eu percebi que a vida que eu conhecia estava prestes a mudar para sempre.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 verdade, eu descobri que sou um semideus, filho de Poseidon, o deus dos mares, o que significa que monstros, deuses e aventuras estão sempre à minha espera.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Quando cheguei ao Acampamento Meio-Sangue, o lugar onde os filhos dos deuses treinam para enfrentar perigos, minha vida ganhou um novo significado. Lá, entre os chalés coloridos e a floresta densa, conheci amigos incríveis que me ajudariam a enfrentar desafios que jamais imaginei.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missão que me foi dada parecia impossível: recuperar o raio mestre de Zeus, que havia sido roubado, e impedir que os deuses desatassem uma guerra que poderia destruir o mundo.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Enfrentei monstros terríveis, atravessando florestas sombrias e cavernas misteriosas, enquanto descobria mais sobre meus poderes e meu destino. Cada batalha me fazia mais forte, e cada segredo revelado me aproximava do meu objetivo.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Entre risos, perigos e descobertas, aprendi que ser um herói não é apenas ter força ou poderes, mas coragem para enfrentar o desconhecido e proteger aqueles que amamos.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Essa é minha história, e só estou começando.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"/>
          <p:cNvSpPr/>
          <p:nvPr/>
        </p:nvSpPr>
        <p:spPr>
          <a:xfrm>
            <a:off x="0" y="-104383"/>
            <a:ext cx="9144000" cy="793200"/>
          </a:xfrm>
          <a:prstGeom prst="rect">
            <a:avLst/>
          </a:prstGeom>
          <a:solidFill>
            <a:srgbClr val="2D83D4"/>
          </a:solidFill>
          <a:ln cap="flat" cmpd="sng" w="19050">
            <a:solidFill>
              <a:srgbClr val="2D83D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</a:t>
            </a:r>
            <a:endParaRPr sz="1100"/>
          </a:p>
        </p:txBody>
      </p:sp>
      <p:sp>
        <p:nvSpPr>
          <p:cNvPr id="244" name="Google Shape;244;p19"/>
          <p:cNvSpPr/>
          <p:nvPr/>
        </p:nvSpPr>
        <p:spPr>
          <a:xfrm>
            <a:off x="329453" y="1160602"/>
            <a:ext cx="8555700" cy="28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Agora responda às perguntas abaixo:</a:t>
            </a:r>
            <a:endParaRPr sz="1100"/>
          </a:p>
          <a:p>
            <a:pPr indent="-88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Qual a tecla de atalho para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selecionar todo o texto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00"/>
          </a:p>
          <a:p>
            <a:pPr indent="-88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que serve a opção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Colar Especial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no Word?</a:t>
            </a:r>
            <a:endParaRPr sz="1100"/>
          </a:p>
          <a:p>
            <a:pPr indent="-88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Qual a diferença entre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copiar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recortar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00"/>
          </a:p>
          <a:p>
            <a:pPr indent="-88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que acontece ao clicar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duas vezes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 uma palavra no Word?</a:t>
            </a:r>
            <a:endParaRPr sz="1100"/>
          </a:p>
          <a:p>
            <a:pPr indent="-8890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Qual guia você usa para configurar </a:t>
            </a:r>
            <a:r>
              <a:rPr b="1"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margens e colunas</a:t>
            </a:r>
            <a:r>
              <a:rPr lang="pt-BR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2025-06-19T16:57:11Z</dcterms:created>
  <dc:creator>leo Souza</dc:creator>
</cp:coreProperties>
</file>