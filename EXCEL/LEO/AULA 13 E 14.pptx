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Play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uiHGmVD83ko6qTDt7ZfGgmPXj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C44ED4-F892-470A-9F62-A9AFA8E9E474}">
  <a:tblStyle styleId="{27C44ED4-F892-470A-9F62-A9AFA8E9E47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lay-bold.fntdata"/><Relationship Id="rId10" Type="http://schemas.openxmlformats.org/officeDocument/2006/relationships/slide" Target="slides/slide5.xml"/><Relationship Id="rId21" Type="http://schemas.openxmlformats.org/officeDocument/2006/relationships/font" Target="fonts/Play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864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043232" y="822021"/>
            <a:ext cx="5060515" cy="5060515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89259" y="2703381"/>
            <a:ext cx="4126107" cy="1049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EXCEL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24373" y="3352278"/>
            <a:ext cx="4659137" cy="51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pic>
        <p:nvPicPr>
          <p:cNvPr descr="Ícone&#10;&#10;O conteúdo gerado por IA pode estar incorreto.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5861" y="1134650"/>
            <a:ext cx="4435258" cy="443525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860326" y="3752437"/>
            <a:ext cx="3787229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GRÁFICOS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ELEMENTOS DOS GRÁFICOS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LAYOUT DE GRÁFICOS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EXERCÍCIOS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297492" y="1216109"/>
            <a:ext cx="117775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cores, ícones ou estilos automaticamente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células,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base em regras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definidas por você.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301029" y="2139439"/>
            <a:ext cx="610643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a guia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grupo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lanilha exemplo"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6973" y="3631310"/>
            <a:ext cx="8878053" cy="2963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 — FORMATAÇÃO CONDICIONAL NO EXCEL</a:t>
            </a:r>
            <a:endParaRPr/>
          </a:p>
        </p:txBody>
      </p:sp>
      <p:sp>
        <p:nvSpPr>
          <p:cNvPr id="108" name="Google Shape;108;p3"/>
          <p:cNvSpPr txBox="1"/>
          <p:nvPr/>
        </p:nvSpPr>
        <p:spPr>
          <a:xfrm>
            <a:off x="284966" y="1253687"/>
            <a:ext cx="1171496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Aprender a aplicar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diversos tipos de Formatação Condicional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usando a planilha com os campos: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Produto | Marca | Tipo | Preço Unitário | Custo Unitário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284966" y="2678802"/>
            <a:ext cx="1171496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1 — REALCE DE VALORES MAIORES QUE R$ 2.000,00 (Preço Unitário)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as células da coluna "Preço Unitário"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(ex: de E2 até E10).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Regras de Realce das Células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Maior do que...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janelinha que aparecer:</a:t>
            </a:r>
            <a:endParaRPr/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 2000</a:t>
            </a:r>
            <a:endParaRPr/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a cor amarela como destaque (ou outro realce leve)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 todos os produtos acima de R$ 2.000,00 ficarão automaticamente destacados.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 — FORMATAÇÃO CONDICIONAL NO EXCEL</a:t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459287" y="1468871"/>
            <a:ext cx="11273425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2 — REALCE DE TEXTOS "Celular" NA COLUNA TIPO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coluna "Tipo"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(C2 até C10).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Regras de Realce das Células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Igual a...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Digite: Celular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preenchimento vermelho com texto branco (ou outro destaque forte).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todos os celulares da lista ficarão com destaque em vermelho.</a:t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459287" y="4014786"/>
            <a:ext cx="11498893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3 — DESTACANDO OS 3 MAIORES PREÇOS UNITÁRIOS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novamente os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da coluna "Preço Unitário"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Regras de Primeiros/Últimos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Primeiros Itens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Altere o número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formatação suave (ex: verde claro).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3 produtos mais caros ficam em destaque.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 — FORMATAÇÃO CONDICIONAL NO 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96449" y="1384320"/>
            <a:ext cx="11599101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4 — DESTACANDO OS 5 MENORES CUSTOS UNITÁRIOS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coluna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 Unitário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Regras de Primeiros/Últimos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 Últimos Itens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Altere o número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cor azul clara.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Visualização rápida dos produtos mais baratos em termos de custo.</a:t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296449" y="3929118"/>
            <a:ext cx="11690959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5 — BARRAS DE DADOS NO PREÇO UNITÁRIO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coluna "Preço Unitário"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Barras de Dados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 modelo colorido (ex: azul com preenchimento gradiente).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fora da seleção para visualizar.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barra acompanha o tamanho do valor, facilitando comparações visuais.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 — FORMATAÇÃO CONDICIONAL NO EXCEL</a:t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46553" y="1300751"/>
            <a:ext cx="1149889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6 — ESCALA DE COR NO CUSTO UNITÁRIO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coluna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 Unitário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Escalas de Cor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uma escala (ex: vermelho para maior valor, branco para menor).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fora da seleção.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Tons escuros indicam maior custo e claros indicam menor custo.</a:t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346553" y="3175916"/>
            <a:ext cx="11498893" cy="3293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7 — CONJUNTO DE ÍCONES NO CUSTO UNITÁRIO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Mantenha a seleção da coluna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 Unitário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Conjuntos de Ícones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semáforo de três cores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outro conjunto).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editar a regra:</a:t>
            </a:r>
            <a:endParaRPr/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Gerenciar Regras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regra de ícones e 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Regra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Configure os valores como:</a:t>
            </a:r>
            <a:endParaRPr/>
          </a:p>
          <a:p>
            <a:pPr indent="-1016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Verde ≥ 2000</a:t>
            </a:r>
            <a:endParaRPr/>
          </a:p>
          <a:p>
            <a:pPr indent="-1016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Amarelo ≥ 1000</a:t>
            </a:r>
            <a:endParaRPr/>
          </a:p>
          <a:p>
            <a:pPr indent="-10160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Vermelho &lt; 1000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duas vezes.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 com semáforos de cor conforme o custo.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PRÁTICA — FORMATAÇÃO CONDICIONAL NO EXCEL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347596" y="1397675"/>
            <a:ext cx="1158970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EXTRA — COMO REMOVER TUDO: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quiser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remover todas as regras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as células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Formatação Condicional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Limpar Regras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Escolha:</a:t>
            </a:r>
            <a:endParaRPr/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"Limpar regras das células selecionadas" ou</a:t>
            </a:r>
            <a:endParaRPr/>
          </a:p>
          <a:p>
            <a:pPr indent="-228600" lvl="2" marL="1143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"Limpar regras da planilha inteira"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GRÁFICOS NO EXCEL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272440" y="1303792"/>
            <a:ext cx="1162728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usar gráficos?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Gráficos nos ajudam 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entender os dados com mais clareza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comparando valores, tendências e proporções visualmente.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272440" y="2332352"/>
            <a:ext cx="61064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DE PLANILHA PARA GRÁFICO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Digite os dados abaixo em sua planilha:</a:t>
            </a:r>
            <a:endParaRPr/>
          </a:p>
        </p:txBody>
      </p:sp>
      <p:graphicFrame>
        <p:nvGraphicFramePr>
          <p:cNvPr id="149" name="Google Shape;149;p8"/>
          <p:cNvGraphicFramePr/>
          <p:nvPr/>
        </p:nvGraphicFramePr>
        <p:xfrm>
          <a:off x="272439" y="3083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{27C44ED4-F892-470A-9F62-A9AFA8E9E474}</a:tableStyleId>
              </a:tblPr>
              <a:tblGrid>
                <a:gridCol w="2906825"/>
                <a:gridCol w="2906825"/>
                <a:gridCol w="2906825"/>
                <a:gridCol w="2906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Produto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Vendas Janeiro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Vendas Fevereiro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Vendas Março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Celular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120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130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Notebook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90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85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TV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70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75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Tablet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95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110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Smartwatch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60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55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CRIANDO GRÁFICOS NO EXCEL</a:t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390394" y="1453586"/>
            <a:ext cx="11411211" cy="3293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— COMO INSERIR UM GRÁFICO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Selecione toda a tabela com os dados (A1 até D6).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Vá até a guia Inserir na faixa de opções.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No grupo Gráficos, escolha um tipo de gráfico: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 populares: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Gráfico de Colunas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(ideal para comparar produtos)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Gráfico de Linhas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(ótimo para acompanhar evolução mês a mês)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Gráfico de Pizza</a:t>
            </a: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(útil para mostrar proporções de um único mês)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 selecione "Coluna Agrupada" para mostrar a comparação entre os produtos em cada mês.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390395" y="4922529"/>
            <a:ext cx="1141121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PERSONALIZE SEU GRÁFICO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de criar o gráfico, você pode: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Alterar o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(clique sobre ele e digite: “Vendas por Produto”)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Mudar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das colunas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(clique com botão direito &gt; “Formatar Série de Dados”)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Adicionar </a:t>
            </a:r>
            <a:r>
              <a:rPr b="1"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rótulos de dados</a:t>
            </a: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(clique no gráfico &gt; ícone de “+” &gt; marque “Rótulos de Dados”)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Mover o gráfico para outra posição da planilha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ELEMENTOS DE UM GRÁFICO</a:t>
            </a:r>
            <a:endParaRPr/>
          </a:p>
        </p:txBody>
      </p:sp>
      <p:sp>
        <p:nvSpPr>
          <p:cNvPr id="164" name="Google Shape;164;p10"/>
          <p:cNvSpPr txBox="1"/>
          <p:nvPr/>
        </p:nvSpPr>
        <p:spPr>
          <a:xfrm>
            <a:off x="222336" y="1191770"/>
            <a:ext cx="116648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você cria um gráfico no Excel, ele já vem com alguns elementos prontos. Mas você pode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adicionar, remover ou mudar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esses elementos com facilidade.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222336" y="1932229"/>
            <a:ext cx="61064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ELEMENTOS DO GRÁFICO:</a:t>
            </a:r>
            <a:endParaRPr/>
          </a:p>
        </p:txBody>
      </p:sp>
      <p:graphicFrame>
        <p:nvGraphicFramePr>
          <p:cNvPr id="166" name="Google Shape;166;p10"/>
          <p:cNvGraphicFramePr/>
          <p:nvPr/>
        </p:nvGraphicFramePr>
        <p:xfrm>
          <a:off x="222336" y="23956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{27C44ED4-F892-470A-9F62-A9AFA8E9E474}</a:tableStyleId>
              </a:tblPr>
              <a:tblGrid>
                <a:gridCol w="5522900"/>
                <a:gridCol w="5522900"/>
              </a:tblGrid>
              <a:tr h="29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Elemento</a:t>
                      </a:r>
                      <a:endParaRPr/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O que é e para que serve</a:t>
                      </a:r>
                      <a:endParaRPr/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Eixo Horizontal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as categorias (ex: nomes dos produtos ou meses)</a:t>
                      </a:r>
                      <a:endParaRPr/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Eixo Vertical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os valores numéricos (ex: quantidade de vendas)</a:t>
                      </a:r>
                      <a:endParaRPr/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Título do Gráfico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Um nome para o gráfico (ex: “Vendas por Produto”)</a:t>
                      </a:r>
                      <a:endParaRPr/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Título dos Eixos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Explica o que cada eixo representa (ex: “Produtos”, “Quantidade”)</a:t>
                      </a:r>
                      <a:endParaRPr/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Rótulos de Dados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os números diretamente nas colunas, linhas ou fatias</a:t>
                      </a:r>
                      <a:endParaRPr/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Tabela de Dados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os dados numéricos abaixo do gráfico</a:t>
                      </a:r>
                      <a:endParaRPr/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Linhas de Grade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Linhas que ajudam a comparar os valores no gráfico</a:t>
                      </a:r>
                      <a:endParaRPr/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Legenda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700">
                          <a:latin typeface="Arial"/>
                          <a:ea typeface="Arial"/>
                          <a:cs typeface="Arial"/>
                          <a:sym typeface="Arial"/>
                        </a:rPr>
                        <a:t>Mostra o que cada cor ou símbolo representa</a:t>
                      </a:r>
                      <a:endParaRPr/>
                    </a:p>
                  </a:txBody>
                  <a:tcPr marT="42650" marB="42650" marR="85325" marL="853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ELEMENTOS DE UM GRÁFICO</a:t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177452" y="1264074"/>
            <a:ext cx="11837096" cy="2031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ADICIONAR OU REMOVER ELEMENTOS: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uma vez sobre o gráfico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aparecer um botão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“+” no canto superior direito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gráfico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“+” (Elementos do Gráfico)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Marque os itens que deseja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Desmarque os itens que deseja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esconder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testar ligando e desligando cada um para ver o que muda no gráfico!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LAYOUT DE GRÁFICOS</a:t>
            </a:r>
            <a:endParaRPr/>
          </a:p>
        </p:txBody>
      </p:sp>
      <p:sp>
        <p:nvSpPr>
          <p:cNvPr id="180" name="Google Shape;180;p12"/>
          <p:cNvSpPr txBox="1"/>
          <p:nvPr/>
        </p:nvSpPr>
        <p:spPr>
          <a:xfrm>
            <a:off x="161633" y="1111080"/>
            <a:ext cx="1151455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Excel, você pode mudar totalmente o visual do gráfico com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layouts prontos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ajustes 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e formatação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1" name="Google Shape;181;p12"/>
          <p:cNvSpPr txBox="1"/>
          <p:nvPr/>
        </p:nvSpPr>
        <p:spPr>
          <a:xfrm>
            <a:off x="161633" y="1816304"/>
            <a:ext cx="11514551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 OS LAYOUTS: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ou selecione um gráfico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guia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grupo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Gráficos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clique na setinha da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faixa de opções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ver mais estilos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diálogo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será exibida com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várias opções de layout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161633" y="3328804"/>
            <a:ext cx="910955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GUIAS EXTRAS PARA EDIÇÃO: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Assim que você clica no gráfico, aparecem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novas guias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topo:</a:t>
            </a:r>
            <a:endParaRPr/>
          </a:p>
        </p:txBody>
      </p:sp>
      <p:graphicFrame>
        <p:nvGraphicFramePr>
          <p:cNvPr id="183" name="Google Shape;183;p12"/>
          <p:cNvGraphicFramePr/>
          <p:nvPr/>
        </p:nvGraphicFramePr>
        <p:xfrm>
          <a:off x="161633" y="40103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{27C44ED4-F892-470A-9F62-A9AFA8E9E474}</a:tableStyleId>
              </a:tblPr>
              <a:tblGrid>
                <a:gridCol w="5257800"/>
                <a:gridCol w="5257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Guia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Para que serve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Design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Muda o estilo do gráfico, troca o tipo, altera a cor, muda os dados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Formatar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Permite editar os detalhes: cor da fonte, estilo de texto, forma, fundo, etc.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LAYOUT DE GRÁFICOS</a:t>
            </a:r>
            <a:endParaRPr/>
          </a:p>
        </p:txBody>
      </p:sp>
      <p:sp>
        <p:nvSpPr>
          <p:cNvPr id="190" name="Google Shape;190;p13"/>
          <p:cNvSpPr txBox="1"/>
          <p:nvPr/>
        </p:nvSpPr>
        <p:spPr>
          <a:xfrm>
            <a:off x="648221" y="1326704"/>
            <a:ext cx="1073793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RÁPIDAS DE USO: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guia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escolher um layout que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destaque bem os dados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guia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Formatar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personalizar do seu jeito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(cores, sombras, fontes...)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Experimente trocar o tipo de gráfico direto pela guia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&gt; Alterar Tipo de Gráfico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4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ATIVIDADE: ACOMPANHAMENTO DE NOTAS – FORMATANDO COM CORES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284967" y="1293404"/>
            <a:ext cx="61064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DA PLANILHA:</a:t>
            </a:r>
            <a:endParaRPr/>
          </a:p>
        </p:txBody>
      </p:sp>
      <p:graphicFrame>
        <p:nvGraphicFramePr>
          <p:cNvPr id="198" name="Google Shape;198;p14"/>
          <p:cNvGraphicFramePr/>
          <p:nvPr/>
        </p:nvGraphicFramePr>
        <p:xfrm>
          <a:off x="284967" y="17741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{27C44ED4-F892-470A-9F62-A9AFA8E9E474}</a:tableStyleId>
              </a:tblPr>
              <a:tblGrid>
                <a:gridCol w="2103125"/>
                <a:gridCol w="2103125"/>
                <a:gridCol w="2103125"/>
                <a:gridCol w="2103125"/>
                <a:gridCol w="21031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Aluno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Nota 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Nota 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Média Final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Situação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Amanda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6,0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7,5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Bruno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4,0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5,5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Carla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8,0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9,0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Daniel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3,0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6,0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Érica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5,0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5,5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Fernando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7,0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8,5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Gabriela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4,5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5,0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14"/>
          <p:cNvSpPr/>
          <p:nvPr/>
        </p:nvSpPr>
        <p:spPr>
          <a:xfrm>
            <a:off x="265134" y="4787271"/>
            <a:ext cx="11661732" cy="18158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a planilha com os dados acima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coluna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Média Final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use a fórmula: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=MÉDIA(B2:C2)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 arraste para os outros alunos)</a:t>
            </a:r>
            <a:endParaRPr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coluna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Situação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use a fórmula: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=SE(D2&gt;=7;"Aprovado";SE(D2&gt;=5;"Recuperação";"Reprovado"))</a:t>
            </a:r>
            <a:b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 arraste também)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E864A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ATIVIDADE: ACOMPANHAMENTO DE NOTAS – FORMATANDO COM CORES</a:t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326198" y="1337091"/>
            <a:ext cx="1153960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FORMATANDO COM CORES: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coluna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Situação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em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 &gt; Formatação Condicional &gt; Realçar Regras das Células &gt; Texto que Contém...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 as seguintes regras: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que contém "Aprovado"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cor verde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que contém "Recuperação"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cor amarela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que contém "Reprovado"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cor vermelha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também pode usar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barras de dados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coluna da Média Final para reforçar visualmente.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2025-04-28T23:09:06Z</dcterms:created>
  <dc:creator>leo Souza</dc:creator>
</cp:coreProperties>
</file>