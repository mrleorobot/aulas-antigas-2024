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715000" cx="9144000"/>
  <p:notesSz cx="6858000" cy="9144000"/>
  <p:embeddedFontLst>
    <p:embeddedFont>
      <p:font typeface="Play"/>
      <p:regular r:id="rId19"/>
      <p:bold r:id="rId20"/>
    </p:embeddedFont>
    <p:embeddedFont>
      <p:font typeface="Arim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PA6DDhdhHf7ASsz8zIjKep5ah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22" Type="http://schemas.openxmlformats.org/officeDocument/2006/relationships/font" Target="fonts/Arimo-bold.fntdata"/><Relationship Id="rId21" Type="http://schemas.openxmlformats.org/officeDocument/2006/relationships/font" Target="fonts/Arimo-regular.fntdata"/><Relationship Id="rId24" Type="http://schemas.openxmlformats.org/officeDocument/2006/relationships/font" Target="fonts/Arimo-boldItalic.fntdata"/><Relationship Id="rId23" Type="http://schemas.openxmlformats.org/officeDocument/2006/relationships/font" Target="fonts/Arim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Play-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15" name="Shape 15"/>
        <p:cNvGrpSpPr/>
        <p:nvPr/>
      </p:nvGrpSpPr>
      <p:grpSpPr>
        <a:xfrm>
          <a:off x="0" y="0"/>
          <a:ext cx="0" cy="0"/>
          <a:chOff x="0" y="0"/>
          <a:chExt cx="0" cy="0"/>
        </a:xfrm>
      </p:grpSpPr>
      <p:sp>
        <p:nvSpPr>
          <p:cNvPr id="16" name="Google Shape;16;p16"/>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 name="Google Shape;17;p16"/>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 name="Google Shape;18;p16"/>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9" name="Shape 19"/>
        <p:cNvGrpSpPr/>
        <p:nvPr/>
      </p:nvGrpSpPr>
      <p:grpSpPr>
        <a:xfrm>
          <a:off x="0" y="0"/>
          <a:ext cx="0" cy="0"/>
          <a:chOff x="0" y="0"/>
          <a:chExt cx="0" cy="0"/>
        </a:xfrm>
      </p:grpSpPr>
      <p:sp>
        <p:nvSpPr>
          <p:cNvPr id="20" name="Google Shape;20;p17"/>
          <p:cNvSpPr txBox="1"/>
          <p:nvPr>
            <p:ph type="ctrTitle"/>
          </p:nvPr>
        </p:nvSpPr>
        <p:spPr>
          <a:xfrm>
            <a:off x="1143000" y="935303"/>
            <a:ext cx="6858000" cy="1989600"/>
          </a:xfrm>
          <a:prstGeom prst="rect">
            <a:avLst/>
          </a:prstGeom>
          <a:noFill/>
          <a:ln>
            <a:noFill/>
          </a:ln>
        </p:spPr>
        <p:txBody>
          <a:bodyPr anchorCtr="0" anchor="b" bIns="35550" lIns="71100" spcFirstLastPara="1" rIns="71100" wrap="square" tIns="35550">
            <a:normAutofit/>
          </a:bodyPr>
          <a:lstStyle>
            <a:lvl1pPr lvl="0" algn="ctr">
              <a:lnSpc>
                <a:spcPct val="90000"/>
              </a:lnSpc>
              <a:spcBef>
                <a:spcPts val="0"/>
              </a:spcBef>
              <a:spcAft>
                <a:spcPts val="0"/>
              </a:spcAft>
              <a:buClr>
                <a:schemeClr val="dk1"/>
              </a:buClr>
              <a:buSzPts val="4700"/>
              <a:buFont typeface="Play"/>
              <a:buNone/>
              <a:defRPr sz="4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17"/>
          <p:cNvSpPr txBox="1"/>
          <p:nvPr>
            <p:ph idx="1" type="subTitle"/>
          </p:nvPr>
        </p:nvSpPr>
        <p:spPr>
          <a:xfrm>
            <a:off x="1143000" y="3001698"/>
            <a:ext cx="6858000" cy="1379700"/>
          </a:xfrm>
          <a:prstGeom prst="rect">
            <a:avLst/>
          </a:prstGeom>
          <a:noFill/>
          <a:ln>
            <a:noFill/>
          </a:ln>
        </p:spPr>
        <p:txBody>
          <a:bodyPr anchorCtr="0" anchor="t" bIns="35550" lIns="71100" spcFirstLastPara="1" rIns="71100" wrap="square" tIns="35550">
            <a:normAutofit/>
          </a:bodyPr>
          <a:lstStyle>
            <a:lvl1pPr lvl="0" algn="ctr">
              <a:lnSpc>
                <a:spcPct val="90000"/>
              </a:lnSpc>
              <a:spcBef>
                <a:spcPts val="800"/>
              </a:spcBef>
              <a:spcAft>
                <a:spcPts val="0"/>
              </a:spcAft>
              <a:buClr>
                <a:schemeClr val="dk1"/>
              </a:buClr>
              <a:buSzPts val="1900"/>
              <a:buNone/>
              <a:defRPr sz="1900"/>
            </a:lvl1pPr>
            <a:lvl2pPr lvl="1" algn="ctr">
              <a:lnSpc>
                <a:spcPct val="90000"/>
              </a:lnSpc>
              <a:spcBef>
                <a:spcPts val="400"/>
              </a:spcBef>
              <a:spcAft>
                <a:spcPts val="0"/>
              </a:spcAft>
              <a:buClr>
                <a:schemeClr val="dk1"/>
              </a:buClr>
              <a:buSzPts val="1600"/>
              <a:buNone/>
              <a:defRPr sz="16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22" name="Google Shape;22;p17"/>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17"/>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 name="Google Shape;24;p17"/>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5" name="Shape 25"/>
        <p:cNvGrpSpPr/>
        <p:nvPr/>
      </p:nvGrpSpPr>
      <p:grpSpPr>
        <a:xfrm>
          <a:off x="0" y="0"/>
          <a:ext cx="0" cy="0"/>
          <a:chOff x="0" y="0"/>
          <a:chExt cx="0" cy="0"/>
        </a:xfrm>
      </p:grpSpPr>
      <p:sp>
        <p:nvSpPr>
          <p:cNvPr id="26" name="Google Shape;26;p18"/>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18"/>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 name="Google Shape;28;p18"/>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18"/>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 name="Google Shape;30;p18"/>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1" name="Shape 31"/>
        <p:cNvGrpSpPr/>
        <p:nvPr/>
      </p:nvGrpSpPr>
      <p:grpSpPr>
        <a:xfrm>
          <a:off x="0" y="0"/>
          <a:ext cx="0" cy="0"/>
          <a:chOff x="0" y="0"/>
          <a:chExt cx="0" cy="0"/>
        </a:xfrm>
      </p:grpSpPr>
      <p:sp>
        <p:nvSpPr>
          <p:cNvPr id="32" name="Google Shape;32;p19"/>
          <p:cNvSpPr txBox="1"/>
          <p:nvPr>
            <p:ph type="title"/>
          </p:nvPr>
        </p:nvSpPr>
        <p:spPr>
          <a:xfrm>
            <a:off x="623888" y="1424782"/>
            <a:ext cx="7886700" cy="23772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4700"/>
              <a:buFont typeface="Play"/>
              <a:buNone/>
              <a:defRPr sz="4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 name="Google Shape;33;p19"/>
          <p:cNvSpPr txBox="1"/>
          <p:nvPr>
            <p:ph idx="1" type="body"/>
          </p:nvPr>
        </p:nvSpPr>
        <p:spPr>
          <a:xfrm>
            <a:off x="623888" y="3824553"/>
            <a:ext cx="7886700" cy="12501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rgbClr val="757575"/>
              </a:buClr>
              <a:buSzPts val="1900"/>
              <a:buNone/>
              <a:defRPr sz="1900">
                <a:solidFill>
                  <a:srgbClr val="757575"/>
                </a:solidFill>
              </a:defRPr>
            </a:lvl1pPr>
            <a:lvl2pPr indent="-228600" lvl="1" marL="914400" algn="l">
              <a:lnSpc>
                <a:spcPct val="90000"/>
              </a:lnSpc>
              <a:spcBef>
                <a:spcPts val="400"/>
              </a:spcBef>
              <a:spcAft>
                <a:spcPts val="0"/>
              </a:spcAft>
              <a:buClr>
                <a:srgbClr val="757575"/>
              </a:buClr>
              <a:buSzPts val="1600"/>
              <a:buNone/>
              <a:defRPr sz="16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34" name="Google Shape;34;p19"/>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Google Shape;35;p19"/>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19"/>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7" name="Shape 37"/>
        <p:cNvGrpSpPr/>
        <p:nvPr/>
      </p:nvGrpSpPr>
      <p:grpSpPr>
        <a:xfrm>
          <a:off x="0" y="0"/>
          <a:ext cx="0" cy="0"/>
          <a:chOff x="0" y="0"/>
          <a:chExt cx="0" cy="0"/>
        </a:xfrm>
      </p:grpSpPr>
      <p:sp>
        <p:nvSpPr>
          <p:cNvPr id="38" name="Google Shape;38;p20"/>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 name="Google Shape;39;p20"/>
          <p:cNvSpPr txBox="1"/>
          <p:nvPr>
            <p:ph idx="1" type="body"/>
          </p:nvPr>
        </p:nvSpPr>
        <p:spPr>
          <a:xfrm>
            <a:off x="6286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Google Shape;40;p20"/>
          <p:cNvSpPr txBox="1"/>
          <p:nvPr>
            <p:ph idx="2" type="body"/>
          </p:nvPr>
        </p:nvSpPr>
        <p:spPr>
          <a:xfrm>
            <a:off x="4629150" y="1521354"/>
            <a:ext cx="3886200" cy="36261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 name="Google Shape;41;p20"/>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 name="Google Shape;42;p20"/>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Google Shape;43;p20"/>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4" name="Shape 44"/>
        <p:cNvGrpSpPr/>
        <p:nvPr/>
      </p:nvGrpSpPr>
      <p:grpSpPr>
        <a:xfrm>
          <a:off x="0" y="0"/>
          <a:ext cx="0" cy="0"/>
          <a:chOff x="0" y="0"/>
          <a:chExt cx="0" cy="0"/>
        </a:xfrm>
      </p:grpSpPr>
      <p:sp>
        <p:nvSpPr>
          <p:cNvPr id="45" name="Google Shape;45;p21"/>
          <p:cNvSpPr txBox="1"/>
          <p:nvPr>
            <p:ph type="title"/>
          </p:nvPr>
        </p:nvSpPr>
        <p:spPr>
          <a:xfrm>
            <a:off x="629841"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 name="Google Shape;46;p21"/>
          <p:cNvSpPr txBox="1"/>
          <p:nvPr>
            <p:ph idx="1" type="body"/>
          </p:nvPr>
        </p:nvSpPr>
        <p:spPr>
          <a:xfrm>
            <a:off x="629841" y="1400969"/>
            <a:ext cx="38682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900"/>
              <a:buNone/>
              <a:defRPr b="1" sz="1900"/>
            </a:lvl1pPr>
            <a:lvl2pPr indent="-228600" lvl="1" marL="914400" algn="l">
              <a:lnSpc>
                <a:spcPct val="90000"/>
              </a:lnSpc>
              <a:spcBef>
                <a:spcPts val="400"/>
              </a:spcBef>
              <a:spcAft>
                <a:spcPts val="0"/>
              </a:spcAft>
              <a:buClr>
                <a:schemeClr val="dk1"/>
              </a:buClr>
              <a:buSzPts val="1600"/>
              <a:buNone/>
              <a:defRPr b="1" sz="16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7" name="Google Shape;47;p21"/>
          <p:cNvSpPr txBox="1"/>
          <p:nvPr>
            <p:ph idx="2" type="body"/>
          </p:nvPr>
        </p:nvSpPr>
        <p:spPr>
          <a:xfrm>
            <a:off x="629841" y="2087563"/>
            <a:ext cx="38682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21"/>
          <p:cNvSpPr txBox="1"/>
          <p:nvPr>
            <p:ph idx="3" type="body"/>
          </p:nvPr>
        </p:nvSpPr>
        <p:spPr>
          <a:xfrm>
            <a:off x="4629150" y="1400969"/>
            <a:ext cx="3887400" cy="686700"/>
          </a:xfrm>
          <a:prstGeom prst="rect">
            <a:avLst/>
          </a:prstGeom>
          <a:noFill/>
          <a:ln>
            <a:noFill/>
          </a:ln>
        </p:spPr>
        <p:txBody>
          <a:bodyPr anchorCtr="0" anchor="b"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900"/>
              <a:buNone/>
              <a:defRPr b="1" sz="1900"/>
            </a:lvl1pPr>
            <a:lvl2pPr indent="-228600" lvl="1" marL="914400" algn="l">
              <a:lnSpc>
                <a:spcPct val="90000"/>
              </a:lnSpc>
              <a:spcBef>
                <a:spcPts val="400"/>
              </a:spcBef>
              <a:spcAft>
                <a:spcPts val="0"/>
              </a:spcAft>
              <a:buClr>
                <a:schemeClr val="dk1"/>
              </a:buClr>
              <a:buSzPts val="1600"/>
              <a:buNone/>
              <a:defRPr b="1" sz="16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9" name="Google Shape;49;p21"/>
          <p:cNvSpPr txBox="1"/>
          <p:nvPr>
            <p:ph idx="4" type="body"/>
          </p:nvPr>
        </p:nvSpPr>
        <p:spPr>
          <a:xfrm>
            <a:off x="4629150" y="2087563"/>
            <a:ext cx="3887400" cy="30705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21"/>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1" name="Google Shape;51;p21"/>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Google Shape;52;p21"/>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3" name="Shape 53"/>
        <p:cNvGrpSpPr/>
        <p:nvPr/>
      </p:nvGrpSpPr>
      <p:grpSpPr>
        <a:xfrm>
          <a:off x="0" y="0"/>
          <a:ext cx="0" cy="0"/>
          <a:chOff x="0" y="0"/>
          <a:chExt cx="0" cy="0"/>
        </a:xfrm>
      </p:grpSpPr>
      <p:sp>
        <p:nvSpPr>
          <p:cNvPr id="54" name="Google Shape;54;p22"/>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22"/>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 name="Google Shape;56;p22"/>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22"/>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23"/>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500"/>
              <a:buFont typeface="Play"/>
              <a:buNone/>
              <a:defRPr sz="2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0" name="Google Shape;60;p23"/>
          <p:cNvSpPr txBox="1"/>
          <p:nvPr>
            <p:ph idx="1" type="body"/>
          </p:nvPr>
        </p:nvSpPr>
        <p:spPr>
          <a:xfrm>
            <a:off x="3887391" y="822854"/>
            <a:ext cx="4629300" cy="4061400"/>
          </a:xfrm>
          <a:prstGeom prst="rect">
            <a:avLst/>
          </a:prstGeom>
          <a:noFill/>
          <a:ln>
            <a:noFill/>
          </a:ln>
        </p:spPr>
        <p:txBody>
          <a:bodyPr anchorCtr="0" anchor="t" bIns="35550" lIns="71100" spcFirstLastPara="1" rIns="71100" wrap="square" tIns="35550">
            <a:normAutofit/>
          </a:bodyPr>
          <a:lstStyle>
            <a:lvl1pPr indent="-387350" lvl="0" marL="457200" algn="l">
              <a:lnSpc>
                <a:spcPct val="90000"/>
              </a:lnSpc>
              <a:spcBef>
                <a:spcPts val="800"/>
              </a:spcBef>
              <a:spcAft>
                <a:spcPts val="0"/>
              </a:spcAft>
              <a:buClr>
                <a:schemeClr val="dk1"/>
              </a:buClr>
              <a:buSzPts val="2500"/>
              <a:buChar char="•"/>
              <a:defRPr sz="2500"/>
            </a:lvl1pPr>
            <a:lvl2pPr indent="-368300" lvl="1" marL="914400" algn="l">
              <a:lnSpc>
                <a:spcPct val="90000"/>
              </a:lnSpc>
              <a:spcBef>
                <a:spcPts val="400"/>
              </a:spcBef>
              <a:spcAft>
                <a:spcPts val="0"/>
              </a:spcAft>
              <a:buClr>
                <a:schemeClr val="dk1"/>
              </a:buClr>
              <a:buSzPts val="2200"/>
              <a:buChar char="•"/>
              <a:defRPr sz="2200"/>
            </a:lvl2pPr>
            <a:lvl3pPr indent="-349250" lvl="2" marL="1371600" algn="l">
              <a:lnSpc>
                <a:spcPct val="90000"/>
              </a:lnSpc>
              <a:spcBef>
                <a:spcPts val="400"/>
              </a:spcBef>
              <a:spcAft>
                <a:spcPts val="0"/>
              </a:spcAft>
              <a:buClr>
                <a:schemeClr val="dk1"/>
              </a:buClr>
              <a:buSzPts val="1900"/>
              <a:buChar char="•"/>
              <a:defRPr sz="1900"/>
            </a:lvl3pPr>
            <a:lvl4pPr indent="-330200" lvl="3" marL="1828800" algn="l">
              <a:lnSpc>
                <a:spcPct val="90000"/>
              </a:lnSpc>
              <a:spcBef>
                <a:spcPts val="400"/>
              </a:spcBef>
              <a:spcAft>
                <a:spcPts val="0"/>
              </a:spcAft>
              <a:buClr>
                <a:schemeClr val="dk1"/>
              </a:buClr>
              <a:buSzPts val="1600"/>
              <a:buChar char="•"/>
              <a:defRPr sz="1600"/>
            </a:lvl4pPr>
            <a:lvl5pPr indent="-330200" lvl="4" marL="2286000" algn="l">
              <a:lnSpc>
                <a:spcPct val="90000"/>
              </a:lnSpc>
              <a:spcBef>
                <a:spcPts val="400"/>
              </a:spcBef>
              <a:spcAft>
                <a:spcPts val="0"/>
              </a:spcAft>
              <a:buClr>
                <a:schemeClr val="dk1"/>
              </a:buClr>
              <a:buSzPts val="1600"/>
              <a:buChar char="•"/>
              <a:defRPr sz="1600"/>
            </a:lvl5pPr>
            <a:lvl6pPr indent="-330200" lvl="5" marL="2743200" algn="l">
              <a:lnSpc>
                <a:spcPct val="90000"/>
              </a:lnSpc>
              <a:spcBef>
                <a:spcPts val="400"/>
              </a:spcBef>
              <a:spcAft>
                <a:spcPts val="0"/>
              </a:spcAft>
              <a:buClr>
                <a:schemeClr val="dk1"/>
              </a:buClr>
              <a:buSzPts val="1600"/>
              <a:buChar char="•"/>
              <a:defRPr sz="1600"/>
            </a:lvl6pPr>
            <a:lvl7pPr indent="-330200" lvl="6" marL="3200400" algn="l">
              <a:lnSpc>
                <a:spcPct val="90000"/>
              </a:lnSpc>
              <a:spcBef>
                <a:spcPts val="400"/>
              </a:spcBef>
              <a:spcAft>
                <a:spcPts val="0"/>
              </a:spcAft>
              <a:buClr>
                <a:schemeClr val="dk1"/>
              </a:buClr>
              <a:buSzPts val="1600"/>
              <a:buChar char="•"/>
              <a:defRPr sz="1600"/>
            </a:lvl7pPr>
            <a:lvl8pPr indent="-330200" lvl="7" marL="3657600" algn="l">
              <a:lnSpc>
                <a:spcPct val="90000"/>
              </a:lnSpc>
              <a:spcBef>
                <a:spcPts val="400"/>
              </a:spcBef>
              <a:spcAft>
                <a:spcPts val="0"/>
              </a:spcAft>
              <a:buClr>
                <a:schemeClr val="dk1"/>
              </a:buClr>
              <a:buSzPts val="1600"/>
              <a:buChar char="•"/>
              <a:defRPr sz="1600"/>
            </a:lvl8pPr>
            <a:lvl9pPr indent="-330200" lvl="8" marL="4114800" algn="l">
              <a:lnSpc>
                <a:spcPct val="90000"/>
              </a:lnSpc>
              <a:spcBef>
                <a:spcPts val="400"/>
              </a:spcBef>
              <a:spcAft>
                <a:spcPts val="0"/>
              </a:spcAft>
              <a:buClr>
                <a:schemeClr val="dk1"/>
              </a:buClr>
              <a:buSzPts val="1600"/>
              <a:buChar char="•"/>
              <a:defRPr sz="1600"/>
            </a:lvl9pPr>
          </a:lstStyle>
          <a:p/>
        </p:txBody>
      </p:sp>
      <p:sp>
        <p:nvSpPr>
          <p:cNvPr id="61" name="Google Shape;61;p23"/>
          <p:cNvSpPr txBox="1"/>
          <p:nvPr>
            <p:ph idx="2"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2" name="Google Shape;62;p23"/>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3" name="Google Shape;63;p23"/>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23"/>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24"/>
          <p:cNvSpPr txBox="1"/>
          <p:nvPr>
            <p:ph type="title"/>
          </p:nvPr>
        </p:nvSpPr>
        <p:spPr>
          <a:xfrm>
            <a:off x="629841" y="381000"/>
            <a:ext cx="2949300" cy="1333500"/>
          </a:xfrm>
          <a:prstGeom prst="rect">
            <a:avLst/>
          </a:prstGeom>
          <a:noFill/>
          <a:ln>
            <a:noFill/>
          </a:ln>
        </p:spPr>
        <p:txBody>
          <a:bodyPr anchorCtr="0" anchor="b" bIns="35550" lIns="71100" spcFirstLastPara="1" rIns="71100" wrap="square" tIns="35550">
            <a:normAutofit/>
          </a:bodyPr>
          <a:lstStyle>
            <a:lvl1pPr lvl="0" algn="l">
              <a:lnSpc>
                <a:spcPct val="90000"/>
              </a:lnSpc>
              <a:spcBef>
                <a:spcPts val="0"/>
              </a:spcBef>
              <a:spcAft>
                <a:spcPts val="0"/>
              </a:spcAft>
              <a:buClr>
                <a:schemeClr val="dk1"/>
              </a:buClr>
              <a:buSzPts val="2500"/>
              <a:buFont typeface="Play"/>
              <a:buNone/>
              <a:defRPr sz="2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7" name="Google Shape;67;p24"/>
          <p:cNvSpPr/>
          <p:nvPr>
            <p:ph idx="2" type="pic"/>
          </p:nvPr>
        </p:nvSpPr>
        <p:spPr>
          <a:xfrm>
            <a:off x="3887391" y="822854"/>
            <a:ext cx="4629300" cy="4061400"/>
          </a:xfrm>
          <a:prstGeom prst="rect">
            <a:avLst/>
          </a:prstGeom>
          <a:noFill/>
          <a:ln>
            <a:noFill/>
          </a:ln>
        </p:spPr>
      </p:sp>
      <p:sp>
        <p:nvSpPr>
          <p:cNvPr id="68" name="Google Shape;68;p24"/>
          <p:cNvSpPr txBox="1"/>
          <p:nvPr>
            <p:ph idx="1" type="body"/>
          </p:nvPr>
        </p:nvSpPr>
        <p:spPr>
          <a:xfrm>
            <a:off x="629841" y="1714500"/>
            <a:ext cx="2949300" cy="3176400"/>
          </a:xfrm>
          <a:prstGeom prst="rect">
            <a:avLst/>
          </a:prstGeom>
          <a:noFill/>
          <a:ln>
            <a:noFill/>
          </a:ln>
        </p:spPr>
        <p:txBody>
          <a:bodyPr anchorCtr="0" anchor="t" bIns="35550" lIns="71100" spcFirstLastPara="1" rIns="71100" wrap="square" tIns="35550">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9" name="Google Shape;69;p24"/>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24"/>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24"/>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25"/>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25"/>
          <p:cNvSpPr txBox="1"/>
          <p:nvPr>
            <p:ph idx="1" type="body"/>
          </p:nvPr>
        </p:nvSpPr>
        <p:spPr>
          <a:xfrm rot="5400000">
            <a:off x="2758950" y="-608946"/>
            <a:ext cx="3626100" cy="78867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5" name="Google Shape;75;p25"/>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25"/>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25"/>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26"/>
          <p:cNvSpPr txBox="1"/>
          <p:nvPr>
            <p:ph type="title"/>
          </p:nvPr>
        </p:nvSpPr>
        <p:spPr>
          <a:xfrm rot="5400000">
            <a:off x="5107950" y="1740071"/>
            <a:ext cx="4843200" cy="1971600"/>
          </a:xfrm>
          <a:prstGeom prst="rect">
            <a:avLst/>
          </a:prstGeom>
          <a:noFill/>
          <a:ln>
            <a:noFill/>
          </a:ln>
        </p:spPr>
        <p:txBody>
          <a:bodyPr anchorCtr="0" anchor="ctr" bIns="35550" lIns="71100" spcFirstLastPara="1" rIns="71100" wrap="square" tIns="3555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26"/>
          <p:cNvSpPr txBox="1"/>
          <p:nvPr>
            <p:ph idx="1" type="body"/>
          </p:nvPr>
        </p:nvSpPr>
        <p:spPr>
          <a:xfrm rot="5400000">
            <a:off x="1107375" y="-174529"/>
            <a:ext cx="4843200" cy="5800800"/>
          </a:xfrm>
          <a:prstGeom prst="rect">
            <a:avLst/>
          </a:prstGeom>
          <a:noFill/>
          <a:ln>
            <a:noFill/>
          </a:ln>
        </p:spPr>
        <p:txBody>
          <a:bodyPr anchorCtr="0" anchor="t" bIns="35550" lIns="71100" spcFirstLastPara="1" rIns="71100" wrap="square" tIns="35550">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26"/>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26"/>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26"/>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628650" y="304271"/>
            <a:ext cx="7886700" cy="1104600"/>
          </a:xfrm>
          <a:prstGeom prst="rect">
            <a:avLst/>
          </a:prstGeom>
          <a:noFill/>
          <a:ln>
            <a:noFill/>
          </a:ln>
        </p:spPr>
        <p:txBody>
          <a:bodyPr anchorCtr="0" anchor="ctr" bIns="35550" lIns="71100" spcFirstLastPara="1" rIns="71100" wrap="square" tIns="35550">
            <a:normAutofit/>
          </a:bodyPr>
          <a:lstStyle>
            <a:lvl1pPr lvl="0" marR="0" rtl="0" algn="l">
              <a:lnSpc>
                <a:spcPct val="90000"/>
              </a:lnSpc>
              <a:spcBef>
                <a:spcPts val="0"/>
              </a:spcBef>
              <a:spcAft>
                <a:spcPts val="0"/>
              </a:spcAft>
              <a:buClr>
                <a:schemeClr val="dk1"/>
              </a:buClr>
              <a:buSzPts val="3400"/>
              <a:buFont typeface="Play"/>
              <a:buNone/>
              <a:defRPr b="0" i="0" sz="34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15"/>
          <p:cNvSpPr txBox="1"/>
          <p:nvPr>
            <p:ph idx="1" type="body"/>
          </p:nvPr>
        </p:nvSpPr>
        <p:spPr>
          <a:xfrm>
            <a:off x="628650" y="1521354"/>
            <a:ext cx="7886700" cy="3626100"/>
          </a:xfrm>
          <a:prstGeom prst="rect">
            <a:avLst/>
          </a:prstGeom>
          <a:noFill/>
          <a:ln>
            <a:noFill/>
          </a:ln>
        </p:spPr>
        <p:txBody>
          <a:bodyPr anchorCtr="0" anchor="t" bIns="35550" lIns="71100" spcFirstLastPara="1" rIns="71100" wrap="square" tIns="35550">
            <a:normAutofit/>
          </a:bodyPr>
          <a:lstStyle>
            <a:lvl1pPr indent="-368300" lvl="0" marL="457200" marR="0" rtl="0" algn="l">
              <a:lnSpc>
                <a:spcPct val="90000"/>
              </a:lnSpc>
              <a:spcBef>
                <a:spcPts val="8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1pPr>
            <a:lvl2pPr indent="-349250" lvl="1" marL="914400" marR="0" rtl="0" algn="l">
              <a:lnSpc>
                <a:spcPct val="90000"/>
              </a:lnSpc>
              <a:spcBef>
                <a:spcPts val="4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2pPr>
            <a:lvl3pPr indent="-330200" lvl="2" marL="1371600" marR="0" rtl="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628650" y="5296958"/>
            <a:ext cx="2057400" cy="304200"/>
          </a:xfrm>
          <a:prstGeom prst="rect">
            <a:avLst/>
          </a:prstGeom>
          <a:noFill/>
          <a:ln>
            <a:noFill/>
          </a:ln>
        </p:spPr>
        <p:txBody>
          <a:bodyPr anchorCtr="0" anchor="ctr" bIns="35550" lIns="71100" spcFirstLastPara="1" rIns="71100" wrap="square" tIns="35550">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028950" y="5296958"/>
            <a:ext cx="3086100" cy="304200"/>
          </a:xfrm>
          <a:prstGeom prst="rect">
            <a:avLst/>
          </a:prstGeom>
          <a:noFill/>
          <a:ln>
            <a:noFill/>
          </a:ln>
        </p:spPr>
        <p:txBody>
          <a:bodyPr anchorCtr="0" anchor="ctr" bIns="35550" lIns="71100" spcFirstLastPara="1" rIns="71100" wrap="square" tIns="35550">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6457950" y="5296958"/>
            <a:ext cx="2057400" cy="304200"/>
          </a:xfrm>
          <a:prstGeom prst="rect">
            <a:avLst/>
          </a:prstGeom>
          <a:noFill/>
          <a:ln>
            <a:noFill/>
          </a:ln>
        </p:spPr>
        <p:txBody>
          <a:bodyPr anchorCtr="0" anchor="ctr" bIns="35550" lIns="71100" spcFirstLastPara="1" rIns="71100" wrap="square" tIns="3555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864A"/>
        </a:solidFill>
      </p:bgPr>
    </p:bg>
    <p:spTree>
      <p:nvGrpSpPr>
        <p:cNvPr id="87" name="Shape 87"/>
        <p:cNvGrpSpPr/>
        <p:nvPr/>
      </p:nvGrpSpPr>
      <p:grpSpPr>
        <a:xfrm>
          <a:off x="0" y="0"/>
          <a:ext cx="0" cy="0"/>
          <a:chOff x="0" y="0"/>
          <a:chExt cx="0" cy="0"/>
        </a:xfrm>
      </p:grpSpPr>
      <p:sp>
        <p:nvSpPr>
          <p:cNvPr id="88" name="Google Shape;88;p1"/>
          <p:cNvSpPr/>
          <p:nvPr/>
        </p:nvSpPr>
        <p:spPr>
          <a:xfrm>
            <a:off x="4532424" y="685017"/>
            <a:ext cx="3795300" cy="4217100"/>
          </a:xfrm>
          <a:prstGeom prst="ellipse">
            <a:avLst/>
          </a:prstGeom>
          <a:solidFill>
            <a:schemeClr val="lt1"/>
          </a:solidFill>
          <a:ln cap="flat" cmpd="sng" w="19050">
            <a:solidFill>
              <a:schemeClr val="lt1"/>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 name="Google Shape;89;p1"/>
          <p:cNvSpPr txBox="1"/>
          <p:nvPr/>
        </p:nvSpPr>
        <p:spPr>
          <a:xfrm>
            <a:off x="833955" y="2162043"/>
            <a:ext cx="3094500" cy="874200"/>
          </a:xfrm>
          <a:prstGeom prst="rect">
            <a:avLst/>
          </a:prstGeom>
          <a:noFill/>
          <a:ln>
            <a:noFill/>
          </a:ln>
        </p:spPr>
        <p:txBody>
          <a:bodyPr anchorCtr="0" anchor="t" bIns="35550" lIns="71100" spcFirstLastPara="1" rIns="71100" wrap="square" tIns="35550">
            <a:noAutofit/>
          </a:bodyPr>
          <a:lstStyle/>
          <a:p>
            <a:pPr indent="0" lvl="0" marL="0" marR="0" rtl="0" algn="ctr">
              <a:lnSpc>
                <a:spcPct val="90000"/>
              </a:lnSpc>
              <a:spcBef>
                <a:spcPts val="0"/>
              </a:spcBef>
              <a:spcAft>
                <a:spcPts val="0"/>
              </a:spcAft>
              <a:buClr>
                <a:schemeClr val="lt1"/>
              </a:buClr>
              <a:buSzPts val="3400"/>
              <a:buFont typeface="Arial"/>
              <a:buNone/>
            </a:pPr>
            <a:r>
              <a:rPr b="1" i="0" lang="pt-BR" sz="3400" u="none" cap="none" strike="noStrike">
                <a:solidFill>
                  <a:schemeClr val="lt1"/>
                </a:solidFill>
                <a:latin typeface="Arial"/>
                <a:ea typeface="Arial"/>
                <a:cs typeface="Arial"/>
                <a:sym typeface="Arial"/>
              </a:rPr>
              <a:t>EXCEL</a:t>
            </a:r>
            <a:endParaRPr sz="1100"/>
          </a:p>
        </p:txBody>
      </p:sp>
      <p:sp>
        <p:nvSpPr>
          <p:cNvPr id="90" name="Google Shape;90;p1"/>
          <p:cNvSpPr txBox="1"/>
          <p:nvPr/>
        </p:nvSpPr>
        <p:spPr>
          <a:xfrm>
            <a:off x="634070" y="2823575"/>
            <a:ext cx="3494400" cy="425400"/>
          </a:xfrm>
          <a:prstGeom prst="rect">
            <a:avLst/>
          </a:prstGeom>
          <a:noFill/>
          <a:ln>
            <a:noFill/>
          </a:ln>
        </p:spPr>
        <p:txBody>
          <a:bodyPr anchorCtr="0" anchor="t" bIns="35550" lIns="71100" spcFirstLastPara="1" rIns="71100" wrap="square" tIns="35550">
            <a:normAutofit/>
          </a:bodyPr>
          <a:lstStyle/>
          <a:p>
            <a:pPr indent="0" lvl="0" marL="0" marR="0" rtl="0" algn="ctr">
              <a:lnSpc>
                <a:spcPct val="90000"/>
              </a:lnSpc>
              <a:spcBef>
                <a:spcPts val="0"/>
              </a:spcBef>
              <a:spcAft>
                <a:spcPts val="0"/>
              </a:spcAft>
              <a:buClr>
                <a:schemeClr val="lt1"/>
              </a:buClr>
              <a:buSzPts val="1400"/>
              <a:buFont typeface="Arial"/>
              <a:buNone/>
            </a:pPr>
            <a:r>
              <a:rPr b="1" i="0" lang="pt-BR" sz="1400" u="none" cap="none" strike="noStrike">
                <a:solidFill>
                  <a:schemeClr val="lt1"/>
                </a:solidFill>
                <a:latin typeface="Arial"/>
                <a:ea typeface="Arial"/>
                <a:cs typeface="Arial"/>
                <a:sym typeface="Arial"/>
              </a:rPr>
              <a:t>PROFESSOR: LEONILSON SOUZA</a:t>
            </a:r>
            <a:endParaRPr sz="1100"/>
          </a:p>
        </p:txBody>
      </p:sp>
      <p:pic>
        <p:nvPicPr>
          <p:cNvPr descr="Ícone&#10;&#10;O conteúdo gerado por IA pode estar incorreto." id="91" name="Google Shape;91;p1"/>
          <p:cNvPicPr preferRelativeResize="0"/>
          <p:nvPr/>
        </p:nvPicPr>
        <p:blipFill rotWithShape="1">
          <a:blip r:embed="rId3">
            <a:alphaModFix/>
          </a:blip>
          <a:srcRect b="0" l="0" r="0" t="0"/>
          <a:stretch/>
        </p:blipFill>
        <p:spPr>
          <a:xfrm>
            <a:off x="4766896" y="945542"/>
            <a:ext cx="3326444" cy="3326444"/>
          </a:xfrm>
          <a:prstGeom prst="rect">
            <a:avLst/>
          </a:prstGeom>
          <a:noFill/>
          <a:ln>
            <a:noFill/>
          </a:ln>
        </p:spPr>
      </p:pic>
      <p:sp>
        <p:nvSpPr>
          <p:cNvPr id="92" name="Google Shape;92;p1"/>
          <p:cNvSpPr txBox="1"/>
          <p:nvPr/>
        </p:nvSpPr>
        <p:spPr>
          <a:xfrm>
            <a:off x="816190" y="3209343"/>
            <a:ext cx="4640400" cy="995400"/>
          </a:xfrm>
          <a:prstGeom prst="rect">
            <a:avLst/>
          </a:prstGeom>
          <a:noFill/>
          <a:ln>
            <a:noFill/>
          </a:ln>
        </p:spPr>
        <p:txBody>
          <a:bodyPr anchorCtr="0" anchor="t" bIns="35550" lIns="71100" spcFirstLastPara="1" rIns="71100" wrap="square" tIns="35550">
            <a:spAutoFit/>
          </a:bodyPr>
          <a:lstStyle/>
          <a:p>
            <a:pPr indent="-292100" lvl="0" marL="457200" marR="0" rtl="0" algn="l">
              <a:spcBef>
                <a:spcPts val="0"/>
              </a:spcBef>
              <a:spcAft>
                <a:spcPts val="0"/>
              </a:spcAft>
              <a:buClr>
                <a:schemeClr val="lt1"/>
              </a:buClr>
              <a:buSzPts val="1000"/>
              <a:buFont typeface="Arial"/>
              <a:buChar char="●"/>
            </a:pPr>
            <a:r>
              <a:rPr b="0" i="0" lang="pt-BR" sz="1000" u="none" cap="none" strike="noStrike">
                <a:solidFill>
                  <a:schemeClr val="lt1"/>
                </a:solidFill>
                <a:latin typeface="Arial"/>
                <a:ea typeface="Arial"/>
                <a:cs typeface="Arial"/>
                <a:sym typeface="Arial"/>
              </a:rPr>
              <a:t>INSERIR LINHA E COLUNAS</a:t>
            </a:r>
            <a:endParaRPr sz="700"/>
          </a:p>
          <a:p>
            <a:pPr indent="-292100" lvl="0" marL="457200" marR="0" rtl="0" algn="l">
              <a:spcBef>
                <a:spcPts val="0"/>
              </a:spcBef>
              <a:spcAft>
                <a:spcPts val="0"/>
              </a:spcAft>
              <a:buClr>
                <a:schemeClr val="lt1"/>
              </a:buClr>
              <a:buSzPts val="1000"/>
              <a:buFont typeface="Arial"/>
              <a:buChar char="●"/>
            </a:pPr>
            <a:r>
              <a:rPr b="0" i="0" lang="pt-BR" sz="1000" u="none" cap="none" strike="noStrike">
                <a:solidFill>
                  <a:schemeClr val="lt1"/>
                </a:solidFill>
                <a:latin typeface="Arial"/>
                <a:ea typeface="Arial"/>
                <a:cs typeface="Arial"/>
                <a:sym typeface="Arial"/>
              </a:rPr>
              <a:t>IR PARA</a:t>
            </a:r>
            <a:endParaRPr sz="700"/>
          </a:p>
          <a:p>
            <a:pPr indent="-292100" lvl="0" marL="457200" marR="0" rtl="0" algn="l">
              <a:spcBef>
                <a:spcPts val="0"/>
              </a:spcBef>
              <a:spcAft>
                <a:spcPts val="0"/>
              </a:spcAft>
              <a:buClr>
                <a:schemeClr val="lt1"/>
              </a:buClr>
              <a:buSzPts val="1000"/>
              <a:buFont typeface="Arial"/>
              <a:buChar char="●"/>
            </a:pPr>
            <a:r>
              <a:rPr b="0" i="0" lang="pt-BR" sz="1000" u="none" cap="none" strike="noStrike">
                <a:solidFill>
                  <a:schemeClr val="lt1"/>
                </a:solidFill>
                <a:latin typeface="Arial"/>
                <a:ea typeface="Arial"/>
                <a:cs typeface="Arial"/>
                <a:sym typeface="Arial"/>
              </a:rPr>
              <a:t>VISUALIZANDO VÁRIAS PASTAS DE TRABALHO</a:t>
            </a:r>
            <a:endParaRPr sz="700"/>
          </a:p>
          <a:p>
            <a:pPr indent="-292100" lvl="0" marL="457200" marR="0" rtl="0" algn="l">
              <a:spcBef>
                <a:spcPts val="0"/>
              </a:spcBef>
              <a:spcAft>
                <a:spcPts val="0"/>
              </a:spcAft>
              <a:buClr>
                <a:schemeClr val="lt1"/>
              </a:buClr>
              <a:buSzPts val="1000"/>
              <a:buFont typeface="Arial"/>
              <a:buChar char="●"/>
            </a:pPr>
            <a:r>
              <a:rPr b="0" i="0" lang="pt-BR" sz="1000" u="none" cap="none" strike="noStrike">
                <a:solidFill>
                  <a:schemeClr val="lt1"/>
                </a:solidFill>
                <a:latin typeface="Arial"/>
                <a:ea typeface="Arial"/>
                <a:cs typeface="Arial"/>
                <a:sym typeface="Arial"/>
              </a:rPr>
              <a:t>REMOVER CÉLULAS</a:t>
            </a:r>
            <a:endParaRPr sz="700"/>
          </a:p>
          <a:p>
            <a:pPr indent="-292100" lvl="0" marL="457200" marR="0" rtl="0" algn="l">
              <a:spcBef>
                <a:spcPts val="0"/>
              </a:spcBef>
              <a:spcAft>
                <a:spcPts val="0"/>
              </a:spcAft>
              <a:buClr>
                <a:schemeClr val="lt1"/>
              </a:buClr>
              <a:buSzPts val="1000"/>
              <a:buFont typeface="Arial"/>
              <a:buChar char="●"/>
            </a:pPr>
            <a:r>
              <a:rPr b="0" i="0" lang="pt-BR" sz="1000" u="none" cap="none" strike="noStrike">
                <a:solidFill>
                  <a:schemeClr val="lt1"/>
                </a:solidFill>
                <a:latin typeface="Arial"/>
                <a:ea typeface="Arial"/>
                <a:cs typeface="Arial"/>
                <a:sym typeface="Arial"/>
              </a:rPr>
              <a:t>FÓRMULAS BÁSICAS</a:t>
            </a:r>
            <a:endParaRPr sz="700"/>
          </a:p>
          <a:p>
            <a:pPr indent="-292100" lvl="0" marL="457200" marR="0" rtl="0" algn="l">
              <a:spcBef>
                <a:spcPts val="0"/>
              </a:spcBef>
              <a:spcAft>
                <a:spcPts val="0"/>
              </a:spcAft>
              <a:buClr>
                <a:schemeClr val="lt1"/>
              </a:buClr>
              <a:buSzPts val="1000"/>
              <a:buFont typeface="Arial"/>
              <a:buChar char="●"/>
            </a:pPr>
            <a:r>
              <a:rPr b="0" i="0" lang="pt-BR" sz="1000" u="none" cap="none" strike="noStrike">
                <a:solidFill>
                  <a:schemeClr val="lt1"/>
                </a:solidFill>
                <a:latin typeface="Arial"/>
                <a:ea typeface="Arial"/>
                <a:cs typeface="Arial"/>
                <a:sym typeface="Arial"/>
              </a:rPr>
              <a:t>EXERCÍCIO</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a:t>
            </a:r>
            <a:endParaRPr sz="1100"/>
          </a:p>
        </p:txBody>
      </p:sp>
      <p:pic>
        <p:nvPicPr>
          <p:cNvPr descr="Tabela&#10;&#10;O conteúdo gerado por IA pode estar incorreto." id="99" name="Google Shape;99;p4"/>
          <p:cNvPicPr preferRelativeResize="0"/>
          <p:nvPr/>
        </p:nvPicPr>
        <p:blipFill rotWithShape="1">
          <a:blip r:embed="rId3">
            <a:alphaModFix/>
          </a:blip>
          <a:srcRect b="0" l="0" r="0" t="0"/>
          <a:stretch/>
        </p:blipFill>
        <p:spPr>
          <a:xfrm>
            <a:off x="2687575" y="2190101"/>
            <a:ext cx="6230224" cy="2933825"/>
          </a:xfrm>
          <a:prstGeom prst="rect">
            <a:avLst/>
          </a:prstGeom>
          <a:noFill/>
          <a:ln>
            <a:noFill/>
          </a:ln>
        </p:spPr>
      </p:pic>
      <p:sp>
        <p:nvSpPr>
          <p:cNvPr id="100" name="Google Shape;100;p4"/>
          <p:cNvSpPr txBox="1"/>
          <p:nvPr/>
        </p:nvSpPr>
        <p:spPr>
          <a:xfrm>
            <a:off x="253652" y="1263040"/>
            <a:ext cx="85773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rPr>
              <a:t>Como usar a fórmula =SOMA no Excel </a:t>
            </a:r>
            <a:endParaRPr b="1" sz="1100"/>
          </a:p>
          <a:p>
            <a:pPr indent="0" lvl="0" marL="0" marR="0" rtl="0" algn="l">
              <a:spcBef>
                <a:spcPts val="0"/>
              </a:spcBef>
              <a:spcAft>
                <a:spcPts val="0"/>
              </a:spcAft>
              <a:buNone/>
            </a:pPr>
            <a:r>
              <a:rPr lang="pt-BR" sz="1400">
                <a:solidFill>
                  <a:schemeClr val="dk1"/>
                </a:solidFill>
                <a:latin typeface="Arial"/>
                <a:ea typeface="Arial"/>
                <a:cs typeface="Arial"/>
                <a:sym typeface="Arial"/>
              </a:rPr>
              <a:t>A função =SOMA serve para somar os valores de várias células de forma rápida e prática.</a:t>
            </a:r>
            <a:endParaRPr sz="1100"/>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01" name="Google Shape;101;p4"/>
          <p:cNvSpPr/>
          <p:nvPr/>
        </p:nvSpPr>
        <p:spPr>
          <a:xfrm>
            <a:off x="253652" y="2285578"/>
            <a:ext cx="2104500" cy="26418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100"/>
              <a:buFont typeface="Arial"/>
              <a:buNone/>
            </a:pPr>
            <a:r>
              <a:rPr b="1" i="0" lang="pt-BR" sz="1100" u="none" cap="none" strike="noStrike">
                <a:solidFill>
                  <a:schemeClr val="dk1"/>
                </a:solidFill>
                <a:latin typeface="Arial"/>
                <a:ea typeface="Arial"/>
                <a:cs typeface="Arial"/>
                <a:sym typeface="Arial"/>
              </a:rPr>
              <a:t>Exemplo prático com base na tabela:</a:t>
            </a:r>
            <a:endParaRPr sz="1100"/>
          </a:p>
          <a:p>
            <a:pPr indent="0" lvl="0" marL="0" marR="0" rtl="0" algn="l">
              <a:lnSpc>
                <a:spcPct val="100000"/>
              </a:lnSpc>
              <a:spcBef>
                <a:spcPts val="0"/>
              </a:spcBef>
              <a:spcAft>
                <a:spcPts val="0"/>
              </a:spcAft>
              <a:buClr>
                <a:schemeClr val="dk1"/>
              </a:buClr>
              <a:buSzPts val="1100"/>
              <a:buFont typeface="Arial"/>
              <a:buNone/>
            </a:pPr>
            <a:r>
              <a:rPr b="0" i="0" lang="pt-BR" sz="1100" u="none" cap="none" strike="noStrike">
                <a:solidFill>
                  <a:schemeClr val="dk1"/>
                </a:solidFill>
                <a:latin typeface="Arial"/>
                <a:ea typeface="Arial"/>
                <a:cs typeface="Arial"/>
                <a:sym typeface="Arial"/>
              </a:rPr>
              <a:t>Se você quiser somar todos os meses da </a:t>
            </a:r>
            <a:r>
              <a:rPr b="1" i="0" lang="pt-BR" sz="1100" u="none" cap="none" strike="noStrike">
                <a:solidFill>
                  <a:schemeClr val="dk1"/>
                </a:solidFill>
                <a:latin typeface="Arial"/>
                <a:ea typeface="Arial"/>
                <a:cs typeface="Arial"/>
                <a:sym typeface="Arial"/>
              </a:rPr>
              <a:t>linha de Alimentação</a:t>
            </a:r>
            <a:r>
              <a:rPr b="0" i="0" lang="pt-BR" sz="1100" u="none" cap="none" strike="noStrike">
                <a:solidFill>
                  <a:schemeClr val="dk1"/>
                </a:solidFill>
                <a:latin typeface="Arial"/>
                <a:ea typeface="Arial"/>
                <a:cs typeface="Arial"/>
                <a:sym typeface="Arial"/>
              </a:rPr>
              <a:t>, ou seja: </a:t>
            </a:r>
            <a:r>
              <a:rPr b="1" i="0" lang="pt-BR" sz="1100" u="none" cap="none" strike="noStrike">
                <a:solidFill>
                  <a:schemeClr val="dk1"/>
                </a:solidFill>
                <a:latin typeface="Arial"/>
                <a:ea typeface="Arial"/>
                <a:cs typeface="Arial"/>
                <a:sym typeface="Arial"/>
              </a:rPr>
              <a:t>Janeiro, Fevereiro, Março e Abril</a:t>
            </a:r>
            <a:r>
              <a:rPr b="0" i="0" lang="pt-BR" sz="1100" u="none" cap="none" strike="noStrike">
                <a:solidFill>
                  <a:schemeClr val="dk1"/>
                </a:solidFill>
                <a:latin typeface="Arial"/>
                <a:ea typeface="Arial"/>
                <a:cs typeface="Arial"/>
                <a:sym typeface="Arial"/>
              </a:rPr>
              <a:t>, você deve:</a:t>
            </a:r>
            <a:endParaRPr sz="1100"/>
          </a:p>
          <a:p>
            <a:pPr indent="0" lvl="0" marL="0" marR="0" rtl="0" algn="l">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pt-BR" sz="1100" u="none" cap="none" strike="noStrike">
                <a:solidFill>
                  <a:schemeClr val="dk1"/>
                </a:solidFill>
                <a:latin typeface="Arial"/>
                <a:ea typeface="Arial"/>
                <a:cs typeface="Arial"/>
                <a:sym typeface="Arial"/>
              </a:rPr>
              <a:t>Clique na célula da coluna "Total por Despesas", ao lado de Alimentação</a:t>
            </a:r>
            <a:br>
              <a:rPr b="0" i="0" lang="pt-BR" sz="1100" u="none" cap="none" strike="noStrike">
                <a:solidFill>
                  <a:schemeClr val="dk1"/>
                </a:solidFill>
                <a:latin typeface="Arial"/>
                <a:ea typeface="Arial"/>
                <a:cs typeface="Arial"/>
                <a:sym typeface="Arial"/>
              </a:rPr>
            </a:br>
            <a:r>
              <a:rPr b="0" i="0" lang="pt-BR" sz="1100" u="none" cap="none" strike="noStrike">
                <a:solidFill>
                  <a:schemeClr val="dk1"/>
                </a:solidFill>
                <a:latin typeface="Arial"/>
                <a:ea typeface="Arial"/>
                <a:cs typeface="Arial"/>
                <a:sym typeface="Arial"/>
              </a:rPr>
              <a:t>📌 Digite:=SOMA(B3:E3)</a:t>
            </a:r>
            <a:endParaRPr sz="1100"/>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i="0" lang="pt-BR" sz="2200" u="none" cap="none" strike="noStrike">
                <a:solidFill>
                  <a:schemeClr val="lt1"/>
                </a:solidFill>
                <a:latin typeface="Arial"/>
                <a:ea typeface="Arial"/>
                <a:cs typeface="Arial"/>
                <a:sym typeface="Arial"/>
              </a:rPr>
              <a:t>Inserindo Linhas no Excel</a:t>
            </a:r>
            <a:endParaRPr sz="1100"/>
          </a:p>
        </p:txBody>
      </p:sp>
      <p:sp>
        <p:nvSpPr>
          <p:cNvPr id="108" name="Google Shape;108;p2"/>
          <p:cNvSpPr txBox="1"/>
          <p:nvPr/>
        </p:nvSpPr>
        <p:spPr>
          <a:xfrm>
            <a:off x="300625" y="1179534"/>
            <a:ext cx="8698500" cy="4381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No Excel, você pode inserir novas linhas para adicionar mais informações na sua planilha de um jeito bem fácil!</a:t>
            </a:r>
            <a:endParaRPr sz="1100"/>
          </a:p>
          <a:p>
            <a:pPr indent="0" lvl="0" marL="0" marR="0" rtl="0" algn="l">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Existem várias maneiras de fazer isso:</a:t>
            </a:r>
            <a:endParaRPr sz="1100"/>
          </a:p>
          <a:p>
            <a:pPr indent="0" lvl="0" marL="0" marR="0" rtl="0" algn="l">
              <a:spcBef>
                <a:spcPts val="0"/>
              </a:spcBef>
              <a:spcAft>
                <a:spcPts val="0"/>
              </a:spcAft>
              <a:buClr>
                <a:schemeClr val="dk1"/>
              </a:buClr>
              <a:buSzPts val="1400"/>
              <a:buFont typeface="Arial"/>
              <a:buNone/>
            </a:pPr>
            <a:r>
              <a:t/>
            </a:r>
            <a:endParaRPr b="1">
              <a:solidFill>
                <a:schemeClr val="dk1"/>
              </a:solidFill>
            </a:endParaRPr>
          </a:p>
          <a:p>
            <a:pPr indent="0" lvl="0" marL="0" marR="0" rtl="0" algn="l">
              <a:spcBef>
                <a:spcPts val="0"/>
              </a:spcBef>
              <a:spcAft>
                <a:spcPts val="0"/>
              </a:spcAft>
              <a:buClr>
                <a:schemeClr val="dk1"/>
              </a:buClr>
              <a:buSzPts val="1400"/>
              <a:buFont typeface="Arial"/>
              <a:buNone/>
            </a:pPr>
            <a:r>
              <a:rPr b="1" i="0" lang="pt-BR" sz="1400" u="none" cap="none" strike="noStrike">
                <a:solidFill>
                  <a:srgbClr val="980000"/>
                </a:solidFill>
                <a:latin typeface="Arial"/>
                <a:ea typeface="Arial"/>
                <a:cs typeface="Arial"/>
                <a:sym typeface="Arial"/>
              </a:rPr>
              <a:t>Opção 1:</a:t>
            </a:r>
            <a:endParaRPr b="0" i="0" sz="1400" u="none" cap="none" strike="noStrike">
              <a:solidFill>
                <a:srgbClr val="980000"/>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Clique na célula onde você quer que a nova linha apareça </a:t>
            </a:r>
            <a:r>
              <a:rPr b="1" i="0" lang="pt-BR" sz="1400" u="none" cap="none" strike="noStrike">
                <a:solidFill>
                  <a:schemeClr val="dk1"/>
                </a:solidFill>
                <a:latin typeface="Arial"/>
                <a:ea typeface="Arial"/>
                <a:cs typeface="Arial"/>
                <a:sym typeface="Arial"/>
              </a:rPr>
              <a:t>acima</a:t>
            </a:r>
            <a:r>
              <a:rPr b="0" i="0" lang="pt-BR" sz="1400" u="none" cap="none" strike="noStrike">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Vá até a guia </a:t>
            </a:r>
            <a:r>
              <a:rPr b="1" i="0" lang="pt-BR" sz="1400" u="none" cap="none" strike="noStrike">
                <a:solidFill>
                  <a:schemeClr val="dk1"/>
                </a:solidFill>
                <a:latin typeface="Arial"/>
                <a:ea typeface="Arial"/>
                <a:cs typeface="Arial"/>
                <a:sym typeface="Arial"/>
              </a:rPr>
              <a:t>Página Inicial</a:t>
            </a:r>
            <a:r>
              <a:rPr b="0" i="0" lang="pt-BR" sz="1400" u="none" cap="none" strike="noStrike">
                <a:solidFill>
                  <a:schemeClr val="dk1"/>
                </a:solidFill>
                <a:latin typeface="Arial"/>
                <a:ea typeface="Arial"/>
                <a:cs typeface="Arial"/>
                <a:sym typeface="Arial"/>
              </a:rPr>
              <a:t> (fica no topo da tela).</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No grupo </a:t>
            </a:r>
            <a:r>
              <a:rPr b="1" i="0" lang="pt-BR" sz="1400" u="none" cap="none" strike="noStrike">
                <a:solidFill>
                  <a:schemeClr val="dk1"/>
                </a:solidFill>
                <a:latin typeface="Arial"/>
                <a:ea typeface="Arial"/>
                <a:cs typeface="Arial"/>
                <a:sym typeface="Arial"/>
              </a:rPr>
              <a:t>Células</a:t>
            </a:r>
            <a:r>
              <a:rPr b="0" i="0" lang="pt-BR" sz="1400" u="none" cap="none" strike="noStrike">
                <a:solidFill>
                  <a:schemeClr val="dk1"/>
                </a:solidFill>
                <a:latin typeface="Arial"/>
                <a:ea typeface="Arial"/>
                <a:cs typeface="Arial"/>
                <a:sym typeface="Arial"/>
              </a:rPr>
              <a:t>, clique em </a:t>
            </a:r>
            <a:r>
              <a:rPr b="1" i="0" lang="pt-BR" sz="1400" u="none" cap="none" strike="noStrike">
                <a:solidFill>
                  <a:schemeClr val="dk1"/>
                </a:solidFill>
                <a:latin typeface="Arial"/>
                <a:ea typeface="Arial"/>
                <a:cs typeface="Arial"/>
                <a:sym typeface="Arial"/>
              </a:rPr>
              <a:t>Inserir</a:t>
            </a:r>
            <a:r>
              <a:rPr b="0" i="0" lang="pt-BR" sz="1400" u="none" cap="none" strike="noStrike">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Depois, escolha </a:t>
            </a:r>
            <a:r>
              <a:rPr b="1" i="0" lang="pt-BR" sz="1400" u="none" cap="none" strike="noStrike">
                <a:solidFill>
                  <a:schemeClr val="dk1"/>
                </a:solidFill>
                <a:latin typeface="Arial"/>
                <a:ea typeface="Arial"/>
                <a:cs typeface="Arial"/>
                <a:sym typeface="Arial"/>
              </a:rPr>
              <a:t>Inserir Linhas na Planilha</a:t>
            </a:r>
            <a:r>
              <a:rPr b="0" i="0" lang="pt-BR" sz="1400" u="none" cap="none" strike="noStrike">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t/>
            </a:r>
            <a:endParaRPr b="1">
              <a:solidFill>
                <a:schemeClr val="dk1"/>
              </a:solidFill>
            </a:endParaRPr>
          </a:p>
          <a:p>
            <a:pPr indent="0" lvl="0" marL="0" marR="0" rtl="0" algn="l">
              <a:spcBef>
                <a:spcPts val="0"/>
              </a:spcBef>
              <a:spcAft>
                <a:spcPts val="0"/>
              </a:spcAft>
              <a:buClr>
                <a:schemeClr val="dk1"/>
              </a:buClr>
              <a:buSzPts val="1400"/>
              <a:buFont typeface="Arial"/>
              <a:buNone/>
            </a:pPr>
            <a:r>
              <a:rPr b="1" i="0" lang="pt-BR" sz="1400" u="none" cap="none" strike="noStrike">
                <a:solidFill>
                  <a:srgbClr val="980000"/>
                </a:solidFill>
                <a:latin typeface="Arial"/>
                <a:ea typeface="Arial"/>
                <a:cs typeface="Arial"/>
                <a:sym typeface="Arial"/>
              </a:rPr>
              <a:t>Opção 2:</a:t>
            </a:r>
            <a:endParaRPr b="0" i="0" sz="1400" u="none" cap="none" strike="noStrike">
              <a:solidFill>
                <a:srgbClr val="980000"/>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Clique na célula onde quer inserir a linha.</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Clique com o </a:t>
            </a:r>
            <a:r>
              <a:rPr b="1" i="0" lang="pt-BR" sz="1400" u="none" cap="none" strike="noStrike">
                <a:solidFill>
                  <a:schemeClr val="dk1"/>
                </a:solidFill>
                <a:latin typeface="Arial"/>
                <a:ea typeface="Arial"/>
                <a:cs typeface="Arial"/>
                <a:sym typeface="Arial"/>
              </a:rPr>
              <a:t>botão direito do mouse</a:t>
            </a:r>
            <a:r>
              <a:rPr b="0" i="0" lang="pt-BR" sz="1400" u="none" cap="none" strike="noStrike">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Selecione </a:t>
            </a:r>
            <a:r>
              <a:rPr b="1" i="0" lang="pt-BR" sz="1400" u="none" cap="none" strike="noStrike">
                <a:solidFill>
                  <a:schemeClr val="dk1"/>
                </a:solidFill>
                <a:latin typeface="Arial"/>
                <a:ea typeface="Arial"/>
                <a:cs typeface="Arial"/>
                <a:sym typeface="Arial"/>
              </a:rPr>
              <a:t>Inserir</a:t>
            </a:r>
            <a:r>
              <a:rPr b="0" i="0" lang="pt-BR" sz="1400" u="none" cap="none" strike="noStrike">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Depois, clique em </a:t>
            </a:r>
            <a:r>
              <a:rPr b="1" i="0" lang="pt-BR" sz="1400" u="none" cap="none" strike="noStrike">
                <a:solidFill>
                  <a:schemeClr val="dk1"/>
                </a:solidFill>
                <a:latin typeface="Arial"/>
                <a:ea typeface="Arial"/>
                <a:cs typeface="Arial"/>
                <a:sym typeface="Arial"/>
              </a:rPr>
              <a:t>Linha Inteira</a:t>
            </a:r>
            <a:r>
              <a:rPr b="0" i="0" lang="pt-BR" sz="1400" u="none" cap="none" strike="noStrike">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rPr b="1" i="0" lang="pt-BR" sz="1400" u="none" cap="none" strike="noStrike">
                <a:solidFill>
                  <a:schemeClr val="dk1"/>
                </a:solidFill>
                <a:latin typeface="Arial"/>
                <a:ea typeface="Arial"/>
                <a:cs typeface="Arial"/>
                <a:sym typeface="Arial"/>
              </a:rPr>
              <a:t>Opção 3:</a:t>
            </a:r>
            <a:endParaRPr b="0" i="0" sz="1400" u="none" cap="none" strike="noStrike">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Clique diretamente </a:t>
            </a:r>
            <a:r>
              <a:rPr b="1" i="0" lang="pt-BR" sz="1400" u="none" cap="none" strike="noStrike">
                <a:solidFill>
                  <a:schemeClr val="dk1"/>
                </a:solidFill>
                <a:latin typeface="Arial"/>
                <a:ea typeface="Arial"/>
                <a:cs typeface="Arial"/>
                <a:sym typeface="Arial"/>
              </a:rPr>
              <a:t>no número da linha</a:t>
            </a:r>
            <a:r>
              <a:rPr b="0" i="0" lang="pt-BR" sz="1400" u="none" cap="none" strike="noStrike">
                <a:solidFill>
                  <a:schemeClr val="dk1"/>
                </a:solidFill>
                <a:latin typeface="Arial"/>
                <a:ea typeface="Arial"/>
                <a:cs typeface="Arial"/>
                <a:sym typeface="Arial"/>
              </a:rPr>
              <a:t> (aquele número que fica na lateral esquerda).</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Clique com o </a:t>
            </a:r>
            <a:r>
              <a:rPr b="1" i="0" lang="pt-BR" sz="1400" u="none" cap="none" strike="noStrike">
                <a:solidFill>
                  <a:schemeClr val="dk1"/>
                </a:solidFill>
                <a:latin typeface="Arial"/>
                <a:ea typeface="Arial"/>
                <a:cs typeface="Arial"/>
                <a:sym typeface="Arial"/>
              </a:rPr>
              <a:t>botão direito</a:t>
            </a:r>
            <a:r>
              <a:rPr b="0" i="0" lang="pt-BR" sz="1400" u="none" cap="none" strike="noStrike">
                <a:solidFill>
                  <a:schemeClr val="dk1"/>
                </a:solidFill>
                <a:latin typeface="Arial"/>
                <a:ea typeface="Arial"/>
                <a:cs typeface="Arial"/>
                <a:sym typeface="Arial"/>
              </a:rPr>
              <a:t> do mouse.</a:t>
            </a:r>
            <a:endParaRPr sz="1100"/>
          </a:p>
          <a:p>
            <a:pPr indent="-88900" lvl="0" marL="0" marR="0" rtl="0" algn="l">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Selecione </a:t>
            </a:r>
            <a:r>
              <a:rPr b="1" i="0" lang="pt-BR" sz="1400" u="none" cap="none" strike="noStrike">
                <a:solidFill>
                  <a:schemeClr val="dk1"/>
                </a:solidFill>
                <a:latin typeface="Arial"/>
                <a:ea typeface="Arial"/>
                <a:cs typeface="Arial"/>
                <a:sym typeface="Arial"/>
              </a:rPr>
              <a:t>Inserir</a:t>
            </a:r>
            <a:r>
              <a:rPr b="0" i="0" lang="pt-BR" sz="1400" u="none" cap="none" strike="noStrike">
                <a:solidFill>
                  <a:schemeClr val="dk1"/>
                </a:solidFill>
                <a:latin typeface="Arial"/>
                <a:ea typeface="Arial"/>
                <a:cs typeface="Arial"/>
                <a:sym typeface="Arial"/>
              </a:rPr>
              <a:t>.</a:t>
            </a:r>
            <a:endParaRPr sz="1100"/>
          </a:p>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 Inserindo Colunas no Excel</a:t>
            </a:r>
            <a:endParaRPr sz="1100"/>
          </a:p>
        </p:txBody>
      </p:sp>
      <p:sp>
        <p:nvSpPr>
          <p:cNvPr id="115" name="Google Shape;115;p3"/>
          <p:cNvSpPr txBox="1"/>
          <p:nvPr/>
        </p:nvSpPr>
        <p:spPr>
          <a:xfrm>
            <a:off x="103191" y="1140510"/>
            <a:ext cx="8844000" cy="4381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Assim como fazemos com as linhas, o Excel também permite </a:t>
            </a:r>
            <a:r>
              <a:rPr b="1" lang="pt-BR" sz="1400">
                <a:solidFill>
                  <a:schemeClr val="dk1"/>
                </a:solidFill>
                <a:latin typeface="Arial"/>
                <a:ea typeface="Arial"/>
                <a:cs typeface="Arial"/>
                <a:sym typeface="Arial"/>
              </a:rPr>
              <a:t>inserir colunas</a:t>
            </a:r>
            <a:r>
              <a:rPr lang="pt-BR" sz="1400">
                <a:solidFill>
                  <a:schemeClr val="dk1"/>
                </a:solidFill>
                <a:latin typeface="Arial"/>
                <a:ea typeface="Arial"/>
                <a:cs typeface="Arial"/>
                <a:sym typeface="Arial"/>
              </a:rPr>
              <a:t> para organizar melhor as informações!</a:t>
            </a:r>
            <a:endParaRPr sz="1100"/>
          </a:p>
          <a:p>
            <a:pPr indent="0" lvl="0" marL="0" marR="0" rtl="0" algn="l">
              <a:spcBef>
                <a:spcPts val="0"/>
              </a:spcBef>
              <a:spcAft>
                <a:spcPts val="0"/>
              </a:spcAft>
              <a:buClr>
                <a:schemeClr val="dk1"/>
              </a:buClr>
              <a:buSzPts val="1400"/>
              <a:buFont typeface="Arial"/>
              <a:buNone/>
            </a:pPr>
            <a:r>
              <a:rPr lang="pt-BR" sz="1400">
                <a:solidFill>
                  <a:schemeClr val="dk1"/>
                </a:solidFill>
                <a:latin typeface="Arial"/>
                <a:ea typeface="Arial"/>
                <a:cs typeface="Arial"/>
                <a:sym typeface="Arial"/>
              </a:rPr>
              <a:t>Veja como fazer:</a:t>
            </a:r>
            <a:endParaRPr sz="1100"/>
          </a:p>
          <a:p>
            <a:pPr indent="0" lvl="0" marL="0" marR="0" rtl="0" algn="l">
              <a:spcBef>
                <a:spcPts val="0"/>
              </a:spcBef>
              <a:spcAft>
                <a:spcPts val="0"/>
              </a:spcAft>
              <a:buClr>
                <a:schemeClr val="dk1"/>
              </a:buClr>
              <a:buSzPts val="1400"/>
              <a:buFont typeface="Arial"/>
              <a:buNone/>
            </a:pPr>
            <a:r>
              <a:t/>
            </a:r>
            <a:endParaRPr b="1">
              <a:solidFill>
                <a:schemeClr val="dk1"/>
              </a:solidFill>
            </a:endParaRPr>
          </a:p>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Opção 1:</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Clique na célula onde você quer que a nova coluna apareça </a:t>
            </a:r>
            <a:r>
              <a:rPr b="1" lang="pt-BR" sz="1400">
                <a:solidFill>
                  <a:schemeClr val="dk1"/>
                </a:solidFill>
                <a:latin typeface="Arial"/>
                <a:ea typeface="Arial"/>
                <a:cs typeface="Arial"/>
                <a:sym typeface="Arial"/>
              </a:rPr>
              <a:t>à esquerda</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Vá até a guia </a:t>
            </a:r>
            <a:r>
              <a:rPr b="1" lang="pt-BR" sz="1400">
                <a:solidFill>
                  <a:schemeClr val="dk1"/>
                </a:solidFill>
                <a:latin typeface="Arial"/>
                <a:ea typeface="Arial"/>
                <a:cs typeface="Arial"/>
                <a:sym typeface="Arial"/>
              </a:rPr>
              <a:t>Página Inicial</a:t>
            </a:r>
            <a:r>
              <a:rPr lang="pt-BR" sz="1400">
                <a:solidFill>
                  <a:schemeClr val="dk1"/>
                </a:solidFill>
                <a:latin typeface="Arial"/>
                <a:ea typeface="Arial"/>
                <a:cs typeface="Arial"/>
                <a:sym typeface="Arial"/>
              </a:rPr>
              <a:t> (no topo da tela).</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No grupo </a:t>
            </a:r>
            <a:r>
              <a:rPr b="1" lang="pt-BR" sz="1400">
                <a:solidFill>
                  <a:schemeClr val="dk1"/>
                </a:solidFill>
                <a:latin typeface="Arial"/>
                <a:ea typeface="Arial"/>
                <a:cs typeface="Arial"/>
                <a:sym typeface="Arial"/>
              </a:rPr>
              <a:t>Células</a:t>
            </a:r>
            <a:r>
              <a:rPr lang="pt-BR" sz="1400">
                <a:solidFill>
                  <a:schemeClr val="dk1"/>
                </a:solidFill>
                <a:latin typeface="Arial"/>
                <a:ea typeface="Arial"/>
                <a:cs typeface="Arial"/>
                <a:sym typeface="Arial"/>
              </a:rPr>
              <a:t>, clique em </a:t>
            </a:r>
            <a:r>
              <a:rPr b="1" lang="pt-BR" sz="1400">
                <a:solidFill>
                  <a:schemeClr val="dk1"/>
                </a:solidFill>
                <a:latin typeface="Arial"/>
                <a:ea typeface="Arial"/>
                <a:cs typeface="Arial"/>
                <a:sym typeface="Arial"/>
              </a:rPr>
              <a:t>Inserir</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Depois, escolha </a:t>
            </a:r>
            <a:r>
              <a:rPr b="1" lang="pt-BR" sz="1400">
                <a:solidFill>
                  <a:schemeClr val="dk1"/>
                </a:solidFill>
                <a:latin typeface="Arial"/>
                <a:ea typeface="Arial"/>
                <a:cs typeface="Arial"/>
                <a:sym typeface="Arial"/>
              </a:rPr>
              <a:t>Inserir Colunas na Planilha</a:t>
            </a:r>
            <a:r>
              <a:rPr lang="pt-BR"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a:p>
            <a:pPr indent="0" lvl="0" marL="355600" marR="0" rtl="0" algn="l">
              <a:spcBef>
                <a:spcPts val="0"/>
              </a:spcBef>
              <a:spcAft>
                <a:spcPts val="0"/>
              </a:spcAft>
              <a:buNone/>
            </a:pPr>
            <a:r>
              <a:t/>
            </a:r>
            <a:endParaRPr>
              <a:solidFill>
                <a:schemeClr val="dk1"/>
              </a:solidFill>
            </a:endParaRPr>
          </a:p>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Opção 2:</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Clique na célula onde quer inserir a coluna.</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Clique com o </a:t>
            </a:r>
            <a:r>
              <a:rPr b="1" lang="pt-BR" sz="1400">
                <a:solidFill>
                  <a:schemeClr val="dk1"/>
                </a:solidFill>
                <a:latin typeface="Arial"/>
                <a:ea typeface="Arial"/>
                <a:cs typeface="Arial"/>
                <a:sym typeface="Arial"/>
              </a:rPr>
              <a:t>botão direito do mouse</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Selecione </a:t>
            </a:r>
            <a:r>
              <a:rPr b="1" lang="pt-BR" sz="1400">
                <a:solidFill>
                  <a:schemeClr val="dk1"/>
                </a:solidFill>
                <a:latin typeface="Arial"/>
                <a:ea typeface="Arial"/>
                <a:cs typeface="Arial"/>
                <a:sym typeface="Arial"/>
              </a:rPr>
              <a:t>Inserir</a:t>
            </a:r>
            <a:r>
              <a:rPr lang="pt-BR" sz="1400">
                <a:solidFill>
                  <a:schemeClr val="dk1"/>
                </a:solidFill>
                <a:latin typeface="Arial"/>
                <a:ea typeface="Arial"/>
                <a:cs typeface="Arial"/>
                <a:sym typeface="Arial"/>
              </a:rPr>
              <a:t>.</a:t>
            </a:r>
            <a:endParaRPr sz="1100"/>
          </a:p>
          <a:p>
            <a:pPr indent="-88900" lvl="0" marL="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Depois, clique em </a:t>
            </a:r>
            <a:r>
              <a:rPr b="1" lang="pt-BR" sz="1400">
                <a:solidFill>
                  <a:schemeClr val="dk1"/>
                </a:solidFill>
                <a:latin typeface="Arial"/>
                <a:ea typeface="Arial"/>
                <a:cs typeface="Arial"/>
                <a:sym typeface="Arial"/>
              </a:rPr>
              <a:t>Coluna Inteira</a:t>
            </a:r>
            <a:r>
              <a:rPr lang="pt-BR" sz="1400">
                <a:solidFill>
                  <a:schemeClr val="dk1"/>
                </a:solidFill>
                <a:latin typeface="Arial"/>
                <a:ea typeface="Arial"/>
                <a:cs typeface="Arial"/>
                <a:sym typeface="Arial"/>
              </a:rPr>
              <a:t>.</a:t>
            </a:r>
            <a:endParaRPr sz="1100"/>
          </a:p>
          <a:p>
            <a:pPr indent="0" lvl="0" marL="0" marR="0" rtl="0" algn="l">
              <a:spcBef>
                <a:spcPts val="0"/>
              </a:spcBef>
              <a:spcAft>
                <a:spcPts val="0"/>
              </a:spcAft>
              <a:buClr>
                <a:schemeClr val="dk1"/>
              </a:buClr>
              <a:buSzPts val="1400"/>
              <a:buFont typeface="Arial"/>
              <a:buNone/>
            </a:pPr>
            <a:r>
              <a:t/>
            </a:r>
            <a:endParaRPr b="1">
              <a:solidFill>
                <a:schemeClr val="dk1"/>
              </a:solidFill>
            </a:endParaRPr>
          </a:p>
          <a:p>
            <a:pPr indent="0" lvl="0" marL="0" marR="0" rtl="0" algn="l">
              <a:spcBef>
                <a:spcPts val="0"/>
              </a:spcBef>
              <a:spcAft>
                <a:spcPts val="0"/>
              </a:spcAft>
              <a:buClr>
                <a:schemeClr val="dk1"/>
              </a:buClr>
              <a:buSzPts val="1400"/>
              <a:buFont typeface="Arial"/>
              <a:buNone/>
            </a:pPr>
            <a:r>
              <a:rPr b="1" lang="pt-BR" sz="1400">
                <a:solidFill>
                  <a:schemeClr val="dk1"/>
                </a:solidFill>
                <a:latin typeface="Arial"/>
                <a:ea typeface="Arial"/>
                <a:cs typeface="Arial"/>
                <a:sym typeface="Arial"/>
              </a:rPr>
              <a:t>Opção 3:</a:t>
            </a:r>
            <a:endParaRPr sz="1400">
              <a:solidFill>
                <a:schemeClr val="dk1"/>
              </a:solidFill>
              <a:latin typeface="Arial"/>
              <a:ea typeface="Arial"/>
              <a:cs typeface="Arial"/>
              <a:sym typeface="Arial"/>
            </a:endParaRPr>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Clique diretamente </a:t>
            </a:r>
            <a:r>
              <a:rPr b="1" lang="pt-BR" sz="1400">
                <a:solidFill>
                  <a:schemeClr val="dk1"/>
                </a:solidFill>
                <a:latin typeface="Arial"/>
                <a:ea typeface="Arial"/>
                <a:cs typeface="Arial"/>
                <a:sym typeface="Arial"/>
              </a:rPr>
              <a:t>na letra da coluna</a:t>
            </a:r>
            <a:r>
              <a:rPr lang="pt-BR" sz="1400">
                <a:solidFill>
                  <a:schemeClr val="dk1"/>
                </a:solidFill>
                <a:latin typeface="Arial"/>
                <a:ea typeface="Arial"/>
                <a:cs typeface="Arial"/>
                <a:sym typeface="Arial"/>
              </a:rPr>
              <a:t> (aquelas letras A, B, C que aparecem no topo).</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Clique com o </a:t>
            </a:r>
            <a:r>
              <a:rPr b="1" lang="pt-BR" sz="1400">
                <a:solidFill>
                  <a:schemeClr val="dk1"/>
                </a:solidFill>
                <a:latin typeface="Arial"/>
                <a:ea typeface="Arial"/>
                <a:cs typeface="Arial"/>
                <a:sym typeface="Arial"/>
              </a:rPr>
              <a:t>botão direito</a:t>
            </a:r>
            <a:r>
              <a:rPr lang="pt-BR" sz="1400">
                <a:solidFill>
                  <a:schemeClr val="dk1"/>
                </a:solidFill>
                <a:latin typeface="Arial"/>
                <a:ea typeface="Arial"/>
                <a:cs typeface="Arial"/>
                <a:sym typeface="Arial"/>
              </a:rPr>
              <a:t> do mouse.</a:t>
            </a:r>
            <a:endParaRPr sz="1100"/>
          </a:p>
          <a:p>
            <a:pPr indent="-88900" lvl="0" marL="0" marR="0" rtl="0" algn="l">
              <a:spcBef>
                <a:spcPts val="0"/>
              </a:spcBef>
              <a:spcAft>
                <a:spcPts val="0"/>
              </a:spcAft>
              <a:buClr>
                <a:schemeClr val="dk1"/>
              </a:buClr>
              <a:buSzPts val="1400"/>
              <a:buFont typeface="Arial"/>
              <a:buChar char="•"/>
            </a:pPr>
            <a:r>
              <a:rPr lang="pt-BR">
                <a:solidFill>
                  <a:schemeClr val="dk1"/>
                </a:solidFill>
              </a:rPr>
              <a:t> </a:t>
            </a:r>
            <a:r>
              <a:rPr lang="pt-BR" sz="1400">
                <a:solidFill>
                  <a:schemeClr val="dk1"/>
                </a:solidFill>
                <a:latin typeface="Arial"/>
                <a:ea typeface="Arial"/>
                <a:cs typeface="Arial"/>
                <a:sym typeface="Arial"/>
              </a:rPr>
              <a:t>Selecione </a:t>
            </a:r>
            <a:r>
              <a:rPr b="1" lang="pt-BR" sz="1400">
                <a:solidFill>
                  <a:schemeClr val="dk1"/>
                </a:solidFill>
                <a:latin typeface="Arial"/>
                <a:ea typeface="Arial"/>
                <a:cs typeface="Arial"/>
                <a:sym typeface="Arial"/>
              </a:rPr>
              <a:t>Inserir</a:t>
            </a:r>
            <a:r>
              <a:rPr lang="pt-BR" sz="140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IR PARA: Encontrando células mais rápido no Excel</a:t>
            </a:r>
            <a:endParaRPr sz="1100"/>
          </a:p>
        </p:txBody>
      </p:sp>
      <p:sp>
        <p:nvSpPr>
          <p:cNvPr id="122" name="Google Shape;122;p5"/>
          <p:cNvSpPr txBox="1"/>
          <p:nvPr/>
        </p:nvSpPr>
        <p:spPr>
          <a:xfrm>
            <a:off x="527650" y="1191025"/>
            <a:ext cx="8302500" cy="26730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Clr>
                <a:schemeClr val="dk1"/>
              </a:buClr>
              <a:buSzPts val="1300"/>
              <a:buFont typeface="Arial"/>
              <a:buNone/>
            </a:pPr>
            <a:r>
              <a:rPr lang="pt-BR" sz="1300">
                <a:solidFill>
                  <a:schemeClr val="dk1"/>
                </a:solidFill>
                <a:latin typeface="Arial"/>
                <a:ea typeface="Arial"/>
                <a:cs typeface="Arial"/>
                <a:sym typeface="Arial"/>
              </a:rPr>
              <a:t>O comando </a:t>
            </a:r>
            <a:r>
              <a:rPr b="1" lang="pt-BR" sz="1300">
                <a:solidFill>
                  <a:schemeClr val="dk1"/>
                </a:solidFill>
                <a:latin typeface="Arial"/>
                <a:ea typeface="Arial"/>
                <a:cs typeface="Arial"/>
                <a:sym typeface="Arial"/>
              </a:rPr>
              <a:t>Ir Para</a:t>
            </a:r>
            <a:r>
              <a:rPr lang="pt-BR" sz="1300">
                <a:solidFill>
                  <a:schemeClr val="dk1"/>
                </a:solidFill>
                <a:latin typeface="Arial"/>
                <a:ea typeface="Arial"/>
                <a:cs typeface="Arial"/>
                <a:sym typeface="Arial"/>
              </a:rPr>
              <a:t> é uma ferramenta muito útil no Excel!</a:t>
            </a:r>
            <a:br>
              <a:rPr lang="pt-BR" sz="1300">
                <a:solidFill>
                  <a:schemeClr val="dk1"/>
                </a:solidFill>
                <a:latin typeface="Arial"/>
                <a:ea typeface="Arial"/>
                <a:cs typeface="Arial"/>
                <a:sym typeface="Arial"/>
              </a:rPr>
            </a:br>
            <a:r>
              <a:rPr lang="pt-BR" sz="1300">
                <a:solidFill>
                  <a:schemeClr val="dk1"/>
                </a:solidFill>
                <a:latin typeface="Arial"/>
                <a:ea typeface="Arial"/>
                <a:cs typeface="Arial"/>
                <a:sym typeface="Arial"/>
              </a:rPr>
              <a:t>Ele permite que você encontre </a:t>
            </a:r>
            <a:r>
              <a:rPr b="1" lang="pt-BR" sz="1300">
                <a:solidFill>
                  <a:schemeClr val="dk1"/>
                </a:solidFill>
                <a:latin typeface="Arial"/>
                <a:ea typeface="Arial"/>
                <a:cs typeface="Arial"/>
                <a:sym typeface="Arial"/>
              </a:rPr>
              <a:t>rápido</a:t>
            </a:r>
            <a:r>
              <a:rPr lang="pt-BR" sz="1300">
                <a:solidFill>
                  <a:schemeClr val="dk1"/>
                </a:solidFill>
                <a:latin typeface="Arial"/>
                <a:ea typeface="Arial"/>
                <a:cs typeface="Arial"/>
                <a:sym typeface="Arial"/>
              </a:rPr>
              <a:t> qualquer célula que desejar, sem precisar ficar rolando a planilha.</a:t>
            </a:r>
            <a:endParaRPr sz="1100"/>
          </a:p>
          <a:p>
            <a:pPr indent="0" lvl="0" marL="0" marR="0" rtl="0" algn="l">
              <a:spcBef>
                <a:spcPts val="0"/>
              </a:spcBef>
              <a:spcAft>
                <a:spcPts val="0"/>
              </a:spcAft>
              <a:buClr>
                <a:schemeClr val="dk1"/>
              </a:buClr>
              <a:buSzPts val="1300"/>
              <a:buFont typeface="Arial"/>
              <a:buNone/>
            </a:pPr>
            <a:r>
              <a:rPr b="1" lang="pt-BR" sz="1300">
                <a:solidFill>
                  <a:schemeClr val="dk1"/>
                </a:solidFill>
                <a:latin typeface="Arial"/>
                <a:ea typeface="Arial"/>
                <a:cs typeface="Arial"/>
                <a:sym typeface="Arial"/>
              </a:rPr>
              <a:t>Como abrir a opção Ir Para:</a:t>
            </a:r>
            <a:endParaRPr sz="1100"/>
          </a:p>
          <a:p>
            <a:pPr indent="0" lvl="0" marL="0" marR="0" rtl="0" algn="l">
              <a:spcBef>
                <a:spcPts val="0"/>
              </a:spcBef>
              <a:spcAft>
                <a:spcPts val="0"/>
              </a:spcAft>
              <a:buClr>
                <a:schemeClr val="dk1"/>
              </a:buClr>
              <a:buSzPts val="1300"/>
              <a:buFont typeface="Arial"/>
              <a:buNone/>
            </a:pPr>
            <a:r>
              <a:rPr lang="pt-BR" sz="1300">
                <a:solidFill>
                  <a:schemeClr val="dk1"/>
                </a:solidFill>
                <a:latin typeface="Arial"/>
                <a:ea typeface="Arial"/>
                <a:cs typeface="Arial"/>
                <a:sym typeface="Arial"/>
              </a:rPr>
              <a:t>Existem duas maneiras fáceis:</a:t>
            </a:r>
            <a:endParaRPr sz="13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300"/>
              <a:buFont typeface="Arial"/>
              <a:buNone/>
            </a:pPr>
            <a:r>
              <a:t/>
            </a:r>
            <a:endParaRPr sz="1300">
              <a:solidFill>
                <a:schemeClr val="dk1"/>
              </a:solidFill>
            </a:endParaRPr>
          </a:p>
          <a:p>
            <a:pPr indent="-82550" lvl="0" marL="0" marR="0" rtl="0" algn="l">
              <a:spcBef>
                <a:spcPts val="0"/>
              </a:spcBef>
              <a:spcAft>
                <a:spcPts val="0"/>
              </a:spcAft>
              <a:buClr>
                <a:schemeClr val="dk1"/>
              </a:buClr>
              <a:buSzPts val="1300"/>
              <a:buFont typeface="Play"/>
              <a:buAutoNum type="arabicPeriod"/>
            </a:pPr>
            <a:r>
              <a:rPr b="1" lang="pt-BR" sz="1300">
                <a:solidFill>
                  <a:schemeClr val="dk1"/>
                </a:solidFill>
                <a:latin typeface="Arial"/>
                <a:ea typeface="Arial"/>
                <a:cs typeface="Arial"/>
                <a:sym typeface="Arial"/>
              </a:rPr>
              <a:t>Pela guia Página Inicial</a:t>
            </a:r>
            <a:r>
              <a:rPr lang="pt-BR" sz="1300">
                <a:solidFill>
                  <a:schemeClr val="dk1"/>
                </a:solidFill>
                <a:latin typeface="Arial"/>
                <a:ea typeface="Arial"/>
                <a:cs typeface="Arial"/>
                <a:sym typeface="Arial"/>
              </a:rPr>
              <a:t>:</a:t>
            </a:r>
            <a:endParaRPr sz="1100"/>
          </a:p>
          <a:p>
            <a:pPr indent="-215900" lvl="1" marL="584200" marR="0" rtl="0" algn="l">
              <a:spcBef>
                <a:spcPts val="0"/>
              </a:spcBef>
              <a:spcAft>
                <a:spcPts val="0"/>
              </a:spcAft>
              <a:buClr>
                <a:schemeClr val="dk1"/>
              </a:buClr>
              <a:buSzPts val="1200"/>
              <a:buAutoNum type="arabicPeriod"/>
            </a:pPr>
            <a:r>
              <a:rPr b="0" i="0" lang="pt-BR" sz="1300" u="none" cap="none" strike="noStrike">
                <a:solidFill>
                  <a:schemeClr val="dk1"/>
                </a:solidFill>
                <a:latin typeface="Arial"/>
                <a:ea typeface="Arial"/>
                <a:cs typeface="Arial"/>
                <a:sym typeface="Arial"/>
              </a:rPr>
              <a:t>Vá até o </a:t>
            </a:r>
            <a:r>
              <a:rPr b="1" i="0" lang="pt-BR" sz="1300" u="none" cap="none" strike="noStrike">
                <a:solidFill>
                  <a:schemeClr val="dk1"/>
                </a:solidFill>
                <a:latin typeface="Arial"/>
                <a:ea typeface="Arial"/>
                <a:cs typeface="Arial"/>
                <a:sym typeface="Arial"/>
              </a:rPr>
              <a:t>grupo Edição</a:t>
            </a:r>
            <a:r>
              <a:rPr b="0" i="0" lang="pt-BR" sz="1300" u="none" cap="none" strike="noStrike">
                <a:solidFill>
                  <a:schemeClr val="dk1"/>
                </a:solidFill>
                <a:latin typeface="Arial"/>
                <a:ea typeface="Arial"/>
                <a:cs typeface="Arial"/>
                <a:sym typeface="Arial"/>
              </a:rPr>
              <a:t>.</a:t>
            </a:r>
            <a:endParaRPr sz="1100"/>
          </a:p>
          <a:p>
            <a:pPr indent="-215900" lvl="1" marL="584200" marR="0" rtl="0" algn="l">
              <a:spcBef>
                <a:spcPts val="0"/>
              </a:spcBef>
              <a:spcAft>
                <a:spcPts val="0"/>
              </a:spcAft>
              <a:buClr>
                <a:schemeClr val="dk1"/>
              </a:buClr>
              <a:buSzPts val="1200"/>
              <a:buAutoNum type="arabicPeriod"/>
            </a:pPr>
            <a:r>
              <a:rPr b="0" i="0" lang="pt-BR" sz="1300" u="none" cap="none" strike="noStrike">
                <a:solidFill>
                  <a:schemeClr val="dk1"/>
                </a:solidFill>
                <a:latin typeface="Arial"/>
                <a:ea typeface="Arial"/>
                <a:cs typeface="Arial"/>
                <a:sym typeface="Arial"/>
              </a:rPr>
              <a:t>Clique na opção </a:t>
            </a:r>
            <a:r>
              <a:rPr b="1" i="0" lang="pt-BR" sz="1300" u="none" cap="none" strike="noStrike">
                <a:solidFill>
                  <a:schemeClr val="dk1"/>
                </a:solidFill>
                <a:latin typeface="Arial"/>
                <a:ea typeface="Arial"/>
                <a:cs typeface="Arial"/>
                <a:sym typeface="Arial"/>
              </a:rPr>
              <a:t>Localizar e Selecionar</a:t>
            </a:r>
            <a:r>
              <a:rPr b="0" i="0" lang="pt-BR" sz="1300" u="none" cap="none" strike="noStrike">
                <a:solidFill>
                  <a:schemeClr val="dk1"/>
                </a:solidFill>
                <a:latin typeface="Arial"/>
                <a:ea typeface="Arial"/>
                <a:cs typeface="Arial"/>
                <a:sym typeface="Arial"/>
              </a:rPr>
              <a:t>.</a:t>
            </a:r>
            <a:endParaRPr sz="1100"/>
          </a:p>
          <a:p>
            <a:pPr indent="-215900" lvl="1" marL="584200" marR="0" rtl="0" algn="l">
              <a:spcBef>
                <a:spcPts val="0"/>
              </a:spcBef>
              <a:spcAft>
                <a:spcPts val="0"/>
              </a:spcAft>
              <a:buClr>
                <a:schemeClr val="dk1"/>
              </a:buClr>
              <a:buSzPts val="1200"/>
              <a:buAutoNum type="arabicPeriod"/>
            </a:pPr>
            <a:r>
              <a:rPr b="0" i="0" lang="pt-BR" sz="1300" u="none" cap="none" strike="noStrike">
                <a:solidFill>
                  <a:schemeClr val="dk1"/>
                </a:solidFill>
                <a:latin typeface="Arial"/>
                <a:ea typeface="Arial"/>
                <a:cs typeface="Arial"/>
                <a:sym typeface="Arial"/>
              </a:rPr>
              <a:t>Depois escolha </a:t>
            </a:r>
            <a:r>
              <a:rPr b="1" i="0" lang="pt-BR" sz="1300" u="none" cap="none" strike="noStrike">
                <a:solidFill>
                  <a:schemeClr val="dk1"/>
                </a:solidFill>
                <a:latin typeface="Arial"/>
                <a:ea typeface="Arial"/>
                <a:cs typeface="Arial"/>
                <a:sym typeface="Arial"/>
              </a:rPr>
              <a:t>Ir Para</a:t>
            </a:r>
            <a:r>
              <a:rPr b="0" i="0" lang="pt-BR" sz="1300" u="none" cap="none" strike="noStrike">
                <a:solidFill>
                  <a:schemeClr val="dk1"/>
                </a:solidFill>
                <a:latin typeface="Arial"/>
                <a:ea typeface="Arial"/>
                <a:cs typeface="Arial"/>
                <a:sym typeface="Arial"/>
              </a:rPr>
              <a:t>.</a:t>
            </a:r>
            <a:endParaRPr b="0" i="0" sz="13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300">
              <a:solidFill>
                <a:schemeClr val="dk1"/>
              </a:solidFill>
            </a:endParaRPr>
          </a:p>
          <a:p>
            <a:pPr indent="-82550" lvl="0" marL="0" marR="0" rtl="0" algn="l">
              <a:spcBef>
                <a:spcPts val="0"/>
              </a:spcBef>
              <a:spcAft>
                <a:spcPts val="0"/>
              </a:spcAft>
              <a:buClr>
                <a:schemeClr val="dk1"/>
              </a:buClr>
              <a:buSzPts val="1300"/>
              <a:buFont typeface="Play"/>
              <a:buAutoNum type="arabicPeriod"/>
            </a:pPr>
            <a:r>
              <a:rPr b="1" lang="pt-BR" sz="1300">
                <a:solidFill>
                  <a:schemeClr val="dk1"/>
                </a:solidFill>
                <a:latin typeface="Arial"/>
                <a:ea typeface="Arial"/>
                <a:cs typeface="Arial"/>
                <a:sym typeface="Arial"/>
              </a:rPr>
              <a:t>Usando atalhos no teclado</a:t>
            </a:r>
            <a:r>
              <a:rPr lang="pt-BR" sz="1300">
                <a:solidFill>
                  <a:schemeClr val="dk1"/>
                </a:solidFill>
                <a:latin typeface="Arial"/>
                <a:ea typeface="Arial"/>
                <a:cs typeface="Arial"/>
                <a:sym typeface="Arial"/>
              </a:rPr>
              <a:t>:</a:t>
            </a:r>
            <a:endParaRPr sz="1100"/>
          </a:p>
          <a:p>
            <a:pPr indent="-215900" lvl="1" marL="584200" marR="0" rtl="0" algn="l">
              <a:spcBef>
                <a:spcPts val="0"/>
              </a:spcBef>
              <a:spcAft>
                <a:spcPts val="0"/>
              </a:spcAft>
              <a:buClr>
                <a:schemeClr val="dk1"/>
              </a:buClr>
              <a:buSzPts val="1200"/>
              <a:buAutoNum type="arabicPeriod"/>
            </a:pPr>
            <a:r>
              <a:rPr b="0" i="0" lang="pt-BR" sz="1300" u="none" cap="none" strike="noStrike">
                <a:solidFill>
                  <a:schemeClr val="dk1"/>
                </a:solidFill>
                <a:latin typeface="Arial"/>
                <a:ea typeface="Arial"/>
                <a:cs typeface="Arial"/>
                <a:sym typeface="Arial"/>
              </a:rPr>
              <a:t>Pressione </a:t>
            </a:r>
            <a:r>
              <a:rPr b="1" i="0" lang="pt-BR" sz="1300" u="none" cap="none" strike="noStrike">
                <a:solidFill>
                  <a:schemeClr val="dk1"/>
                </a:solidFill>
                <a:latin typeface="Arial"/>
                <a:ea typeface="Arial"/>
                <a:cs typeface="Arial"/>
                <a:sym typeface="Arial"/>
              </a:rPr>
              <a:t>Ctrl + G</a:t>
            </a:r>
            <a:r>
              <a:rPr b="0" i="0" lang="pt-BR" sz="1300" u="none" cap="none" strike="noStrike">
                <a:solidFill>
                  <a:schemeClr val="dk1"/>
                </a:solidFill>
                <a:latin typeface="Arial"/>
                <a:ea typeface="Arial"/>
                <a:cs typeface="Arial"/>
                <a:sym typeface="Arial"/>
              </a:rPr>
              <a:t> ou apenas a tecla </a:t>
            </a:r>
            <a:r>
              <a:rPr b="1" i="0" lang="pt-BR" sz="1300" u="none" cap="none" strike="noStrike">
                <a:solidFill>
                  <a:schemeClr val="dk1"/>
                </a:solidFill>
                <a:latin typeface="Arial"/>
                <a:ea typeface="Arial"/>
                <a:cs typeface="Arial"/>
                <a:sym typeface="Arial"/>
              </a:rPr>
              <a:t>F5</a:t>
            </a:r>
            <a:r>
              <a:rPr b="0" i="0" lang="pt-BR" sz="1300" u="none" cap="none" strike="noStrike">
                <a:solidFill>
                  <a:schemeClr val="dk1"/>
                </a:solidFill>
                <a:latin typeface="Arial"/>
                <a:ea typeface="Arial"/>
                <a:cs typeface="Arial"/>
                <a:sym typeface="Arial"/>
              </a:rPr>
              <a:t>.</a:t>
            </a:r>
            <a:endParaRPr sz="1100"/>
          </a:p>
          <a:p>
            <a:pPr indent="-215900" lvl="1" marL="584200" marR="0" rtl="0" algn="l">
              <a:spcBef>
                <a:spcPts val="0"/>
              </a:spcBef>
              <a:spcAft>
                <a:spcPts val="0"/>
              </a:spcAft>
              <a:buClr>
                <a:schemeClr val="dk1"/>
              </a:buClr>
              <a:buSzPts val="1200"/>
              <a:buAutoNum type="arabicPeriod"/>
            </a:pPr>
            <a:r>
              <a:rPr b="0" i="0" lang="pt-BR" sz="1300" u="none" cap="none" strike="noStrike">
                <a:solidFill>
                  <a:schemeClr val="dk1"/>
                </a:solidFill>
                <a:latin typeface="Arial"/>
                <a:ea typeface="Arial"/>
                <a:cs typeface="Arial"/>
                <a:sym typeface="Arial"/>
              </a:rPr>
              <a:t>Vai abrir uma caixinha chamada </a:t>
            </a:r>
            <a:r>
              <a:rPr b="1" i="0" lang="pt-BR" sz="1300" u="none" cap="none" strike="noStrike">
                <a:solidFill>
                  <a:schemeClr val="dk1"/>
                </a:solidFill>
                <a:latin typeface="Arial"/>
                <a:ea typeface="Arial"/>
                <a:cs typeface="Arial"/>
                <a:sym typeface="Arial"/>
              </a:rPr>
              <a:t>Ir Para</a:t>
            </a:r>
            <a:r>
              <a:rPr b="0" i="0" lang="pt-BR" sz="1300" u="none" cap="none" strike="noStrike">
                <a:solidFill>
                  <a:schemeClr val="dk1"/>
                </a:solidFill>
                <a:latin typeface="Arial"/>
                <a:ea typeface="Arial"/>
                <a:cs typeface="Arial"/>
                <a:sym typeface="Arial"/>
              </a:rPr>
              <a:t>.</a:t>
            </a:r>
            <a:endParaRPr sz="1100"/>
          </a:p>
        </p:txBody>
      </p:sp>
      <p:sp>
        <p:nvSpPr>
          <p:cNvPr id="123" name="Google Shape;123;p5"/>
          <p:cNvSpPr/>
          <p:nvPr/>
        </p:nvSpPr>
        <p:spPr>
          <a:xfrm>
            <a:off x="527659" y="3884060"/>
            <a:ext cx="8088600" cy="1692900"/>
          </a:xfrm>
          <a:prstGeom prst="rect">
            <a:avLst/>
          </a:prstGeom>
          <a:noFill/>
          <a:ln>
            <a:noFill/>
          </a:ln>
        </p:spPr>
        <p:txBody>
          <a:bodyPr anchorCtr="0" anchor="ctr" bIns="35550" lIns="71100" spcFirstLastPara="1" rIns="71100" wrap="square" tIns="35550">
            <a:spAutoFit/>
          </a:bodyPr>
          <a:lstStyle/>
          <a:p>
            <a:pPr indent="0" lvl="0" marL="0" marR="0" rtl="0" algn="l">
              <a:lnSpc>
                <a:spcPct val="100000"/>
              </a:lnSpc>
              <a:spcBef>
                <a:spcPts val="0"/>
              </a:spcBef>
              <a:spcAft>
                <a:spcPts val="0"/>
              </a:spcAft>
              <a:buClr>
                <a:schemeClr val="dk1"/>
              </a:buClr>
              <a:buSzPts val="1400"/>
              <a:buFont typeface="Arial"/>
              <a:buNone/>
            </a:pPr>
            <a:r>
              <a:rPr b="1" i="0" lang="pt-BR" sz="1400" u="none" cap="none" strike="noStrike">
                <a:solidFill>
                  <a:schemeClr val="dk1"/>
                </a:solidFill>
                <a:latin typeface="Arial"/>
                <a:ea typeface="Arial"/>
                <a:cs typeface="Arial"/>
                <a:sym typeface="Arial"/>
              </a:rPr>
              <a:t>Exemplo para praticar:</a:t>
            </a:r>
            <a:endParaRPr sz="1100"/>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Utilizando a planilha anterior (de Controle de Despesas Mensais):</a:t>
            </a:r>
            <a:endParaRPr sz="1100"/>
          </a:p>
          <a:p>
            <a:pPr indent="-88900" lvl="0" marL="0" marR="0" rtl="0" algn="l">
              <a:lnSpc>
                <a:spcPct val="100000"/>
              </a:lnSpc>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Ative a função </a:t>
            </a:r>
            <a:r>
              <a:rPr b="1" i="0" lang="pt-BR" sz="1400" u="none" cap="none" strike="noStrike">
                <a:solidFill>
                  <a:schemeClr val="dk1"/>
                </a:solidFill>
                <a:latin typeface="Arial"/>
                <a:ea typeface="Arial"/>
                <a:cs typeface="Arial"/>
                <a:sym typeface="Arial"/>
              </a:rPr>
              <a:t>Ir Para</a:t>
            </a:r>
            <a:r>
              <a:rPr b="0" i="0" lang="pt-BR" sz="1400" u="none" cap="none" strike="noStrike">
                <a:solidFill>
                  <a:schemeClr val="dk1"/>
                </a:solidFill>
                <a:latin typeface="Arial"/>
                <a:ea typeface="Arial"/>
                <a:cs typeface="Arial"/>
                <a:sym typeface="Arial"/>
              </a:rPr>
              <a:t>.</a:t>
            </a:r>
            <a:endParaRPr sz="1100"/>
          </a:p>
          <a:p>
            <a:pPr indent="-88900" lvl="0" marL="0" marR="0" rtl="0" algn="l">
              <a:lnSpc>
                <a:spcPct val="100000"/>
              </a:lnSpc>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Digite o nome da célula:</a:t>
            </a:r>
            <a:endParaRPr b="0" i="0" sz="1400" u="none" cap="none" strike="noStrike">
              <a:solidFill>
                <a:schemeClr val="dk1"/>
              </a:solidFill>
              <a:latin typeface="Arimo"/>
              <a:ea typeface="Arimo"/>
              <a:cs typeface="Arimo"/>
              <a:sym typeface="Arimo"/>
            </a:endParaRPr>
          </a:p>
          <a:p>
            <a:pPr indent="0" lvl="0" marL="0" marR="0" rtl="0" algn="l">
              <a:lnSpc>
                <a:spcPct val="100000"/>
              </a:lnSpc>
              <a:spcBef>
                <a:spcPts val="0"/>
              </a:spcBef>
              <a:spcAft>
                <a:spcPts val="0"/>
              </a:spcAft>
              <a:buClr>
                <a:schemeClr val="dk1"/>
              </a:buClr>
              <a:buSzPts val="1400"/>
              <a:buFont typeface="Arimo"/>
              <a:buNone/>
            </a:pPr>
            <a:r>
              <a:rPr b="0" i="0" lang="pt-BR" sz="1400" u="none" cap="none" strike="noStrike">
                <a:solidFill>
                  <a:schemeClr val="dk1"/>
                </a:solidFill>
                <a:latin typeface="Arimo"/>
                <a:ea typeface="Arimo"/>
                <a:cs typeface="Arimo"/>
                <a:sym typeface="Arimo"/>
              </a:rPr>
              <a:t>B11 </a:t>
            </a:r>
            <a:endParaRPr b="0" i="0" sz="1400" u="none" cap="none" strike="noStrike">
              <a:solidFill>
                <a:schemeClr val="dk1"/>
              </a:solidFill>
              <a:latin typeface="Arial"/>
              <a:ea typeface="Arial"/>
              <a:cs typeface="Arial"/>
              <a:sym typeface="Arial"/>
            </a:endParaRPr>
          </a:p>
          <a:p>
            <a:pPr indent="-88900" lvl="0" marL="0" marR="0" rtl="0" algn="l">
              <a:lnSpc>
                <a:spcPct val="100000"/>
              </a:lnSpc>
              <a:spcBef>
                <a:spcPts val="0"/>
              </a:spcBef>
              <a:spcAft>
                <a:spcPts val="0"/>
              </a:spcAft>
              <a:buClr>
                <a:schemeClr val="dk1"/>
              </a:buClr>
              <a:buSzPts val="1400"/>
              <a:buFont typeface="Arial"/>
              <a:buChar char="•"/>
            </a:pPr>
            <a:r>
              <a:rPr lang="pt-BR">
                <a:solidFill>
                  <a:schemeClr val="dk1"/>
                </a:solidFill>
              </a:rPr>
              <a:t> </a:t>
            </a:r>
            <a:r>
              <a:rPr b="0" i="0" lang="pt-BR" sz="1400" u="none" cap="none" strike="noStrike">
                <a:solidFill>
                  <a:schemeClr val="dk1"/>
                </a:solidFill>
                <a:latin typeface="Arial"/>
                <a:ea typeface="Arial"/>
                <a:cs typeface="Arial"/>
                <a:sym typeface="Arial"/>
              </a:rPr>
              <a:t>Depois clique em </a:t>
            </a:r>
            <a:r>
              <a:rPr b="1" i="0" lang="pt-BR" sz="1400" u="none" cap="none" strike="noStrike">
                <a:solidFill>
                  <a:schemeClr val="dk1"/>
                </a:solidFill>
                <a:latin typeface="Arial"/>
                <a:ea typeface="Arial"/>
                <a:cs typeface="Arial"/>
                <a:sym typeface="Arial"/>
              </a:rPr>
              <a:t>OK</a:t>
            </a:r>
            <a:r>
              <a:rPr b="0" i="0" lang="pt-BR" sz="1400" u="none" cap="none" strike="noStrike">
                <a:solidFill>
                  <a:schemeClr val="dk1"/>
                </a:solidFill>
                <a:latin typeface="Arial"/>
                <a:ea typeface="Arial"/>
                <a:cs typeface="Arial"/>
                <a:sym typeface="Arial"/>
              </a:rPr>
              <a:t>.</a:t>
            </a:r>
            <a:endParaRPr sz="1100"/>
          </a:p>
          <a:p>
            <a:pPr indent="0" lvl="0" marL="0" marR="0" rtl="0" algn="l">
              <a:lnSpc>
                <a:spcPct val="100000"/>
              </a:lnSpc>
              <a:spcBef>
                <a:spcPts val="0"/>
              </a:spcBef>
              <a:spcAft>
                <a:spcPts val="0"/>
              </a:spcAft>
              <a:buClr>
                <a:schemeClr val="dk1"/>
              </a:buClr>
              <a:buSzPts val="1400"/>
              <a:buFont typeface="Arial"/>
              <a:buNone/>
            </a:pPr>
            <a:r>
              <a:rPr b="0" i="0" lang="pt-BR" sz="1400" u="none" cap="none" strike="noStrike">
                <a:solidFill>
                  <a:schemeClr val="dk1"/>
                </a:solidFill>
                <a:latin typeface="Arial"/>
                <a:ea typeface="Arial"/>
                <a:cs typeface="Arial"/>
                <a:sym typeface="Arial"/>
              </a:rPr>
              <a:t>O Excel vai levar você direto para a célula </a:t>
            </a:r>
            <a:r>
              <a:rPr b="1" i="0" lang="pt-BR" sz="1400" u="none" cap="none" strike="noStrike">
                <a:solidFill>
                  <a:schemeClr val="dk1"/>
                </a:solidFill>
                <a:latin typeface="Arial"/>
                <a:ea typeface="Arial"/>
                <a:cs typeface="Arial"/>
                <a:sym typeface="Arial"/>
              </a:rPr>
              <a:t>B11</a:t>
            </a:r>
            <a:r>
              <a:rPr b="0" i="0" lang="pt-BR" sz="1400" u="none" cap="none" strike="noStrike">
                <a:solidFill>
                  <a:schemeClr val="dk1"/>
                </a:solidFill>
                <a:latin typeface="Arial"/>
                <a:ea typeface="Arial"/>
                <a:cs typeface="Arial"/>
                <a:sym typeface="Arial"/>
              </a:rPr>
              <a:t>, onde podemos, por exemplo, somar o total do mês!</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100">
                <a:solidFill>
                  <a:schemeClr val="lt1"/>
                </a:solidFill>
                <a:latin typeface="Arial"/>
                <a:ea typeface="Arial"/>
                <a:cs typeface="Arial"/>
                <a:sym typeface="Arial"/>
              </a:rPr>
              <a:t>VISUALIZANDO VÁRIAS PLANILHAS AO MESMO TEMPO NO EXCEL</a:t>
            </a:r>
            <a:endParaRPr b="1" sz="2100">
              <a:solidFill>
                <a:schemeClr val="lt1"/>
              </a:solidFill>
              <a:latin typeface="Arial"/>
              <a:ea typeface="Arial"/>
              <a:cs typeface="Arial"/>
              <a:sym typeface="Arial"/>
            </a:endParaRPr>
          </a:p>
        </p:txBody>
      </p:sp>
      <p:sp>
        <p:nvSpPr>
          <p:cNvPr id="130" name="Google Shape;130;p6"/>
          <p:cNvSpPr txBox="1"/>
          <p:nvPr/>
        </p:nvSpPr>
        <p:spPr>
          <a:xfrm>
            <a:off x="256903" y="1289538"/>
            <a:ext cx="86301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Você sabia que dá pra abrir várias janelas da mesma planilha e visualizar tudo junto? Isso é ótimo quando queremos comparar dados ou trabalhar com duas partes da planilha ao mesmo tempo!</a:t>
            </a:r>
            <a:endParaRPr sz="1400">
              <a:solidFill>
                <a:schemeClr val="dk1"/>
              </a:solidFill>
              <a:latin typeface="Arial"/>
              <a:ea typeface="Arial"/>
              <a:cs typeface="Arial"/>
              <a:sym typeface="Arial"/>
            </a:endParaRPr>
          </a:p>
        </p:txBody>
      </p:sp>
      <p:sp>
        <p:nvSpPr>
          <p:cNvPr id="131" name="Google Shape;131;p6"/>
          <p:cNvSpPr txBox="1"/>
          <p:nvPr/>
        </p:nvSpPr>
        <p:spPr>
          <a:xfrm>
            <a:off x="256903" y="1934307"/>
            <a:ext cx="84756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Passo a passo para abrir uma nova janela: </a:t>
            </a:r>
            <a:endParaRPr b="1" sz="1400">
              <a:solidFill>
                <a:schemeClr val="dk1"/>
              </a:solidFill>
              <a:latin typeface="Arial"/>
              <a:ea typeface="Arial"/>
              <a:cs typeface="Arial"/>
              <a:sym typeface="Arial"/>
            </a:endParaRPr>
          </a:p>
          <a:p>
            <a:pPr indent="-228600" lvl="0" marL="22860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Vá até a guia Exibir no Excel. </a:t>
            </a:r>
            <a:endParaRPr sz="1100"/>
          </a:p>
          <a:p>
            <a:pPr indent="-228600" lvl="0" marL="22860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Clique na opção Nova Janela. </a:t>
            </a:r>
            <a:endParaRPr sz="1100"/>
          </a:p>
          <a:p>
            <a:pPr indent="-228600" lvl="0" marL="22860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Isso vai abrir uma nova aba do Excel, com a mesma planilha que você já estava mexendo.</a:t>
            </a:r>
            <a:endParaRPr sz="1400">
              <a:solidFill>
                <a:schemeClr val="dk1"/>
              </a:solidFill>
              <a:latin typeface="Arial"/>
              <a:ea typeface="Arial"/>
              <a:cs typeface="Arial"/>
              <a:sym typeface="Arial"/>
            </a:endParaRPr>
          </a:p>
        </p:txBody>
      </p:sp>
      <p:sp>
        <p:nvSpPr>
          <p:cNvPr id="132" name="Google Shape;132;p6"/>
          <p:cNvSpPr txBox="1"/>
          <p:nvPr/>
        </p:nvSpPr>
        <p:spPr>
          <a:xfrm>
            <a:off x="256904" y="3193888"/>
            <a:ext cx="86301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Alternando entre as janelas</a:t>
            </a:r>
            <a:r>
              <a:rPr lang="pt-BR" sz="1400">
                <a:solidFill>
                  <a:schemeClr val="dk1"/>
                </a:solidFill>
                <a:latin typeface="Arial"/>
                <a:ea typeface="Arial"/>
                <a:cs typeface="Arial"/>
                <a:sym typeface="Arial"/>
              </a:rPr>
              <a:t>:Para mudar de uma janela para outra: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Use o atalho Ctrl + Tab no teclado. Cada vez que você apertar, vai mudar de uma janela para a outra.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Ou: Vá na guia Exibir e clique na opção Alternar Janelas. Lá, você verá a lista de janelas abertas e pode escolher qual quer ver.</a:t>
            </a:r>
            <a:endParaRPr sz="14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 INSERINDO E REMOVENDO CÉLULAS NO EXCEL</a:t>
            </a:r>
            <a:endParaRPr b="1" sz="2200">
              <a:solidFill>
                <a:schemeClr val="lt1"/>
              </a:solidFill>
              <a:latin typeface="Arial"/>
              <a:ea typeface="Arial"/>
              <a:cs typeface="Arial"/>
              <a:sym typeface="Arial"/>
            </a:endParaRPr>
          </a:p>
        </p:txBody>
      </p:sp>
      <p:sp>
        <p:nvSpPr>
          <p:cNvPr id="139" name="Google Shape;139;p7"/>
          <p:cNvSpPr txBox="1"/>
          <p:nvPr/>
        </p:nvSpPr>
        <p:spPr>
          <a:xfrm>
            <a:off x="94957" y="1359877"/>
            <a:ext cx="89154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Durante a construção de uma planilha, é comum perceber que precisamos adicionar ou remover alguma célula para organizar melhor as informações. O Excel já tem uma ferramenta que resolve isso rapidinho! Vamos aprender como usar.</a:t>
            </a:r>
            <a:endParaRPr sz="1400">
              <a:solidFill>
                <a:schemeClr val="dk1"/>
              </a:solidFill>
              <a:latin typeface="Arial"/>
              <a:ea typeface="Arial"/>
              <a:cs typeface="Arial"/>
              <a:sym typeface="Arial"/>
            </a:endParaRPr>
          </a:p>
        </p:txBody>
      </p:sp>
      <p:sp>
        <p:nvSpPr>
          <p:cNvPr id="140" name="Google Shape;140;p7"/>
          <p:cNvSpPr txBox="1"/>
          <p:nvPr/>
        </p:nvSpPr>
        <p:spPr>
          <a:xfrm>
            <a:off x="94957" y="2286001"/>
            <a:ext cx="86286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COMO INSERIR CÉLULAS: </a:t>
            </a:r>
            <a:r>
              <a:rPr lang="pt-BR" sz="1400">
                <a:solidFill>
                  <a:schemeClr val="dk1"/>
                </a:solidFill>
                <a:latin typeface="Arial"/>
                <a:ea typeface="Arial"/>
                <a:cs typeface="Arial"/>
                <a:sym typeface="Arial"/>
              </a:rPr>
              <a:t>Selecione a célula (ou o grupo de células) onde você deseja fazer a inserção. Clique com o botão direito do mouse sobre ela. Escolha a opção Inserir.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Vai aparecer um pequeno menu perguntando: Deseja deslocar as células para a direita? Ou deslocar para baixo?</a:t>
            </a:r>
            <a:endParaRPr sz="1400">
              <a:solidFill>
                <a:schemeClr val="dk1"/>
              </a:solidFill>
              <a:latin typeface="Arial"/>
              <a:ea typeface="Arial"/>
              <a:cs typeface="Arial"/>
              <a:sym typeface="Arial"/>
            </a:endParaRPr>
          </a:p>
        </p:txBody>
      </p:sp>
      <p:sp>
        <p:nvSpPr>
          <p:cNvPr id="141" name="Google Shape;141;p7"/>
          <p:cNvSpPr txBox="1"/>
          <p:nvPr/>
        </p:nvSpPr>
        <p:spPr>
          <a:xfrm>
            <a:off x="94957" y="3442957"/>
            <a:ext cx="86616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Exemplo prático: </a:t>
            </a:r>
            <a:r>
              <a:rPr lang="pt-BR" sz="1400">
                <a:solidFill>
                  <a:schemeClr val="dk1"/>
                </a:solidFill>
                <a:latin typeface="Arial"/>
                <a:ea typeface="Arial"/>
                <a:cs typeface="Arial"/>
                <a:sym typeface="Arial"/>
              </a:rPr>
              <a:t>Se você escreveu uma lista e esqueceu um item no meio, pode usar essa função para empurrar tudo pra baixo e encaixar o item novo onde quiser!</a:t>
            </a:r>
            <a:endParaRPr sz="14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8"/>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 INSERINDO E REMOVENDO CÉLULAS NO EXCEL</a:t>
            </a:r>
            <a:endParaRPr b="1" sz="2200">
              <a:solidFill>
                <a:schemeClr val="lt1"/>
              </a:solidFill>
              <a:latin typeface="Arial"/>
              <a:ea typeface="Arial"/>
              <a:cs typeface="Arial"/>
              <a:sym typeface="Arial"/>
            </a:endParaRPr>
          </a:p>
        </p:txBody>
      </p:sp>
      <p:sp>
        <p:nvSpPr>
          <p:cNvPr id="148" name="Google Shape;148;p8"/>
          <p:cNvSpPr txBox="1"/>
          <p:nvPr/>
        </p:nvSpPr>
        <p:spPr>
          <a:xfrm>
            <a:off x="211015" y="1324708"/>
            <a:ext cx="84513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200">
                <a:solidFill>
                  <a:schemeClr val="dk1"/>
                </a:solidFill>
                <a:latin typeface="Arial"/>
                <a:ea typeface="Arial"/>
                <a:cs typeface="Arial"/>
                <a:sym typeface="Arial"/>
              </a:rPr>
              <a:t>COMO EXCLUIR CÉLULAS: </a:t>
            </a:r>
            <a:r>
              <a:rPr lang="pt-BR" sz="1400">
                <a:solidFill>
                  <a:schemeClr val="dk1"/>
                </a:solidFill>
                <a:latin typeface="Arial"/>
                <a:ea typeface="Arial"/>
                <a:cs typeface="Arial"/>
                <a:sym typeface="Arial"/>
              </a:rPr>
              <a:t>Selecione a célula (ou células) que você quer apagar. Clique com o botão direito do mouse sobre a seleção. Clique em Excluir. Escolha se deseja deslocar as outras células para a esquerda ou para cima.</a:t>
            </a:r>
            <a:endParaRPr sz="1400">
              <a:solidFill>
                <a:schemeClr val="dk1"/>
              </a:solidFill>
              <a:latin typeface="Arial"/>
              <a:ea typeface="Arial"/>
              <a:cs typeface="Arial"/>
              <a:sym typeface="Arial"/>
            </a:endParaRPr>
          </a:p>
        </p:txBody>
      </p:sp>
      <p:sp>
        <p:nvSpPr>
          <p:cNvPr id="149" name="Google Shape;149;p8"/>
          <p:cNvSpPr txBox="1"/>
          <p:nvPr/>
        </p:nvSpPr>
        <p:spPr>
          <a:xfrm>
            <a:off x="211015" y="2364583"/>
            <a:ext cx="82719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Exemplo prático</a:t>
            </a:r>
            <a:r>
              <a:rPr lang="pt-BR" sz="1400">
                <a:solidFill>
                  <a:schemeClr val="dk1"/>
                </a:solidFill>
                <a:latin typeface="Arial"/>
                <a:ea typeface="Arial"/>
                <a:cs typeface="Arial"/>
                <a:sym typeface="Arial"/>
              </a:rPr>
              <a:t>: Você preencheu uma célula errada? É só excluir e deixar o Excel reorganizar as informações automaticamente.</a:t>
            </a:r>
            <a:endParaRPr sz="1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SE</a:t>
            </a:r>
            <a:endParaRPr b="1" sz="2200">
              <a:solidFill>
                <a:schemeClr val="lt1"/>
              </a:solidFill>
              <a:latin typeface="Arial"/>
              <a:ea typeface="Arial"/>
              <a:cs typeface="Arial"/>
              <a:sym typeface="Arial"/>
            </a:endParaRPr>
          </a:p>
        </p:txBody>
      </p:sp>
      <p:sp>
        <p:nvSpPr>
          <p:cNvPr id="156" name="Google Shape;156;p9"/>
          <p:cNvSpPr txBox="1"/>
          <p:nvPr/>
        </p:nvSpPr>
        <p:spPr>
          <a:xfrm>
            <a:off x="172329" y="1248973"/>
            <a:ext cx="87993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Chegou a hora de aprender uma das funções mais importantes do Excel: a Função SE! Ela pode parecer difícil no começo, mas vamos entender juntos de forma bem tranquila.</a:t>
            </a:r>
            <a:endParaRPr sz="1400">
              <a:solidFill>
                <a:schemeClr val="dk1"/>
              </a:solidFill>
              <a:latin typeface="Arial"/>
              <a:ea typeface="Arial"/>
              <a:cs typeface="Arial"/>
              <a:sym typeface="Arial"/>
            </a:endParaRPr>
          </a:p>
        </p:txBody>
      </p:sp>
      <p:sp>
        <p:nvSpPr>
          <p:cNvPr id="157" name="Google Shape;157;p9"/>
          <p:cNvSpPr txBox="1"/>
          <p:nvPr/>
        </p:nvSpPr>
        <p:spPr>
          <a:xfrm>
            <a:off x="172329" y="1982280"/>
            <a:ext cx="85218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O que é a </a:t>
            </a:r>
            <a:r>
              <a:rPr b="1" lang="pt-BR" sz="1400">
                <a:solidFill>
                  <a:schemeClr val="dk1"/>
                </a:solidFill>
                <a:latin typeface="Arial"/>
                <a:ea typeface="Arial"/>
                <a:cs typeface="Arial"/>
                <a:sym typeface="Arial"/>
              </a:rPr>
              <a:t>Função SE? </a:t>
            </a:r>
            <a:r>
              <a:rPr lang="pt-BR" sz="1400">
                <a:solidFill>
                  <a:schemeClr val="dk1"/>
                </a:solidFill>
                <a:latin typeface="Arial"/>
                <a:ea typeface="Arial"/>
                <a:cs typeface="Arial"/>
                <a:sym typeface="Arial"/>
              </a:rPr>
              <a:t>A Função SE faz o Excel pensar: Se algo for verdade, ele mostra uma coisa. Se for falso, mostra outra. </a:t>
            </a:r>
            <a:endParaRPr sz="1400">
              <a:solidFill>
                <a:schemeClr val="dk1"/>
              </a:solidFill>
              <a:latin typeface="Arial"/>
              <a:ea typeface="Arial"/>
              <a:cs typeface="Arial"/>
              <a:sym typeface="Arial"/>
            </a:endParaRPr>
          </a:p>
        </p:txBody>
      </p:sp>
      <p:sp>
        <p:nvSpPr>
          <p:cNvPr id="158" name="Google Shape;158;p9"/>
          <p:cNvSpPr txBox="1"/>
          <p:nvPr/>
        </p:nvSpPr>
        <p:spPr>
          <a:xfrm>
            <a:off x="172329" y="2715588"/>
            <a:ext cx="25815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Como escrever a Função SE?</a:t>
            </a:r>
            <a:endParaRPr b="1" sz="1400">
              <a:solidFill>
                <a:schemeClr val="dk1"/>
              </a:solidFill>
              <a:latin typeface="Arial"/>
              <a:ea typeface="Arial"/>
              <a:cs typeface="Arial"/>
              <a:sym typeface="Arial"/>
            </a:endParaRPr>
          </a:p>
        </p:txBody>
      </p:sp>
      <p:sp>
        <p:nvSpPr>
          <p:cNvPr id="159" name="Google Shape;159;p9"/>
          <p:cNvSpPr txBox="1"/>
          <p:nvPr/>
        </p:nvSpPr>
        <p:spPr>
          <a:xfrm>
            <a:off x="172329" y="3118339"/>
            <a:ext cx="86550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O modelo (que chamamos de </a:t>
            </a:r>
            <a:r>
              <a:rPr b="1" lang="pt-BR" sz="1400">
                <a:solidFill>
                  <a:schemeClr val="dk1"/>
                </a:solidFill>
                <a:latin typeface="Arial"/>
                <a:ea typeface="Arial"/>
                <a:cs typeface="Arial"/>
                <a:sym typeface="Arial"/>
              </a:rPr>
              <a:t>sintaxe</a:t>
            </a:r>
            <a:r>
              <a:rPr lang="pt-BR" sz="1400">
                <a:solidFill>
                  <a:schemeClr val="dk1"/>
                </a:solidFill>
                <a:latin typeface="Arial"/>
                <a:ea typeface="Arial"/>
                <a:cs typeface="Arial"/>
                <a:sym typeface="Arial"/>
              </a:rPr>
              <a:t>) é assim: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=SE(TESTE_LÓGICO; VALOR_SE_VERDADEIRO; VALOR_SE_FALSO)</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FUNÇÃO SE</a:t>
            </a:r>
            <a:endParaRPr b="1" sz="2200">
              <a:solidFill>
                <a:schemeClr val="lt1"/>
              </a:solidFill>
              <a:latin typeface="Arial"/>
              <a:ea typeface="Arial"/>
              <a:cs typeface="Arial"/>
              <a:sym typeface="Arial"/>
            </a:endParaRPr>
          </a:p>
        </p:txBody>
      </p:sp>
      <p:sp>
        <p:nvSpPr>
          <p:cNvPr id="166" name="Google Shape;166;p10"/>
          <p:cNvSpPr txBox="1"/>
          <p:nvPr/>
        </p:nvSpPr>
        <p:spPr>
          <a:xfrm>
            <a:off x="189914" y="1162846"/>
            <a:ext cx="26262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Vamos entender parte por parte:</a:t>
            </a:r>
            <a:endParaRPr sz="1400">
              <a:solidFill>
                <a:schemeClr val="dk1"/>
              </a:solidFill>
              <a:latin typeface="Arial"/>
              <a:ea typeface="Arial"/>
              <a:cs typeface="Arial"/>
              <a:sym typeface="Arial"/>
            </a:endParaRPr>
          </a:p>
        </p:txBody>
      </p:sp>
      <p:sp>
        <p:nvSpPr>
          <p:cNvPr id="167" name="Google Shape;167;p10"/>
          <p:cNvSpPr txBox="1"/>
          <p:nvPr/>
        </p:nvSpPr>
        <p:spPr>
          <a:xfrm>
            <a:off x="189914" y="1774289"/>
            <a:ext cx="8598300" cy="1072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Exemplo Prático</a:t>
            </a:r>
            <a:r>
              <a:rPr lang="pt-BR" sz="1400">
                <a:solidFill>
                  <a:schemeClr val="dk1"/>
                </a:solidFill>
                <a:latin typeface="Arial"/>
                <a:ea typeface="Arial"/>
                <a:cs typeface="Arial"/>
                <a:sym typeface="Arial"/>
              </a:rPr>
              <a:t>: Imagine que temos uma nota na célula A1.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Queremos saber se o aluno passou (nota maior ou igual a 7). A fórmula seria: </a:t>
            </a:r>
            <a:r>
              <a:rPr lang="pt-BR" sz="3700">
                <a:solidFill>
                  <a:schemeClr val="dk1"/>
                </a:solidFill>
                <a:latin typeface="Arial"/>
                <a:ea typeface="Arial"/>
                <a:cs typeface="Arial"/>
                <a:sym typeface="Arial"/>
              </a:rPr>
              <a:t>=SE(A1&gt;=7;"Aprovado";"Reprovado")</a:t>
            </a:r>
            <a:endParaRPr sz="3700">
              <a:solidFill>
                <a:schemeClr val="dk1"/>
              </a:solidFill>
              <a:latin typeface="Arial"/>
              <a:ea typeface="Arial"/>
              <a:cs typeface="Arial"/>
              <a:sym typeface="Arial"/>
            </a:endParaRPr>
          </a:p>
        </p:txBody>
      </p:sp>
      <p:sp>
        <p:nvSpPr>
          <p:cNvPr id="168" name="Google Shape;168;p10"/>
          <p:cNvSpPr txBox="1"/>
          <p:nvPr/>
        </p:nvSpPr>
        <p:spPr>
          <a:xfrm>
            <a:off x="274313" y="2988923"/>
            <a:ext cx="6256500" cy="502800"/>
          </a:xfrm>
          <a:prstGeom prst="rect">
            <a:avLst/>
          </a:prstGeom>
          <a:noFill/>
          <a:ln>
            <a:noFill/>
          </a:ln>
        </p:spPr>
        <p:txBody>
          <a:bodyPr anchorCtr="0" anchor="t" bIns="35550" lIns="71100" spcFirstLastPara="1" rIns="71100" wrap="square" tIns="35550">
            <a:spAutoFit/>
          </a:bodyPr>
          <a:lstStyle/>
          <a:p>
            <a:pPr indent="-228600" lvl="0" marL="22860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Se a nota for 7, 8, 9 ou 10 → aparece "Aprovado".</a:t>
            </a:r>
            <a:endParaRPr sz="1100"/>
          </a:p>
          <a:p>
            <a:pPr indent="-228600" lvl="0" marL="228600" marR="0" rtl="0" algn="l">
              <a:spcBef>
                <a:spcPts val="0"/>
              </a:spcBef>
              <a:spcAft>
                <a:spcPts val="0"/>
              </a:spcAft>
              <a:buClr>
                <a:schemeClr val="dk1"/>
              </a:buClr>
              <a:buSzPts val="1400"/>
              <a:buFont typeface="Arial"/>
              <a:buChar char="•"/>
            </a:pPr>
            <a:r>
              <a:rPr lang="pt-BR" sz="1400">
                <a:solidFill>
                  <a:schemeClr val="dk1"/>
                </a:solidFill>
                <a:latin typeface="Arial"/>
                <a:ea typeface="Arial"/>
                <a:cs typeface="Arial"/>
                <a:sym typeface="Arial"/>
              </a:rPr>
              <a:t>Se a nota for 6, 5, 4... → aparece "Reprovado".</a:t>
            </a:r>
            <a:endParaRPr sz="1400">
              <a:solidFill>
                <a:schemeClr val="dk1"/>
              </a:solidFill>
              <a:latin typeface="Arial"/>
              <a:ea typeface="Arial"/>
              <a:cs typeface="Arial"/>
              <a:sym typeface="Arial"/>
            </a:endParaRPr>
          </a:p>
        </p:txBody>
      </p:sp>
      <p:sp>
        <p:nvSpPr>
          <p:cNvPr id="169" name="Google Shape;169;p10"/>
          <p:cNvSpPr txBox="1"/>
          <p:nvPr/>
        </p:nvSpPr>
        <p:spPr>
          <a:xfrm>
            <a:off x="274321" y="3634154"/>
            <a:ext cx="85137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Notas importantes: </a:t>
            </a:r>
            <a:r>
              <a:rPr lang="pt-BR" sz="1400">
                <a:solidFill>
                  <a:schemeClr val="dk1"/>
                </a:solidFill>
                <a:latin typeface="Arial"/>
                <a:ea typeface="Arial"/>
                <a:cs typeface="Arial"/>
                <a:sym typeface="Arial"/>
              </a:rPr>
              <a:t>Quando usamos textos nas respostas, eles devem estar entre aspas (" "). Se quiser mostrar um número ou fazer um cálculo em vez de um texto, não precisa usar aspas. Sempre começa com o sinal de igual (=) para avisar ao Excel que é uma fórmula.</a:t>
            </a:r>
            <a:endParaRPr sz="14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 Função SE</a:t>
            </a:r>
            <a:endParaRPr b="1" sz="2200">
              <a:solidFill>
                <a:schemeClr val="lt1"/>
              </a:solidFill>
              <a:latin typeface="Arial"/>
              <a:ea typeface="Arial"/>
              <a:cs typeface="Arial"/>
              <a:sym typeface="Arial"/>
            </a:endParaRPr>
          </a:p>
        </p:txBody>
      </p:sp>
      <p:sp>
        <p:nvSpPr>
          <p:cNvPr id="176" name="Google Shape;176;p11"/>
          <p:cNvSpPr txBox="1"/>
          <p:nvPr/>
        </p:nvSpPr>
        <p:spPr>
          <a:xfrm>
            <a:off x="211016" y="1160584"/>
            <a:ext cx="8565900" cy="5028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Descobrindo se estamos no lucro ou no prejuízo Vamos usar a Função SE para fazer um teste: com base nos nossos gastos mensais, vamos descobrir se estamos no lucro ou no prejuízo ! </a:t>
            </a:r>
            <a:endParaRPr sz="1400">
              <a:solidFill>
                <a:schemeClr val="dk1"/>
              </a:solidFill>
              <a:latin typeface="Arial"/>
              <a:ea typeface="Arial"/>
              <a:cs typeface="Arial"/>
              <a:sym typeface="Arial"/>
            </a:endParaRPr>
          </a:p>
        </p:txBody>
      </p:sp>
      <p:sp>
        <p:nvSpPr>
          <p:cNvPr id="177" name="Google Shape;177;p11"/>
          <p:cNvSpPr txBox="1"/>
          <p:nvPr/>
        </p:nvSpPr>
        <p:spPr>
          <a:xfrm>
            <a:off x="295422" y="1981199"/>
            <a:ext cx="8663400" cy="11493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PASSO A PASSO: </a:t>
            </a:r>
            <a:endParaRPr b="1" sz="1400">
              <a:solidFill>
                <a:schemeClr val="dk1"/>
              </a:solidFill>
              <a:latin typeface="Arial"/>
              <a:ea typeface="Arial"/>
              <a:cs typeface="Arial"/>
              <a:sym typeface="Arial"/>
            </a:endParaRPr>
          </a:p>
          <a:p>
            <a:pPr indent="-266700" lvl="0" marL="266700" marR="0" rtl="0" algn="l">
              <a:spcBef>
                <a:spcPts val="0"/>
              </a:spcBef>
              <a:spcAft>
                <a:spcPts val="0"/>
              </a:spcAft>
              <a:buClr>
                <a:schemeClr val="dk1"/>
              </a:buClr>
              <a:buSzPts val="1400"/>
              <a:buFont typeface="Arial"/>
              <a:buAutoNum type="arabicPeriod"/>
            </a:pPr>
            <a:r>
              <a:rPr lang="pt-BR" sz="1400">
                <a:solidFill>
                  <a:schemeClr val="dk1"/>
                </a:solidFill>
                <a:latin typeface="Arial"/>
                <a:ea typeface="Arial"/>
                <a:cs typeface="Arial"/>
                <a:sym typeface="Arial"/>
              </a:rPr>
              <a:t>Na sua planilha, vá até a célula logo abaixo de “TOTAL POR MÊS” </a:t>
            </a:r>
            <a:endParaRPr sz="1400">
              <a:solidFill>
                <a:schemeClr val="dk1"/>
              </a:solidFill>
              <a:latin typeface="Arial"/>
              <a:ea typeface="Arial"/>
              <a:cs typeface="Arial"/>
              <a:sym typeface="Arial"/>
            </a:endParaRPr>
          </a:p>
          <a:p>
            <a:pPr indent="-266700" lvl="0" marL="266700" marR="0" rtl="0" algn="l">
              <a:spcBef>
                <a:spcPts val="0"/>
              </a:spcBef>
              <a:spcAft>
                <a:spcPts val="0"/>
              </a:spcAft>
              <a:buClr>
                <a:schemeClr val="dk1"/>
              </a:buClr>
              <a:buSzPts val="1400"/>
              <a:buFont typeface="Arial"/>
              <a:buAutoNum type="arabicPeriod"/>
            </a:pPr>
            <a:r>
              <a:rPr lang="pt-BR" sz="1400">
                <a:solidFill>
                  <a:schemeClr val="dk1"/>
                </a:solidFill>
                <a:latin typeface="Arial"/>
                <a:ea typeface="Arial"/>
                <a:cs typeface="Arial"/>
                <a:sym typeface="Arial"/>
              </a:rPr>
              <a:t>Ao lado, escreva o título: “Situação”</a:t>
            </a:r>
            <a:endParaRPr sz="1100"/>
          </a:p>
          <a:p>
            <a:pPr indent="-266700" lvl="0" marL="266700" marR="0" rtl="0" algn="l">
              <a:spcBef>
                <a:spcPts val="0"/>
              </a:spcBef>
              <a:spcAft>
                <a:spcPts val="0"/>
              </a:spcAft>
              <a:buClr>
                <a:schemeClr val="dk1"/>
              </a:buClr>
              <a:buSzPts val="1400"/>
              <a:buFont typeface="Arial"/>
              <a:buAutoNum type="arabicPeriod"/>
            </a:pPr>
            <a:r>
              <a:rPr lang="pt-BR" sz="1400">
                <a:solidFill>
                  <a:schemeClr val="dk1"/>
                </a:solidFill>
                <a:latin typeface="Arial"/>
                <a:ea typeface="Arial"/>
                <a:cs typeface="Arial"/>
                <a:sym typeface="Arial"/>
              </a:rPr>
              <a:t>Agora clique na célula ao lado de Situação (por exemplo, C12) </a:t>
            </a:r>
            <a:endParaRPr sz="1400">
              <a:solidFill>
                <a:schemeClr val="dk1"/>
              </a:solidFill>
              <a:latin typeface="Arial"/>
              <a:ea typeface="Arial"/>
              <a:cs typeface="Arial"/>
              <a:sym typeface="Arial"/>
            </a:endParaRPr>
          </a:p>
          <a:p>
            <a:pPr indent="-266700" lvl="0" marL="266700" marR="0" rtl="0" algn="l">
              <a:spcBef>
                <a:spcPts val="0"/>
              </a:spcBef>
              <a:spcAft>
                <a:spcPts val="0"/>
              </a:spcAft>
              <a:buClr>
                <a:schemeClr val="dk1"/>
              </a:buClr>
              <a:buSzPts val="1400"/>
              <a:buFont typeface="Arial"/>
              <a:buAutoNum type="arabicPeriod"/>
            </a:pPr>
            <a:r>
              <a:rPr lang="pt-BR" sz="1400">
                <a:solidFill>
                  <a:schemeClr val="dk1"/>
                </a:solidFill>
                <a:latin typeface="Arial"/>
                <a:ea typeface="Arial"/>
                <a:cs typeface="Arial"/>
                <a:sym typeface="Arial"/>
              </a:rPr>
              <a:t>Digite a seguinte fórmula: =SE(B11&lt;=1512;"lucro";"prejuízo")</a:t>
            </a:r>
            <a:endParaRPr sz="1400">
              <a:solidFill>
                <a:schemeClr val="dk1"/>
              </a:solidFill>
              <a:latin typeface="Arial"/>
              <a:ea typeface="Arial"/>
              <a:cs typeface="Arial"/>
              <a:sym typeface="Arial"/>
            </a:endParaRPr>
          </a:p>
        </p:txBody>
      </p:sp>
      <p:sp>
        <p:nvSpPr>
          <p:cNvPr id="178" name="Google Shape;178;p11"/>
          <p:cNvSpPr txBox="1"/>
          <p:nvPr/>
        </p:nvSpPr>
        <p:spPr>
          <a:xfrm>
            <a:off x="379828" y="3622430"/>
            <a:ext cx="8397000" cy="9339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O que essa fórmula faz? </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B11 → é onde está o valor do total de gastos do mês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1512 → é o salário mínimo (nossa base para o teste) Se os gastos forem menores ou iguais a R$ 1512, estamos no lucro Se forem maiores, estamos no prejuízo</a:t>
            </a:r>
            <a:endParaRPr sz="14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 2</a:t>
            </a:r>
            <a:endParaRPr b="1" sz="2200">
              <a:solidFill>
                <a:schemeClr val="lt1"/>
              </a:solidFill>
              <a:latin typeface="Arial"/>
              <a:ea typeface="Arial"/>
              <a:cs typeface="Arial"/>
              <a:sym typeface="Arial"/>
            </a:endParaRPr>
          </a:p>
        </p:txBody>
      </p:sp>
      <p:pic>
        <p:nvPicPr>
          <p:cNvPr id="185" name="Google Shape;185;p12"/>
          <p:cNvPicPr preferRelativeResize="0"/>
          <p:nvPr/>
        </p:nvPicPr>
        <p:blipFill rotWithShape="1">
          <a:blip r:embed="rId3">
            <a:alphaModFix/>
          </a:blip>
          <a:srcRect b="46969" l="0" r="53623" t="29417"/>
          <a:stretch/>
        </p:blipFill>
        <p:spPr>
          <a:xfrm>
            <a:off x="200213" y="1054198"/>
            <a:ext cx="8624410" cy="4215224"/>
          </a:xfrm>
          <a:prstGeom prst="rect">
            <a:avLst/>
          </a:prstGeom>
          <a:noFill/>
          <a:ln>
            <a:noFill/>
          </a:ln>
        </p:spPr>
      </p:pic>
      <p:sp>
        <p:nvSpPr>
          <p:cNvPr id="186" name="Google Shape;186;p12"/>
          <p:cNvSpPr txBox="1"/>
          <p:nvPr/>
        </p:nvSpPr>
        <p:spPr>
          <a:xfrm>
            <a:off x="174172" y="1354666"/>
            <a:ext cx="2460300" cy="287400"/>
          </a:xfrm>
          <a:prstGeom prst="rect">
            <a:avLst/>
          </a:prstGeom>
          <a:noFill/>
          <a:ln>
            <a:noFill/>
          </a:ln>
        </p:spPr>
        <p:txBody>
          <a:bodyPr anchorCtr="0" anchor="t" bIns="35550" lIns="71100" spcFirstLastPara="1" rIns="71100" wrap="square" tIns="35550">
            <a:spAutoFit/>
          </a:bodyPr>
          <a:lstStyle/>
          <a:p>
            <a:pPr indent="0" lvl="0" marL="0" marR="0" rtl="0" algn="ctr">
              <a:spcBef>
                <a:spcPts val="0"/>
              </a:spcBef>
              <a:spcAft>
                <a:spcPts val="0"/>
              </a:spcAft>
              <a:buNone/>
            </a:pPr>
            <a:r>
              <a:rPr b="1" lang="pt-BR" sz="1400">
                <a:solidFill>
                  <a:schemeClr val="dk1"/>
                </a:solidFill>
                <a:latin typeface="Arial"/>
                <a:ea typeface="Arial"/>
                <a:cs typeface="Arial"/>
                <a:sym typeface="Arial"/>
              </a:rPr>
              <a:t>Crie a planilha abaixo:</a:t>
            </a:r>
            <a:endParaRPr b="1" sz="14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ATIVIDADE 2 - Cálculos</a:t>
            </a:r>
            <a:endParaRPr b="1" sz="2200">
              <a:solidFill>
                <a:schemeClr val="lt1"/>
              </a:solidFill>
              <a:latin typeface="Arial"/>
              <a:ea typeface="Arial"/>
              <a:cs typeface="Arial"/>
              <a:sym typeface="Arial"/>
            </a:endParaRPr>
          </a:p>
        </p:txBody>
      </p:sp>
      <p:sp>
        <p:nvSpPr>
          <p:cNvPr id="193" name="Google Shape;193;p13"/>
          <p:cNvSpPr txBox="1"/>
          <p:nvPr/>
        </p:nvSpPr>
        <p:spPr>
          <a:xfrm>
            <a:off x="219975" y="1242646"/>
            <a:ext cx="87042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Cálculo da MÉDIA de cada produto</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pt-BR" sz="1400">
                <a:solidFill>
                  <a:schemeClr val="dk1"/>
                </a:solidFill>
                <a:latin typeface="Arial"/>
                <a:ea typeface="Arial"/>
                <a:cs typeface="Arial"/>
                <a:sym typeface="Arial"/>
              </a:rPr>
              <a:t>Coluna E (MÉDIA): </a:t>
            </a:r>
            <a:r>
              <a:rPr lang="pt-BR" sz="1400">
                <a:solidFill>
                  <a:schemeClr val="dk1"/>
                </a:solidFill>
                <a:latin typeface="Arial"/>
                <a:ea typeface="Arial"/>
                <a:cs typeface="Arial"/>
                <a:sym typeface="Arial"/>
              </a:rPr>
              <a:t>Exemplo para o arroz (linha 3): =MÉDIA(B3:D3)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(Essa fórmula calcula a média dos três preços encontrados nos mercados)</a:t>
            </a:r>
            <a:endParaRPr sz="1400">
              <a:solidFill>
                <a:schemeClr val="dk1"/>
              </a:solidFill>
              <a:latin typeface="Arial"/>
              <a:ea typeface="Arial"/>
              <a:cs typeface="Arial"/>
              <a:sym typeface="Arial"/>
            </a:endParaRPr>
          </a:p>
        </p:txBody>
      </p:sp>
      <p:sp>
        <p:nvSpPr>
          <p:cNvPr id="194" name="Google Shape;194;p13"/>
          <p:cNvSpPr txBox="1"/>
          <p:nvPr/>
        </p:nvSpPr>
        <p:spPr>
          <a:xfrm>
            <a:off x="219975" y="2200459"/>
            <a:ext cx="86076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Cálculo do valor MÁXIMO de cada produto</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Coluna F (MÁXIMO): </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Exemplo para o arroz (linha 3): =MÁXIMO(B3:D3)</a:t>
            </a:r>
            <a:endParaRPr sz="1400">
              <a:solidFill>
                <a:schemeClr val="dk1"/>
              </a:solidFill>
              <a:latin typeface="Arial"/>
              <a:ea typeface="Arial"/>
              <a:cs typeface="Arial"/>
              <a:sym typeface="Arial"/>
            </a:endParaRPr>
          </a:p>
        </p:txBody>
      </p:sp>
      <p:sp>
        <p:nvSpPr>
          <p:cNvPr id="195" name="Google Shape;195;p13"/>
          <p:cNvSpPr txBox="1"/>
          <p:nvPr/>
        </p:nvSpPr>
        <p:spPr>
          <a:xfrm>
            <a:off x="219975" y="3153991"/>
            <a:ext cx="86076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lang="pt-BR" sz="1400">
                <a:solidFill>
                  <a:schemeClr val="dk1"/>
                </a:solidFill>
                <a:latin typeface="Arial"/>
                <a:ea typeface="Arial"/>
                <a:cs typeface="Arial"/>
                <a:sym typeface="Arial"/>
              </a:rPr>
              <a:t>Cálculo do valor MÍNIMO de cada produto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pt-BR" sz="1400">
                <a:solidFill>
                  <a:schemeClr val="dk1"/>
                </a:solidFill>
                <a:latin typeface="Arial"/>
                <a:ea typeface="Arial"/>
                <a:cs typeface="Arial"/>
                <a:sym typeface="Arial"/>
              </a:rPr>
              <a:t>Coluna G (MÍNIMO): </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Exemplo para o arroz (linha 3): =MÍNIMO(B3:D3)</a:t>
            </a:r>
            <a:endParaRPr sz="1400">
              <a:solidFill>
                <a:schemeClr val="dk1"/>
              </a:solidFill>
              <a:latin typeface="Arial"/>
              <a:ea typeface="Arial"/>
              <a:cs typeface="Arial"/>
              <a:sym typeface="Arial"/>
            </a:endParaRPr>
          </a:p>
        </p:txBody>
      </p:sp>
      <p:sp>
        <p:nvSpPr>
          <p:cNvPr id="196" name="Google Shape;196;p13"/>
          <p:cNvSpPr txBox="1"/>
          <p:nvPr/>
        </p:nvSpPr>
        <p:spPr>
          <a:xfrm>
            <a:off x="219975" y="4107523"/>
            <a:ext cx="3889800" cy="7182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Cálculo do TOTAL </a:t>
            </a:r>
            <a:r>
              <a:rPr lang="pt-BR" sz="1400">
                <a:solidFill>
                  <a:schemeClr val="dk1"/>
                </a:solidFill>
                <a:latin typeface="Arial"/>
                <a:ea typeface="Arial"/>
                <a:cs typeface="Arial"/>
                <a:sym typeface="Arial"/>
              </a:rPr>
              <a:t>da soma dos preços médios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Célula E9: =SOMA(</a:t>
            </a:r>
            <a:r>
              <a:rPr lang="pt-BR">
                <a:solidFill>
                  <a:schemeClr val="dk1"/>
                </a:solidFill>
              </a:rPr>
              <a:t>B</a:t>
            </a:r>
            <a:r>
              <a:rPr lang="pt-BR" sz="1400">
                <a:solidFill>
                  <a:schemeClr val="dk1"/>
                </a:solidFill>
                <a:latin typeface="Arial"/>
                <a:ea typeface="Arial"/>
                <a:cs typeface="Arial"/>
                <a:sym typeface="Arial"/>
              </a:rPr>
              <a:t>3:</a:t>
            </a:r>
            <a:r>
              <a:rPr lang="pt-BR">
                <a:solidFill>
                  <a:schemeClr val="dk1"/>
                </a:solidFill>
              </a:rPr>
              <a:t>B</a:t>
            </a:r>
            <a:r>
              <a:rPr lang="pt-BR" sz="1400">
                <a:solidFill>
                  <a:schemeClr val="dk1"/>
                </a:solidFill>
                <a:latin typeface="Arial"/>
                <a:ea typeface="Arial"/>
                <a:cs typeface="Arial"/>
                <a:sym typeface="Arial"/>
              </a:rPr>
              <a:t>8)</a:t>
            </a:r>
            <a:endParaRPr sz="1400">
              <a:solidFill>
                <a:schemeClr val="dk1"/>
              </a:solidFill>
              <a:latin typeface="Arial"/>
              <a:ea typeface="Arial"/>
              <a:cs typeface="Arial"/>
              <a:sym typeface="Arial"/>
            </a:endParaRPr>
          </a:p>
        </p:txBody>
      </p:sp>
      <p:sp>
        <p:nvSpPr>
          <p:cNvPr id="197" name="Google Shape;197;p13"/>
          <p:cNvSpPr txBox="1"/>
          <p:nvPr/>
        </p:nvSpPr>
        <p:spPr>
          <a:xfrm>
            <a:off x="219975" y="4807089"/>
            <a:ext cx="8704200" cy="7800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Teste Lógico com a Função SE </a:t>
            </a:r>
            <a:r>
              <a:rPr lang="pt-BR" sz="1400">
                <a:solidFill>
                  <a:schemeClr val="dk1"/>
                </a:solidFill>
                <a:latin typeface="Arial"/>
                <a:ea typeface="Arial"/>
                <a:cs typeface="Arial"/>
                <a:sym typeface="Arial"/>
              </a:rPr>
              <a:t>– BARATO OU CARO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pt-BR" sz="1400">
                <a:solidFill>
                  <a:schemeClr val="dk1"/>
                </a:solidFill>
                <a:latin typeface="Arial"/>
                <a:ea typeface="Arial"/>
                <a:cs typeface="Arial"/>
                <a:sym typeface="Arial"/>
              </a:rPr>
              <a:t>Célula E10: Para saber se a média de preços dos produtos é maior que R$ 50,00: </a:t>
            </a:r>
            <a:r>
              <a:rPr b="1" lang="pt-BR" sz="1800">
                <a:solidFill>
                  <a:schemeClr val="dk1"/>
                </a:solidFill>
              </a:rPr>
              <a:t>=SE(B</a:t>
            </a:r>
            <a:r>
              <a:rPr b="1" lang="pt-BR" sz="1800">
                <a:solidFill>
                  <a:schemeClr val="dk1"/>
                </a:solidFill>
              </a:rPr>
              <a:t>9</a:t>
            </a:r>
            <a:r>
              <a:rPr b="1" lang="pt-BR" sz="1800">
                <a:solidFill>
                  <a:schemeClr val="dk1"/>
                </a:solidFill>
              </a:rPr>
              <a:t>&lt;=50;"BARATO";"CARO")</a:t>
            </a:r>
            <a:endParaRPr b="1"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p:nvPr/>
        </p:nvSpPr>
        <p:spPr>
          <a:xfrm>
            <a:off x="0" y="0"/>
            <a:ext cx="9144000" cy="1054200"/>
          </a:xfrm>
          <a:prstGeom prst="rect">
            <a:avLst/>
          </a:prstGeom>
          <a:solidFill>
            <a:srgbClr val="0E864A"/>
          </a:solidFill>
          <a:ln cap="flat" cmpd="sng" w="19050">
            <a:solidFill>
              <a:srgbClr val="082836"/>
            </a:solidFill>
            <a:prstDash val="solid"/>
            <a:miter lim="800000"/>
            <a:headEnd len="sm" w="sm" type="none"/>
            <a:tailEnd len="sm" w="sm" type="none"/>
          </a:ln>
        </p:spPr>
        <p:txBody>
          <a:bodyPr anchorCtr="0" anchor="ctr" bIns="35550" lIns="71100" spcFirstLastPara="1" rIns="71100" wrap="square" tIns="35550">
            <a:noAutofit/>
          </a:bodyPr>
          <a:lstStyle/>
          <a:p>
            <a:pPr indent="0" lvl="0" marL="0" marR="0" rtl="0" algn="ctr">
              <a:spcBef>
                <a:spcPts val="0"/>
              </a:spcBef>
              <a:spcAft>
                <a:spcPts val="0"/>
              </a:spcAft>
              <a:buNone/>
            </a:pPr>
            <a:r>
              <a:rPr b="1" lang="pt-BR" sz="2200">
                <a:solidFill>
                  <a:schemeClr val="lt1"/>
                </a:solidFill>
                <a:latin typeface="Arial"/>
                <a:ea typeface="Arial"/>
                <a:cs typeface="Arial"/>
                <a:sym typeface="Arial"/>
              </a:rPr>
              <a:t>RESPOSTA</a:t>
            </a:r>
            <a:endParaRPr b="1" sz="2200">
              <a:solidFill>
                <a:schemeClr val="lt1"/>
              </a:solidFill>
              <a:latin typeface="Arial"/>
              <a:ea typeface="Arial"/>
              <a:cs typeface="Arial"/>
              <a:sym typeface="Arial"/>
            </a:endParaRPr>
          </a:p>
        </p:txBody>
      </p:sp>
      <p:sp>
        <p:nvSpPr>
          <p:cNvPr id="204" name="Google Shape;204;p14"/>
          <p:cNvSpPr txBox="1"/>
          <p:nvPr/>
        </p:nvSpPr>
        <p:spPr>
          <a:xfrm>
            <a:off x="168814" y="1254368"/>
            <a:ext cx="4602900" cy="1364700"/>
          </a:xfrm>
          <a:prstGeom prst="rect">
            <a:avLst/>
          </a:prstGeom>
          <a:noFill/>
          <a:ln>
            <a:noFill/>
          </a:ln>
        </p:spPr>
        <p:txBody>
          <a:bodyPr anchorCtr="0" anchor="t" bIns="35550" lIns="71100" spcFirstLastPara="1" rIns="71100" wrap="square" tIns="35550">
            <a:spAutoFit/>
          </a:bodyPr>
          <a:lstStyle/>
          <a:p>
            <a:pPr indent="0" lvl="0" marL="0" marR="0" rtl="0" algn="l">
              <a:spcBef>
                <a:spcPts val="0"/>
              </a:spcBef>
              <a:spcAft>
                <a:spcPts val="0"/>
              </a:spcAft>
              <a:buNone/>
            </a:pPr>
            <a:r>
              <a:rPr b="1" lang="pt-BR" sz="1400">
                <a:solidFill>
                  <a:schemeClr val="dk1"/>
                </a:solidFill>
                <a:latin typeface="Arial"/>
                <a:ea typeface="Arial"/>
                <a:cs typeface="Arial"/>
                <a:sym typeface="Arial"/>
              </a:rPr>
              <a:t>Explicando para os alunos: </a:t>
            </a:r>
            <a:endParaRPr b="1" sz="1400">
              <a:solidFill>
                <a:schemeClr val="dk1"/>
              </a:solidFill>
              <a:latin typeface="Arial"/>
              <a:ea typeface="Arial"/>
              <a:cs typeface="Arial"/>
              <a:sym typeface="Arial"/>
            </a:endParaRPr>
          </a:p>
          <a:p>
            <a:pPr indent="0" lvl="0" marL="0" marR="0" rtl="0" algn="l">
              <a:spcBef>
                <a:spcPts val="0"/>
              </a:spcBef>
              <a:spcAft>
                <a:spcPts val="0"/>
              </a:spcAft>
              <a:buNone/>
            </a:pPr>
            <a:r>
              <a:rPr b="1" lang="pt-BR" sz="1400">
                <a:solidFill>
                  <a:schemeClr val="dk1"/>
                </a:solidFill>
                <a:latin typeface="Arial"/>
                <a:ea typeface="Arial"/>
                <a:cs typeface="Arial"/>
                <a:sym typeface="Arial"/>
              </a:rPr>
              <a:t>=MÉDIA() </a:t>
            </a:r>
            <a:r>
              <a:rPr lang="pt-BR" sz="1400">
                <a:solidFill>
                  <a:schemeClr val="dk1"/>
                </a:solidFill>
                <a:latin typeface="Arial"/>
                <a:ea typeface="Arial"/>
                <a:cs typeface="Arial"/>
                <a:sym typeface="Arial"/>
              </a:rPr>
              <a:t>→ calcula a média dos preços. =MÁXIMO() / </a:t>
            </a:r>
            <a:r>
              <a:rPr b="1" lang="pt-BR" sz="1400">
                <a:solidFill>
                  <a:schemeClr val="dk1"/>
                </a:solidFill>
                <a:latin typeface="Arial"/>
                <a:ea typeface="Arial"/>
                <a:cs typeface="Arial"/>
                <a:sym typeface="Arial"/>
              </a:rPr>
              <a:t>=MÍNIMO() </a:t>
            </a:r>
            <a:r>
              <a:rPr lang="pt-BR" sz="1400">
                <a:solidFill>
                  <a:schemeClr val="dk1"/>
                </a:solidFill>
                <a:latin typeface="Arial"/>
                <a:ea typeface="Arial"/>
                <a:cs typeface="Arial"/>
                <a:sym typeface="Arial"/>
              </a:rPr>
              <a:t>→ mostram o maior e menor valor da linha. </a:t>
            </a:r>
            <a:endParaRPr sz="1400">
              <a:solidFill>
                <a:schemeClr val="dk1"/>
              </a:solidFill>
              <a:latin typeface="Arial"/>
              <a:ea typeface="Arial"/>
              <a:cs typeface="Arial"/>
              <a:sym typeface="Arial"/>
            </a:endParaRPr>
          </a:p>
          <a:p>
            <a:pPr indent="0" lvl="0" marL="0" marR="0" rtl="0" algn="l">
              <a:spcBef>
                <a:spcPts val="0"/>
              </a:spcBef>
              <a:spcAft>
                <a:spcPts val="0"/>
              </a:spcAft>
              <a:buNone/>
            </a:pPr>
            <a:r>
              <a:rPr b="1" lang="pt-BR" sz="1400">
                <a:solidFill>
                  <a:schemeClr val="dk1"/>
                </a:solidFill>
                <a:latin typeface="Arial"/>
                <a:ea typeface="Arial"/>
                <a:cs typeface="Arial"/>
                <a:sym typeface="Arial"/>
              </a:rPr>
              <a:t>=SOMA() </a:t>
            </a:r>
            <a:r>
              <a:rPr lang="pt-BR" sz="1400">
                <a:solidFill>
                  <a:schemeClr val="dk1"/>
                </a:solidFill>
                <a:latin typeface="Arial"/>
                <a:ea typeface="Arial"/>
                <a:cs typeface="Arial"/>
                <a:sym typeface="Arial"/>
              </a:rPr>
              <a:t>→ soma os valores das médias.</a:t>
            </a:r>
            <a:endParaRPr sz="1100"/>
          </a:p>
          <a:p>
            <a:pPr indent="0" lvl="0" marL="0" marR="0" rtl="0" algn="l">
              <a:spcBef>
                <a:spcPts val="0"/>
              </a:spcBef>
              <a:spcAft>
                <a:spcPts val="0"/>
              </a:spcAft>
              <a:buNone/>
            </a:pPr>
            <a:r>
              <a:rPr b="1" lang="pt-BR" sz="1400">
                <a:solidFill>
                  <a:schemeClr val="dk1"/>
                </a:solidFill>
                <a:latin typeface="Arial"/>
                <a:ea typeface="Arial"/>
                <a:cs typeface="Arial"/>
                <a:sym typeface="Arial"/>
              </a:rPr>
              <a:t>=SE() </a:t>
            </a:r>
            <a:r>
              <a:rPr lang="pt-BR" sz="1400">
                <a:solidFill>
                  <a:schemeClr val="dk1"/>
                </a:solidFill>
                <a:latin typeface="Arial"/>
                <a:ea typeface="Arial"/>
                <a:cs typeface="Arial"/>
                <a:sym typeface="Arial"/>
              </a:rPr>
              <a:t>→ mostra se os preços estão baratos ou caros, comparando com o valor R$ 50,00</a:t>
            </a:r>
            <a:endParaRPr sz="1400">
              <a:solidFill>
                <a:schemeClr val="dk1"/>
              </a:solidFill>
              <a:latin typeface="Arial"/>
              <a:ea typeface="Arial"/>
              <a:cs typeface="Arial"/>
              <a:sym typeface="Arial"/>
            </a:endParaRPr>
          </a:p>
        </p:txBody>
      </p:sp>
      <p:pic>
        <p:nvPicPr>
          <p:cNvPr id="205" name="Google Shape;205;p14"/>
          <p:cNvPicPr preferRelativeResize="0"/>
          <p:nvPr/>
        </p:nvPicPr>
        <p:blipFill rotWithShape="1">
          <a:blip r:embed="rId3">
            <a:alphaModFix/>
          </a:blip>
          <a:srcRect b="46585" l="0" r="52682" t="29408"/>
          <a:stretch/>
        </p:blipFill>
        <p:spPr>
          <a:xfrm>
            <a:off x="2964905" y="2716307"/>
            <a:ext cx="6003248" cy="28239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2025-04-28T23:09:06Z</dcterms:created>
  <dc:creator>leo Souza</dc:creator>
</cp:coreProperties>
</file>