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715000" cx="9144000"/>
  <p:notesSz cx="6858000" cy="9144000"/>
  <p:embeddedFontLst>
    <p:embeddedFont>
      <p:font typeface="Play"/>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8" roundtripDataSignature="AMtx7mhH/2UKZ8H0/sDJ8smVi8mEM4h+3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652544A-3DE9-4E41-A4F8-6EBCEEEDEAF2}">
  <a:tblStyle styleId="{6652544A-3DE9-4E41-A4F8-6EBCEEEDEAF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lay-regular.fntdata"/><Relationship Id="rId25" Type="http://schemas.openxmlformats.org/officeDocument/2006/relationships/slide" Target="slides/slide20.xml"/><Relationship Id="rId28" Type="http://customschemas.google.com/relationships/presentationmetadata" Target="metadata"/><Relationship Id="rId27" Type="http://schemas.openxmlformats.org/officeDocument/2006/relationships/font" Target="fonts/Play-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pt-BR"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8d85766783_0_0: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g38d85766783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g38d85766783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t/>
            </a:r>
            <a:endParaRPr b="1"/>
          </a:p>
        </p:txBody>
      </p:sp>
      <p:sp>
        <p:nvSpPr>
          <p:cNvPr id="138" name="Google Shape;13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7: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8: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9: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0: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1: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2: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3: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4: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5: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6: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7: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8: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9: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15" name="Shape 15"/>
        <p:cNvGrpSpPr/>
        <p:nvPr/>
      </p:nvGrpSpPr>
      <p:grpSpPr>
        <a:xfrm>
          <a:off x="0" y="0"/>
          <a:ext cx="0" cy="0"/>
          <a:chOff x="0" y="0"/>
          <a:chExt cx="0" cy="0"/>
        </a:xfrm>
      </p:grpSpPr>
      <p:sp>
        <p:nvSpPr>
          <p:cNvPr id="16" name="Google Shape;16;p21"/>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 name="Google Shape;17;p21"/>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 name="Google Shape;18;p21"/>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spTree>
      <p:nvGrpSpPr>
        <p:cNvPr id="19" name="Shape 19"/>
        <p:cNvGrpSpPr/>
        <p:nvPr/>
      </p:nvGrpSpPr>
      <p:grpSpPr>
        <a:xfrm>
          <a:off x="0" y="0"/>
          <a:ext cx="0" cy="0"/>
          <a:chOff x="0" y="0"/>
          <a:chExt cx="0" cy="0"/>
        </a:xfrm>
      </p:grpSpPr>
      <p:sp>
        <p:nvSpPr>
          <p:cNvPr id="20" name="Google Shape;20;p22"/>
          <p:cNvSpPr txBox="1"/>
          <p:nvPr>
            <p:ph type="ctrTitle"/>
          </p:nvPr>
        </p:nvSpPr>
        <p:spPr>
          <a:xfrm>
            <a:off x="1143000" y="935303"/>
            <a:ext cx="6858000" cy="1989600"/>
          </a:xfrm>
          <a:prstGeom prst="rect">
            <a:avLst/>
          </a:prstGeom>
          <a:noFill/>
          <a:ln>
            <a:noFill/>
          </a:ln>
        </p:spPr>
        <p:txBody>
          <a:bodyPr anchorCtr="0" anchor="b" bIns="35550" lIns="71100" spcFirstLastPara="1" rIns="71100" wrap="square" tIns="35550">
            <a:normAutofit/>
          </a:bodyPr>
          <a:lstStyle>
            <a:lvl1pPr lvl="0" algn="ctr">
              <a:lnSpc>
                <a:spcPct val="90000"/>
              </a:lnSpc>
              <a:spcBef>
                <a:spcPts val="0"/>
              </a:spcBef>
              <a:spcAft>
                <a:spcPts val="0"/>
              </a:spcAft>
              <a:buClr>
                <a:schemeClr val="dk1"/>
              </a:buClr>
              <a:buSzPts val="4700"/>
              <a:buFont typeface="Play"/>
              <a:buNone/>
              <a:defRPr sz="47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 name="Google Shape;21;p22"/>
          <p:cNvSpPr txBox="1"/>
          <p:nvPr>
            <p:ph idx="1" type="subTitle"/>
          </p:nvPr>
        </p:nvSpPr>
        <p:spPr>
          <a:xfrm>
            <a:off x="1143000" y="3001698"/>
            <a:ext cx="6858000" cy="1379700"/>
          </a:xfrm>
          <a:prstGeom prst="rect">
            <a:avLst/>
          </a:prstGeom>
          <a:noFill/>
          <a:ln>
            <a:noFill/>
          </a:ln>
        </p:spPr>
        <p:txBody>
          <a:bodyPr anchorCtr="0" anchor="t" bIns="35550" lIns="71100" spcFirstLastPara="1" rIns="71100" wrap="square" tIns="35550">
            <a:normAutofit/>
          </a:bodyPr>
          <a:lstStyle>
            <a:lvl1pPr lvl="0" algn="ctr">
              <a:lnSpc>
                <a:spcPct val="90000"/>
              </a:lnSpc>
              <a:spcBef>
                <a:spcPts val="800"/>
              </a:spcBef>
              <a:spcAft>
                <a:spcPts val="0"/>
              </a:spcAft>
              <a:buClr>
                <a:schemeClr val="dk1"/>
              </a:buClr>
              <a:buSzPts val="1900"/>
              <a:buNone/>
              <a:defRPr sz="1900"/>
            </a:lvl1pPr>
            <a:lvl2pPr lvl="1" algn="ctr">
              <a:lnSpc>
                <a:spcPct val="90000"/>
              </a:lnSpc>
              <a:spcBef>
                <a:spcPts val="400"/>
              </a:spcBef>
              <a:spcAft>
                <a:spcPts val="0"/>
              </a:spcAft>
              <a:buClr>
                <a:schemeClr val="dk1"/>
              </a:buClr>
              <a:buSzPts val="1600"/>
              <a:buNone/>
              <a:defRPr sz="16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22" name="Google Shape;22;p22"/>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3" name="Google Shape;23;p22"/>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4" name="Google Shape;24;p22"/>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25" name="Shape 25"/>
        <p:cNvGrpSpPr/>
        <p:nvPr/>
      </p:nvGrpSpPr>
      <p:grpSpPr>
        <a:xfrm>
          <a:off x="0" y="0"/>
          <a:ext cx="0" cy="0"/>
          <a:chOff x="0" y="0"/>
          <a:chExt cx="0" cy="0"/>
        </a:xfrm>
      </p:grpSpPr>
      <p:sp>
        <p:nvSpPr>
          <p:cNvPr id="26" name="Google Shape;26;p23"/>
          <p:cNvSpPr txBox="1"/>
          <p:nvPr>
            <p:ph type="title"/>
          </p:nvPr>
        </p:nvSpPr>
        <p:spPr>
          <a:xfrm>
            <a:off x="628650" y="304271"/>
            <a:ext cx="7886700" cy="1104600"/>
          </a:xfrm>
          <a:prstGeom prst="rect">
            <a:avLst/>
          </a:prstGeom>
          <a:noFill/>
          <a:ln>
            <a:noFill/>
          </a:ln>
        </p:spPr>
        <p:txBody>
          <a:bodyPr anchorCtr="0" anchor="ctr" bIns="35550" lIns="71100" spcFirstLastPara="1" rIns="71100" wrap="square" tIns="3555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7" name="Google Shape;27;p23"/>
          <p:cNvSpPr txBox="1"/>
          <p:nvPr>
            <p:ph idx="1" type="body"/>
          </p:nvPr>
        </p:nvSpPr>
        <p:spPr>
          <a:xfrm>
            <a:off x="628650" y="1521354"/>
            <a:ext cx="7886700" cy="3626100"/>
          </a:xfrm>
          <a:prstGeom prst="rect">
            <a:avLst/>
          </a:prstGeom>
          <a:noFill/>
          <a:ln>
            <a:noFill/>
          </a:ln>
        </p:spPr>
        <p:txBody>
          <a:bodyPr anchorCtr="0" anchor="t" bIns="35550" lIns="71100" spcFirstLastPara="1" rIns="71100" wrap="square" tIns="3555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8" name="Google Shape;28;p23"/>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 name="Google Shape;29;p23"/>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0" name="Google Shape;30;p23"/>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31" name="Shape 31"/>
        <p:cNvGrpSpPr/>
        <p:nvPr/>
      </p:nvGrpSpPr>
      <p:grpSpPr>
        <a:xfrm>
          <a:off x="0" y="0"/>
          <a:ext cx="0" cy="0"/>
          <a:chOff x="0" y="0"/>
          <a:chExt cx="0" cy="0"/>
        </a:xfrm>
      </p:grpSpPr>
      <p:sp>
        <p:nvSpPr>
          <p:cNvPr id="32" name="Google Shape;32;p24"/>
          <p:cNvSpPr txBox="1"/>
          <p:nvPr>
            <p:ph type="title"/>
          </p:nvPr>
        </p:nvSpPr>
        <p:spPr>
          <a:xfrm>
            <a:off x="623888" y="1424782"/>
            <a:ext cx="7886700" cy="2377200"/>
          </a:xfrm>
          <a:prstGeom prst="rect">
            <a:avLst/>
          </a:prstGeom>
          <a:noFill/>
          <a:ln>
            <a:noFill/>
          </a:ln>
        </p:spPr>
        <p:txBody>
          <a:bodyPr anchorCtr="0" anchor="b" bIns="35550" lIns="71100" spcFirstLastPara="1" rIns="71100" wrap="square" tIns="35550">
            <a:normAutofit/>
          </a:bodyPr>
          <a:lstStyle>
            <a:lvl1pPr lvl="0" algn="l">
              <a:lnSpc>
                <a:spcPct val="90000"/>
              </a:lnSpc>
              <a:spcBef>
                <a:spcPts val="0"/>
              </a:spcBef>
              <a:spcAft>
                <a:spcPts val="0"/>
              </a:spcAft>
              <a:buClr>
                <a:schemeClr val="dk1"/>
              </a:buClr>
              <a:buSzPts val="4700"/>
              <a:buFont typeface="Play"/>
              <a:buNone/>
              <a:defRPr sz="47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3" name="Google Shape;33;p24"/>
          <p:cNvSpPr txBox="1"/>
          <p:nvPr>
            <p:ph idx="1" type="body"/>
          </p:nvPr>
        </p:nvSpPr>
        <p:spPr>
          <a:xfrm>
            <a:off x="623888" y="3824553"/>
            <a:ext cx="7886700" cy="1250100"/>
          </a:xfrm>
          <a:prstGeom prst="rect">
            <a:avLst/>
          </a:prstGeom>
          <a:noFill/>
          <a:ln>
            <a:noFill/>
          </a:ln>
        </p:spPr>
        <p:txBody>
          <a:bodyPr anchorCtr="0" anchor="t" bIns="35550" lIns="71100" spcFirstLastPara="1" rIns="71100" wrap="square" tIns="35550">
            <a:normAutofit/>
          </a:bodyPr>
          <a:lstStyle>
            <a:lvl1pPr indent="-228600" lvl="0" marL="457200" algn="l">
              <a:lnSpc>
                <a:spcPct val="90000"/>
              </a:lnSpc>
              <a:spcBef>
                <a:spcPts val="800"/>
              </a:spcBef>
              <a:spcAft>
                <a:spcPts val="0"/>
              </a:spcAft>
              <a:buClr>
                <a:srgbClr val="757575"/>
              </a:buClr>
              <a:buSzPts val="1900"/>
              <a:buNone/>
              <a:defRPr sz="1900">
                <a:solidFill>
                  <a:srgbClr val="757575"/>
                </a:solidFill>
              </a:defRPr>
            </a:lvl1pPr>
            <a:lvl2pPr indent="-228600" lvl="1" marL="914400" algn="l">
              <a:lnSpc>
                <a:spcPct val="90000"/>
              </a:lnSpc>
              <a:spcBef>
                <a:spcPts val="400"/>
              </a:spcBef>
              <a:spcAft>
                <a:spcPts val="0"/>
              </a:spcAft>
              <a:buClr>
                <a:srgbClr val="757575"/>
              </a:buClr>
              <a:buSzPts val="1600"/>
              <a:buNone/>
              <a:defRPr sz="1600">
                <a:solidFill>
                  <a:srgbClr val="757575"/>
                </a:solidFill>
              </a:defRPr>
            </a:lvl2pPr>
            <a:lvl3pPr indent="-228600" lvl="2" marL="1371600" algn="l">
              <a:lnSpc>
                <a:spcPct val="90000"/>
              </a:lnSpc>
              <a:spcBef>
                <a:spcPts val="400"/>
              </a:spcBef>
              <a:spcAft>
                <a:spcPts val="0"/>
              </a:spcAft>
              <a:buClr>
                <a:srgbClr val="757575"/>
              </a:buClr>
              <a:buSzPts val="1400"/>
              <a:buNone/>
              <a:defRPr sz="1400">
                <a:solidFill>
                  <a:srgbClr val="757575"/>
                </a:solidFill>
              </a:defRPr>
            </a:lvl3pPr>
            <a:lvl4pPr indent="-228600" lvl="3" marL="1828800" algn="l">
              <a:lnSpc>
                <a:spcPct val="90000"/>
              </a:lnSpc>
              <a:spcBef>
                <a:spcPts val="400"/>
              </a:spcBef>
              <a:spcAft>
                <a:spcPts val="0"/>
              </a:spcAft>
              <a:buClr>
                <a:srgbClr val="757575"/>
              </a:buClr>
              <a:buSzPts val="1200"/>
              <a:buNone/>
              <a:defRPr sz="1200">
                <a:solidFill>
                  <a:srgbClr val="757575"/>
                </a:solidFill>
              </a:defRPr>
            </a:lvl4pPr>
            <a:lvl5pPr indent="-228600" lvl="4" marL="2286000" algn="l">
              <a:lnSpc>
                <a:spcPct val="90000"/>
              </a:lnSpc>
              <a:spcBef>
                <a:spcPts val="400"/>
              </a:spcBef>
              <a:spcAft>
                <a:spcPts val="0"/>
              </a:spcAft>
              <a:buClr>
                <a:srgbClr val="757575"/>
              </a:buClr>
              <a:buSzPts val="1200"/>
              <a:buNone/>
              <a:defRPr sz="1200">
                <a:solidFill>
                  <a:srgbClr val="757575"/>
                </a:solidFill>
              </a:defRPr>
            </a:lvl5pPr>
            <a:lvl6pPr indent="-228600" lvl="5" marL="2743200" algn="l">
              <a:lnSpc>
                <a:spcPct val="90000"/>
              </a:lnSpc>
              <a:spcBef>
                <a:spcPts val="400"/>
              </a:spcBef>
              <a:spcAft>
                <a:spcPts val="0"/>
              </a:spcAft>
              <a:buClr>
                <a:srgbClr val="757575"/>
              </a:buClr>
              <a:buSzPts val="1200"/>
              <a:buNone/>
              <a:defRPr sz="1200">
                <a:solidFill>
                  <a:srgbClr val="757575"/>
                </a:solidFill>
              </a:defRPr>
            </a:lvl6pPr>
            <a:lvl7pPr indent="-228600" lvl="6" marL="3200400" algn="l">
              <a:lnSpc>
                <a:spcPct val="90000"/>
              </a:lnSpc>
              <a:spcBef>
                <a:spcPts val="400"/>
              </a:spcBef>
              <a:spcAft>
                <a:spcPts val="0"/>
              </a:spcAft>
              <a:buClr>
                <a:srgbClr val="757575"/>
              </a:buClr>
              <a:buSzPts val="1200"/>
              <a:buNone/>
              <a:defRPr sz="1200">
                <a:solidFill>
                  <a:srgbClr val="757575"/>
                </a:solidFill>
              </a:defRPr>
            </a:lvl7pPr>
            <a:lvl8pPr indent="-228600" lvl="7" marL="3657600" algn="l">
              <a:lnSpc>
                <a:spcPct val="90000"/>
              </a:lnSpc>
              <a:spcBef>
                <a:spcPts val="400"/>
              </a:spcBef>
              <a:spcAft>
                <a:spcPts val="0"/>
              </a:spcAft>
              <a:buClr>
                <a:srgbClr val="757575"/>
              </a:buClr>
              <a:buSzPts val="1200"/>
              <a:buNone/>
              <a:defRPr sz="1200">
                <a:solidFill>
                  <a:srgbClr val="757575"/>
                </a:solidFill>
              </a:defRPr>
            </a:lvl8pPr>
            <a:lvl9pPr indent="-228600" lvl="8" marL="4114800" algn="l">
              <a:lnSpc>
                <a:spcPct val="90000"/>
              </a:lnSpc>
              <a:spcBef>
                <a:spcPts val="400"/>
              </a:spcBef>
              <a:spcAft>
                <a:spcPts val="0"/>
              </a:spcAft>
              <a:buClr>
                <a:srgbClr val="757575"/>
              </a:buClr>
              <a:buSzPts val="1200"/>
              <a:buNone/>
              <a:defRPr sz="1200">
                <a:solidFill>
                  <a:srgbClr val="757575"/>
                </a:solidFill>
              </a:defRPr>
            </a:lvl9pPr>
          </a:lstStyle>
          <a:p/>
        </p:txBody>
      </p:sp>
      <p:sp>
        <p:nvSpPr>
          <p:cNvPr id="34" name="Google Shape;34;p24"/>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Google Shape;35;p24"/>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6" name="Google Shape;36;p24"/>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37" name="Shape 37"/>
        <p:cNvGrpSpPr/>
        <p:nvPr/>
      </p:nvGrpSpPr>
      <p:grpSpPr>
        <a:xfrm>
          <a:off x="0" y="0"/>
          <a:ext cx="0" cy="0"/>
          <a:chOff x="0" y="0"/>
          <a:chExt cx="0" cy="0"/>
        </a:xfrm>
      </p:grpSpPr>
      <p:sp>
        <p:nvSpPr>
          <p:cNvPr id="38" name="Google Shape;38;p25"/>
          <p:cNvSpPr txBox="1"/>
          <p:nvPr>
            <p:ph type="title"/>
          </p:nvPr>
        </p:nvSpPr>
        <p:spPr>
          <a:xfrm>
            <a:off x="628650" y="304271"/>
            <a:ext cx="7886700" cy="1104600"/>
          </a:xfrm>
          <a:prstGeom prst="rect">
            <a:avLst/>
          </a:prstGeom>
          <a:noFill/>
          <a:ln>
            <a:noFill/>
          </a:ln>
        </p:spPr>
        <p:txBody>
          <a:bodyPr anchorCtr="0" anchor="ctr" bIns="35550" lIns="71100" spcFirstLastPara="1" rIns="71100" wrap="square" tIns="3555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9" name="Google Shape;39;p25"/>
          <p:cNvSpPr txBox="1"/>
          <p:nvPr>
            <p:ph idx="1" type="body"/>
          </p:nvPr>
        </p:nvSpPr>
        <p:spPr>
          <a:xfrm>
            <a:off x="628650" y="1521354"/>
            <a:ext cx="3886200" cy="3626100"/>
          </a:xfrm>
          <a:prstGeom prst="rect">
            <a:avLst/>
          </a:prstGeom>
          <a:noFill/>
          <a:ln>
            <a:noFill/>
          </a:ln>
        </p:spPr>
        <p:txBody>
          <a:bodyPr anchorCtr="0" anchor="t" bIns="35550" lIns="71100" spcFirstLastPara="1" rIns="71100" wrap="square" tIns="3555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Google Shape;40;p25"/>
          <p:cNvSpPr txBox="1"/>
          <p:nvPr>
            <p:ph idx="2" type="body"/>
          </p:nvPr>
        </p:nvSpPr>
        <p:spPr>
          <a:xfrm>
            <a:off x="4629150" y="1521354"/>
            <a:ext cx="3886200" cy="3626100"/>
          </a:xfrm>
          <a:prstGeom prst="rect">
            <a:avLst/>
          </a:prstGeom>
          <a:noFill/>
          <a:ln>
            <a:noFill/>
          </a:ln>
        </p:spPr>
        <p:txBody>
          <a:bodyPr anchorCtr="0" anchor="t" bIns="35550" lIns="71100" spcFirstLastPara="1" rIns="71100" wrap="square" tIns="3555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1" name="Google Shape;41;p25"/>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2" name="Google Shape;42;p25"/>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Google Shape;43;p25"/>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44" name="Shape 44"/>
        <p:cNvGrpSpPr/>
        <p:nvPr/>
      </p:nvGrpSpPr>
      <p:grpSpPr>
        <a:xfrm>
          <a:off x="0" y="0"/>
          <a:ext cx="0" cy="0"/>
          <a:chOff x="0" y="0"/>
          <a:chExt cx="0" cy="0"/>
        </a:xfrm>
      </p:grpSpPr>
      <p:sp>
        <p:nvSpPr>
          <p:cNvPr id="45" name="Google Shape;45;p26"/>
          <p:cNvSpPr txBox="1"/>
          <p:nvPr>
            <p:ph type="title"/>
          </p:nvPr>
        </p:nvSpPr>
        <p:spPr>
          <a:xfrm>
            <a:off x="629841" y="304271"/>
            <a:ext cx="7886700" cy="1104600"/>
          </a:xfrm>
          <a:prstGeom prst="rect">
            <a:avLst/>
          </a:prstGeom>
          <a:noFill/>
          <a:ln>
            <a:noFill/>
          </a:ln>
        </p:spPr>
        <p:txBody>
          <a:bodyPr anchorCtr="0" anchor="ctr" bIns="35550" lIns="71100" spcFirstLastPara="1" rIns="71100" wrap="square" tIns="3555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6" name="Google Shape;46;p26"/>
          <p:cNvSpPr txBox="1"/>
          <p:nvPr>
            <p:ph idx="1" type="body"/>
          </p:nvPr>
        </p:nvSpPr>
        <p:spPr>
          <a:xfrm>
            <a:off x="629841" y="1400969"/>
            <a:ext cx="3868200" cy="686700"/>
          </a:xfrm>
          <a:prstGeom prst="rect">
            <a:avLst/>
          </a:prstGeom>
          <a:noFill/>
          <a:ln>
            <a:noFill/>
          </a:ln>
        </p:spPr>
        <p:txBody>
          <a:bodyPr anchorCtr="0" anchor="b" bIns="35550" lIns="71100" spcFirstLastPara="1" rIns="71100" wrap="square" tIns="35550">
            <a:normAutofit/>
          </a:bodyPr>
          <a:lstStyle>
            <a:lvl1pPr indent="-228600" lvl="0" marL="457200" algn="l">
              <a:lnSpc>
                <a:spcPct val="90000"/>
              </a:lnSpc>
              <a:spcBef>
                <a:spcPts val="800"/>
              </a:spcBef>
              <a:spcAft>
                <a:spcPts val="0"/>
              </a:spcAft>
              <a:buClr>
                <a:schemeClr val="dk1"/>
              </a:buClr>
              <a:buSzPts val="1900"/>
              <a:buNone/>
              <a:defRPr b="1" sz="1900"/>
            </a:lvl1pPr>
            <a:lvl2pPr indent="-228600" lvl="1" marL="914400" algn="l">
              <a:lnSpc>
                <a:spcPct val="90000"/>
              </a:lnSpc>
              <a:spcBef>
                <a:spcPts val="400"/>
              </a:spcBef>
              <a:spcAft>
                <a:spcPts val="0"/>
              </a:spcAft>
              <a:buClr>
                <a:schemeClr val="dk1"/>
              </a:buClr>
              <a:buSzPts val="1600"/>
              <a:buNone/>
              <a:defRPr b="1" sz="16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7" name="Google Shape;47;p26"/>
          <p:cNvSpPr txBox="1"/>
          <p:nvPr>
            <p:ph idx="2" type="body"/>
          </p:nvPr>
        </p:nvSpPr>
        <p:spPr>
          <a:xfrm>
            <a:off x="629841" y="2087563"/>
            <a:ext cx="3868200" cy="3070500"/>
          </a:xfrm>
          <a:prstGeom prst="rect">
            <a:avLst/>
          </a:prstGeom>
          <a:noFill/>
          <a:ln>
            <a:noFill/>
          </a:ln>
        </p:spPr>
        <p:txBody>
          <a:bodyPr anchorCtr="0" anchor="t" bIns="35550" lIns="71100" spcFirstLastPara="1" rIns="71100" wrap="square" tIns="3555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8" name="Google Shape;48;p26"/>
          <p:cNvSpPr txBox="1"/>
          <p:nvPr>
            <p:ph idx="3" type="body"/>
          </p:nvPr>
        </p:nvSpPr>
        <p:spPr>
          <a:xfrm>
            <a:off x="4629150" y="1400969"/>
            <a:ext cx="3887400" cy="686700"/>
          </a:xfrm>
          <a:prstGeom prst="rect">
            <a:avLst/>
          </a:prstGeom>
          <a:noFill/>
          <a:ln>
            <a:noFill/>
          </a:ln>
        </p:spPr>
        <p:txBody>
          <a:bodyPr anchorCtr="0" anchor="b" bIns="35550" lIns="71100" spcFirstLastPara="1" rIns="71100" wrap="square" tIns="35550">
            <a:normAutofit/>
          </a:bodyPr>
          <a:lstStyle>
            <a:lvl1pPr indent="-228600" lvl="0" marL="457200" algn="l">
              <a:lnSpc>
                <a:spcPct val="90000"/>
              </a:lnSpc>
              <a:spcBef>
                <a:spcPts val="800"/>
              </a:spcBef>
              <a:spcAft>
                <a:spcPts val="0"/>
              </a:spcAft>
              <a:buClr>
                <a:schemeClr val="dk1"/>
              </a:buClr>
              <a:buSzPts val="1900"/>
              <a:buNone/>
              <a:defRPr b="1" sz="1900"/>
            </a:lvl1pPr>
            <a:lvl2pPr indent="-228600" lvl="1" marL="914400" algn="l">
              <a:lnSpc>
                <a:spcPct val="90000"/>
              </a:lnSpc>
              <a:spcBef>
                <a:spcPts val="400"/>
              </a:spcBef>
              <a:spcAft>
                <a:spcPts val="0"/>
              </a:spcAft>
              <a:buClr>
                <a:schemeClr val="dk1"/>
              </a:buClr>
              <a:buSzPts val="1600"/>
              <a:buNone/>
              <a:defRPr b="1" sz="16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9" name="Google Shape;49;p26"/>
          <p:cNvSpPr txBox="1"/>
          <p:nvPr>
            <p:ph idx="4" type="body"/>
          </p:nvPr>
        </p:nvSpPr>
        <p:spPr>
          <a:xfrm>
            <a:off x="4629150" y="2087563"/>
            <a:ext cx="3887400" cy="3070500"/>
          </a:xfrm>
          <a:prstGeom prst="rect">
            <a:avLst/>
          </a:prstGeom>
          <a:noFill/>
          <a:ln>
            <a:noFill/>
          </a:ln>
        </p:spPr>
        <p:txBody>
          <a:bodyPr anchorCtr="0" anchor="t" bIns="35550" lIns="71100" spcFirstLastPara="1" rIns="71100" wrap="square" tIns="3555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 name="Google Shape;50;p26"/>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1" name="Google Shape;51;p26"/>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Google Shape;52;p26"/>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53" name="Shape 53"/>
        <p:cNvGrpSpPr/>
        <p:nvPr/>
      </p:nvGrpSpPr>
      <p:grpSpPr>
        <a:xfrm>
          <a:off x="0" y="0"/>
          <a:ext cx="0" cy="0"/>
          <a:chOff x="0" y="0"/>
          <a:chExt cx="0" cy="0"/>
        </a:xfrm>
      </p:grpSpPr>
      <p:sp>
        <p:nvSpPr>
          <p:cNvPr id="54" name="Google Shape;54;p27"/>
          <p:cNvSpPr txBox="1"/>
          <p:nvPr>
            <p:ph type="title"/>
          </p:nvPr>
        </p:nvSpPr>
        <p:spPr>
          <a:xfrm>
            <a:off x="628650" y="304271"/>
            <a:ext cx="7886700" cy="1104600"/>
          </a:xfrm>
          <a:prstGeom prst="rect">
            <a:avLst/>
          </a:prstGeom>
          <a:noFill/>
          <a:ln>
            <a:noFill/>
          </a:ln>
        </p:spPr>
        <p:txBody>
          <a:bodyPr anchorCtr="0" anchor="ctr" bIns="35550" lIns="71100" spcFirstLastPara="1" rIns="71100" wrap="square" tIns="3555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5" name="Google Shape;55;p27"/>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6" name="Google Shape;56;p27"/>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7" name="Google Shape;57;p27"/>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58" name="Shape 58"/>
        <p:cNvGrpSpPr/>
        <p:nvPr/>
      </p:nvGrpSpPr>
      <p:grpSpPr>
        <a:xfrm>
          <a:off x="0" y="0"/>
          <a:ext cx="0" cy="0"/>
          <a:chOff x="0" y="0"/>
          <a:chExt cx="0" cy="0"/>
        </a:xfrm>
      </p:grpSpPr>
      <p:sp>
        <p:nvSpPr>
          <p:cNvPr id="59" name="Google Shape;59;p28"/>
          <p:cNvSpPr txBox="1"/>
          <p:nvPr>
            <p:ph type="title"/>
          </p:nvPr>
        </p:nvSpPr>
        <p:spPr>
          <a:xfrm>
            <a:off x="629841" y="381000"/>
            <a:ext cx="2949300" cy="1333500"/>
          </a:xfrm>
          <a:prstGeom prst="rect">
            <a:avLst/>
          </a:prstGeom>
          <a:noFill/>
          <a:ln>
            <a:noFill/>
          </a:ln>
        </p:spPr>
        <p:txBody>
          <a:bodyPr anchorCtr="0" anchor="b" bIns="35550" lIns="71100" spcFirstLastPara="1" rIns="71100" wrap="square" tIns="35550">
            <a:normAutofit/>
          </a:bodyPr>
          <a:lstStyle>
            <a:lvl1pPr lvl="0" algn="l">
              <a:lnSpc>
                <a:spcPct val="90000"/>
              </a:lnSpc>
              <a:spcBef>
                <a:spcPts val="0"/>
              </a:spcBef>
              <a:spcAft>
                <a:spcPts val="0"/>
              </a:spcAft>
              <a:buClr>
                <a:schemeClr val="dk1"/>
              </a:buClr>
              <a:buSzPts val="2500"/>
              <a:buFont typeface="Play"/>
              <a:buNone/>
              <a:defRPr sz="2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0" name="Google Shape;60;p28"/>
          <p:cNvSpPr txBox="1"/>
          <p:nvPr>
            <p:ph idx="1" type="body"/>
          </p:nvPr>
        </p:nvSpPr>
        <p:spPr>
          <a:xfrm>
            <a:off x="3887391" y="822854"/>
            <a:ext cx="4629300" cy="4061400"/>
          </a:xfrm>
          <a:prstGeom prst="rect">
            <a:avLst/>
          </a:prstGeom>
          <a:noFill/>
          <a:ln>
            <a:noFill/>
          </a:ln>
        </p:spPr>
        <p:txBody>
          <a:bodyPr anchorCtr="0" anchor="t" bIns="35550" lIns="71100" spcFirstLastPara="1" rIns="71100" wrap="square" tIns="35550">
            <a:normAutofit/>
          </a:bodyPr>
          <a:lstStyle>
            <a:lvl1pPr indent="-387350" lvl="0" marL="457200" algn="l">
              <a:lnSpc>
                <a:spcPct val="90000"/>
              </a:lnSpc>
              <a:spcBef>
                <a:spcPts val="800"/>
              </a:spcBef>
              <a:spcAft>
                <a:spcPts val="0"/>
              </a:spcAft>
              <a:buClr>
                <a:schemeClr val="dk1"/>
              </a:buClr>
              <a:buSzPts val="2500"/>
              <a:buChar char="•"/>
              <a:defRPr sz="2500"/>
            </a:lvl1pPr>
            <a:lvl2pPr indent="-368300" lvl="1" marL="914400" algn="l">
              <a:lnSpc>
                <a:spcPct val="90000"/>
              </a:lnSpc>
              <a:spcBef>
                <a:spcPts val="400"/>
              </a:spcBef>
              <a:spcAft>
                <a:spcPts val="0"/>
              </a:spcAft>
              <a:buClr>
                <a:schemeClr val="dk1"/>
              </a:buClr>
              <a:buSzPts val="2200"/>
              <a:buChar char="•"/>
              <a:defRPr sz="2200"/>
            </a:lvl2pPr>
            <a:lvl3pPr indent="-349250" lvl="2" marL="1371600" algn="l">
              <a:lnSpc>
                <a:spcPct val="90000"/>
              </a:lnSpc>
              <a:spcBef>
                <a:spcPts val="400"/>
              </a:spcBef>
              <a:spcAft>
                <a:spcPts val="0"/>
              </a:spcAft>
              <a:buClr>
                <a:schemeClr val="dk1"/>
              </a:buClr>
              <a:buSzPts val="1900"/>
              <a:buChar char="•"/>
              <a:defRPr sz="1900"/>
            </a:lvl3pPr>
            <a:lvl4pPr indent="-330200" lvl="3" marL="1828800" algn="l">
              <a:lnSpc>
                <a:spcPct val="90000"/>
              </a:lnSpc>
              <a:spcBef>
                <a:spcPts val="400"/>
              </a:spcBef>
              <a:spcAft>
                <a:spcPts val="0"/>
              </a:spcAft>
              <a:buClr>
                <a:schemeClr val="dk1"/>
              </a:buClr>
              <a:buSzPts val="1600"/>
              <a:buChar char="•"/>
              <a:defRPr sz="1600"/>
            </a:lvl4pPr>
            <a:lvl5pPr indent="-330200" lvl="4" marL="2286000" algn="l">
              <a:lnSpc>
                <a:spcPct val="90000"/>
              </a:lnSpc>
              <a:spcBef>
                <a:spcPts val="400"/>
              </a:spcBef>
              <a:spcAft>
                <a:spcPts val="0"/>
              </a:spcAft>
              <a:buClr>
                <a:schemeClr val="dk1"/>
              </a:buClr>
              <a:buSzPts val="1600"/>
              <a:buChar char="•"/>
              <a:defRPr sz="1600"/>
            </a:lvl5pPr>
            <a:lvl6pPr indent="-330200" lvl="5" marL="2743200" algn="l">
              <a:lnSpc>
                <a:spcPct val="90000"/>
              </a:lnSpc>
              <a:spcBef>
                <a:spcPts val="400"/>
              </a:spcBef>
              <a:spcAft>
                <a:spcPts val="0"/>
              </a:spcAft>
              <a:buClr>
                <a:schemeClr val="dk1"/>
              </a:buClr>
              <a:buSzPts val="1600"/>
              <a:buChar char="•"/>
              <a:defRPr sz="1600"/>
            </a:lvl6pPr>
            <a:lvl7pPr indent="-330200" lvl="6" marL="3200400" algn="l">
              <a:lnSpc>
                <a:spcPct val="90000"/>
              </a:lnSpc>
              <a:spcBef>
                <a:spcPts val="400"/>
              </a:spcBef>
              <a:spcAft>
                <a:spcPts val="0"/>
              </a:spcAft>
              <a:buClr>
                <a:schemeClr val="dk1"/>
              </a:buClr>
              <a:buSzPts val="1600"/>
              <a:buChar char="•"/>
              <a:defRPr sz="1600"/>
            </a:lvl7pPr>
            <a:lvl8pPr indent="-330200" lvl="7" marL="3657600" algn="l">
              <a:lnSpc>
                <a:spcPct val="90000"/>
              </a:lnSpc>
              <a:spcBef>
                <a:spcPts val="400"/>
              </a:spcBef>
              <a:spcAft>
                <a:spcPts val="0"/>
              </a:spcAft>
              <a:buClr>
                <a:schemeClr val="dk1"/>
              </a:buClr>
              <a:buSzPts val="1600"/>
              <a:buChar char="•"/>
              <a:defRPr sz="1600"/>
            </a:lvl8pPr>
            <a:lvl9pPr indent="-330200" lvl="8" marL="4114800" algn="l">
              <a:lnSpc>
                <a:spcPct val="90000"/>
              </a:lnSpc>
              <a:spcBef>
                <a:spcPts val="400"/>
              </a:spcBef>
              <a:spcAft>
                <a:spcPts val="0"/>
              </a:spcAft>
              <a:buClr>
                <a:schemeClr val="dk1"/>
              </a:buClr>
              <a:buSzPts val="1600"/>
              <a:buChar char="•"/>
              <a:defRPr sz="1600"/>
            </a:lvl9pPr>
          </a:lstStyle>
          <a:p/>
        </p:txBody>
      </p:sp>
      <p:sp>
        <p:nvSpPr>
          <p:cNvPr id="61" name="Google Shape;61;p28"/>
          <p:cNvSpPr txBox="1"/>
          <p:nvPr>
            <p:ph idx="2" type="body"/>
          </p:nvPr>
        </p:nvSpPr>
        <p:spPr>
          <a:xfrm>
            <a:off x="629841" y="1714500"/>
            <a:ext cx="2949300" cy="3176400"/>
          </a:xfrm>
          <a:prstGeom prst="rect">
            <a:avLst/>
          </a:prstGeom>
          <a:noFill/>
          <a:ln>
            <a:noFill/>
          </a:ln>
        </p:spPr>
        <p:txBody>
          <a:bodyPr anchorCtr="0" anchor="t" bIns="35550" lIns="71100" spcFirstLastPara="1" rIns="71100" wrap="square" tIns="35550">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2" name="Google Shape;62;p28"/>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3" name="Google Shape;63;p28"/>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28"/>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65" name="Shape 65"/>
        <p:cNvGrpSpPr/>
        <p:nvPr/>
      </p:nvGrpSpPr>
      <p:grpSpPr>
        <a:xfrm>
          <a:off x="0" y="0"/>
          <a:ext cx="0" cy="0"/>
          <a:chOff x="0" y="0"/>
          <a:chExt cx="0" cy="0"/>
        </a:xfrm>
      </p:grpSpPr>
      <p:sp>
        <p:nvSpPr>
          <p:cNvPr id="66" name="Google Shape;66;p29"/>
          <p:cNvSpPr txBox="1"/>
          <p:nvPr>
            <p:ph type="title"/>
          </p:nvPr>
        </p:nvSpPr>
        <p:spPr>
          <a:xfrm>
            <a:off x="629841" y="381000"/>
            <a:ext cx="2949300" cy="1333500"/>
          </a:xfrm>
          <a:prstGeom prst="rect">
            <a:avLst/>
          </a:prstGeom>
          <a:noFill/>
          <a:ln>
            <a:noFill/>
          </a:ln>
        </p:spPr>
        <p:txBody>
          <a:bodyPr anchorCtr="0" anchor="b" bIns="35550" lIns="71100" spcFirstLastPara="1" rIns="71100" wrap="square" tIns="35550">
            <a:normAutofit/>
          </a:bodyPr>
          <a:lstStyle>
            <a:lvl1pPr lvl="0" algn="l">
              <a:lnSpc>
                <a:spcPct val="90000"/>
              </a:lnSpc>
              <a:spcBef>
                <a:spcPts val="0"/>
              </a:spcBef>
              <a:spcAft>
                <a:spcPts val="0"/>
              </a:spcAft>
              <a:buClr>
                <a:schemeClr val="dk1"/>
              </a:buClr>
              <a:buSzPts val="2500"/>
              <a:buFont typeface="Play"/>
              <a:buNone/>
              <a:defRPr sz="2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7" name="Google Shape;67;p29"/>
          <p:cNvSpPr/>
          <p:nvPr>
            <p:ph idx="2" type="pic"/>
          </p:nvPr>
        </p:nvSpPr>
        <p:spPr>
          <a:xfrm>
            <a:off x="3887391" y="822854"/>
            <a:ext cx="4629300" cy="4061400"/>
          </a:xfrm>
          <a:prstGeom prst="rect">
            <a:avLst/>
          </a:prstGeom>
          <a:noFill/>
          <a:ln>
            <a:noFill/>
          </a:ln>
        </p:spPr>
      </p:sp>
      <p:sp>
        <p:nvSpPr>
          <p:cNvPr id="68" name="Google Shape;68;p29"/>
          <p:cNvSpPr txBox="1"/>
          <p:nvPr>
            <p:ph idx="1" type="body"/>
          </p:nvPr>
        </p:nvSpPr>
        <p:spPr>
          <a:xfrm>
            <a:off x="629841" y="1714500"/>
            <a:ext cx="2949300" cy="3176400"/>
          </a:xfrm>
          <a:prstGeom prst="rect">
            <a:avLst/>
          </a:prstGeom>
          <a:noFill/>
          <a:ln>
            <a:noFill/>
          </a:ln>
        </p:spPr>
        <p:txBody>
          <a:bodyPr anchorCtr="0" anchor="t" bIns="35550" lIns="71100" spcFirstLastPara="1" rIns="71100" wrap="square" tIns="35550">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9" name="Google Shape;69;p29"/>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29"/>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29"/>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72" name="Shape 72"/>
        <p:cNvGrpSpPr/>
        <p:nvPr/>
      </p:nvGrpSpPr>
      <p:grpSpPr>
        <a:xfrm>
          <a:off x="0" y="0"/>
          <a:ext cx="0" cy="0"/>
          <a:chOff x="0" y="0"/>
          <a:chExt cx="0" cy="0"/>
        </a:xfrm>
      </p:grpSpPr>
      <p:sp>
        <p:nvSpPr>
          <p:cNvPr id="73" name="Google Shape;73;p30"/>
          <p:cNvSpPr txBox="1"/>
          <p:nvPr>
            <p:ph type="title"/>
          </p:nvPr>
        </p:nvSpPr>
        <p:spPr>
          <a:xfrm>
            <a:off x="628650" y="304271"/>
            <a:ext cx="7886700" cy="1104600"/>
          </a:xfrm>
          <a:prstGeom prst="rect">
            <a:avLst/>
          </a:prstGeom>
          <a:noFill/>
          <a:ln>
            <a:noFill/>
          </a:ln>
        </p:spPr>
        <p:txBody>
          <a:bodyPr anchorCtr="0" anchor="ctr" bIns="35550" lIns="71100" spcFirstLastPara="1" rIns="71100" wrap="square" tIns="3555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30"/>
          <p:cNvSpPr txBox="1"/>
          <p:nvPr>
            <p:ph idx="1" type="body"/>
          </p:nvPr>
        </p:nvSpPr>
        <p:spPr>
          <a:xfrm rot="5400000">
            <a:off x="2758950" y="-608946"/>
            <a:ext cx="3626100" cy="7886700"/>
          </a:xfrm>
          <a:prstGeom prst="rect">
            <a:avLst/>
          </a:prstGeom>
          <a:noFill/>
          <a:ln>
            <a:noFill/>
          </a:ln>
        </p:spPr>
        <p:txBody>
          <a:bodyPr anchorCtr="0" anchor="t" bIns="35550" lIns="71100" spcFirstLastPara="1" rIns="71100" wrap="square" tIns="3555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5" name="Google Shape;75;p30"/>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30"/>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30"/>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e Título Vertical" type="vertTitleAndTx">
  <p:cSld name="VERTICAL_TITLE_AND_VERTICAL_TEXT">
    <p:spTree>
      <p:nvGrpSpPr>
        <p:cNvPr id="78" name="Shape 78"/>
        <p:cNvGrpSpPr/>
        <p:nvPr/>
      </p:nvGrpSpPr>
      <p:grpSpPr>
        <a:xfrm>
          <a:off x="0" y="0"/>
          <a:ext cx="0" cy="0"/>
          <a:chOff x="0" y="0"/>
          <a:chExt cx="0" cy="0"/>
        </a:xfrm>
      </p:grpSpPr>
      <p:sp>
        <p:nvSpPr>
          <p:cNvPr id="79" name="Google Shape;79;p31"/>
          <p:cNvSpPr txBox="1"/>
          <p:nvPr>
            <p:ph type="title"/>
          </p:nvPr>
        </p:nvSpPr>
        <p:spPr>
          <a:xfrm rot="5400000">
            <a:off x="5107950" y="1740071"/>
            <a:ext cx="4843200" cy="1971600"/>
          </a:xfrm>
          <a:prstGeom prst="rect">
            <a:avLst/>
          </a:prstGeom>
          <a:noFill/>
          <a:ln>
            <a:noFill/>
          </a:ln>
        </p:spPr>
        <p:txBody>
          <a:bodyPr anchorCtr="0" anchor="ctr" bIns="35550" lIns="71100" spcFirstLastPara="1" rIns="71100" wrap="square" tIns="3555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31"/>
          <p:cNvSpPr txBox="1"/>
          <p:nvPr>
            <p:ph idx="1" type="body"/>
          </p:nvPr>
        </p:nvSpPr>
        <p:spPr>
          <a:xfrm rot="5400000">
            <a:off x="1107375" y="-174529"/>
            <a:ext cx="4843200" cy="5800800"/>
          </a:xfrm>
          <a:prstGeom prst="rect">
            <a:avLst/>
          </a:prstGeom>
          <a:noFill/>
          <a:ln>
            <a:noFill/>
          </a:ln>
        </p:spPr>
        <p:txBody>
          <a:bodyPr anchorCtr="0" anchor="t" bIns="35550" lIns="71100" spcFirstLastPara="1" rIns="71100" wrap="square" tIns="3555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1" name="Google Shape;81;p31"/>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2" name="Google Shape;82;p31"/>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31"/>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628650" y="304271"/>
            <a:ext cx="7886700" cy="1104600"/>
          </a:xfrm>
          <a:prstGeom prst="rect">
            <a:avLst/>
          </a:prstGeom>
          <a:noFill/>
          <a:ln>
            <a:noFill/>
          </a:ln>
        </p:spPr>
        <p:txBody>
          <a:bodyPr anchorCtr="0" anchor="ctr" bIns="35550" lIns="71100" spcFirstLastPara="1" rIns="71100" wrap="square" tIns="35550">
            <a:normAutofit/>
          </a:bodyPr>
          <a:lstStyle>
            <a:lvl1pPr lvl="0" marR="0" rtl="0" algn="l">
              <a:lnSpc>
                <a:spcPct val="90000"/>
              </a:lnSpc>
              <a:spcBef>
                <a:spcPts val="0"/>
              </a:spcBef>
              <a:spcAft>
                <a:spcPts val="0"/>
              </a:spcAft>
              <a:buClr>
                <a:schemeClr val="dk1"/>
              </a:buClr>
              <a:buSzPts val="3400"/>
              <a:buFont typeface="Play"/>
              <a:buNone/>
              <a:defRPr b="0" i="0" sz="3400" u="none" cap="none" strike="noStrike">
                <a:solidFill>
                  <a:schemeClr val="dk1"/>
                </a:solidFill>
                <a:latin typeface="Play"/>
                <a:ea typeface="Play"/>
                <a:cs typeface="Play"/>
                <a:sym typeface="Pla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1" name="Google Shape;11;p20"/>
          <p:cNvSpPr txBox="1"/>
          <p:nvPr>
            <p:ph idx="1" type="body"/>
          </p:nvPr>
        </p:nvSpPr>
        <p:spPr>
          <a:xfrm>
            <a:off x="628650" y="1521354"/>
            <a:ext cx="7886700" cy="3626100"/>
          </a:xfrm>
          <a:prstGeom prst="rect">
            <a:avLst/>
          </a:prstGeom>
          <a:noFill/>
          <a:ln>
            <a:noFill/>
          </a:ln>
        </p:spPr>
        <p:txBody>
          <a:bodyPr anchorCtr="0" anchor="t" bIns="35550" lIns="71100" spcFirstLastPara="1" rIns="71100" wrap="square" tIns="35550">
            <a:normAutofit/>
          </a:bodyPr>
          <a:lstStyle>
            <a:lvl1pPr indent="-368300" lvl="0" marL="457200" marR="0" rtl="0" algn="l">
              <a:lnSpc>
                <a:spcPct val="90000"/>
              </a:lnSpc>
              <a:spcBef>
                <a:spcPts val="8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1pPr>
            <a:lvl2pPr indent="-349250" lvl="1" marL="914400" marR="0" rtl="0" algn="l">
              <a:lnSpc>
                <a:spcPct val="90000"/>
              </a:lnSpc>
              <a:spcBef>
                <a:spcPts val="4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2pPr>
            <a:lvl3pPr indent="-330200" lvl="2" marL="1371600" marR="0" rtl="0" algn="l">
              <a:lnSpc>
                <a:spcPct val="90000"/>
              </a:lnSpc>
              <a:spcBef>
                <a:spcPts val="4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2" name="Google Shape;12;p20"/>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marR="0" rtl="0" algn="l">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3" name="Google Shape;13;p20"/>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marR="0" rtl="0" algn="ctr">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4" name="Google Shape;14;p20"/>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marR="0" rtl="0" algn="r">
              <a:spcBef>
                <a:spcPts val="0"/>
              </a:spcBef>
              <a:buNone/>
              <a:defRPr b="0" i="0" sz="900" u="none" cap="none" strike="noStrike">
                <a:solidFill>
                  <a:srgbClr val="757575"/>
                </a:solidFill>
                <a:latin typeface="Arial"/>
                <a:ea typeface="Arial"/>
                <a:cs typeface="Arial"/>
                <a:sym typeface="Arial"/>
              </a:defRPr>
            </a:lvl1pPr>
            <a:lvl2pPr indent="0" lvl="1" marL="0" marR="0" rtl="0" algn="r">
              <a:spcBef>
                <a:spcPts val="0"/>
              </a:spcBef>
              <a:buNone/>
              <a:defRPr b="0" i="0" sz="900" u="none" cap="none" strike="noStrike">
                <a:solidFill>
                  <a:srgbClr val="757575"/>
                </a:solidFill>
                <a:latin typeface="Arial"/>
                <a:ea typeface="Arial"/>
                <a:cs typeface="Arial"/>
                <a:sym typeface="Arial"/>
              </a:defRPr>
            </a:lvl2pPr>
            <a:lvl3pPr indent="0" lvl="2" marL="0" marR="0" rtl="0" algn="r">
              <a:spcBef>
                <a:spcPts val="0"/>
              </a:spcBef>
              <a:buNone/>
              <a:defRPr b="0" i="0" sz="900" u="none" cap="none" strike="noStrike">
                <a:solidFill>
                  <a:srgbClr val="757575"/>
                </a:solidFill>
                <a:latin typeface="Arial"/>
                <a:ea typeface="Arial"/>
                <a:cs typeface="Arial"/>
                <a:sym typeface="Arial"/>
              </a:defRPr>
            </a:lvl3pPr>
            <a:lvl4pPr indent="0" lvl="3" marL="0" marR="0" rtl="0" algn="r">
              <a:spcBef>
                <a:spcPts val="0"/>
              </a:spcBef>
              <a:buNone/>
              <a:defRPr b="0" i="0" sz="900" u="none" cap="none" strike="noStrike">
                <a:solidFill>
                  <a:srgbClr val="757575"/>
                </a:solidFill>
                <a:latin typeface="Arial"/>
                <a:ea typeface="Arial"/>
                <a:cs typeface="Arial"/>
                <a:sym typeface="Arial"/>
              </a:defRPr>
            </a:lvl4pPr>
            <a:lvl5pPr indent="0" lvl="4" marL="0" marR="0" rtl="0" algn="r">
              <a:spcBef>
                <a:spcPts val="0"/>
              </a:spcBef>
              <a:buNone/>
              <a:defRPr b="0" i="0" sz="900" u="none" cap="none" strike="noStrike">
                <a:solidFill>
                  <a:srgbClr val="757575"/>
                </a:solidFill>
                <a:latin typeface="Arial"/>
                <a:ea typeface="Arial"/>
                <a:cs typeface="Arial"/>
                <a:sym typeface="Arial"/>
              </a:defRPr>
            </a:lvl5pPr>
            <a:lvl6pPr indent="0" lvl="5" marL="0" marR="0" rtl="0" algn="r">
              <a:spcBef>
                <a:spcPts val="0"/>
              </a:spcBef>
              <a:buNone/>
              <a:defRPr b="0" i="0" sz="900" u="none" cap="none" strike="noStrike">
                <a:solidFill>
                  <a:srgbClr val="757575"/>
                </a:solidFill>
                <a:latin typeface="Arial"/>
                <a:ea typeface="Arial"/>
                <a:cs typeface="Arial"/>
                <a:sym typeface="Arial"/>
              </a:defRPr>
            </a:lvl6pPr>
            <a:lvl7pPr indent="0" lvl="6" marL="0" marR="0" rtl="0" algn="r">
              <a:spcBef>
                <a:spcPts val="0"/>
              </a:spcBef>
              <a:buNone/>
              <a:defRPr b="0" i="0" sz="900" u="none" cap="none" strike="noStrike">
                <a:solidFill>
                  <a:srgbClr val="757575"/>
                </a:solidFill>
                <a:latin typeface="Arial"/>
                <a:ea typeface="Arial"/>
                <a:cs typeface="Arial"/>
                <a:sym typeface="Arial"/>
              </a:defRPr>
            </a:lvl7pPr>
            <a:lvl8pPr indent="0" lvl="7" marL="0" marR="0" rtl="0" algn="r">
              <a:spcBef>
                <a:spcPts val="0"/>
              </a:spcBef>
              <a:buNone/>
              <a:defRPr b="0" i="0" sz="900" u="none" cap="none" strike="noStrike">
                <a:solidFill>
                  <a:srgbClr val="757575"/>
                </a:solidFill>
                <a:latin typeface="Arial"/>
                <a:ea typeface="Arial"/>
                <a:cs typeface="Arial"/>
                <a:sym typeface="Arial"/>
              </a:defRPr>
            </a:lvl8pPr>
            <a:lvl9pPr indent="0" lvl="8" marL="0" marR="0" rtl="0" algn="r">
              <a:spcBef>
                <a:spcPts val="0"/>
              </a:spcBef>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864A"/>
        </a:solidFill>
      </p:bgPr>
    </p:bg>
    <p:spTree>
      <p:nvGrpSpPr>
        <p:cNvPr id="87" name="Shape 87"/>
        <p:cNvGrpSpPr/>
        <p:nvPr/>
      </p:nvGrpSpPr>
      <p:grpSpPr>
        <a:xfrm>
          <a:off x="0" y="0"/>
          <a:ext cx="0" cy="0"/>
          <a:chOff x="0" y="0"/>
          <a:chExt cx="0" cy="0"/>
        </a:xfrm>
      </p:grpSpPr>
      <p:sp>
        <p:nvSpPr>
          <p:cNvPr id="88" name="Google Shape;88;p1"/>
          <p:cNvSpPr/>
          <p:nvPr/>
        </p:nvSpPr>
        <p:spPr>
          <a:xfrm>
            <a:off x="4532424" y="685017"/>
            <a:ext cx="3795300" cy="4217100"/>
          </a:xfrm>
          <a:prstGeom prst="ellipse">
            <a:avLst/>
          </a:prstGeom>
          <a:solidFill>
            <a:schemeClr val="lt1"/>
          </a:solidFill>
          <a:ln cap="flat" cmpd="sng" w="19050">
            <a:solidFill>
              <a:schemeClr val="lt1"/>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9" name="Google Shape;89;p1"/>
          <p:cNvSpPr txBox="1"/>
          <p:nvPr/>
        </p:nvSpPr>
        <p:spPr>
          <a:xfrm>
            <a:off x="399599" y="2252818"/>
            <a:ext cx="3094500" cy="874200"/>
          </a:xfrm>
          <a:prstGeom prst="rect">
            <a:avLst/>
          </a:prstGeom>
          <a:noFill/>
          <a:ln>
            <a:noFill/>
          </a:ln>
        </p:spPr>
        <p:txBody>
          <a:bodyPr anchorCtr="0" anchor="t" bIns="35550" lIns="71100" spcFirstLastPara="1" rIns="71100" wrap="square" tIns="35550">
            <a:noAutofit/>
          </a:bodyPr>
          <a:lstStyle/>
          <a:p>
            <a:pPr indent="0" lvl="0" marL="0" marR="0" rtl="0" algn="ctr">
              <a:lnSpc>
                <a:spcPct val="90000"/>
              </a:lnSpc>
              <a:spcBef>
                <a:spcPts val="0"/>
              </a:spcBef>
              <a:spcAft>
                <a:spcPts val="0"/>
              </a:spcAft>
              <a:buClr>
                <a:schemeClr val="lt1"/>
              </a:buClr>
              <a:buSzPts val="3400"/>
              <a:buFont typeface="Arial"/>
              <a:buNone/>
            </a:pPr>
            <a:r>
              <a:rPr b="1" i="0" lang="pt-BR" sz="3400" u="none" cap="none" strike="noStrike">
                <a:solidFill>
                  <a:schemeClr val="lt1"/>
                </a:solidFill>
                <a:latin typeface="Arial"/>
                <a:ea typeface="Arial"/>
                <a:cs typeface="Arial"/>
                <a:sym typeface="Arial"/>
              </a:rPr>
              <a:t>EXCEL</a:t>
            </a:r>
            <a:endParaRPr sz="1100"/>
          </a:p>
        </p:txBody>
      </p:sp>
      <p:sp>
        <p:nvSpPr>
          <p:cNvPr id="90" name="Google Shape;90;p1"/>
          <p:cNvSpPr txBox="1"/>
          <p:nvPr/>
        </p:nvSpPr>
        <p:spPr>
          <a:xfrm>
            <a:off x="318280" y="2793565"/>
            <a:ext cx="3494400" cy="425400"/>
          </a:xfrm>
          <a:prstGeom prst="rect">
            <a:avLst/>
          </a:prstGeom>
          <a:noFill/>
          <a:ln>
            <a:noFill/>
          </a:ln>
        </p:spPr>
        <p:txBody>
          <a:bodyPr anchorCtr="0" anchor="t" bIns="35550" lIns="71100" spcFirstLastPara="1" rIns="71100" wrap="square" tIns="35550">
            <a:normAutofit/>
          </a:bodyPr>
          <a:lstStyle/>
          <a:p>
            <a:pPr indent="0" lvl="0" marL="0" marR="0" rtl="0" algn="ctr">
              <a:lnSpc>
                <a:spcPct val="90000"/>
              </a:lnSpc>
              <a:spcBef>
                <a:spcPts val="0"/>
              </a:spcBef>
              <a:spcAft>
                <a:spcPts val="0"/>
              </a:spcAft>
              <a:buClr>
                <a:schemeClr val="lt1"/>
              </a:buClr>
              <a:buSzPts val="1400"/>
              <a:buFont typeface="Arial"/>
              <a:buNone/>
            </a:pPr>
            <a:r>
              <a:rPr b="1" i="0" lang="pt-BR" sz="1400" u="none" cap="none" strike="noStrike">
                <a:solidFill>
                  <a:schemeClr val="lt1"/>
                </a:solidFill>
                <a:latin typeface="Arial"/>
                <a:ea typeface="Arial"/>
                <a:cs typeface="Arial"/>
                <a:sym typeface="Arial"/>
              </a:rPr>
              <a:t>PROFESSOR: LEONILSON SOUZA</a:t>
            </a:r>
            <a:endParaRPr sz="1100"/>
          </a:p>
        </p:txBody>
      </p:sp>
      <p:pic>
        <p:nvPicPr>
          <p:cNvPr descr="Ícone&#10;&#10;O conteúdo gerado por IA pode estar incorreto." id="91" name="Google Shape;91;p1"/>
          <p:cNvPicPr preferRelativeResize="0"/>
          <p:nvPr/>
        </p:nvPicPr>
        <p:blipFill rotWithShape="1">
          <a:blip r:embed="rId3">
            <a:alphaModFix/>
          </a:blip>
          <a:srcRect b="0" l="0" r="0" t="0"/>
          <a:stretch/>
        </p:blipFill>
        <p:spPr>
          <a:xfrm>
            <a:off x="4766896" y="945542"/>
            <a:ext cx="3326444" cy="3326444"/>
          </a:xfrm>
          <a:prstGeom prst="rect">
            <a:avLst/>
          </a:prstGeom>
          <a:noFill/>
          <a:ln>
            <a:noFill/>
          </a:ln>
        </p:spPr>
      </p:pic>
      <p:sp>
        <p:nvSpPr>
          <p:cNvPr id="92" name="Google Shape;92;p1"/>
          <p:cNvSpPr txBox="1"/>
          <p:nvPr/>
        </p:nvSpPr>
        <p:spPr>
          <a:xfrm>
            <a:off x="636733" y="3127031"/>
            <a:ext cx="3175800" cy="1580400"/>
          </a:xfrm>
          <a:prstGeom prst="rect">
            <a:avLst/>
          </a:prstGeom>
          <a:noFill/>
          <a:ln>
            <a:noFill/>
          </a:ln>
        </p:spPr>
        <p:txBody>
          <a:bodyPr anchorCtr="0" anchor="t" bIns="35550" lIns="71100" spcFirstLastPara="1" rIns="71100" wrap="square" tIns="35550">
            <a:spAutoFit/>
          </a:bodyPr>
          <a:lstStyle/>
          <a:p>
            <a:pPr indent="-228600" lvl="0" marL="228600" marR="0" rtl="0" algn="l">
              <a:spcBef>
                <a:spcPts val="0"/>
              </a:spcBef>
              <a:spcAft>
                <a:spcPts val="0"/>
              </a:spcAft>
              <a:buClr>
                <a:schemeClr val="lt1"/>
              </a:buClr>
              <a:buSzPts val="1400"/>
              <a:buFont typeface="Arial"/>
              <a:buChar char="•"/>
            </a:pPr>
            <a:r>
              <a:rPr b="1" i="0" lang="pt-BR" sz="1400" u="none" cap="none" strike="noStrike">
                <a:solidFill>
                  <a:schemeClr val="lt1"/>
                </a:solidFill>
                <a:latin typeface="Arial"/>
                <a:ea typeface="Arial"/>
                <a:cs typeface="Arial"/>
                <a:sym typeface="Arial"/>
              </a:rPr>
              <a:t>BARRA DE FÓRMULAS</a:t>
            </a:r>
            <a:endParaRPr sz="1100"/>
          </a:p>
          <a:p>
            <a:pPr indent="-228600" lvl="0" marL="228600" marR="0" rtl="0" algn="l">
              <a:spcBef>
                <a:spcPts val="0"/>
              </a:spcBef>
              <a:spcAft>
                <a:spcPts val="0"/>
              </a:spcAft>
              <a:buClr>
                <a:schemeClr val="lt1"/>
              </a:buClr>
              <a:buSzPts val="1400"/>
              <a:buFont typeface="Arial"/>
              <a:buChar char="•"/>
            </a:pPr>
            <a:r>
              <a:rPr b="1" i="0" lang="pt-BR" sz="1400" u="none" cap="none" strike="noStrike">
                <a:solidFill>
                  <a:schemeClr val="lt1"/>
                </a:solidFill>
                <a:latin typeface="Arial"/>
                <a:ea typeface="Arial"/>
                <a:cs typeface="Arial"/>
                <a:sym typeface="Arial"/>
              </a:rPr>
              <a:t>AUTOSOMA</a:t>
            </a:r>
            <a:endParaRPr sz="1100"/>
          </a:p>
          <a:p>
            <a:pPr indent="-228600" lvl="0" marL="228600" marR="0" rtl="0" algn="l">
              <a:spcBef>
                <a:spcPts val="0"/>
              </a:spcBef>
              <a:spcAft>
                <a:spcPts val="0"/>
              </a:spcAft>
              <a:buClr>
                <a:schemeClr val="lt1"/>
              </a:buClr>
              <a:buSzPts val="1400"/>
              <a:buFont typeface="Arial"/>
              <a:buChar char="•"/>
            </a:pPr>
            <a:r>
              <a:rPr b="1" i="0" lang="pt-BR" sz="1400" u="none" cap="none" strike="noStrike">
                <a:solidFill>
                  <a:schemeClr val="lt1"/>
                </a:solidFill>
                <a:latin typeface="Arial"/>
                <a:ea typeface="Arial"/>
                <a:cs typeface="Arial"/>
                <a:sym typeface="Arial"/>
              </a:rPr>
              <a:t>FUNÇÃO SOMASE()</a:t>
            </a:r>
            <a:endParaRPr sz="1100"/>
          </a:p>
          <a:p>
            <a:pPr indent="-228600" lvl="0" marL="228600" marR="0" rtl="0" algn="l">
              <a:spcBef>
                <a:spcPts val="0"/>
              </a:spcBef>
              <a:spcAft>
                <a:spcPts val="0"/>
              </a:spcAft>
              <a:buClr>
                <a:schemeClr val="lt1"/>
              </a:buClr>
              <a:buSzPts val="1400"/>
              <a:buFont typeface="Arial"/>
              <a:buChar char="•"/>
            </a:pPr>
            <a:r>
              <a:rPr b="1" i="0" lang="pt-BR" sz="1400" u="none" cap="none" strike="noStrike">
                <a:solidFill>
                  <a:schemeClr val="lt1"/>
                </a:solidFill>
                <a:latin typeface="Arial"/>
                <a:ea typeface="Arial"/>
                <a:cs typeface="Arial"/>
                <a:sym typeface="Arial"/>
              </a:rPr>
              <a:t>FUNÇÃO CONT.SE()</a:t>
            </a:r>
            <a:endParaRPr sz="1100"/>
          </a:p>
          <a:p>
            <a:pPr indent="-228600" lvl="0" marL="228600" marR="0" rtl="0" algn="l">
              <a:spcBef>
                <a:spcPts val="0"/>
              </a:spcBef>
              <a:spcAft>
                <a:spcPts val="0"/>
              </a:spcAft>
              <a:buClr>
                <a:schemeClr val="lt1"/>
              </a:buClr>
              <a:buSzPts val="1400"/>
              <a:buFont typeface="Arial"/>
              <a:buChar char="•"/>
            </a:pPr>
            <a:r>
              <a:rPr b="1" i="0" lang="pt-BR" sz="1400" u="none" cap="none" strike="noStrike">
                <a:solidFill>
                  <a:schemeClr val="lt1"/>
                </a:solidFill>
                <a:latin typeface="Arial"/>
                <a:ea typeface="Arial"/>
                <a:cs typeface="Arial"/>
                <a:sym typeface="Arial"/>
              </a:rPr>
              <a:t>FUNÇÃO CONT.VALORES()</a:t>
            </a:r>
            <a:endParaRPr sz="1100"/>
          </a:p>
          <a:p>
            <a:pPr indent="-228600" lvl="0" marL="228600" marR="0" rtl="0" algn="l">
              <a:spcBef>
                <a:spcPts val="0"/>
              </a:spcBef>
              <a:spcAft>
                <a:spcPts val="0"/>
              </a:spcAft>
              <a:buClr>
                <a:schemeClr val="lt1"/>
              </a:buClr>
              <a:buSzPts val="1400"/>
              <a:buFont typeface="Arial"/>
              <a:buChar char="•"/>
            </a:pPr>
            <a:r>
              <a:rPr b="1" i="0" lang="pt-BR" sz="1400" u="none" cap="none" strike="noStrike">
                <a:solidFill>
                  <a:schemeClr val="lt1"/>
                </a:solidFill>
                <a:latin typeface="Arial"/>
                <a:ea typeface="Arial"/>
                <a:cs typeface="Arial"/>
                <a:sym typeface="Arial"/>
              </a:rPr>
              <a:t>FUNÇÃO PROCV()</a:t>
            </a:r>
            <a:endParaRPr sz="1100"/>
          </a:p>
          <a:p>
            <a:pPr indent="-228600" lvl="0" marL="228600" marR="0" rtl="0" algn="l">
              <a:spcBef>
                <a:spcPts val="0"/>
              </a:spcBef>
              <a:spcAft>
                <a:spcPts val="0"/>
              </a:spcAft>
              <a:buClr>
                <a:schemeClr val="lt1"/>
              </a:buClr>
              <a:buSzPts val="1400"/>
              <a:buFont typeface="Arial"/>
              <a:buChar char="•"/>
            </a:pPr>
            <a:r>
              <a:rPr b="1" i="0" lang="pt-BR" sz="1400" u="none" cap="none" strike="noStrike">
                <a:solidFill>
                  <a:schemeClr val="lt1"/>
                </a:solidFill>
                <a:latin typeface="Arial"/>
                <a:ea typeface="Arial"/>
                <a:cs typeface="Arial"/>
                <a:sym typeface="Arial"/>
              </a:rPr>
              <a:t>EXERCÍCIOS</a:t>
            </a:r>
            <a:endParaRPr sz="1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2200">
                <a:solidFill>
                  <a:schemeClr val="lt1"/>
                </a:solidFill>
              </a:rPr>
              <a:t>ATIVIDADE</a:t>
            </a:r>
            <a:endParaRPr sz="1100"/>
          </a:p>
        </p:txBody>
      </p:sp>
      <p:sp>
        <p:nvSpPr>
          <p:cNvPr id="99" name="Google Shape;99;p2"/>
          <p:cNvSpPr txBox="1"/>
          <p:nvPr/>
        </p:nvSpPr>
        <p:spPr>
          <a:xfrm>
            <a:off x="772625" y="1299975"/>
            <a:ext cx="7271100" cy="3888900"/>
          </a:xfrm>
          <a:prstGeom prst="rect">
            <a:avLst/>
          </a:prstGeom>
          <a:noFill/>
          <a:ln>
            <a:noFill/>
          </a:ln>
        </p:spPr>
        <p:txBody>
          <a:bodyPr anchorCtr="0" anchor="t" bIns="91425" lIns="91425" spcFirstLastPara="1" rIns="91425" wrap="square" tIns="91425">
            <a:spAutoFit/>
          </a:bodyPr>
          <a:lstStyle/>
          <a:p>
            <a:pPr indent="0" lvl="0" marL="0" rtl="0" algn="l">
              <a:lnSpc>
                <a:spcPct val="107916"/>
              </a:lnSpc>
              <a:spcBef>
                <a:spcPts val="0"/>
              </a:spcBef>
              <a:spcAft>
                <a:spcPts val="0"/>
              </a:spcAft>
              <a:buNone/>
            </a:pPr>
            <a:r>
              <a:rPr b="1" lang="pt-BR" sz="1300">
                <a:solidFill>
                  <a:srgbClr val="980000"/>
                </a:solidFill>
              </a:rPr>
              <a:t>1. Qual fórmula soma tudo de A1 a A4?</a:t>
            </a:r>
            <a:endParaRPr b="1" sz="1300">
              <a:solidFill>
                <a:srgbClr val="980000"/>
              </a:solidFill>
            </a:endParaRPr>
          </a:p>
          <a:p>
            <a:pPr indent="0" lvl="0" marL="0" rtl="0" algn="l">
              <a:lnSpc>
                <a:spcPct val="107916"/>
              </a:lnSpc>
              <a:spcBef>
                <a:spcPts val="800"/>
              </a:spcBef>
              <a:spcAft>
                <a:spcPts val="0"/>
              </a:spcAft>
              <a:buNone/>
            </a:pPr>
            <a:r>
              <a:rPr b="1" lang="pt-BR" sz="1300">
                <a:solidFill>
                  <a:schemeClr val="dk1"/>
                </a:solidFill>
              </a:rPr>
              <a:t>a) =MÉDIA(A1:A4) b) =SOMA(A1:A4) c) =MENOR(A1:A4) d) =CONT.SE(A1:A4)</a:t>
            </a:r>
            <a:endParaRPr b="1" sz="1300">
              <a:solidFill>
                <a:schemeClr val="dk1"/>
              </a:solidFill>
            </a:endParaRPr>
          </a:p>
          <a:p>
            <a:pPr indent="0" lvl="0" marL="0" rtl="0" algn="l">
              <a:lnSpc>
                <a:spcPct val="107916"/>
              </a:lnSpc>
              <a:spcBef>
                <a:spcPts val="800"/>
              </a:spcBef>
              <a:spcAft>
                <a:spcPts val="0"/>
              </a:spcAft>
              <a:buNone/>
            </a:pPr>
            <a:r>
              <a:rPr b="1" lang="pt-BR" sz="1300">
                <a:solidFill>
                  <a:srgbClr val="980000"/>
                </a:solidFill>
              </a:rPr>
              <a:t>2. Qual fórmula calcula a média das notas?</a:t>
            </a:r>
            <a:endParaRPr b="1" sz="1300">
              <a:solidFill>
                <a:srgbClr val="980000"/>
              </a:solidFill>
            </a:endParaRPr>
          </a:p>
          <a:p>
            <a:pPr indent="0" lvl="0" marL="0" rtl="0" algn="l">
              <a:lnSpc>
                <a:spcPct val="107916"/>
              </a:lnSpc>
              <a:spcBef>
                <a:spcPts val="800"/>
              </a:spcBef>
              <a:spcAft>
                <a:spcPts val="0"/>
              </a:spcAft>
              <a:buNone/>
            </a:pPr>
            <a:r>
              <a:rPr b="1" lang="pt-BR" sz="1300">
                <a:solidFill>
                  <a:schemeClr val="dk1"/>
                </a:solidFill>
              </a:rPr>
              <a:t>a) =SOMA(A1:A4) b) =MÉDIA(A1:A4) c) =MÁXIMO(A1:A4) d) =CONTAR(A1:A4)</a:t>
            </a:r>
            <a:endParaRPr b="1" sz="1300">
              <a:solidFill>
                <a:schemeClr val="dk1"/>
              </a:solidFill>
            </a:endParaRPr>
          </a:p>
          <a:p>
            <a:pPr indent="0" lvl="0" marL="0" rtl="0" algn="l">
              <a:lnSpc>
                <a:spcPct val="107916"/>
              </a:lnSpc>
              <a:spcBef>
                <a:spcPts val="800"/>
              </a:spcBef>
              <a:spcAft>
                <a:spcPts val="0"/>
              </a:spcAft>
              <a:buNone/>
            </a:pPr>
            <a:r>
              <a:rPr b="1" lang="pt-BR" sz="1300">
                <a:solidFill>
                  <a:srgbClr val="980000"/>
                </a:solidFill>
              </a:rPr>
              <a:t>3. O que usar para deixar uma planilha colorida e organizada com filtros automáticos?</a:t>
            </a:r>
            <a:endParaRPr b="1" sz="1300">
              <a:solidFill>
                <a:srgbClr val="980000"/>
              </a:solidFill>
            </a:endParaRPr>
          </a:p>
          <a:p>
            <a:pPr indent="0" lvl="0" marL="0" rtl="0" algn="l">
              <a:lnSpc>
                <a:spcPct val="107916"/>
              </a:lnSpc>
              <a:spcBef>
                <a:spcPts val="800"/>
              </a:spcBef>
              <a:spcAft>
                <a:spcPts val="0"/>
              </a:spcAft>
              <a:buNone/>
            </a:pPr>
            <a:r>
              <a:rPr b="1" lang="pt-BR" sz="1300">
                <a:solidFill>
                  <a:schemeClr val="dk1"/>
                </a:solidFill>
              </a:rPr>
              <a:t>a) Inserir imagem b) Formatação de Tabela c) Cor da fonte d) Mesclar células</a:t>
            </a:r>
            <a:endParaRPr b="1" sz="1300">
              <a:solidFill>
                <a:schemeClr val="dk1"/>
              </a:solidFill>
            </a:endParaRPr>
          </a:p>
          <a:p>
            <a:pPr indent="0" lvl="0" marL="0" rtl="0" algn="l">
              <a:lnSpc>
                <a:spcPct val="107916"/>
              </a:lnSpc>
              <a:spcBef>
                <a:spcPts val="800"/>
              </a:spcBef>
              <a:spcAft>
                <a:spcPts val="0"/>
              </a:spcAft>
              <a:buNone/>
            </a:pPr>
            <a:r>
              <a:rPr b="1" lang="pt-BR" sz="1300">
                <a:solidFill>
                  <a:srgbClr val="980000"/>
                </a:solidFill>
              </a:rPr>
              <a:t>4. Qual recurso cria uma lista de opções como “Pastel”, “Hambúrguer” ou “Pizza”?</a:t>
            </a:r>
            <a:endParaRPr b="1" sz="1300">
              <a:solidFill>
                <a:srgbClr val="980000"/>
              </a:solidFill>
            </a:endParaRPr>
          </a:p>
          <a:p>
            <a:pPr indent="0" lvl="0" marL="0" rtl="0" algn="l">
              <a:lnSpc>
                <a:spcPct val="107916"/>
              </a:lnSpc>
              <a:spcBef>
                <a:spcPts val="800"/>
              </a:spcBef>
              <a:spcAft>
                <a:spcPts val="0"/>
              </a:spcAft>
              <a:buNone/>
            </a:pPr>
            <a:r>
              <a:rPr b="1" lang="pt-BR" sz="1300">
                <a:solidFill>
                  <a:schemeClr val="dk1"/>
                </a:solidFill>
              </a:rPr>
              <a:t>a) Validação de Dados (Lista) b) Gráfico c) Tabela Dinâmica d) Mesclar Células</a:t>
            </a:r>
            <a:endParaRPr b="1" sz="1300">
              <a:solidFill>
                <a:schemeClr val="dk1"/>
              </a:solidFill>
            </a:endParaRPr>
          </a:p>
          <a:p>
            <a:pPr indent="0" lvl="0" marL="0" rtl="0" algn="l">
              <a:lnSpc>
                <a:spcPct val="107916"/>
              </a:lnSpc>
              <a:spcBef>
                <a:spcPts val="800"/>
              </a:spcBef>
              <a:spcAft>
                <a:spcPts val="0"/>
              </a:spcAft>
              <a:buNone/>
            </a:pPr>
            <a:r>
              <a:rPr b="1" lang="pt-BR" sz="1300">
                <a:solidFill>
                  <a:srgbClr val="980000"/>
                </a:solidFill>
              </a:rPr>
              <a:t>5. O que usar para permitir apenas números entre 1 e 100 em uma célula?</a:t>
            </a:r>
            <a:endParaRPr b="1" sz="1300">
              <a:solidFill>
                <a:srgbClr val="980000"/>
              </a:solidFill>
            </a:endParaRPr>
          </a:p>
          <a:p>
            <a:pPr indent="0" lvl="0" marL="0" rtl="0" algn="l">
              <a:lnSpc>
                <a:spcPct val="107916"/>
              </a:lnSpc>
              <a:spcBef>
                <a:spcPts val="800"/>
              </a:spcBef>
              <a:spcAft>
                <a:spcPts val="0"/>
              </a:spcAft>
              <a:buNone/>
            </a:pPr>
            <a:r>
              <a:rPr b="1" lang="pt-BR" sz="1300">
                <a:solidFill>
                  <a:schemeClr val="dk1"/>
                </a:solidFill>
              </a:rPr>
              <a:t>a) Validação numérica b) Formatação Condicional c) AutoSoma d) Gráfico</a:t>
            </a:r>
            <a:endParaRPr b="1" sz="1300">
              <a:solidFill>
                <a:schemeClr val="dk1"/>
              </a:solidFill>
            </a:endParaRPr>
          </a:p>
          <a:p>
            <a:pPr indent="0" lvl="0" marL="0" rtl="0" algn="l">
              <a:lnSpc>
                <a:spcPct val="107916"/>
              </a:lnSpc>
              <a:spcBef>
                <a:spcPts val="800"/>
              </a:spcBef>
              <a:spcAft>
                <a:spcPts val="0"/>
              </a:spcAft>
              <a:buNone/>
            </a:pPr>
            <a:r>
              <a:rPr b="1" lang="pt-BR" sz="1300">
                <a:solidFill>
                  <a:srgbClr val="980000"/>
                </a:solidFill>
              </a:rPr>
              <a:t>6.Qual função ajuda a descobrir a média de gastos por dia em uma viagem?</a:t>
            </a:r>
            <a:endParaRPr b="1" sz="1300">
              <a:solidFill>
                <a:srgbClr val="980000"/>
              </a:solidFill>
            </a:endParaRPr>
          </a:p>
          <a:p>
            <a:pPr indent="0" lvl="0" marL="0" rtl="0" algn="l">
              <a:lnSpc>
                <a:spcPct val="107916"/>
              </a:lnSpc>
              <a:spcBef>
                <a:spcPts val="800"/>
              </a:spcBef>
              <a:spcAft>
                <a:spcPts val="800"/>
              </a:spcAft>
              <a:buNone/>
            </a:pPr>
            <a:r>
              <a:rPr b="1" lang="pt-BR" sz="1300">
                <a:solidFill>
                  <a:schemeClr val="dk1"/>
                </a:solidFill>
              </a:rPr>
              <a:t>a) =SOMA() b) =MÉDIA() c) =MÁXIMO() d) =MENOR(</a:t>
            </a:r>
            <a:endParaRPr b="1"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38d85766783_0_0"/>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i="0" lang="pt-BR" sz="2200" u="none" cap="none" strike="noStrike">
                <a:solidFill>
                  <a:schemeClr val="lt1"/>
                </a:solidFill>
                <a:latin typeface="Arial"/>
                <a:ea typeface="Arial"/>
                <a:cs typeface="Arial"/>
                <a:sym typeface="Arial"/>
              </a:rPr>
              <a:t>Barra de Fórmulas no Excel</a:t>
            </a:r>
            <a:endParaRPr sz="1100"/>
          </a:p>
        </p:txBody>
      </p:sp>
      <p:sp>
        <p:nvSpPr>
          <p:cNvPr id="106" name="Google Shape;106;g38d85766783_0_0"/>
          <p:cNvSpPr/>
          <p:nvPr/>
        </p:nvSpPr>
        <p:spPr>
          <a:xfrm>
            <a:off x="249702" y="1237392"/>
            <a:ext cx="8655000" cy="1231200"/>
          </a:xfrm>
          <a:prstGeom prst="rect">
            <a:avLst/>
          </a:prstGeom>
          <a:noFill/>
          <a:ln>
            <a:noFill/>
          </a:ln>
        </p:spPr>
        <p:txBody>
          <a:bodyPr anchorCtr="0" anchor="t" bIns="35550" lIns="71100" spcFirstLastPara="1" rIns="71100" wrap="square" tIns="35550">
            <a:noAutofit/>
          </a:bodyPr>
          <a:lstStyle/>
          <a:p>
            <a:pPr indent="0" lvl="0" marL="0" marR="0" rtl="0" algn="l">
              <a:spcBef>
                <a:spcPts val="0"/>
              </a:spcBef>
              <a:spcAft>
                <a:spcPts val="0"/>
              </a:spcAft>
              <a:buNone/>
            </a:pPr>
            <a:r>
              <a:rPr b="1" i="0" lang="pt-BR" sz="1400" u="none" cap="none" strike="noStrike">
                <a:solidFill>
                  <a:schemeClr val="dk1"/>
                </a:solidFill>
                <a:latin typeface="Arial"/>
                <a:ea typeface="Arial"/>
                <a:cs typeface="Arial"/>
                <a:sym typeface="Arial"/>
              </a:rPr>
              <a:t>O que é a Barra de Fórmulas?</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1. A Barra de Fórmulas é a área do Excel onde digitamos e visualizamos fórmulas e funções. </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Ela fica logo acima da planilha; Ela é composta por </a:t>
            </a:r>
            <a:r>
              <a:rPr b="1" lang="pt-BR" sz="1400">
                <a:solidFill>
                  <a:schemeClr val="dk1"/>
                </a:solidFill>
                <a:latin typeface="Arial"/>
                <a:ea typeface="Arial"/>
                <a:cs typeface="Arial"/>
                <a:sym typeface="Arial"/>
              </a:rPr>
              <a:t>3 partes principais</a:t>
            </a:r>
            <a:r>
              <a:rPr lang="pt-BR" sz="1400">
                <a:solidFill>
                  <a:schemeClr val="dk1"/>
                </a:solidFill>
                <a:latin typeface="Arial"/>
                <a:ea typeface="Arial"/>
                <a:cs typeface="Arial"/>
                <a:sym typeface="Arial"/>
              </a:rPr>
              <a:t>:</a:t>
            </a:r>
            <a:endParaRPr sz="1100"/>
          </a:p>
          <a:p>
            <a:pPr indent="0" lvl="0" marL="0" marR="0" rtl="0" algn="l">
              <a:spcBef>
                <a:spcPts val="0"/>
              </a:spcBef>
              <a:spcAft>
                <a:spcPts val="0"/>
              </a:spcAft>
              <a:buNone/>
            </a:pPr>
            <a:r>
              <a:rPr b="1" lang="pt-BR" sz="1400">
                <a:solidFill>
                  <a:schemeClr val="dk1"/>
                </a:solidFill>
                <a:latin typeface="Arial"/>
                <a:ea typeface="Arial"/>
                <a:cs typeface="Arial"/>
                <a:sym typeface="Arial"/>
              </a:rPr>
              <a:t>Endereço/Nome da célula </a:t>
            </a:r>
            <a:r>
              <a:rPr lang="pt-BR" sz="1400">
                <a:solidFill>
                  <a:schemeClr val="dk1"/>
                </a:solidFill>
                <a:latin typeface="Arial"/>
                <a:ea typeface="Arial"/>
                <a:cs typeface="Arial"/>
                <a:sym typeface="Arial"/>
              </a:rPr>
              <a:t>(exemplo: B4) Mostra onde a fórmula será aplicada.</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B4 significa: Coluna B, linha 4.</a:t>
            </a:r>
            <a:endParaRPr sz="1100"/>
          </a:p>
        </p:txBody>
      </p:sp>
      <p:pic>
        <p:nvPicPr>
          <p:cNvPr id="107" name="Google Shape;107;g38d85766783_0_0"/>
          <p:cNvPicPr preferRelativeResize="0"/>
          <p:nvPr/>
        </p:nvPicPr>
        <p:blipFill rotWithShape="1">
          <a:blip r:embed="rId3">
            <a:alphaModFix/>
          </a:blip>
          <a:srcRect b="0" l="0" r="0" t="0"/>
          <a:stretch/>
        </p:blipFill>
        <p:spPr>
          <a:xfrm>
            <a:off x="331030" y="2882448"/>
            <a:ext cx="7951323" cy="440342"/>
          </a:xfrm>
          <a:prstGeom prst="rect">
            <a:avLst/>
          </a:prstGeom>
          <a:noFill/>
          <a:ln>
            <a:noFill/>
          </a:ln>
        </p:spPr>
      </p:pic>
      <p:sp>
        <p:nvSpPr>
          <p:cNvPr id="108" name="Google Shape;108;g38d85766783_0_0"/>
          <p:cNvSpPr/>
          <p:nvPr/>
        </p:nvSpPr>
        <p:spPr>
          <a:xfrm>
            <a:off x="331030" y="3640623"/>
            <a:ext cx="8215200" cy="1000200"/>
          </a:xfrm>
          <a:prstGeom prst="rect">
            <a:avLst/>
          </a:prstGeom>
          <a:noFill/>
          <a:ln>
            <a:noFill/>
          </a:ln>
        </p:spPr>
        <p:txBody>
          <a:bodyPr anchorCtr="0" anchor="t" bIns="35550" lIns="71100" spcFirstLastPara="1" rIns="71100" wrap="square" tIns="35550">
            <a:no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2. </a:t>
            </a:r>
            <a:r>
              <a:rPr b="1" lang="pt-BR" sz="1400">
                <a:solidFill>
                  <a:schemeClr val="dk1"/>
                </a:solidFill>
                <a:latin typeface="Arial"/>
                <a:ea typeface="Arial"/>
                <a:cs typeface="Arial"/>
                <a:sym typeface="Arial"/>
              </a:rPr>
              <a:t>Botão "Inserir Função</a:t>
            </a:r>
            <a:r>
              <a:rPr lang="pt-BR" sz="1400">
                <a:solidFill>
                  <a:schemeClr val="dk1"/>
                </a:solidFill>
                <a:latin typeface="Arial"/>
                <a:ea typeface="Arial"/>
                <a:cs typeface="Arial"/>
                <a:sym typeface="Arial"/>
              </a:rPr>
              <a:t>" (fx) Abre uma janelinha chamada "Inserir Função".</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Nela, podemos procurar funções por categorias, como: Financeira, Data e Hora, Matemática e Trigonométrica, Estatística, Pesquisa e Referência, Banco de Dados, Texto, Lógica, Informações, Engenharia.</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3"/>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2200">
                <a:solidFill>
                  <a:schemeClr val="lt1"/>
                </a:solidFill>
                <a:latin typeface="Arial"/>
                <a:ea typeface="Arial"/>
                <a:cs typeface="Arial"/>
                <a:sym typeface="Arial"/>
              </a:rPr>
              <a:t>Barra de Fórmulas no Excel</a:t>
            </a:r>
            <a:endParaRPr sz="1100"/>
          </a:p>
        </p:txBody>
      </p:sp>
      <p:sp>
        <p:nvSpPr>
          <p:cNvPr id="115" name="Google Shape;115;p3"/>
          <p:cNvSpPr/>
          <p:nvPr/>
        </p:nvSpPr>
        <p:spPr>
          <a:xfrm>
            <a:off x="302454" y="1452872"/>
            <a:ext cx="8423100" cy="307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3. </a:t>
            </a:r>
            <a:r>
              <a:rPr b="1" lang="pt-BR" sz="1400">
                <a:solidFill>
                  <a:schemeClr val="dk1"/>
                </a:solidFill>
                <a:latin typeface="Arial"/>
                <a:ea typeface="Arial"/>
                <a:cs typeface="Arial"/>
                <a:sym typeface="Arial"/>
              </a:rPr>
              <a:t>Campo de Digitação:</a:t>
            </a:r>
            <a:r>
              <a:rPr lang="pt-BR" sz="1400">
                <a:solidFill>
                  <a:schemeClr val="dk1"/>
                </a:solidFill>
                <a:latin typeface="Arial"/>
                <a:ea typeface="Arial"/>
                <a:cs typeface="Arial"/>
                <a:sym typeface="Arial"/>
              </a:rPr>
              <a:t> Onde você escreve a fórmula ou edita o conteúdo da célula selecionada.</a:t>
            </a:r>
            <a:endParaRPr sz="1100"/>
          </a:p>
        </p:txBody>
      </p:sp>
      <p:sp>
        <p:nvSpPr>
          <p:cNvPr id="116" name="Google Shape;116;p3"/>
          <p:cNvSpPr/>
          <p:nvPr/>
        </p:nvSpPr>
        <p:spPr>
          <a:xfrm>
            <a:off x="302453" y="2118438"/>
            <a:ext cx="8423100" cy="12312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DICA:</a:t>
            </a:r>
            <a:r>
              <a:rPr lang="pt-BR" sz="1400">
                <a:solidFill>
                  <a:schemeClr val="dk1"/>
                </a:solidFill>
                <a:latin typeface="Arial"/>
                <a:ea typeface="Arial"/>
                <a:cs typeface="Arial"/>
                <a:sym typeface="Arial"/>
              </a:rPr>
              <a:t> Diferença entre </a:t>
            </a:r>
            <a:r>
              <a:rPr b="1" lang="pt-BR" sz="1400">
                <a:solidFill>
                  <a:schemeClr val="dk1"/>
                </a:solidFill>
                <a:latin typeface="Arial"/>
                <a:ea typeface="Arial"/>
                <a:cs typeface="Arial"/>
                <a:sym typeface="Arial"/>
              </a:rPr>
              <a:t>:</a:t>
            </a:r>
            <a:r>
              <a:rPr lang="pt-BR" sz="1400">
                <a:solidFill>
                  <a:schemeClr val="dk1"/>
                </a:solidFill>
                <a:latin typeface="Arial"/>
                <a:ea typeface="Arial"/>
                <a:cs typeface="Arial"/>
                <a:sym typeface="Arial"/>
              </a:rPr>
              <a:t> e </a:t>
            </a:r>
            <a:r>
              <a:rPr b="1" lang="pt-BR" sz="1400">
                <a:solidFill>
                  <a:schemeClr val="dk1"/>
                </a:solidFill>
                <a:latin typeface="Arial"/>
                <a:ea typeface="Arial"/>
                <a:cs typeface="Arial"/>
                <a:sym typeface="Arial"/>
              </a:rPr>
              <a:t>;</a:t>
            </a:r>
            <a:r>
              <a:rPr lang="pt-BR" sz="1400">
                <a:solidFill>
                  <a:schemeClr val="dk1"/>
                </a:solidFill>
                <a:latin typeface="Arial"/>
                <a:ea typeface="Arial"/>
                <a:cs typeface="Arial"/>
                <a:sym typeface="Arial"/>
              </a:rPr>
              <a:t> nas fórmulas</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Dois Pontos </a:t>
            </a:r>
            <a:r>
              <a:rPr b="1" lang="pt-BR" sz="1400">
                <a:solidFill>
                  <a:schemeClr val="dk1"/>
                </a:solidFill>
                <a:latin typeface="Arial"/>
                <a:ea typeface="Arial"/>
                <a:cs typeface="Arial"/>
                <a:sym typeface="Arial"/>
              </a:rPr>
              <a:t>( : ) </a:t>
            </a:r>
            <a:r>
              <a:rPr lang="pt-BR" sz="1400">
                <a:solidFill>
                  <a:schemeClr val="dk1"/>
                </a:solidFill>
                <a:latin typeface="Arial"/>
                <a:ea typeface="Arial"/>
                <a:cs typeface="Arial"/>
                <a:sym typeface="Arial"/>
              </a:rPr>
              <a:t>→ Para intervalo de células contínuo</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Exemplo: =SOMA(A1:A10)Soma tudo entre A1 até A10, passando por A5, A6, A7...</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Ponto e Vírgula </a:t>
            </a:r>
            <a:r>
              <a:rPr b="1" lang="pt-BR" sz="1400">
                <a:solidFill>
                  <a:schemeClr val="dk1"/>
                </a:solidFill>
                <a:latin typeface="Arial"/>
                <a:ea typeface="Arial"/>
                <a:cs typeface="Arial"/>
                <a:sym typeface="Arial"/>
              </a:rPr>
              <a:t>( ; ) </a:t>
            </a:r>
            <a:r>
              <a:rPr lang="pt-BR" sz="1400">
                <a:solidFill>
                  <a:schemeClr val="dk1"/>
                </a:solidFill>
                <a:latin typeface="Arial"/>
                <a:ea typeface="Arial"/>
                <a:cs typeface="Arial"/>
                <a:sym typeface="Arial"/>
              </a:rPr>
              <a:t>→ Para células separadas</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Exemplo: =SOMA(A1;A10 )Soma apenas A1 e A10, sem incluir as que estão no meio.</a:t>
            </a:r>
            <a:endParaRPr sz="1100"/>
          </a:p>
        </p:txBody>
      </p:sp>
      <p:sp>
        <p:nvSpPr>
          <p:cNvPr id="117" name="Google Shape;117;p3"/>
          <p:cNvSpPr/>
          <p:nvPr/>
        </p:nvSpPr>
        <p:spPr>
          <a:xfrm>
            <a:off x="302453" y="3570285"/>
            <a:ext cx="8423100" cy="16929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Passo a Passo para usar a Barra de Fórmulas</a:t>
            </a:r>
            <a:endParaRPr sz="1100"/>
          </a:p>
          <a:p>
            <a:pPr indent="-266700" lvl="0" marL="266700" marR="0" rtl="0" algn="l">
              <a:spcBef>
                <a:spcPts val="0"/>
              </a:spcBef>
              <a:spcAft>
                <a:spcPts val="0"/>
              </a:spcAft>
              <a:buClr>
                <a:schemeClr val="dk1"/>
              </a:buClr>
              <a:buSzPts val="1400"/>
              <a:buFont typeface="Arial"/>
              <a:buAutoNum type="arabicPeriod"/>
            </a:pPr>
            <a:r>
              <a:rPr b="1" lang="pt-BR" sz="1400">
                <a:solidFill>
                  <a:schemeClr val="dk1"/>
                </a:solidFill>
                <a:latin typeface="Arial"/>
                <a:ea typeface="Arial"/>
                <a:cs typeface="Arial"/>
                <a:sym typeface="Arial"/>
              </a:rPr>
              <a:t>Clique na célula onde quer fazer o cálculo.</a:t>
            </a:r>
            <a:endParaRPr sz="1100"/>
          </a:p>
          <a:p>
            <a:pPr indent="0" lvl="0" marL="0" marR="0" rtl="0" algn="l">
              <a:spcBef>
                <a:spcPts val="0"/>
              </a:spcBef>
              <a:spcAft>
                <a:spcPts val="0"/>
              </a:spcAft>
              <a:buNone/>
            </a:pPr>
            <a:r>
              <a:rPr b="1" lang="pt-BR" sz="1400">
                <a:solidFill>
                  <a:schemeClr val="dk1"/>
                </a:solidFill>
                <a:latin typeface="Arial"/>
                <a:ea typeface="Arial"/>
                <a:cs typeface="Arial"/>
                <a:sym typeface="Arial"/>
              </a:rPr>
              <a:t>2.  Clique no botão fx (Inserir Função).</a:t>
            </a:r>
            <a:endParaRPr sz="1100"/>
          </a:p>
          <a:p>
            <a:pPr indent="0" lvl="0" marL="0" marR="0" rtl="0" algn="l">
              <a:spcBef>
                <a:spcPts val="0"/>
              </a:spcBef>
              <a:spcAft>
                <a:spcPts val="0"/>
              </a:spcAft>
              <a:buNone/>
            </a:pPr>
            <a:r>
              <a:rPr b="1" lang="pt-BR" sz="1400">
                <a:solidFill>
                  <a:schemeClr val="dk1"/>
                </a:solidFill>
                <a:latin typeface="Arial"/>
                <a:ea typeface="Arial"/>
                <a:cs typeface="Arial"/>
                <a:sym typeface="Arial"/>
              </a:rPr>
              <a:t>3.  Escolha a categoria da função.</a:t>
            </a:r>
            <a:endParaRPr sz="1100"/>
          </a:p>
          <a:p>
            <a:pPr indent="0" lvl="0" marL="0" marR="0" rtl="0" algn="l">
              <a:spcBef>
                <a:spcPts val="0"/>
              </a:spcBef>
              <a:spcAft>
                <a:spcPts val="0"/>
              </a:spcAft>
              <a:buNone/>
            </a:pPr>
            <a:r>
              <a:rPr b="1" lang="pt-BR" sz="1400">
                <a:solidFill>
                  <a:schemeClr val="dk1"/>
                </a:solidFill>
                <a:latin typeface="Arial"/>
                <a:ea typeface="Arial"/>
                <a:cs typeface="Arial"/>
                <a:sym typeface="Arial"/>
              </a:rPr>
              <a:t>4.  Selecione a função desejada (como SOMA, MÉDIA, SE, etc).</a:t>
            </a:r>
            <a:endParaRPr sz="1100"/>
          </a:p>
          <a:p>
            <a:pPr indent="0" lvl="0" marL="0" marR="0" rtl="0" algn="l">
              <a:spcBef>
                <a:spcPts val="0"/>
              </a:spcBef>
              <a:spcAft>
                <a:spcPts val="0"/>
              </a:spcAft>
              <a:buNone/>
            </a:pPr>
            <a:r>
              <a:rPr b="1" lang="pt-BR" sz="1400">
                <a:solidFill>
                  <a:schemeClr val="dk1"/>
                </a:solidFill>
                <a:latin typeface="Arial"/>
                <a:ea typeface="Arial"/>
                <a:cs typeface="Arial"/>
                <a:sym typeface="Arial"/>
              </a:rPr>
              <a:t>5.  Preencha os dados pedidos.</a:t>
            </a:r>
            <a:endParaRPr sz="1100"/>
          </a:p>
          <a:p>
            <a:pPr indent="0" lvl="0" marL="0" marR="0" rtl="0" algn="l">
              <a:spcBef>
                <a:spcPts val="0"/>
              </a:spcBef>
              <a:spcAft>
                <a:spcPts val="0"/>
              </a:spcAft>
              <a:buNone/>
            </a:pPr>
            <a:r>
              <a:rPr b="1" lang="pt-BR" sz="1400">
                <a:solidFill>
                  <a:schemeClr val="dk1"/>
                </a:solidFill>
                <a:latin typeface="Arial"/>
                <a:ea typeface="Arial"/>
                <a:cs typeface="Arial"/>
                <a:sym typeface="Arial"/>
              </a:rPr>
              <a:t>6.  Clique em OK para aplicar a fórmula.</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4"/>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2200">
                <a:solidFill>
                  <a:schemeClr val="lt1"/>
                </a:solidFill>
                <a:latin typeface="Arial"/>
                <a:ea typeface="Arial"/>
                <a:cs typeface="Arial"/>
                <a:sym typeface="Arial"/>
              </a:rPr>
              <a:t>AUTOSOMA</a:t>
            </a:r>
            <a:endParaRPr sz="1100"/>
          </a:p>
        </p:txBody>
      </p:sp>
      <p:pic>
        <p:nvPicPr>
          <p:cNvPr id="124" name="Google Shape;124;p4"/>
          <p:cNvPicPr preferRelativeResize="0"/>
          <p:nvPr/>
        </p:nvPicPr>
        <p:blipFill rotWithShape="1">
          <a:blip r:embed="rId3">
            <a:alphaModFix/>
          </a:blip>
          <a:srcRect b="85275" l="0" r="0" t="0"/>
          <a:stretch/>
        </p:blipFill>
        <p:spPr>
          <a:xfrm>
            <a:off x="559191" y="3746827"/>
            <a:ext cx="7345773" cy="1272351"/>
          </a:xfrm>
          <a:prstGeom prst="rect">
            <a:avLst/>
          </a:prstGeom>
          <a:noFill/>
          <a:ln>
            <a:noFill/>
          </a:ln>
        </p:spPr>
      </p:pic>
      <p:sp>
        <p:nvSpPr>
          <p:cNvPr id="125" name="Google Shape;125;p4"/>
          <p:cNvSpPr/>
          <p:nvPr/>
        </p:nvSpPr>
        <p:spPr>
          <a:xfrm>
            <a:off x="186397" y="1128460"/>
            <a:ext cx="8823900" cy="7695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O que é a </a:t>
            </a:r>
            <a:r>
              <a:rPr b="1" lang="pt-BR" sz="1400">
                <a:solidFill>
                  <a:schemeClr val="dk1"/>
                </a:solidFill>
                <a:latin typeface="Arial"/>
                <a:ea typeface="Arial"/>
                <a:cs typeface="Arial"/>
                <a:sym typeface="Arial"/>
              </a:rPr>
              <a:t>AutoSoma?</a:t>
            </a:r>
            <a:r>
              <a:rPr lang="pt-BR" sz="1400">
                <a:solidFill>
                  <a:schemeClr val="dk1"/>
                </a:solidFill>
                <a:latin typeface="Arial"/>
                <a:ea typeface="Arial"/>
                <a:cs typeface="Arial"/>
                <a:sym typeface="Arial"/>
              </a:rPr>
              <a:t> A AutoSoma é uma ferramenta que soma automaticamente os valores de uma planilha sem precisar digitar a fórmula.</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Ela é muito útil para economizar tempo e evitar erros ao fazer cálculos simples.</a:t>
            </a:r>
            <a:endParaRPr sz="1100"/>
          </a:p>
        </p:txBody>
      </p:sp>
      <p:sp>
        <p:nvSpPr>
          <p:cNvPr id="126" name="Google Shape;126;p4"/>
          <p:cNvSpPr/>
          <p:nvPr/>
        </p:nvSpPr>
        <p:spPr>
          <a:xfrm>
            <a:off x="186396" y="2103085"/>
            <a:ext cx="8665800" cy="12312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Para que serve? </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Soma valores de forma rápida.</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Pode ser usada com apenas um clique.</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Não precisa escrever a fórmula manualmente.</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Em alguns casos, nem precisa selecionar o intervalo: o Excel faz isso por você!</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5"/>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2200">
                <a:solidFill>
                  <a:schemeClr val="lt1"/>
                </a:solidFill>
                <a:latin typeface="Arial"/>
                <a:ea typeface="Arial"/>
                <a:cs typeface="Arial"/>
                <a:sym typeface="Arial"/>
              </a:rPr>
              <a:t>AUTOSOMA</a:t>
            </a:r>
            <a:endParaRPr sz="1100"/>
          </a:p>
        </p:txBody>
      </p:sp>
      <p:sp>
        <p:nvSpPr>
          <p:cNvPr id="133" name="Google Shape;133;p5"/>
          <p:cNvSpPr/>
          <p:nvPr/>
        </p:nvSpPr>
        <p:spPr>
          <a:xfrm>
            <a:off x="313006" y="1358252"/>
            <a:ext cx="8686800" cy="16929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Como usar a AutoSoma? (Passo a Passo)</a:t>
            </a:r>
            <a:endParaRPr sz="1100"/>
          </a:p>
          <a:p>
            <a:pPr indent="-266700" lvl="0" marL="266700" marR="0" rtl="0" algn="l">
              <a:spcBef>
                <a:spcPts val="0"/>
              </a:spcBef>
              <a:spcAft>
                <a:spcPts val="0"/>
              </a:spcAft>
              <a:buClr>
                <a:schemeClr val="dk1"/>
              </a:buClr>
              <a:buSzPts val="1400"/>
              <a:buFont typeface="Arial"/>
              <a:buAutoNum type="arabicPeriod"/>
            </a:pPr>
            <a:r>
              <a:rPr b="1" lang="pt-BR" sz="1400">
                <a:solidFill>
                  <a:schemeClr val="dk1"/>
                </a:solidFill>
                <a:latin typeface="Arial"/>
                <a:ea typeface="Arial"/>
                <a:cs typeface="Arial"/>
                <a:sym typeface="Arial"/>
              </a:rPr>
              <a:t>Crie uma planilha com alguns números (exemplo: lista de valores em uma coluna).</a:t>
            </a:r>
            <a:endParaRPr sz="1100"/>
          </a:p>
          <a:p>
            <a:pPr indent="0" lvl="0" marL="0" marR="0" rtl="0" algn="l">
              <a:spcBef>
                <a:spcPts val="0"/>
              </a:spcBef>
              <a:spcAft>
                <a:spcPts val="0"/>
              </a:spcAft>
              <a:buNone/>
            </a:pPr>
            <a:r>
              <a:rPr b="1" lang="pt-BR" sz="1400">
                <a:solidFill>
                  <a:schemeClr val="dk1"/>
                </a:solidFill>
                <a:latin typeface="Arial"/>
                <a:ea typeface="Arial"/>
                <a:cs typeface="Arial"/>
                <a:sym typeface="Arial"/>
              </a:rPr>
              <a:t>2.  Clique em uma célula vazia abaixo dos números que você quer somar.</a:t>
            </a:r>
            <a:endParaRPr sz="1100"/>
          </a:p>
          <a:p>
            <a:pPr indent="0" lvl="0" marL="0" marR="0" rtl="0" algn="l">
              <a:spcBef>
                <a:spcPts val="0"/>
              </a:spcBef>
              <a:spcAft>
                <a:spcPts val="0"/>
              </a:spcAft>
              <a:buNone/>
            </a:pPr>
            <a:r>
              <a:rPr b="1" lang="pt-BR" sz="1400">
                <a:solidFill>
                  <a:schemeClr val="dk1"/>
                </a:solidFill>
                <a:latin typeface="Arial"/>
                <a:ea typeface="Arial"/>
                <a:cs typeface="Arial"/>
                <a:sym typeface="Arial"/>
              </a:rPr>
              <a:t>3.  Vá até a</a:t>
            </a:r>
            <a:r>
              <a:rPr b="1" lang="pt-BR">
                <a:solidFill>
                  <a:schemeClr val="dk1"/>
                </a:solidFill>
              </a:rPr>
              <a:t> </a:t>
            </a:r>
            <a:r>
              <a:rPr b="1" lang="pt-BR" sz="1400">
                <a:solidFill>
                  <a:schemeClr val="dk1"/>
                </a:solidFill>
                <a:latin typeface="Arial"/>
                <a:ea typeface="Arial"/>
                <a:cs typeface="Arial"/>
                <a:sym typeface="Arial"/>
              </a:rPr>
              <a:t>Guia Fórmulas.</a:t>
            </a:r>
            <a:endParaRPr sz="1100"/>
          </a:p>
          <a:p>
            <a:pPr indent="0" lvl="0" marL="0" marR="0" rtl="0" algn="l">
              <a:spcBef>
                <a:spcPts val="0"/>
              </a:spcBef>
              <a:spcAft>
                <a:spcPts val="0"/>
              </a:spcAft>
              <a:buNone/>
            </a:pPr>
            <a:r>
              <a:rPr b="1" lang="pt-BR" sz="1400">
                <a:solidFill>
                  <a:schemeClr val="dk1"/>
                </a:solidFill>
                <a:latin typeface="Arial"/>
                <a:ea typeface="Arial"/>
                <a:cs typeface="Arial"/>
                <a:sym typeface="Arial"/>
              </a:rPr>
              <a:t>4.  Clique no botão AutoSoma (símbolo ∑).</a:t>
            </a:r>
            <a:endParaRPr sz="1100"/>
          </a:p>
          <a:p>
            <a:pPr indent="0" lvl="0" marL="0" marR="0" rtl="0" algn="l">
              <a:spcBef>
                <a:spcPts val="0"/>
              </a:spcBef>
              <a:spcAft>
                <a:spcPts val="0"/>
              </a:spcAft>
              <a:buNone/>
            </a:pPr>
            <a:r>
              <a:rPr b="1" lang="pt-BR" sz="1400">
                <a:solidFill>
                  <a:schemeClr val="dk1"/>
                </a:solidFill>
                <a:latin typeface="Arial"/>
                <a:ea typeface="Arial"/>
                <a:cs typeface="Arial"/>
                <a:sym typeface="Arial"/>
              </a:rPr>
              <a:t>5.  O Excel vai sugerir automaticamente o intervalo de células.</a:t>
            </a:r>
            <a:endParaRPr sz="1100"/>
          </a:p>
          <a:p>
            <a:pPr indent="0" lvl="0" marL="0" marR="0" rtl="0" algn="l">
              <a:spcBef>
                <a:spcPts val="0"/>
              </a:spcBef>
              <a:spcAft>
                <a:spcPts val="0"/>
              </a:spcAft>
              <a:buNone/>
            </a:pPr>
            <a:r>
              <a:rPr b="1" lang="pt-BR" sz="1400">
                <a:solidFill>
                  <a:schemeClr val="dk1"/>
                </a:solidFill>
                <a:latin typeface="Arial"/>
                <a:ea typeface="Arial"/>
                <a:cs typeface="Arial"/>
                <a:sym typeface="Arial"/>
              </a:rPr>
              <a:t>6.  Pressione Enter para confirmar.</a:t>
            </a:r>
            <a:endParaRPr sz="1100"/>
          </a:p>
        </p:txBody>
      </p:sp>
      <p:sp>
        <p:nvSpPr>
          <p:cNvPr id="134" name="Google Shape;134;p5"/>
          <p:cNvSpPr/>
          <p:nvPr/>
        </p:nvSpPr>
        <p:spPr>
          <a:xfrm>
            <a:off x="313006" y="3355000"/>
            <a:ext cx="4572000" cy="16929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Exemplo Prático:</a:t>
            </a:r>
            <a:endParaRPr sz="1100"/>
          </a:p>
          <a:p>
            <a:pPr indent="0" lvl="0" marL="0" marR="0" rtl="0" algn="l">
              <a:spcBef>
                <a:spcPts val="0"/>
              </a:spcBef>
              <a:spcAft>
                <a:spcPts val="0"/>
              </a:spcAft>
              <a:buNone/>
            </a:pPr>
            <a:r>
              <a:rPr b="1" lang="pt-BR" sz="1400">
                <a:solidFill>
                  <a:schemeClr val="dk1"/>
                </a:solidFill>
                <a:latin typeface="Arial"/>
                <a:ea typeface="Arial"/>
                <a:cs typeface="Arial"/>
                <a:sym typeface="Arial"/>
              </a:rPr>
              <a:t>Se você tem os seguintes valores:</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Produto	Valor</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Maçã		R$15,00</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Banana	R$10,00</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Uva		R$12,00</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Goiaba	R$18,00</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6"/>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2200">
                <a:solidFill>
                  <a:schemeClr val="lt1"/>
                </a:solidFill>
                <a:latin typeface="Arial"/>
                <a:ea typeface="Arial"/>
                <a:cs typeface="Arial"/>
                <a:sym typeface="Arial"/>
              </a:rPr>
              <a:t>Função ARRED( ) no Excel</a:t>
            </a:r>
            <a:endParaRPr sz="1100"/>
          </a:p>
        </p:txBody>
      </p:sp>
      <p:sp>
        <p:nvSpPr>
          <p:cNvPr id="141" name="Google Shape;141;p6"/>
          <p:cNvSpPr/>
          <p:nvPr/>
        </p:nvSpPr>
        <p:spPr>
          <a:xfrm>
            <a:off x="5324474" y="2037061"/>
            <a:ext cx="3583500" cy="1231200"/>
          </a:xfrm>
          <a:prstGeom prst="rect">
            <a:avLst/>
          </a:prstGeom>
          <a:solidFill>
            <a:srgbClr val="FF0000"/>
          </a:solid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lt1"/>
                </a:solidFill>
                <a:latin typeface="Arial"/>
                <a:ea typeface="Arial"/>
                <a:cs typeface="Arial"/>
                <a:sym typeface="Arial"/>
              </a:rPr>
              <a:t>Importante:O primeiro valor dentro do ARRED é o número que será arredondado.</a:t>
            </a:r>
            <a:endParaRPr sz="1100"/>
          </a:p>
          <a:p>
            <a:pPr indent="0" lvl="0" marL="0" marR="0" rtl="0" algn="l">
              <a:spcBef>
                <a:spcPts val="0"/>
              </a:spcBef>
              <a:spcAft>
                <a:spcPts val="0"/>
              </a:spcAft>
              <a:buNone/>
            </a:pPr>
            <a:r>
              <a:rPr lang="pt-BR" sz="1400">
                <a:solidFill>
                  <a:schemeClr val="lt1"/>
                </a:solidFill>
                <a:latin typeface="Arial"/>
                <a:ea typeface="Arial"/>
                <a:cs typeface="Arial"/>
                <a:sym typeface="Arial"/>
              </a:rPr>
              <a:t>O segundo valor é a quantidade de casas decimais. Exemplo: =ARRED(12,66666;2) resulta em 12,67</a:t>
            </a:r>
            <a:endParaRPr sz="1100"/>
          </a:p>
        </p:txBody>
      </p:sp>
      <p:sp>
        <p:nvSpPr>
          <p:cNvPr id="142" name="Google Shape;142;p6"/>
          <p:cNvSpPr/>
          <p:nvPr/>
        </p:nvSpPr>
        <p:spPr>
          <a:xfrm>
            <a:off x="189913" y="1221029"/>
            <a:ext cx="8718000" cy="269400"/>
          </a:xfrm>
          <a:prstGeom prst="rect">
            <a:avLst/>
          </a:prstGeom>
          <a:noFill/>
          <a:ln>
            <a:noFill/>
          </a:ln>
        </p:spPr>
        <p:txBody>
          <a:bodyPr anchorCtr="0" anchor="ctr" bIns="35550" lIns="71100" spcFirstLastPara="1" rIns="71100" wrap="square" tIns="35550">
            <a:spAutoFit/>
          </a:bodyPr>
          <a:lstStyle/>
          <a:p>
            <a:pPr indent="0" lvl="0" marL="0" marR="0" rtl="0" algn="l">
              <a:lnSpc>
                <a:spcPct val="100000"/>
              </a:lnSpc>
              <a:spcBef>
                <a:spcPts val="0"/>
              </a:spcBef>
              <a:spcAft>
                <a:spcPts val="0"/>
              </a:spcAft>
              <a:buClr>
                <a:schemeClr val="dk1"/>
              </a:buClr>
              <a:buSzPts val="1200"/>
              <a:buFont typeface="Arial"/>
              <a:buNone/>
            </a:pPr>
            <a:r>
              <a:rPr b="0" i="0" lang="pt-BR" sz="1200" u="none" cap="none" strike="noStrike">
                <a:solidFill>
                  <a:schemeClr val="dk1"/>
                </a:solidFill>
                <a:latin typeface="Arial"/>
                <a:ea typeface="Arial"/>
                <a:cs typeface="Arial"/>
                <a:sym typeface="Arial"/>
              </a:rPr>
              <a:t>A função ARRED( ) serve para </a:t>
            </a:r>
            <a:r>
              <a:rPr b="1" i="0" lang="pt-BR" sz="1200" u="none" cap="none" strike="noStrike">
                <a:solidFill>
                  <a:schemeClr val="dk1"/>
                </a:solidFill>
                <a:latin typeface="Arial"/>
                <a:ea typeface="Arial"/>
                <a:cs typeface="Arial"/>
                <a:sym typeface="Arial"/>
              </a:rPr>
              <a:t>arredondar um número decimal</a:t>
            </a:r>
            <a:r>
              <a:rPr b="0" i="0" lang="pt-BR" sz="1200" u="none" cap="none" strike="noStrike">
                <a:solidFill>
                  <a:schemeClr val="dk1"/>
                </a:solidFill>
                <a:latin typeface="Arial"/>
                <a:ea typeface="Arial"/>
                <a:cs typeface="Arial"/>
                <a:sym typeface="Arial"/>
              </a:rPr>
              <a:t> para a </a:t>
            </a:r>
            <a:r>
              <a:rPr b="1" i="0" lang="pt-BR" sz="1200" u="none" cap="none" strike="noStrike">
                <a:solidFill>
                  <a:schemeClr val="dk1"/>
                </a:solidFill>
                <a:latin typeface="Arial"/>
                <a:ea typeface="Arial"/>
                <a:cs typeface="Arial"/>
                <a:sym typeface="Arial"/>
              </a:rPr>
              <a:t>quantidade de casas decimais que você quiser</a:t>
            </a:r>
            <a:r>
              <a:rPr b="0" i="0" lang="pt-BR" sz="1200" u="none" cap="none" strike="noStrike">
                <a:solidFill>
                  <a:schemeClr val="dk1"/>
                </a:solidFill>
                <a:latin typeface="Arial"/>
                <a:ea typeface="Arial"/>
                <a:cs typeface="Arial"/>
                <a:sym typeface="Arial"/>
              </a:rPr>
              <a:t>. </a:t>
            </a:r>
            <a:endParaRPr sz="1100"/>
          </a:p>
        </p:txBody>
      </p:sp>
      <p:sp>
        <p:nvSpPr>
          <p:cNvPr id="143" name="Google Shape;143;p6"/>
          <p:cNvSpPr txBox="1"/>
          <p:nvPr/>
        </p:nvSpPr>
        <p:spPr>
          <a:xfrm>
            <a:off x="189913" y="1657088"/>
            <a:ext cx="4579800" cy="9339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b="1" lang="pt-BR" sz="1400">
                <a:solidFill>
                  <a:schemeClr val="dk1"/>
                </a:solidFill>
                <a:latin typeface="Arial"/>
                <a:ea typeface="Arial"/>
                <a:cs typeface="Arial"/>
                <a:sym typeface="Arial"/>
              </a:rPr>
              <a:t>Quando usar?</a:t>
            </a:r>
            <a:endParaRPr sz="1100"/>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Quando o número tem </a:t>
            </a:r>
            <a:r>
              <a:rPr b="1" lang="pt-BR" sz="1400">
                <a:solidFill>
                  <a:schemeClr val="dk1"/>
                </a:solidFill>
                <a:latin typeface="Arial"/>
                <a:ea typeface="Arial"/>
                <a:cs typeface="Arial"/>
                <a:sym typeface="Arial"/>
              </a:rPr>
              <a:t>muitas casas decimais</a:t>
            </a:r>
            <a:endParaRPr sz="1400">
              <a:solidFill>
                <a:schemeClr val="dk1"/>
              </a:solidFill>
              <a:latin typeface="Arial"/>
              <a:ea typeface="Arial"/>
              <a:cs typeface="Arial"/>
              <a:sym typeface="Arial"/>
            </a:endParaRPr>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Para deixar o valor </a:t>
            </a:r>
            <a:r>
              <a:rPr b="1" lang="pt-BR" sz="1400">
                <a:solidFill>
                  <a:schemeClr val="dk1"/>
                </a:solidFill>
                <a:latin typeface="Arial"/>
                <a:ea typeface="Arial"/>
                <a:cs typeface="Arial"/>
                <a:sym typeface="Arial"/>
              </a:rPr>
              <a:t>mais limpo e fácil de entender</a:t>
            </a:r>
            <a:endParaRPr sz="1400">
              <a:solidFill>
                <a:schemeClr val="dk1"/>
              </a:solidFill>
              <a:latin typeface="Arial"/>
              <a:ea typeface="Arial"/>
              <a:cs typeface="Arial"/>
              <a:sym typeface="Arial"/>
            </a:endParaRPr>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Muito útil em </a:t>
            </a:r>
            <a:r>
              <a:rPr b="1" lang="pt-BR" sz="1400">
                <a:solidFill>
                  <a:schemeClr val="dk1"/>
                </a:solidFill>
                <a:latin typeface="Arial"/>
                <a:ea typeface="Arial"/>
                <a:cs typeface="Arial"/>
                <a:sym typeface="Arial"/>
              </a:rPr>
              <a:t>notas</a:t>
            </a:r>
            <a:r>
              <a:rPr lang="pt-BR" sz="1400">
                <a:solidFill>
                  <a:schemeClr val="dk1"/>
                </a:solidFill>
                <a:latin typeface="Arial"/>
                <a:ea typeface="Arial"/>
                <a:cs typeface="Arial"/>
                <a:sym typeface="Arial"/>
              </a:rPr>
              <a:t>, </a:t>
            </a:r>
            <a:r>
              <a:rPr b="1" lang="pt-BR" sz="1400">
                <a:solidFill>
                  <a:schemeClr val="dk1"/>
                </a:solidFill>
                <a:latin typeface="Arial"/>
                <a:ea typeface="Arial"/>
                <a:cs typeface="Arial"/>
                <a:sym typeface="Arial"/>
              </a:rPr>
              <a:t>preços</a:t>
            </a:r>
            <a:r>
              <a:rPr lang="pt-BR" sz="1400">
                <a:solidFill>
                  <a:schemeClr val="dk1"/>
                </a:solidFill>
                <a:latin typeface="Arial"/>
                <a:ea typeface="Arial"/>
                <a:cs typeface="Arial"/>
                <a:sym typeface="Arial"/>
              </a:rPr>
              <a:t> e </a:t>
            </a:r>
            <a:r>
              <a:rPr b="1" lang="pt-BR" sz="1400">
                <a:solidFill>
                  <a:schemeClr val="dk1"/>
                </a:solidFill>
                <a:latin typeface="Arial"/>
                <a:ea typeface="Arial"/>
                <a:cs typeface="Arial"/>
                <a:sym typeface="Arial"/>
              </a:rPr>
              <a:t>resultados de cálculo</a:t>
            </a:r>
            <a:endParaRPr sz="1400">
              <a:solidFill>
                <a:schemeClr val="dk1"/>
              </a:solidFill>
              <a:latin typeface="Arial"/>
              <a:ea typeface="Arial"/>
              <a:cs typeface="Arial"/>
              <a:sym typeface="Arial"/>
            </a:endParaRPr>
          </a:p>
        </p:txBody>
      </p:sp>
      <p:sp>
        <p:nvSpPr>
          <p:cNvPr id="144" name="Google Shape;144;p6"/>
          <p:cNvSpPr txBox="1"/>
          <p:nvPr/>
        </p:nvSpPr>
        <p:spPr>
          <a:xfrm>
            <a:off x="189913" y="2846418"/>
            <a:ext cx="4579800" cy="2874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Estrutura da função:</a:t>
            </a:r>
            <a:endParaRPr sz="1100"/>
          </a:p>
        </p:txBody>
      </p:sp>
      <p:sp>
        <p:nvSpPr>
          <p:cNvPr id="145" name="Google Shape;145;p6"/>
          <p:cNvSpPr txBox="1"/>
          <p:nvPr/>
        </p:nvSpPr>
        <p:spPr>
          <a:xfrm>
            <a:off x="189913" y="3136416"/>
            <a:ext cx="4579800" cy="2874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=ARRED(número; casas_decimais)</a:t>
            </a:r>
            <a:endParaRPr sz="1100"/>
          </a:p>
        </p:txBody>
      </p:sp>
      <p:sp>
        <p:nvSpPr>
          <p:cNvPr id="146" name="Google Shape;146;p6"/>
          <p:cNvSpPr/>
          <p:nvPr/>
        </p:nvSpPr>
        <p:spPr>
          <a:xfrm>
            <a:off x="189912" y="3514733"/>
            <a:ext cx="8718000" cy="538500"/>
          </a:xfrm>
          <a:prstGeom prst="rect">
            <a:avLst/>
          </a:prstGeom>
          <a:noFill/>
          <a:ln>
            <a:noFill/>
          </a:ln>
        </p:spPr>
        <p:txBody>
          <a:bodyPr anchorCtr="0" anchor="ctr" bIns="35550" lIns="71100" spcFirstLastPara="1" rIns="71100" wrap="square" tIns="35550">
            <a:spAutoFit/>
          </a:bodyPr>
          <a:lstStyle/>
          <a:p>
            <a:pPr indent="-88900" lvl="0" marL="0" marR="0" rtl="0" algn="l">
              <a:lnSpc>
                <a:spcPct val="100000"/>
              </a:lnSpc>
              <a:spcBef>
                <a:spcPts val="0"/>
              </a:spcBef>
              <a:spcAft>
                <a:spcPts val="0"/>
              </a:spcAft>
              <a:buClr>
                <a:schemeClr val="dk1"/>
              </a:buClr>
              <a:buSzPts val="1400"/>
              <a:buFont typeface="Arial"/>
              <a:buChar char="•"/>
            </a:pPr>
            <a:r>
              <a:rPr b="1" i="0" lang="pt-BR" sz="1400" u="none" cap="none" strike="noStrike">
                <a:solidFill>
                  <a:schemeClr val="dk1"/>
                </a:solidFill>
                <a:latin typeface="Arial"/>
                <a:ea typeface="Arial"/>
                <a:cs typeface="Arial"/>
                <a:sym typeface="Arial"/>
              </a:rPr>
              <a:t> número</a:t>
            </a:r>
            <a:r>
              <a:rPr b="0" i="0" lang="pt-BR" sz="1400" u="none" cap="none" strike="noStrike">
                <a:solidFill>
                  <a:schemeClr val="dk1"/>
                </a:solidFill>
                <a:latin typeface="Arial"/>
                <a:ea typeface="Arial"/>
                <a:cs typeface="Arial"/>
                <a:sym typeface="Arial"/>
              </a:rPr>
              <a:t>: valor que você quer arredondar</a:t>
            </a:r>
            <a:endParaRPr sz="1100"/>
          </a:p>
          <a:p>
            <a:pPr indent="-88900" lvl="0" marL="0" marR="0" rtl="0" algn="l">
              <a:lnSpc>
                <a:spcPct val="100000"/>
              </a:lnSpc>
              <a:spcBef>
                <a:spcPts val="0"/>
              </a:spcBef>
              <a:spcAft>
                <a:spcPts val="0"/>
              </a:spcAft>
              <a:buClr>
                <a:schemeClr val="dk1"/>
              </a:buClr>
              <a:buSzPts val="1400"/>
              <a:buFont typeface="Arial"/>
              <a:buChar char="•"/>
            </a:pPr>
            <a:r>
              <a:rPr b="1" i="0" lang="pt-BR" sz="1400" u="none" cap="none" strike="noStrike">
                <a:solidFill>
                  <a:schemeClr val="dk1"/>
                </a:solidFill>
                <a:latin typeface="Arial"/>
                <a:ea typeface="Arial"/>
                <a:cs typeface="Arial"/>
                <a:sym typeface="Arial"/>
              </a:rPr>
              <a:t> casas_decimais</a:t>
            </a:r>
            <a:r>
              <a:rPr b="0" i="0" lang="pt-BR" sz="1400" u="none" cap="none" strike="noStrike">
                <a:solidFill>
                  <a:schemeClr val="dk1"/>
                </a:solidFill>
                <a:latin typeface="Arial"/>
                <a:ea typeface="Arial"/>
                <a:cs typeface="Arial"/>
                <a:sym typeface="Arial"/>
              </a:rPr>
              <a:t>: quantas casas após a vírgula você quer manter</a:t>
            </a:r>
            <a:endParaRPr sz="1100"/>
          </a:p>
        </p:txBody>
      </p:sp>
      <p:sp>
        <p:nvSpPr>
          <p:cNvPr id="147" name="Google Shape;147;p6"/>
          <p:cNvSpPr txBox="1"/>
          <p:nvPr/>
        </p:nvSpPr>
        <p:spPr>
          <a:xfrm>
            <a:off x="189913" y="4165523"/>
            <a:ext cx="6562500" cy="9339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b="1" lang="pt-BR" sz="1400">
                <a:solidFill>
                  <a:schemeClr val="dk1"/>
                </a:solidFill>
                <a:latin typeface="Arial"/>
                <a:ea typeface="Arial"/>
                <a:cs typeface="Arial"/>
                <a:sym typeface="Arial"/>
              </a:rPr>
              <a:t>Exemplo prático:</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Digite na célula: =ARRED(12,66666;2)</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Resultado:</a:t>
            </a:r>
            <a:br>
              <a:rPr lang="pt-BR" sz="1400">
                <a:solidFill>
                  <a:schemeClr val="dk1"/>
                </a:solidFill>
                <a:latin typeface="Arial"/>
                <a:ea typeface="Arial"/>
                <a:cs typeface="Arial"/>
                <a:sym typeface="Arial"/>
              </a:rPr>
            </a:br>
            <a:r>
              <a:rPr b="1" lang="pt-BR" sz="1400">
                <a:solidFill>
                  <a:schemeClr val="dk1"/>
                </a:solidFill>
                <a:latin typeface="Arial"/>
                <a:ea typeface="Arial"/>
                <a:cs typeface="Arial"/>
                <a:sym typeface="Arial"/>
              </a:rPr>
              <a:t>12,67 (</a:t>
            </a:r>
            <a:r>
              <a:rPr lang="pt-BR" sz="1400">
                <a:solidFill>
                  <a:schemeClr val="dk1"/>
                </a:solidFill>
                <a:latin typeface="Arial"/>
                <a:ea typeface="Arial"/>
                <a:cs typeface="Arial"/>
                <a:sym typeface="Arial"/>
              </a:rPr>
              <a:t>O número foi arredondado para </a:t>
            </a:r>
            <a:r>
              <a:rPr b="1" lang="pt-BR" sz="1400">
                <a:solidFill>
                  <a:schemeClr val="dk1"/>
                </a:solidFill>
                <a:latin typeface="Arial"/>
                <a:ea typeface="Arial"/>
                <a:cs typeface="Arial"/>
                <a:sym typeface="Arial"/>
              </a:rPr>
              <a:t>duas casas decimais</a:t>
            </a:r>
            <a:r>
              <a:rPr lang="pt-BR"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7"/>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2200">
                <a:solidFill>
                  <a:schemeClr val="lt1"/>
                </a:solidFill>
                <a:latin typeface="Arial"/>
                <a:ea typeface="Arial"/>
                <a:cs typeface="Arial"/>
                <a:sym typeface="Arial"/>
              </a:rPr>
              <a:t>Função INT( ) no Excel</a:t>
            </a:r>
            <a:endParaRPr sz="1100"/>
          </a:p>
        </p:txBody>
      </p:sp>
      <p:sp>
        <p:nvSpPr>
          <p:cNvPr id="154" name="Google Shape;154;p7"/>
          <p:cNvSpPr/>
          <p:nvPr/>
        </p:nvSpPr>
        <p:spPr>
          <a:xfrm>
            <a:off x="186396" y="1241672"/>
            <a:ext cx="8539200" cy="10002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Para que serve a função INT( ) </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A função INT( ) vem da palavra inteiro (em inglês: integer).</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Ela serve para pegar apenas a parte inteira de um número, removendo os decimais.</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É muito útil quando o número tem vírgula (como 15,89) e você quer manter só o 15.</a:t>
            </a:r>
            <a:endParaRPr sz="1100"/>
          </a:p>
        </p:txBody>
      </p:sp>
      <p:sp>
        <p:nvSpPr>
          <p:cNvPr id="155" name="Google Shape;155;p7"/>
          <p:cNvSpPr/>
          <p:nvPr/>
        </p:nvSpPr>
        <p:spPr>
          <a:xfrm>
            <a:off x="186396" y="4879703"/>
            <a:ext cx="8539200" cy="5385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Dica: Se o valor inserido  for 13,75, o =INT() vai mostrar 13.</a:t>
            </a:r>
            <a:endParaRPr sz="1100"/>
          </a:p>
          <a:p>
            <a:pPr indent="0" lvl="0" marL="0" marR="0" rtl="0" algn="l">
              <a:spcBef>
                <a:spcPts val="0"/>
              </a:spcBef>
              <a:spcAft>
                <a:spcPts val="0"/>
              </a:spcAft>
              <a:buNone/>
            </a:pPr>
            <a:r>
              <a:rPr b="1" lang="pt-BR" sz="1400">
                <a:solidFill>
                  <a:schemeClr val="dk1"/>
                </a:solidFill>
                <a:latin typeface="Arial"/>
                <a:ea typeface="Arial"/>
                <a:cs typeface="Arial"/>
                <a:sym typeface="Arial"/>
              </a:rPr>
              <a:t>Ele não arredonda, só corta a parte decimal.</a:t>
            </a:r>
            <a:endParaRPr sz="1100"/>
          </a:p>
        </p:txBody>
      </p:sp>
      <p:sp>
        <p:nvSpPr>
          <p:cNvPr id="156" name="Google Shape;156;p7"/>
          <p:cNvSpPr txBox="1"/>
          <p:nvPr/>
        </p:nvSpPr>
        <p:spPr>
          <a:xfrm>
            <a:off x="186396" y="2241947"/>
            <a:ext cx="8539200" cy="9339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b="1" lang="pt-BR" sz="1400">
                <a:solidFill>
                  <a:schemeClr val="dk1"/>
                </a:solidFill>
                <a:latin typeface="Arial"/>
                <a:ea typeface="Arial"/>
                <a:cs typeface="Arial"/>
                <a:sym typeface="Arial"/>
              </a:rPr>
              <a:t>Quando usar?</a:t>
            </a:r>
            <a:endParaRPr sz="1100"/>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Quando você quer </a:t>
            </a:r>
            <a:r>
              <a:rPr b="1" lang="pt-BR" sz="1400">
                <a:solidFill>
                  <a:schemeClr val="dk1"/>
                </a:solidFill>
                <a:latin typeface="Arial"/>
                <a:ea typeface="Arial"/>
                <a:cs typeface="Arial"/>
                <a:sym typeface="Arial"/>
              </a:rPr>
              <a:t>ignorar os centavos</a:t>
            </a:r>
            <a:r>
              <a:rPr lang="pt-BR" sz="1400">
                <a:solidFill>
                  <a:schemeClr val="dk1"/>
                </a:solidFill>
                <a:latin typeface="Arial"/>
                <a:ea typeface="Arial"/>
                <a:cs typeface="Arial"/>
                <a:sym typeface="Arial"/>
              </a:rPr>
              <a:t> ou casas decimais</a:t>
            </a:r>
            <a:endParaRPr sz="1100"/>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Para fazer </a:t>
            </a:r>
            <a:r>
              <a:rPr b="1" lang="pt-BR" sz="1400">
                <a:solidFill>
                  <a:schemeClr val="dk1"/>
                </a:solidFill>
                <a:latin typeface="Arial"/>
                <a:ea typeface="Arial"/>
                <a:cs typeface="Arial"/>
                <a:sym typeface="Arial"/>
              </a:rPr>
              <a:t>cálculos com números inteiros</a:t>
            </a:r>
            <a:endParaRPr sz="1400">
              <a:solidFill>
                <a:schemeClr val="dk1"/>
              </a:solidFill>
              <a:latin typeface="Arial"/>
              <a:ea typeface="Arial"/>
              <a:cs typeface="Arial"/>
              <a:sym typeface="Arial"/>
            </a:endParaRPr>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 Ótimo para </a:t>
            </a:r>
            <a:r>
              <a:rPr b="1" lang="pt-BR" sz="1400">
                <a:solidFill>
                  <a:schemeClr val="dk1"/>
                </a:solidFill>
                <a:latin typeface="Arial"/>
                <a:ea typeface="Arial"/>
                <a:cs typeface="Arial"/>
                <a:sym typeface="Arial"/>
              </a:rPr>
              <a:t>limpar médias</a:t>
            </a:r>
            <a:r>
              <a:rPr lang="pt-BR" sz="1400">
                <a:solidFill>
                  <a:schemeClr val="dk1"/>
                </a:solidFill>
                <a:latin typeface="Arial"/>
                <a:ea typeface="Arial"/>
                <a:cs typeface="Arial"/>
                <a:sym typeface="Arial"/>
              </a:rPr>
              <a:t> ou totais em notas, compras e medidas</a:t>
            </a:r>
            <a:endParaRPr sz="1100"/>
          </a:p>
        </p:txBody>
      </p:sp>
      <p:sp>
        <p:nvSpPr>
          <p:cNvPr id="157" name="Google Shape;157;p7"/>
          <p:cNvSpPr txBox="1"/>
          <p:nvPr/>
        </p:nvSpPr>
        <p:spPr>
          <a:xfrm>
            <a:off x="6399644" y="2472779"/>
            <a:ext cx="1946100" cy="502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Estrutura da função:</a:t>
            </a:r>
            <a:endParaRPr sz="1100"/>
          </a:p>
          <a:p>
            <a:pPr indent="0" lvl="0" marL="0" marR="0" rtl="0" algn="l">
              <a:spcBef>
                <a:spcPts val="0"/>
              </a:spcBef>
              <a:spcAft>
                <a:spcPts val="0"/>
              </a:spcAft>
              <a:buNone/>
            </a:pPr>
            <a:r>
              <a:rPr b="1" lang="pt-BR" sz="1400">
                <a:solidFill>
                  <a:schemeClr val="dk1"/>
                </a:solidFill>
                <a:latin typeface="Arial"/>
                <a:ea typeface="Arial"/>
                <a:cs typeface="Arial"/>
                <a:sym typeface="Arial"/>
              </a:rPr>
              <a:t>=INT(número)</a:t>
            </a:r>
            <a:endParaRPr sz="1100"/>
          </a:p>
        </p:txBody>
      </p:sp>
      <p:sp>
        <p:nvSpPr>
          <p:cNvPr id="158" name="Google Shape;158;p7"/>
          <p:cNvSpPr txBox="1"/>
          <p:nvPr/>
        </p:nvSpPr>
        <p:spPr>
          <a:xfrm>
            <a:off x="186396" y="3445408"/>
            <a:ext cx="3552600" cy="11493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b="1" lang="pt-BR" sz="1400">
                <a:solidFill>
                  <a:schemeClr val="dk1"/>
                </a:solidFill>
                <a:latin typeface="Arial"/>
                <a:ea typeface="Arial"/>
                <a:cs typeface="Arial"/>
                <a:sym typeface="Arial"/>
              </a:rPr>
              <a:t>Exemplo prático:</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Digite na célula:</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=INT(17,89)</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Resultado:</a:t>
            </a:r>
            <a:br>
              <a:rPr lang="pt-BR" sz="1400">
                <a:solidFill>
                  <a:schemeClr val="dk1"/>
                </a:solidFill>
                <a:latin typeface="Arial"/>
                <a:ea typeface="Arial"/>
                <a:cs typeface="Arial"/>
                <a:sym typeface="Arial"/>
              </a:rPr>
            </a:br>
            <a:r>
              <a:rPr b="1" lang="pt-BR" sz="1400">
                <a:solidFill>
                  <a:schemeClr val="dk1"/>
                </a:solidFill>
                <a:latin typeface="Arial"/>
                <a:ea typeface="Arial"/>
                <a:cs typeface="Arial"/>
                <a:sym typeface="Arial"/>
              </a:rPr>
              <a:t>17</a:t>
            </a:r>
            <a:endParaRPr sz="14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8"/>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2200">
                <a:solidFill>
                  <a:schemeClr val="lt1"/>
                </a:solidFill>
                <a:latin typeface="Arial"/>
                <a:ea typeface="Arial"/>
                <a:cs typeface="Arial"/>
                <a:sym typeface="Arial"/>
              </a:rPr>
              <a:t>Função HOJE( ) no Excel</a:t>
            </a:r>
            <a:endParaRPr sz="1100"/>
          </a:p>
        </p:txBody>
      </p:sp>
      <p:sp>
        <p:nvSpPr>
          <p:cNvPr id="165" name="Google Shape;165;p8"/>
          <p:cNvSpPr/>
          <p:nvPr/>
        </p:nvSpPr>
        <p:spPr>
          <a:xfrm>
            <a:off x="376310" y="1212130"/>
            <a:ext cx="8391300" cy="7695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Para que serve a função HOJE( )?</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A função HOJE( ) mostra automaticamente a data atual, baseada no relógio do seu computador.</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Você não precisa escrever a data manualmente — ela se atualiza sozinha todos os dias!</a:t>
            </a:r>
            <a:endParaRPr sz="1100"/>
          </a:p>
        </p:txBody>
      </p:sp>
      <p:sp>
        <p:nvSpPr>
          <p:cNvPr id="166" name="Google Shape;166;p8"/>
          <p:cNvSpPr/>
          <p:nvPr/>
        </p:nvSpPr>
        <p:spPr>
          <a:xfrm>
            <a:off x="376309" y="2515740"/>
            <a:ext cx="8391300" cy="10002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Passo a Passo: </a:t>
            </a:r>
            <a:r>
              <a:rPr b="1" lang="pt-BR" sz="1400">
                <a:solidFill>
                  <a:schemeClr val="dk1"/>
                </a:solidFill>
                <a:latin typeface="Arial"/>
                <a:ea typeface="Arial"/>
                <a:cs typeface="Arial"/>
                <a:sym typeface="Arial"/>
              </a:rPr>
              <a:t>Usando a Função HOJE( )</a:t>
            </a:r>
            <a:endParaRPr sz="1100"/>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266700" lvl="0" marL="266700" marR="0" rtl="0" algn="l">
              <a:spcBef>
                <a:spcPts val="0"/>
              </a:spcBef>
              <a:spcAft>
                <a:spcPts val="0"/>
              </a:spcAft>
              <a:buClr>
                <a:schemeClr val="dk1"/>
              </a:buClr>
              <a:buSzPts val="1400"/>
              <a:buFont typeface="Arial"/>
              <a:buAutoNum type="arabicPeriod"/>
            </a:pPr>
            <a:r>
              <a:rPr lang="pt-BR" sz="1400">
                <a:solidFill>
                  <a:schemeClr val="dk1"/>
                </a:solidFill>
                <a:latin typeface="Arial"/>
                <a:ea typeface="Arial"/>
                <a:cs typeface="Arial"/>
                <a:sym typeface="Arial"/>
              </a:rPr>
              <a:t>Na célula Selecionada, digite:=HOJE()</a:t>
            </a:r>
            <a:endParaRPr sz="1100"/>
          </a:p>
          <a:p>
            <a:pPr indent="-266700" lvl="0" marL="266700" marR="0" rtl="0" algn="l">
              <a:spcBef>
                <a:spcPts val="0"/>
              </a:spcBef>
              <a:spcAft>
                <a:spcPts val="0"/>
              </a:spcAft>
              <a:buClr>
                <a:schemeClr val="dk1"/>
              </a:buClr>
              <a:buSzPts val="1400"/>
              <a:buFont typeface="Arial"/>
              <a:buAutoNum type="arabicPeriod"/>
            </a:pPr>
            <a:r>
              <a:rPr lang="pt-BR" sz="1400">
                <a:solidFill>
                  <a:schemeClr val="dk1"/>
                </a:solidFill>
                <a:latin typeface="Arial"/>
                <a:ea typeface="Arial"/>
                <a:cs typeface="Arial"/>
                <a:sym typeface="Arial"/>
              </a:rPr>
              <a:t>(O Excel vai mostrar a data do dia automaticamente)</a:t>
            </a:r>
            <a:endParaRPr sz="1100"/>
          </a:p>
        </p:txBody>
      </p:sp>
      <p:sp>
        <p:nvSpPr>
          <p:cNvPr id="167" name="Google Shape;167;p8"/>
          <p:cNvSpPr/>
          <p:nvPr/>
        </p:nvSpPr>
        <p:spPr>
          <a:xfrm>
            <a:off x="376309" y="3780878"/>
            <a:ext cx="8391300" cy="5385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Dica: </a:t>
            </a:r>
            <a:r>
              <a:rPr b="1" lang="pt-BR" sz="1400">
                <a:solidFill>
                  <a:schemeClr val="dk1"/>
                </a:solidFill>
                <a:latin typeface="Arial"/>
                <a:ea typeface="Arial"/>
                <a:cs typeface="Arial"/>
                <a:sym typeface="Arial"/>
              </a:rPr>
              <a:t>A função HOJE( ) não leva argumentos</a:t>
            </a:r>
            <a:r>
              <a:rPr lang="pt-BR" sz="1400">
                <a:solidFill>
                  <a:schemeClr val="dk1"/>
                </a:solidFill>
                <a:latin typeface="Arial"/>
                <a:ea typeface="Arial"/>
                <a:cs typeface="Arial"/>
                <a:sym typeface="Arial"/>
              </a:rPr>
              <a:t>, ou seja, fica vazia mesmo entre os parênteses.</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Serve para datas em relatórios, recibos, provas, listas de presença etc.</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9"/>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2200">
                <a:solidFill>
                  <a:schemeClr val="lt1"/>
                </a:solidFill>
                <a:latin typeface="Arial"/>
                <a:ea typeface="Arial"/>
                <a:cs typeface="Arial"/>
                <a:sym typeface="Arial"/>
              </a:rPr>
              <a:t>FUNÇÃO SOMASE()</a:t>
            </a:r>
            <a:endParaRPr sz="1100"/>
          </a:p>
        </p:txBody>
      </p:sp>
      <p:sp>
        <p:nvSpPr>
          <p:cNvPr id="174" name="Google Shape;174;p9"/>
          <p:cNvSpPr/>
          <p:nvPr/>
        </p:nvSpPr>
        <p:spPr>
          <a:xfrm>
            <a:off x="291904" y="1270747"/>
            <a:ext cx="8591700" cy="7695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A função</a:t>
            </a:r>
            <a:r>
              <a:rPr b="1" lang="pt-BR" sz="1400">
                <a:solidFill>
                  <a:schemeClr val="dk1"/>
                </a:solidFill>
                <a:latin typeface="Arial"/>
                <a:ea typeface="Arial"/>
                <a:cs typeface="Arial"/>
                <a:sym typeface="Arial"/>
              </a:rPr>
              <a:t> SOMASE </a:t>
            </a:r>
            <a:r>
              <a:rPr lang="pt-BR" sz="1400">
                <a:solidFill>
                  <a:schemeClr val="dk1"/>
                </a:solidFill>
                <a:latin typeface="Arial"/>
                <a:ea typeface="Arial"/>
                <a:cs typeface="Arial"/>
                <a:sym typeface="Arial"/>
              </a:rPr>
              <a:t>permite a soma de valores baseada em critérios específicos.</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Ela é muito útil em planilhas de controle financeiro, estoque, relatórios e análises em geral.</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Com ela, você pode somar apenas os valores que atendem a uma condição.</a:t>
            </a:r>
            <a:endParaRPr sz="1100"/>
          </a:p>
        </p:txBody>
      </p:sp>
      <p:sp>
        <p:nvSpPr>
          <p:cNvPr id="175" name="Google Shape;175;p9"/>
          <p:cNvSpPr/>
          <p:nvPr/>
        </p:nvSpPr>
        <p:spPr>
          <a:xfrm>
            <a:off x="291904" y="2599918"/>
            <a:ext cx="7072500" cy="307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=SOMASE(intervalo; critério; [intervalo_soma])</a:t>
            </a:r>
            <a:endParaRPr sz="1100"/>
          </a:p>
        </p:txBody>
      </p:sp>
      <p:sp>
        <p:nvSpPr>
          <p:cNvPr id="176" name="Google Shape;176;p9"/>
          <p:cNvSpPr/>
          <p:nvPr/>
        </p:nvSpPr>
        <p:spPr>
          <a:xfrm>
            <a:off x="291904" y="2292142"/>
            <a:ext cx="811800" cy="307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Sintaxe:</a:t>
            </a:r>
            <a:endParaRPr sz="1100"/>
          </a:p>
        </p:txBody>
      </p:sp>
      <p:sp>
        <p:nvSpPr>
          <p:cNvPr id="177" name="Google Shape;177;p9"/>
          <p:cNvSpPr/>
          <p:nvPr/>
        </p:nvSpPr>
        <p:spPr>
          <a:xfrm>
            <a:off x="291904" y="3215472"/>
            <a:ext cx="8380800" cy="1000200"/>
          </a:xfrm>
          <a:prstGeom prst="rect">
            <a:avLst/>
          </a:prstGeom>
          <a:noFill/>
          <a:ln>
            <a:noFill/>
          </a:ln>
        </p:spPr>
        <p:txBody>
          <a:bodyPr anchorCtr="0" anchor="t" bIns="35550" lIns="71100" spcFirstLastPara="1" rIns="71100" wrap="square" tIns="35550">
            <a:spAutoFit/>
          </a:bodyPr>
          <a:lstStyle/>
          <a:p>
            <a:pPr indent="-88900" lvl="0" marL="0" marR="0" rtl="0" algn="l">
              <a:spcBef>
                <a:spcPts val="0"/>
              </a:spcBef>
              <a:spcAft>
                <a:spcPts val="0"/>
              </a:spcAft>
              <a:buClr>
                <a:schemeClr val="dk1"/>
              </a:buClr>
              <a:buSzPts val="1400"/>
              <a:buFont typeface="Arial"/>
              <a:buChar char="•"/>
            </a:pPr>
            <a:r>
              <a:rPr b="1" lang="pt-BR" sz="1400">
                <a:solidFill>
                  <a:schemeClr val="dk1"/>
                </a:solidFill>
                <a:latin typeface="Arial"/>
                <a:ea typeface="Arial"/>
                <a:cs typeface="Arial"/>
                <a:sym typeface="Arial"/>
              </a:rPr>
              <a:t> intervalo</a:t>
            </a:r>
            <a:r>
              <a:rPr lang="pt-BR" sz="1400">
                <a:solidFill>
                  <a:schemeClr val="dk1"/>
                </a:solidFill>
                <a:latin typeface="Arial"/>
                <a:ea typeface="Arial"/>
                <a:cs typeface="Arial"/>
                <a:sym typeface="Arial"/>
              </a:rPr>
              <a:t>: Conjunto de células onde será feita a verificação do critério.</a:t>
            </a:r>
            <a:endParaRPr sz="1100"/>
          </a:p>
          <a:p>
            <a:pPr indent="-88900" lvl="0" marL="0" marR="0" rtl="0" algn="l">
              <a:spcBef>
                <a:spcPts val="0"/>
              </a:spcBef>
              <a:spcAft>
                <a:spcPts val="0"/>
              </a:spcAft>
              <a:buClr>
                <a:schemeClr val="dk1"/>
              </a:buClr>
              <a:buSzPts val="1400"/>
              <a:buFont typeface="Arial"/>
              <a:buChar char="•"/>
            </a:pPr>
            <a:r>
              <a:rPr b="1" lang="pt-BR" sz="1400">
                <a:solidFill>
                  <a:schemeClr val="dk1"/>
                </a:solidFill>
                <a:latin typeface="Arial"/>
                <a:ea typeface="Arial"/>
                <a:cs typeface="Arial"/>
                <a:sym typeface="Arial"/>
              </a:rPr>
              <a:t> critério</a:t>
            </a:r>
            <a:r>
              <a:rPr lang="pt-BR" sz="1400">
                <a:solidFill>
                  <a:schemeClr val="dk1"/>
                </a:solidFill>
                <a:latin typeface="Arial"/>
                <a:ea typeface="Arial"/>
                <a:cs typeface="Arial"/>
                <a:sym typeface="Arial"/>
              </a:rPr>
              <a:t>: A condição que as células devem atender. Pode ser um número, texto ou expressão lógica.</a:t>
            </a:r>
            <a:endParaRPr sz="1100"/>
          </a:p>
          <a:p>
            <a:pPr indent="-88900" lvl="0" marL="0" marR="0" rtl="0" algn="l">
              <a:spcBef>
                <a:spcPts val="0"/>
              </a:spcBef>
              <a:spcAft>
                <a:spcPts val="0"/>
              </a:spcAft>
              <a:buClr>
                <a:schemeClr val="dk1"/>
              </a:buClr>
              <a:buSzPts val="1400"/>
              <a:buFont typeface="Arial"/>
              <a:buChar char="•"/>
            </a:pPr>
            <a:r>
              <a:rPr b="1" lang="pt-BR" sz="1400">
                <a:solidFill>
                  <a:schemeClr val="dk1"/>
                </a:solidFill>
                <a:latin typeface="Arial"/>
                <a:ea typeface="Arial"/>
                <a:cs typeface="Arial"/>
                <a:sym typeface="Arial"/>
              </a:rPr>
              <a:t> [intervalo_soma]</a:t>
            </a:r>
            <a:r>
              <a:rPr lang="pt-BR" sz="1400">
                <a:solidFill>
                  <a:schemeClr val="dk1"/>
                </a:solidFill>
                <a:latin typeface="Arial"/>
                <a:ea typeface="Arial"/>
                <a:cs typeface="Arial"/>
                <a:sym typeface="Arial"/>
              </a:rPr>
              <a:t> </a:t>
            </a:r>
            <a:r>
              <a:rPr i="1" lang="pt-BR" sz="1400">
                <a:solidFill>
                  <a:schemeClr val="dk1"/>
                </a:solidFill>
                <a:latin typeface="Arial"/>
                <a:ea typeface="Arial"/>
                <a:cs typeface="Arial"/>
                <a:sym typeface="Arial"/>
              </a:rPr>
              <a:t>(opcional)</a:t>
            </a:r>
            <a:r>
              <a:rPr lang="pt-BR" sz="1400">
                <a:solidFill>
                  <a:schemeClr val="dk1"/>
                </a:solidFill>
                <a:latin typeface="Arial"/>
                <a:ea typeface="Arial"/>
                <a:cs typeface="Arial"/>
                <a:sym typeface="Arial"/>
              </a:rPr>
              <a:t>: O intervalo que será somado. Se não for indicado, o Excel soma o próprio “intervalo”.</a:t>
            </a:r>
            <a:endParaRPr sz="1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0"/>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2200">
                <a:solidFill>
                  <a:schemeClr val="lt1"/>
                </a:solidFill>
                <a:latin typeface="Arial"/>
                <a:ea typeface="Arial"/>
                <a:cs typeface="Arial"/>
                <a:sym typeface="Arial"/>
              </a:rPr>
              <a:t>FUNÇÃO SOMASE()</a:t>
            </a:r>
            <a:endParaRPr sz="1100"/>
          </a:p>
        </p:txBody>
      </p:sp>
      <p:sp>
        <p:nvSpPr>
          <p:cNvPr id="184" name="Google Shape;184;p10"/>
          <p:cNvSpPr/>
          <p:nvPr/>
        </p:nvSpPr>
        <p:spPr>
          <a:xfrm>
            <a:off x="112540" y="1193150"/>
            <a:ext cx="5447700" cy="307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Exemplo aplicado na planilha "Churrasco da Vitória"</a:t>
            </a:r>
            <a:endParaRPr sz="1100"/>
          </a:p>
        </p:txBody>
      </p:sp>
      <p:graphicFrame>
        <p:nvGraphicFramePr>
          <p:cNvPr id="185" name="Google Shape;185;p10"/>
          <p:cNvGraphicFramePr/>
          <p:nvPr/>
        </p:nvGraphicFramePr>
        <p:xfrm>
          <a:off x="175844" y="1651186"/>
          <a:ext cx="3000000" cy="3000000"/>
        </p:xfrm>
        <a:graphic>
          <a:graphicData uri="http://schemas.openxmlformats.org/drawingml/2006/table">
            <a:tbl>
              <a:tblPr>
                <a:noFill/>
                <a:tableStyleId>{6652544A-3DE9-4E41-A4F8-6EBCEEEDEAF2}</a:tableStyleId>
              </a:tblPr>
              <a:tblGrid>
                <a:gridCol w="1750025"/>
                <a:gridCol w="1750025"/>
                <a:gridCol w="1750025"/>
                <a:gridCol w="1750025"/>
                <a:gridCol w="1750025"/>
              </a:tblGrid>
              <a:tr h="190500">
                <a:tc>
                  <a:txBody>
                    <a:bodyPr/>
                    <a:lstStyle/>
                    <a:p>
                      <a:pPr indent="0" lvl="0" marL="0" marR="0" rtl="0" algn="l">
                        <a:spcBef>
                          <a:spcPts val="0"/>
                        </a:spcBef>
                        <a:spcAft>
                          <a:spcPts val="0"/>
                        </a:spcAft>
                        <a:buNone/>
                      </a:pPr>
                      <a:r>
                        <a:rPr lang="pt-BR" sz="1500" u="none" cap="none" strike="noStrike">
                          <a:latin typeface="Arial"/>
                          <a:ea typeface="Arial"/>
                          <a:cs typeface="Arial"/>
                          <a:sym typeface="Arial"/>
                        </a:rPr>
                        <a:t>Item</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Categoria</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Quantidade</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Preço Unitário</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Total</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0500">
                <a:tc>
                  <a:txBody>
                    <a:bodyPr/>
                    <a:lstStyle/>
                    <a:p>
                      <a:pPr indent="0" lvl="0" marL="0" marR="0" rtl="0" algn="l">
                        <a:spcBef>
                          <a:spcPts val="0"/>
                        </a:spcBef>
                        <a:spcAft>
                          <a:spcPts val="0"/>
                        </a:spcAft>
                        <a:buNone/>
                      </a:pPr>
                      <a:r>
                        <a:rPr lang="pt-BR" sz="1500">
                          <a:latin typeface="Arial"/>
                          <a:ea typeface="Arial"/>
                          <a:cs typeface="Arial"/>
                          <a:sym typeface="Arial"/>
                        </a:rPr>
                        <a:t>Picanha</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Carne</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2</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R$ 40,00</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=C2*D2</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0500">
                <a:tc>
                  <a:txBody>
                    <a:bodyPr/>
                    <a:lstStyle/>
                    <a:p>
                      <a:pPr indent="0" lvl="0" marL="0" marR="0" rtl="0" algn="l">
                        <a:spcBef>
                          <a:spcPts val="0"/>
                        </a:spcBef>
                        <a:spcAft>
                          <a:spcPts val="0"/>
                        </a:spcAft>
                        <a:buNone/>
                      </a:pPr>
                      <a:r>
                        <a:rPr lang="pt-BR" sz="1500">
                          <a:latin typeface="Arial"/>
                          <a:ea typeface="Arial"/>
                          <a:cs typeface="Arial"/>
                          <a:sym typeface="Arial"/>
                        </a:rPr>
                        <a:t>Linguiça</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Carne</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3</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R$ 15,00</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=C3*D3</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0500">
                <a:tc>
                  <a:txBody>
                    <a:bodyPr/>
                    <a:lstStyle/>
                    <a:p>
                      <a:pPr indent="0" lvl="0" marL="0" marR="0" rtl="0" algn="l">
                        <a:spcBef>
                          <a:spcPts val="0"/>
                        </a:spcBef>
                        <a:spcAft>
                          <a:spcPts val="0"/>
                        </a:spcAft>
                        <a:buNone/>
                      </a:pPr>
                      <a:r>
                        <a:rPr lang="pt-BR" sz="1500">
                          <a:latin typeface="Arial"/>
                          <a:ea typeface="Arial"/>
                          <a:cs typeface="Arial"/>
                          <a:sym typeface="Arial"/>
                        </a:rPr>
                        <a:t>Refrigerante</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Bebida</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4</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R$ 6,00</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=C4*D4</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0500">
                <a:tc>
                  <a:txBody>
                    <a:bodyPr/>
                    <a:lstStyle/>
                    <a:p>
                      <a:pPr indent="0" lvl="0" marL="0" marR="0" rtl="0" algn="l">
                        <a:spcBef>
                          <a:spcPts val="0"/>
                        </a:spcBef>
                        <a:spcAft>
                          <a:spcPts val="0"/>
                        </a:spcAft>
                        <a:buNone/>
                      </a:pPr>
                      <a:r>
                        <a:rPr lang="pt-BR" sz="1500">
                          <a:latin typeface="Arial"/>
                          <a:ea typeface="Arial"/>
                          <a:cs typeface="Arial"/>
                          <a:sym typeface="Arial"/>
                        </a:rPr>
                        <a:t>Suco</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Bebida</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6</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R$ 5,00</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=C5*D5</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0500">
                <a:tc>
                  <a:txBody>
                    <a:bodyPr/>
                    <a:lstStyle/>
                    <a:p>
                      <a:pPr indent="0" lvl="0" marL="0" marR="0" rtl="0" algn="l">
                        <a:spcBef>
                          <a:spcPts val="0"/>
                        </a:spcBef>
                        <a:spcAft>
                          <a:spcPts val="0"/>
                        </a:spcAft>
                        <a:buNone/>
                      </a:pPr>
                      <a:r>
                        <a:rPr lang="pt-BR" sz="1500">
                          <a:latin typeface="Arial"/>
                          <a:ea typeface="Arial"/>
                          <a:cs typeface="Arial"/>
                          <a:sym typeface="Arial"/>
                        </a:rPr>
                        <a:t>Carvão</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Outros</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2</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R$ 12,00</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=C6*D6</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86" name="Google Shape;186;p10"/>
          <p:cNvSpPr/>
          <p:nvPr/>
        </p:nvSpPr>
        <p:spPr>
          <a:xfrm>
            <a:off x="112540" y="3586472"/>
            <a:ext cx="8676300" cy="7695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Objetivo do exemplo:</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Queremos saber </a:t>
            </a:r>
            <a:r>
              <a:rPr b="1" lang="pt-BR" sz="1400">
                <a:solidFill>
                  <a:schemeClr val="dk1"/>
                </a:solidFill>
                <a:latin typeface="Arial"/>
                <a:ea typeface="Arial"/>
                <a:cs typeface="Arial"/>
                <a:sym typeface="Arial"/>
              </a:rPr>
              <a:t>quanto será gasto apenas com os itens da categoria "Carne"</a:t>
            </a:r>
            <a:r>
              <a:rPr lang="pt-BR" sz="1400">
                <a:solidFill>
                  <a:schemeClr val="dk1"/>
                </a:solidFill>
                <a:latin typeface="Arial"/>
                <a:ea typeface="Arial"/>
                <a:cs typeface="Arial"/>
                <a:sym typeface="Arial"/>
              </a:rPr>
              <a:t>.</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Ao lado de total, escreva “Gastos com Carne”.</a:t>
            </a:r>
            <a:endParaRPr sz="1100"/>
          </a:p>
        </p:txBody>
      </p:sp>
      <p:sp>
        <p:nvSpPr>
          <p:cNvPr id="187" name="Google Shape;187;p10"/>
          <p:cNvSpPr/>
          <p:nvPr/>
        </p:nvSpPr>
        <p:spPr>
          <a:xfrm>
            <a:off x="112540" y="4432858"/>
            <a:ext cx="1619700" cy="307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Fórmula aplicada:</a:t>
            </a:r>
            <a:endParaRPr sz="1100"/>
          </a:p>
        </p:txBody>
      </p:sp>
      <p:sp>
        <p:nvSpPr>
          <p:cNvPr id="188" name="Google Shape;188;p10"/>
          <p:cNvSpPr/>
          <p:nvPr/>
        </p:nvSpPr>
        <p:spPr>
          <a:xfrm>
            <a:off x="112553" y="4817575"/>
            <a:ext cx="3653100" cy="307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=SOMASE(B2:B6;"Carne";E2:E6)</a:t>
            </a:r>
            <a:endParaRPr sz="1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1"/>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2200">
                <a:solidFill>
                  <a:schemeClr val="lt1"/>
                </a:solidFill>
                <a:latin typeface="Arial"/>
                <a:ea typeface="Arial"/>
                <a:cs typeface="Arial"/>
                <a:sym typeface="Arial"/>
              </a:rPr>
              <a:t>FUNÇÃO CONT.SE()</a:t>
            </a:r>
            <a:endParaRPr sz="1100"/>
          </a:p>
        </p:txBody>
      </p:sp>
      <p:sp>
        <p:nvSpPr>
          <p:cNvPr id="195" name="Google Shape;195;p11"/>
          <p:cNvSpPr/>
          <p:nvPr/>
        </p:nvSpPr>
        <p:spPr>
          <a:xfrm>
            <a:off x="228599" y="1237392"/>
            <a:ext cx="8644500" cy="6924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200">
                <a:solidFill>
                  <a:schemeClr val="dk1"/>
                </a:solidFill>
                <a:latin typeface="Arial"/>
                <a:ea typeface="Arial"/>
                <a:cs typeface="Arial"/>
                <a:sym typeface="Arial"/>
              </a:rPr>
              <a:t>A função CONT.SE </a:t>
            </a:r>
            <a:r>
              <a:rPr lang="pt-BR" sz="1200">
                <a:solidFill>
                  <a:schemeClr val="dk1"/>
                </a:solidFill>
                <a:latin typeface="Arial"/>
                <a:ea typeface="Arial"/>
                <a:cs typeface="Arial"/>
                <a:sym typeface="Arial"/>
              </a:rPr>
              <a:t>realiza uma contagem condicional dentro de um intervalo de células.</a:t>
            </a:r>
            <a:endParaRPr sz="1100"/>
          </a:p>
          <a:p>
            <a:pPr indent="0" lvl="0" marL="0" marR="0" rtl="0" algn="l">
              <a:spcBef>
                <a:spcPts val="0"/>
              </a:spcBef>
              <a:spcAft>
                <a:spcPts val="0"/>
              </a:spcAft>
              <a:buNone/>
            </a:pPr>
            <a:r>
              <a:rPr lang="pt-BR" sz="1200">
                <a:solidFill>
                  <a:schemeClr val="dk1"/>
                </a:solidFill>
                <a:latin typeface="Arial"/>
                <a:ea typeface="Arial"/>
                <a:cs typeface="Arial"/>
                <a:sym typeface="Arial"/>
              </a:rPr>
              <a:t>Ela é muito usada em planilhas de controle, como por exemplo:</a:t>
            </a:r>
            <a:endParaRPr sz="1100"/>
          </a:p>
          <a:p>
            <a:pPr indent="0" lvl="0" marL="0" marR="0" rtl="0" algn="l">
              <a:spcBef>
                <a:spcPts val="0"/>
              </a:spcBef>
              <a:spcAft>
                <a:spcPts val="0"/>
              </a:spcAft>
              <a:buNone/>
            </a:pPr>
            <a:r>
              <a:rPr lang="pt-BR" sz="1200">
                <a:solidFill>
                  <a:schemeClr val="dk1"/>
                </a:solidFill>
                <a:latin typeface="Arial"/>
                <a:ea typeface="Arial"/>
                <a:cs typeface="Arial"/>
                <a:sym typeface="Arial"/>
              </a:rPr>
              <a:t>contar quantos alunos foram aprovados,quantas vezes um nome aparece,ou quantos produtos estão acima de certo valor.</a:t>
            </a:r>
            <a:endParaRPr sz="1100"/>
          </a:p>
        </p:txBody>
      </p:sp>
      <p:sp>
        <p:nvSpPr>
          <p:cNvPr id="196" name="Google Shape;196;p11"/>
          <p:cNvSpPr/>
          <p:nvPr/>
        </p:nvSpPr>
        <p:spPr>
          <a:xfrm>
            <a:off x="228599" y="2574673"/>
            <a:ext cx="8725500" cy="692400"/>
          </a:xfrm>
          <a:prstGeom prst="rect">
            <a:avLst/>
          </a:prstGeom>
          <a:noFill/>
          <a:ln>
            <a:noFill/>
          </a:ln>
        </p:spPr>
        <p:txBody>
          <a:bodyPr anchorCtr="0" anchor="ctr" bIns="35550" lIns="71100" spcFirstLastPara="1" rIns="71100" wrap="square" tIns="35550">
            <a:spAutoFit/>
          </a:bodyPr>
          <a:lstStyle/>
          <a:p>
            <a:pPr indent="0" lvl="0" marL="0" marR="0" rtl="0" algn="l">
              <a:lnSpc>
                <a:spcPct val="100000"/>
              </a:lnSpc>
              <a:spcBef>
                <a:spcPts val="0"/>
              </a:spcBef>
              <a:spcAft>
                <a:spcPts val="0"/>
              </a:spcAft>
              <a:buClr>
                <a:schemeClr val="dk1"/>
              </a:buClr>
              <a:buSzPts val="1200"/>
              <a:buFont typeface="Arial"/>
              <a:buNone/>
            </a:pPr>
            <a:r>
              <a:rPr b="1" i="0" lang="pt-BR" sz="1200" u="none" cap="none" strike="noStrike">
                <a:solidFill>
                  <a:schemeClr val="dk1"/>
                </a:solidFill>
                <a:latin typeface="Arial"/>
                <a:ea typeface="Arial"/>
                <a:cs typeface="Arial"/>
                <a:sym typeface="Arial"/>
              </a:rPr>
              <a:t>Importante:</a:t>
            </a:r>
            <a:r>
              <a:rPr b="0" i="0" lang="pt-BR" sz="1200" u="none" cap="none" strike="noStrike">
                <a:solidFill>
                  <a:schemeClr val="dk1"/>
                </a:solidFill>
                <a:latin typeface="Arial"/>
                <a:ea typeface="Arial"/>
                <a:cs typeface="Arial"/>
                <a:sym typeface="Arial"/>
              </a:rPr>
              <a:t> a função CONT.SE trabalha com </a:t>
            </a:r>
            <a:r>
              <a:rPr b="1" i="0" lang="pt-BR" sz="1200" u="none" cap="none" strike="noStrike">
                <a:solidFill>
                  <a:schemeClr val="dk1"/>
                </a:solidFill>
                <a:latin typeface="Arial"/>
                <a:ea typeface="Arial"/>
                <a:cs typeface="Arial"/>
                <a:sym typeface="Arial"/>
              </a:rPr>
              <a:t>apenas um critério</a:t>
            </a:r>
            <a:r>
              <a:rPr b="0" i="0" lang="pt-BR" sz="1200" u="none" cap="none" strike="noStrike">
                <a:solidFill>
                  <a:schemeClr val="dk1"/>
                </a:solidFill>
                <a:latin typeface="Arial"/>
                <a:ea typeface="Arial"/>
                <a:cs typeface="Arial"/>
                <a:sym typeface="Arial"/>
              </a:rPr>
              <a:t>.</a:t>
            </a:r>
            <a:br>
              <a:rPr b="0" i="0" lang="pt-BR" sz="1200" u="none" cap="none" strike="noStrike">
                <a:solidFill>
                  <a:schemeClr val="dk1"/>
                </a:solidFill>
                <a:latin typeface="Arial"/>
                <a:ea typeface="Arial"/>
                <a:cs typeface="Arial"/>
                <a:sym typeface="Arial"/>
              </a:rPr>
            </a:br>
            <a:r>
              <a:rPr b="0" i="0" lang="pt-BR" sz="1200" u="none" cap="none" strike="noStrike">
                <a:solidFill>
                  <a:schemeClr val="dk1"/>
                </a:solidFill>
                <a:latin typeface="Arial"/>
                <a:ea typeface="Arial"/>
                <a:cs typeface="Arial"/>
                <a:sym typeface="Arial"/>
              </a:rPr>
              <a:t>Para mais de um critério, usamos CONT.SES ou funções de banco de dados, como BDCONTAR ou BDCONTARA (que veremos mais adiante). </a:t>
            </a:r>
            <a:endParaRPr sz="1100"/>
          </a:p>
        </p:txBody>
      </p:sp>
      <p:sp>
        <p:nvSpPr>
          <p:cNvPr id="197" name="Google Shape;197;p11"/>
          <p:cNvSpPr/>
          <p:nvPr/>
        </p:nvSpPr>
        <p:spPr>
          <a:xfrm>
            <a:off x="228599" y="3373343"/>
            <a:ext cx="737100" cy="2820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200">
                <a:solidFill>
                  <a:schemeClr val="dk1"/>
                </a:solidFill>
                <a:latin typeface="Arial"/>
                <a:ea typeface="Arial"/>
                <a:cs typeface="Arial"/>
                <a:sym typeface="Arial"/>
              </a:rPr>
              <a:t>Sintaxe:</a:t>
            </a:r>
            <a:endParaRPr sz="1100"/>
          </a:p>
        </p:txBody>
      </p:sp>
      <p:sp>
        <p:nvSpPr>
          <p:cNvPr id="198" name="Google Shape;198;p11"/>
          <p:cNvSpPr/>
          <p:nvPr/>
        </p:nvSpPr>
        <p:spPr>
          <a:xfrm>
            <a:off x="228599" y="3710348"/>
            <a:ext cx="2257800" cy="2820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200">
                <a:solidFill>
                  <a:schemeClr val="dk1"/>
                </a:solidFill>
                <a:latin typeface="Arial"/>
                <a:ea typeface="Arial"/>
                <a:cs typeface="Arial"/>
                <a:sym typeface="Arial"/>
              </a:rPr>
              <a:t>=CONT.SE(intervalo; critério</a:t>
            </a:r>
            <a:r>
              <a:rPr lang="pt-BR" sz="1200">
                <a:solidFill>
                  <a:schemeClr val="dk1"/>
                </a:solidFill>
                <a:latin typeface="Arial"/>
                <a:ea typeface="Arial"/>
                <a:cs typeface="Arial"/>
                <a:sym typeface="Arial"/>
              </a:rPr>
              <a:t>)</a:t>
            </a:r>
            <a:endParaRPr sz="1100"/>
          </a:p>
        </p:txBody>
      </p:sp>
      <p:sp>
        <p:nvSpPr>
          <p:cNvPr id="199" name="Google Shape;199;p11"/>
          <p:cNvSpPr/>
          <p:nvPr/>
        </p:nvSpPr>
        <p:spPr>
          <a:xfrm>
            <a:off x="228599" y="4239715"/>
            <a:ext cx="8644500" cy="692400"/>
          </a:xfrm>
          <a:prstGeom prst="rect">
            <a:avLst/>
          </a:prstGeom>
          <a:noFill/>
          <a:ln>
            <a:noFill/>
          </a:ln>
        </p:spPr>
        <p:txBody>
          <a:bodyPr anchorCtr="0" anchor="ctr" bIns="35550" lIns="71100" spcFirstLastPara="1" rIns="71100" wrap="square" tIns="35550">
            <a:spAutoFit/>
          </a:bodyPr>
          <a:lstStyle/>
          <a:p>
            <a:pPr indent="-76200" lvl="0" marL="0" marR="0" rtl="0" algn="l">
              <a:lnSpc>
                <a:spcPct val="100000"/>
              </a:lnSpc>
              <a:spcBef>
                <a:spcPts val="0"/>
              </a:spcBef>
              <a:spcAft>
                <a:spcPts val="0"/>
              </a:spcAft>
              <a:buClr>
                <a:schemeClr val="dk1"/>
              </a:buClr>
              <a:buSzPts val="1200"/>
              <a:buFont typeface="Arial"/>
              <a:buChar char="•"/>
            </a:pPr>
            <a:r>
              <a:rPr b="1" i="0" lang="pt-BR" sz="1200" u="none" cap="none" strike="noStrike">
                <a:solidFill>
                  <a:schemeClr val="dk1"/>
                </a:solidFill>
                <a:latin typeface="Arial"/>
                <a:ea typeface="Arial"/>
                <a:cs typeface="Arial"/>
                <a:sym typeface="Arial"/>
              </a:rPr>
              <a:t> intervalo</a:t>
            </a:r>
            <a:r>
              <a:rPr b="0" i="0" lang="pt-BR" sz="1200" u="none" cap="none" strike="noStrike">
                <a:solidFill>
                  <a:schemeClr val="dk1"/>
                </a:solidFill>
                <a:latin typeface="Arial"/>
                <a:ea typeface="Arial"/>
                <a:cs typeface="Arial"/>
                <a:sym typeface="Arial"/>
              </a:rPr>
              <a:t>: (obrigatório) Conjunto de células onde a condição será verificada.</a:t>
            </a:r>
            <a:endParaRPr sz="1100"/>
          </a:p>
          <a:p>
            <a:pPr indent="-76200" lvl="0" marL="0" marR="0" rtl="0" algn="l">
              <a:lnSpc>
                <a:spcPct val="100000"/>
              </a:lnSpc>
              <a:spcBef>
                <a:spcPts val="0"/>
              </a:spcBef>
              <a:spcAft>
                <a:spcPts val="0"/>
              </a:spcAft>
              <a:buClr>
                <a:schemeClr val="dk1"/>
              </a:buClr>
              <a:buSzPts val="1200"/>
              <a:buFont typeface="Arial"/>
              <a:buChar char="•"/>
            </a:pPr>
            <a:r>
              <a:rPr b="1" i="0" lang="pt-BR" sz="1200" u="none" cap="none" strike="noStrike">
                <a:solidFill>
                  <a:schemeClr val="dk1"/>
                </a:solidFill>
                <a:latin typeface="Arial"/>
                <a:ea typeface="Arial"/>
                <a:cs typeface="Arial"/>
                <a:sym typeface="Arial"/>
              </a:rPr>
              <a:t> critério</a:t>
            </a:r>
            <a:r>
              <a:rPr b="0" i="0" lang="pt-BR" sz="1200" u="none" cap="none" strike="noStrike">
                <a:solidFill>
                  <a:schemeClr val="dk1"/>
                </a:solidFill>
                <a:latin typeface="Arial"/>
                <a:ea typeface="Arial"/>
                <a:cs typeface="Arial"/>
                <a:sym typeface="Arial"/>
              </a:rPr>
              <a:t>: (obrigatório) O que será buscado nesse intervalo.</a:t>
            </a:r>
            <a:br>
              <a:rPr b="0" i="0" lang="pt-BR" sz="1200" u="none" cap="none" strike="noStrike">
                <a:solidFill>
                  <a:schemeClr val="dk1"/>
                </a:solidFill>
                <a:latin typeface="Arial"/>
                <a:ea typeface="Arial"/>
                <a:cs typeface="Arial"/>
                <a:sym typeface="Arial"/>
              </a:rPr>
            </a:br>
            <a:r>
              <a:rPr b="0" i="0" lang="pt-BR" sz="1200" u="none" cap="none" strike="noStrike">
                <a:solidFill>
                  <a:schemeClr val="dk1"/>
                </a:solidFill>
                <a:latin typeface="Arial"/>
                <a:ea typeface="Arial"/>
                <a:cs typeface="Arial"/>
                <a:sym typeface="Arial"/>
              </a:rPr>
              <a:t>Pode ser um valor fixo ("Carne"), uma condição ("&gt;10"), ou até uma célula de referência (B2).</a:t>
            </a:r>
            <a:endParaRPr sz="1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2"/>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2200">
                <a:solidFill>
                  <a:schemeClr val="lt1"/>
                </a:solidFill>
                <a:latin typeface="Arial"/>
                <a:ea typeface="Arial"/>
                <a:cs typeface="Arial"/>
                <a:sym typeface="Arial"/>
              </a:rPr>
              <a:t>FUNÇÃO CONT.SE()</a:t>
            </a:r>
            <a:endParaRPr sz="1100"/>
          </a:p>
        </p:txBody>
      </p:sp>
      <p:sp>
        <p:nvSpPr>
          <p:cNvPr id="206" name="Google Shape;206;p12"/>
          <p:cNvSpPr/>
          <p:nvPr/>
        </p:nvSpPr>
        <p:spPr>
          <a:xfrm>
            <a:off x="207499" y="1265303"/>
            <a:ext cx="8602500" cy="10002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Objetivo do exemplo:</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Contar </a:t>
            </a:r>
            <a:r>
              <a:rPr b="1" lang="pt-BR" sz="1400">
                <a:solidFill>
                  <a:schemeClr val="dk1"/>
                </a:solidFill>
                <a:latin typeface="Arial"/>
                <a:ea typeface="Arial"/>
                <a:cs typeface="Arial"/>
                <a:sym typeface="Arial"/>
              </a:rPr>
              <a:t>quantos itens da categoria "Carne"</a:t>
            </a:r>
            <a:r>
              <a:rPr lang="pt-BR" sz="1400">
                <a:solidFill>
                  <a:schemeClr val="dk1"/>
                </a:solidFill>
                <a:latin typeface="Arial"/>
                <a:ea typeface="Arial"/>
                <a:cs typeface="Arial"/>
                <a:sym typeface="Arial"/>
              </a:rPr>
              <a:t> estão na lista.</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Ao lado de “Gastos com Carne” Escreva “Quantidade de itens na lista” para sabermos quantas vezes a “Carne” Aparece na lista.</a:t>
            </a:r>
            <a:endParaRPr sz="1100"/>
          </a:p>
        </p:txBody>
      </p:sp>
      <p:sp>
        <p:nvSpPr>
          <p:cNvPr id="207" name="Google Shape;207;p12"/>
          <p:cNvSpPr/>
          <p:nvPr/>
        </p:nvSpPr>
        <p:spPr>
          <a:xfrm>
            <a:off x="207499" y="2322717"/>
            <a:ext cx="1513800" cy="307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Fórmula aplicada:</a:t>
            </a:r>
            <a:endParaRPr sz="1100"/>
          </a:p>
        </p:txBody>
      </p:sp>
      <p:sp>
        <p:nvSpPr>
          <p:cNvPr id="208" name="Google Shape;208;p12"/>
          <p:cNvSpPr/>
          <p:nvPr/>
        </p:nvSpPr>
        <p:spPr>
          <a:xfrm>
            <a:off x="207501" y="2687625"/>
            <a:ext cx="3354300" cy="307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=CONT.SE(B2:B6;"Carne")</a:t>
            </a:r>
            <a:endParaRPr sz="1100"/>
          </a:p>
        </p:txBody>
      </p:sp>
      <p:sp>
        <p:nvSpPr>
          <p:cNvPr id="209" name="Google Shape;209;p12"/>
          <p:cNvSpPr/>
          <p:nvPr/>
        </p:nvSpPr>
        <p:spPr>
          <a:xfrm>
            <a:off x="207499" y="3148162"/>
            <a:ext cx="8602500" cy="5385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Resultado esperado:</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A fórmula retornará </a:t>
            </a:r>
            <a:r>
              <a:rPr b="1" lang="pt-BR" sz="1400">
                <a:solidFill>
                  <a:schemeClr val="dk1"/>
                </a:solidFill>
                <a:latin typeface="Arial"/>
                <a:ea typeface="Arial"/>
                <a:cs typeface="Arial"/>
                <a:sym typeface="Arial"/>
              </a:rPr>
              <a:t>2</a:t>
            </a:r>
            <a:r>
              <a:rPr lang="pt-BR" sz="1400">
                <a:solidFill>
                  <a:schemeClr val="dk1"/>
                </a:solidFill>
                <a:latin typeface="Arial"/>
                <a:ea typeface="Arial"/>
                <a:cs typeface="Arial"/>
                <a:sym typeface="Arial"/>
              </a:rPr>
              <a:t>, pois há </a:t>
            </a:r>
            <a:r>
              <a:rPr b="1" lang="pt-BR" sz="1400">
                <a:solidFill>
                  <a:schemeClr val="dk1"/>
                </a:solidFill>
                <a:latin typeface="Arial"/>
                <a:ea typeface="Arial"/>
                <a:cs typeface="Arial"/>
                <a:sym typeface="Arial"/>
              </a:rPr>
              <a:t>dois itens</a:t>
            </a:r>
            <a:r>
              <a:rPr lang="pt-BR" sz="1400">
                <a:solidFill>
                  <a:schemeClr val="dk1"/>
                </a:solidFill>
                <a:latin typeface="Arial"/>
                <a:ea typeface="Arial"/>
                <a:cs typeface="Arial"/>
                <a:sym typeface="Arial"/>
              </a:rPr>
              <a:t> com a categoria "Carne" (Picanha e Linguiça).</a:t>
            </a:r>
            <a:endParaRPr sz="11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3"/>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2200">
                <a:solidFill>
                  <a:schemeClr val="lt1"/>
                </a:solidFill>
                <a:latin typeface="Arial"/>
                <a:ea typeface="Arial"/>
                <a:cs typeface="Arial"/>
                <a:sym typeface="Arial"/>
              </a:rPr>
              <a:t>FUNÇÃO CONT.VALORES()</a:t>
            </a:r>
            <a:endParaRPr sz="1100"/>
          </a:p>
        </p:txBody>
      </p:sp>
      <p:sp>
        <p:nvSpPr>
          <p:cNvPr id="216" name="Google Shape;216;p13"/>
          <p:cNvSpPr/>
          <p:nvPr/>
        </p:nvSpPr>
        <p:spPr>
          <a:xfrm>
            <a:off x="207499" y="1233763"/>
            <a:ext cx="8729100" cy="7695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A função </a:t>
            </a:r>
            <a:r>
              <a:rPr b="1" lang="pt-BR" sz="1400">
                <a:solidFill>
                  <a:schemeClr val="dk1"/>
                </a:solidFill>
                <a:latin typeface="Arial"/>
                <a:ea typeface="Arial"/>
                <a:cs typeface="Arial"/>
                <a:sym typeface="Arial"/>
              </a:rPr>
              <a:t>CONT.VALORES</a:t>
            </a:r>
            <a:r>
              <a:rPr lang="pt-BR" sz="1400">
                <a:solidFill>
                  <a:schemeClr val="dk1"/>
                </a:solidFill>
                <a:latin typeface="Arial"/>
                <a:ea typeface="Arial"/>
                <a:cs typeface="Arial"/>
                <a:sym typeface="Arial"/>
              </a:rPr>
              <a:t> é utilizada para contar quantas células em um intervalo contêm qualquer tipo de informação. </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Como: números, textos, datas, fórmulas(mesmo que o resultado seja vazio),erros, etc.</a:t>
            </a:r>
            <a:endParaRPr sz="1100"/>
          </a:p>
        </p:txBody>
      </p:sp>
      <p:sp>
        <p:nvSpPr>
          <p:cNvPr id="217" name="Google Shape;217;p13"/>
          <p:cNvSpPr/>
          <p:nvPr/>
        </p:nvSpPr>
        <p:spPr>
          <a:xfrm>
            <a:off x="207499" y="2182693"/>
            <a:ext cx="7431300" cy="307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Ela não conta células completamente vazias</a:t>
            </a:r>
            <a:r>
              <a:rPr lang="pt-BR" sz="1400">
                <a:solidFill>
                  <a:schemeClr val="dk1"/>
                </a:solidFill>
                <a:latin typeface="Arial"/>
                <a:ea typeface="Arial"/>
                <a:cs typeface="Arial"/>
                <a:sym typeface="Arial"/>
              </a:rPr>
              <a:t> (sem nada digitado ou calculado).</a:t>
            </a:r>
            <a:endParaRPr sz="1100"/>
          </a:p>
        </p:txBody>
      </p:sp>
      <p:sp>
        <p:nvSpPr>
          <p:cNvPr id="218" name="Google Shape;218;p13"/>
          <p:cNvSpPr/>
          <p:nvPr/>
        </p:nvSpPr>
        <p:spPr>
          <a:xfrm>
            <a:off x="207499" y="2900790"/>
            <a:ext cx="811800" cy="307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Sintaxe:</a:t>
            </a:r>
            <a:endParaRPr sz="1100"/>
          </a:p>
        </p:txBody>
      </p:sp>
      <p:sp>
        <p:nvSpPr>
          <p:cNvPr id="219" name="Google Shape;219;p13"/>
          <p:cNvSpPr/>
          <p:nvPr/>
        </p:nvSpPr>
        <p:spPr>
          <a:xfrm>
            <a:off x="207499" y="3208567"/>
            <a:ext cx="2333100" cy="307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=CONT.VALORES(intervalo)</a:t>
            </a:r>
            <a:endParaRPr sz="1100"/>
          </a:p>
        </p:txBody>
      </p:sp>
      <p:sp>
        <p:nvSpPr>
          <p:cNvPr id="220" name="Google Shape;220;p13"/>
          <p:cNvSpPr/>
          <p:nvPr/>
        </p:nvSpPr>
        <p:spPr>
          <a:xfrm>
            <a:off x="2827447" y="3208567"/>
            <a:ext cx="6186300" cy="307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intervalo</a:t>
            </a:r>
            <a:r>
              <a:rPr lang="pt-BR" sz="1400">
                <a:solidFill>
                  <a:schemeClr val="dk1"/>
                </a:solidFill>
                <a:latin typeface="Arial"/>
                <a:ea typeface="Arial"/>
                <a:cs typeface="Arial"/>
                <a:sym typeface="Arial"/>
              </a:rPr>
              <a:t>: O conjunto de células que você deseja verificar.</a:t>
            </a:r>
            <a:endParaRPr sz="11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4"/>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2200">
                <a:solidFill>
                  <a:schemeClr val="lt1"/>
                </a:solidFill>
                <a:latin typeface="Arial"/>
                <a:ea typeface="Arial"/>
                <a:cs typeface="Arial"/>
                <a:sym typeface="Arial"/>
              </a:rPr>
              <a:t>FUNÇÃO CONT.VALORES()</a:t>
            </a:r>
            <a:endParaRPr sz="1100"/>
          </a:p>
        </p:txBody>
      </p:sp>
      <p:sp>
        <p:nvSpPr>
          <p:cNvPr id="227" name="Google Shape;227;p14"/>
          <p:cNvSpPr/>
          <p:nvPr/>
        </p:nvSpPr>
        <p:spPr>
          <a:xfrm>
            <a:off x="171684" y="1081650"/>
            <a:ext cx="4676400" cy="5385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Exemplo prático: </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Planilha: Presença no Churrasco</a:t>
            </a:r>
            <a:endParaRPr sz="1100"/>
          </a:p>
        </p:txBody>
      </p:sp>
      <p:graphicFrame>
        <p:nvGraphicFramePr>
          <p:cNvPr id="228" name="Google Shape;228;p14"/>
          <p:cNvGraphicFramePr/>
          <p:nvPr/>
        </p:nvGraphicFramePr>
        <p:xfrm>
          <a:off x="171688" y="1694775"/>
          <a:ext cx="3000000" cy="3000000"/>
        </p:xfrm>
        <a:graphic>
          <a:graphicData uri="http://schemas.openxmlformats.org/drawingml/2006/table">
            <a:tbl>
              <a:tblPr>
                <a:noFill/>
                <a:tableStyleId>{6652544A-3DE9-4E41-A4F8-6EBCEEEDEAF2}</a:tableStyleId>
              </a:tblPr>
              <a:tblGrid>
                <a:gridCol w="3943350"/>
                <a:gridCol w="3943350"/>
              </a:tblGrid>
              <a:tr h="190500">
                <a:tc>
                  <a:txBody>
                    <a:bodyPr/>
                    <a:lstStyle/>
                    <a:p>
                      <a:pPr indent="0" lvl="0" marL="0" marR="0" rtl="0" algn="l">
                        <a:spcBef>
                          <a:spcPts val="0"/>
                        </a:spcBef>
                        <a:spcAft>
                          <a:spcPts val="0"/>
                        </a:spcAft>
                        <a:buNone/>
                      </a:pPr>
                      <a:r>
                        <a:rPr lang="pt-BR" sz="1500">
                          <a:latin typeface="Arial"/>
                          <a:ea typeface="Arial"/>
                          <a:cs typeface="Arial"/>
                          <a:sym typeface="Arial"/>
                        </a:rPr>
                        <a:t>Nome</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Confirmou Presença</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0500">
                <a:tc>
                  <a:txBody>
                    <a:bodyPr/>
                    <a:lstStyle/>
                    <a:p>
                      <a:pPr indent="0" lvl="0" marL="0" marR="0" rtl="0" algn="l">
                        <a:spcBef>
                          <a:spcPts val="0"/>
                        </a:spcBef>
                        <a:spcAft>
                          <a:spcPts val="0"/>
                        </a:spcAft>
                        <a:buNone/>
                      </a:pPr>
                      <a:r>
                        <a:rPr lang="pt-BR" sz="1500">
                          <a:latin typeface="Arial"/>
                          <a:ea typeface="Arial"/>
                          <a:cs typeface="Arial"/>
                          <a:sym typeface="Arial"/>
                        </a:rPr>
                        <a:t>Ana</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Sim</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0500">
                <a:tc>
                  <a:txBody>
                    <a:bodyPr/>
                    <a:lstStyle/>
                    <a:p>
                      <a:pPr indent="0" lvl="0" marL="0" marR="0" rtl="0" algn="l">
                        <a:spcBef>
                          <a:spcPts val="0"/>
                        </a:spcBef>
                        <a:spcAft>
                          <a:spcPts val="0"/>
                        </a:spcAft>
                        <a:buNone/>
                      </a:pPr>
                      <a:r>
                        <a:rPr lang="pt-BR" sz="1500">
                          <a:latin typeface="Arial"/>
                          <a:ea typeface="Arial"/>
                          <a:cs typeface="Arial"/>
                          <a:sym typeface="Arial"/>
                        </a:rPr>
                        <a:t>Bruno</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Sim</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0500">
                <a:tc>
                  <a:txBody>
                    <a:bodyPr/>
                    <a:lstStyle/>
                    <a:p>
                      <a:pPr indent="0" lvl="0" marL="0" marR="0" rtl="0" algn="l">
                        <a:spcBef>
                          <a:spcPts val="0"/>
                        </a:spcBef>
                        <a:spcAft>
                          <a:spcPts val="0"/>
                        </a:spcAft>
                        <a:buNone/>
                      </a:pPr>
                      <a:r>
                        <a:rPr lang="pt-BR" sz="1500">
                          <a:latin typeface="Arial"/>
                          <a:ea typeface="Arial"/>
                          <a:cs typeface="Arial"/>
                          <a:sym typeface="Arial"/>
                        </a:rPr>
                        <a:t>Carla</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500">
                        <a:latin typeface="Arial"/>
                        <a:ea typeface="Arial"/>
                        <a:cs typeface="Arial"/>
                        <a:sym typeface="Arial"/>
                      </a:endParaRPr>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0500">
                <a:tc>
                  <a:txBody>
                    <a:bodyPr/>
                    <a:lstStyle/>
                    <a:p>
                      <a:pPr indent="0" lvl="0" marL="0" marR="0" rtl="0" algn="l">
                        <a:spcBef>
                          <a:spcPts val="0"/>
                        </a:spcBef>
                        <a:spcAft>
                          <a:spcPts val="0"/>
                        </a:spcAft>
                        <a:buNone/>
                      </a:pPr>
                      <a:r>
                        <a:rPr lang="pt-BR" sz="1500">
                          <a:latin typeface="Arial"/>
                          <a:ea typeface="Arial"/>
                          <a:cs typeface="Arial"/>
                          <a:sym typeface="Arial"/>
                        </a:rPr>
                        <a:t>Daniel</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Sim</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0500">
                <a:tc>
                  <a:txBody>
                    <a:bodyPr/>
                    <a:lstStyle/>
                    <a:p>
                      <a:pPr indent="0" lvl="0" marL="0" marR="0" rtl="0" algn="l">
                        <a:spcBef>
                          <a:spcPts val="0"/>
                        </a:spcBef>
                        <a:spcAft>
                          <a:spcPts val="0"/>
                        </a:spcAft>
                        <a:buNone/>
                      </a:pPr>
                      <a:r>
                        <a:rPr lang="pt-BR" sz="1500">
                          <a:latin typeface="Arial"/>
                          <a:ea typeface="Arial"/>
                          <a:cs typeface="Arial"/>
                          <a:sym typeface="Arial"/>
                        </a:rPr>
                        <a:t>Eduardo</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29" name="Google Shape;229;p14"/>
          <p:cNvSpPr/>
          <p:nvPr/>
        </p:nvSpPr>
        <p:spPr>
          <a:xfrm>
            <a:off x="171687" y="3598195"/>
            <a:ext cx="8807100" cy="5385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Objetivo do exemplo:</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Saber </a:t>
            </a:r>
            <a:r>
              <a:rPr b="1" lang="pt-BR" sz="1400">
                <a:solidFill>
                  <a:schemeClr val="dk1"/>
                </a:solidFill>
                <a:latin typeface="Arial"/>
                <a:ea typeface="Arial"/>
                <a:cs typeface="Arial"/>
                <a:sym typeface="Arial"/>
              </a:rPr>
              <a:t>quantas respostas foram registradas</a:t>
            </a:r>
            <a:r>
              <a:rPr lang="pt-BR" sz="1400">
                <a:solidFill>
                  <a:schemeClr val="dk1"/>
                </a:solidFill>
                <a:latin typeface="Arial"/>
                <a:ea typeface="Arial"/>
                <a:cs typeface="Arial"/>
                <a:sym typeface="Arial"/>
              </a:rPr>
              <a:t> na coluna “Confirmou Presença”.</a:t>
            </a:r>
            <a:endParaRPr sz="1100"/>
          </a:p>
        </p:txBody>
      </p:sp>
      <p:sp>
        <p:nvSpPr>
          <p:cNvPr id="230" name="Google Shape;230;p14"/>
          <p:cNvSpPr/>
          <p:nvPr/>
        </p:nvSpPr>
        <p:spPr>
          <a:xfrm>
            <a:off x="171687" y="4238696"/>
            <a:ext cx="1513800" cy="307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Fórmula aplicada:</a:t>
            </a:r>
            <a:endParaRPr sz="1100"/>
          </a:p>
        </p:txBody>
      </p:sp>
      <p:sp>
        <p:nvSpPr>
          <p:cNvPr id="231" name="Google Shape;231;p14"/>
          <p:cNvSpPr/>
          <p:nvPr/>
        </p:nvSpPr>
        <p:spPr>
          <a:xfrm>
            <a:off x="171697" y="4774000"/>
            <a:ext cx="2700000" cy="307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=CONT.VALORES(B2:B6)</a:t>
            </a:r>
            <a:endParaRPr sz="1100"/>
          </a:p>
        </p:txBody>
      </p:sp>
      <p:sp>
        <p:nvSpPr>
          <p:cNvPr id="232" name="Google Shape;232;p14"/>
          <p:cNvSpPr/>
          <p:nvPr/>
        </p:nvSpPr>
        <p:spPr>
          <a:xfrm>
            <a:off x="4121833" y="4312298"/>
            <a:ext cx="4857000" cy="12312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Resultado esperado</a:t>
            </a:r>
            <a:r>
              <a:rPr lang="pt-BR" sz="1400">
                <a:solidFill>
                  <a:schemeClr val="dk1"/>
                </a:solidFill>
                <a:latin typeface="Arial"/>
                <a:ea typeface="Arial"/>
                <a:cs typeface="Arial"/>
                <a:sym typeface="Arial"/>
              </a:rPr>
              <a:t>:A fórmula retornará 4, pois há 4 células com algum conteúdo:</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3 com o texto “Sim” </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1 com a fórmula que gera "" (cadeia vazia)</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Apenas 1 célula está realmente vazia (Carla)</a:t>
            </a:r>
            <a:endParaRPr sz="11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5"/>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2200">
                <a:solidFill>
                  <a:schemeClr val="lt1"/>
                </a:solidFill>
                <a:latin typeface="Arial"/>
                <a:ea typeface="Arial"/>
                <a:cs typeface="Arial"/>
                <a:sym typeface="Arial"/>
              </a:rPr>
              <a:t>FUNÇÃO PROCV()</a:t>
            </a:r>
            <a:endParaRPr sz="1100"/>
          </a:p>
        </p:txBody>
      </p:sp>
      <p:sp>
        <p:nvSpPr>
          <p:cNvPr id="239" name="Google Shape;239;p15"/>
          <p:cNvSpPr/>
          <p:nvPr/>
        </p:nvSpPr>
        <p:spPr>
          <a:xfrm>
            <a:off x="239150" y="1205852"/>
            <a:ext cx="8655000" cy="10002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A função </a:t>
            </a:r>
            <a:r>
              <a:rPr b="1" lang="pt-BR" sz="1400">
                <a:solidFill>
                  <a:schemeClr val="dk1"/>
                </a:solidFill>
                <a:latin typeface="Arial"/>
                <a:ea typeface="Arial"/>
                <a:cs typeface="Arial"/>
                <a:sym typeface="Arial"/>
              </a:rPr>
              <a:t>PROCV</a:t>
            </a:r>
            <a:r>
              <a:rPr lang="pt-BR" sz="1400">
                <a:solidFill>
                  <a:schemeClr val="dk1"/>
                </a:solidFill>
                <a:latin typeface="Arial"/>
                <a:ea typeface="Arial"/>
                <a:cs typeface="Arial"/>
                <a:sym typeface="Arial"/>
              </a:rPr>
              <a:t> (do inglês "procura vertical") é usada para buscar informações dentro de uma tabela, de cima para baixo, com base em um valor que você fornece.É muito útil em estoques, listas de alunos, cardápios, catálogos, cadastros, etc.Com ela, você consegue procurar um dado e retornar informações relacionadas a ele automaticamente.</a:t>
            </a:r>
            <a:endParaRPr sz="1100"/>
          </a:p>
        </p:txBody>
      </p:sp>
      <p:sp>
        <p:nvSpPr>
          <p:cNvPr id="240" name="Google Shape;240;p15"/>
          <p:cNvSpPr/>
          <p:nvPr/>
        </p:nvSpPr>
        <p:spPr>
          <a:xfrm>
            <a:off x="239150" y="2588536"/>
            <a:ext cx="763800" cy="307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Sintaxe:</a:t>
            </a:r>
            <a:endParaRPr sz="1100"/>
          </a:p>
        </p:txBody>
      </p:sp>
      <p:sp>
        <p:nvSpPr>
          <p:cNvPr id="241" name="Google Shape;241;p15"/>
          <p:cNvSpPr/>
          <p:nvPr/>
        </p:nvSpPr>
        <p:spPr>
          <a:xfrm>
            <a:off x="239150" y="2896313"/>
            <a:ext cx="8475900" cy="307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=PROCV(valor_procurado; matriz_tabela; núm_índice_coluna; [procurar_intervalo])</a:t>
            </a:r>
            <a:endParaRPr sz="1100"/>
          </a:p>
        </p:txBody>
      </p:sp>
      <p:sp>
        <p:nvSpPr>
          <p:cNvPr id="242" name="Google Shape;242;p15"/>
          <p:cNvSpPr/>
          <p:nvPr/>
        </p:nvSpPr>
        <p:spPr>
          <a:xfrm>
            <a:off x="239149" y="3355667"/>
            <a:ext cx="8655000" cy="12312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Argumentos:</a:t>
            </a:r>
            <a:endParaRPr sz="1100"/>
          </a:p>
          <a:p>
            <a:pPr indent="-88900" lvl="0" marL="0" marR="0" rtl="0" algn="l">
              <a:spcBef>
                <a:spcPts val="0"/>
              </a:spcBef>
              <a:spcAft>
                <a:spcPts val="0"/>
              </a:spcAft>
              <a:buClr>
                <a:schemeClr val="dk1"/>
              </a:buClr>
              <a:buSzPts val="1400"/>
              <a:buFont typeface="Arial"/>
              <a:buChar char="•"/>
            </a:pPr>
            <a:r>
              <a:rPr b="1" lang="pt-BR" sz="1400">
                <a:solidFill>
                  <a:schemeClr val="dk1"/>
                </a:solidFill>
                <a:latin typeface="Arial"/>
                <a:ea typeface="Arial"/>
                <a:cs typeface="Arial"/>
                <a:sym typeface="Arial"/>
              </a:rPr>
              <a:t> valor_procurado</a:t>
            </a:r>
            <a:r>
              <a:rPr lang="pt-BR" sz="1400">
                <a:solidFill>
                  <a:schemeClr val="dk1"/>
                </a:solidFill>
                <a:latin typeface="Arial"/>
                <a:ea typeface="Arial"/>
                <a:cs typeface="Arial"/>
                <a:sym typeface="Arial"/>
              </a:rPr>
              <a:t>: É o valor que será usado para procurar na primeira coluna da tabela.</a:t>
            </a:r>
            <a:endParaRPr sz="1100"/>
          </a:p>
          <a:p>
            <a:pPr indent="-88900" lvl="0" marL="0" marR="0" rtl="0" algn="l">
              <a:spcBef>
                <a:spcPts val="0"/>
              </a:spcBef>
              <a:spcAft>
                <a:spcPts val="0"/>
              </a:spcAft>
              <a:buClr>
                <a:schemeClr val="dk1"/>
              </a:buClr>
              <a:buSzPts val="1400"/>
              <a:buFont typeface="Arial"/>
              <a:buChar char="•"/>
            </a:pPr>
            <a:r>
              <a:rPr b="1" lang="pt-BR" sz="1400">
                <a:solidFill>
                  <a:schemeClr val="dk1"/>
                </a:solidFill>
                <a:latin typeface="Arial"/>
                <a:ea typeface="Arial"/>
                <a:cs typeface="Arial"/>
                <a:sym typeface="Arial"/>
              </a:rPr>
              <a:t> matriz_tabela</a:t>
            </a:r>
            <a:r>
              <a:rPr lang="pt-BR" sz="1400">
                <a:solidFill>
                  <a:schemeClr val="dk1"/>
                </a:solidFill>
                <a:latin typeface="Arial"/>
                <a:ea typeface="Arial"/>
                <a:cs typeface="Arial"/>
                <a:sym typeface="Arial"/>
              </a:rPr>
              <a:t>: Intervalo onde o Excel irá procurar e buscar os dados.</a:t>
            </a:r>
            <a:endParaRPr sz="1100"/>
          </a:p>
          <a:p>
            <a:pPr indent="-88900" lvl="0" marL="0" marR="0" rtl="0" algn="l">
              <a:spcBef>
                <a:spcPts val="0"/>
              </a:spcBef>
              <a:spcAft>
                <a:spcPts val="0"/>
              </a:spcAft>
              <a:buClr>
                <a:schemeClr val="dk1"/>
              </a:buClr>
              <a:buSzPts val="1400"/>
              <a:buFont typeface="Arial"/>
              <a:buChar char="•"/>
            </a:pPr>
            <a:r>
              <a:rPr b="1" lang="pt-BR" sz="1400">
                <a:solidFill>
                  <a:schemeClr val="dk1"/>
                </a:solidFill>
                <a:latin typeface="Arial"/>
                <a:ea typeface="Arial"/>
                <a:cs typeface="Arial"/>
                <a:sym typeface="Arial"/>
              </a:rPr>
              <a:t> número_índice_coluna</a:t>
            </a:r>
            <a:r>
              <a:rPr lang="pt-BR" sz="1400">
                <a:solidFill>
                  <a:schemeClr val="dk1"/>
                </a:solidFill>
                <a:latin typeface="Arial"/>
                <a:ea typeface="Arial"/>
                <a:cs typeface="Arial"/>
                <a:sym typeface="Arial"/>
              </a:rPr>
              <a:t>: É o número da coluna (dentro da matriz) de onde o valor será retornado.</a:t>
            </a:r>
            <a:endParaRPr sz="1100"/>
          </a:p>
          <a:p>
            <a:pPr indent="-88900" lvl="0" marL="0" marR="0" rtl="0" algn="l">
              <a:spcBef>
                <a:spcPts val="0"/>
              </a:spcBef>
              <a:spcAft>
                <a:spcPts val="0"/>
              </a:spcAft>
              <a:buClr>
                <a:schemeClr val="dk1"/>
              </a:buClr>
              <a:buSzPts val="1400"/>
              <a:buFont typeface="Arial"/>
              <a:buChar char="•"/>
            </a:pPr>
            <a:r>
              <a:rPr b="1" lang="pt-BR" sz="1400">
                <a:solidFill>
                  <a:schemeClr val="dk1"/>
                </a:solidFill>
                <a:latin typeface="Arial"/>
                <a:ea typeface="Arial"/>
                <a:cs typeface="Arial"/>
                <a:sym typeface="Arial"/>
              </a:rPr>
              <a:t> procurar_intervalo</a:t>
            </a:r>
            <a:r>
              <a:rPr lang="pt-BR" sz="1400">
                <a:solidFill>
                  <a:schemeClr val="dk1"/>
                </a:solidFill>
                <a:latin typeface="Arial"/>
                <a:ea typeface="Arial"/>
                <a:cs typeface="Arial"/>
                <a:sym typeface="Arial"/>
              </a:rPr>
              <a:t>: Coloque </a:t>
            </a:r>
            <a:r>
              <a:rPr b="1" lang="pt-BR" sz="1400">
                <a:solidFill>
                  <a:schemeClr val="dk1"/>
                </a:solidFill>
                <a:latin typeface="Arial"/>
                <a:ea typeface="Arial"/>
                <a:cs typeface="Arial"/>
                <a:sym typeface="Arial"/>
              </a:rPr>
              <a:t>FALSO</a:t>
            </a:r>
            <a:r>
              <a:rPr lang="pt-BR" sz="1400">
                <a:solidFill>
                  <a:schemeClr val="dk1"/>
                </a:solidFill>
                <a:latin typeface="Arial"/>
                <a:ea typeface="Arial"/>
                <a:cs typeface="Arial"/>
                <a:sym typeface="Arial"/>
              </a:rPr>
              <a:t> para busca exata, ou </a:t>
            </a:r>
            <a:r>
              <a:rPr b="1" lang="pt-BR" sz="1400">
                <a:solidFill>
                  <a:schemeClr val="dk1"/>
                </a:solidFill>
                <a:latin typeface="Arial"/>
                <a:ea typeface="Arial"/>
                <a:cs typeface="Arial"/>
                <a:sym typeface="Arial"/>
              </a:rPr>
              <a:t>VERDADEIRO</a:t>
            </a:r>
            <a:r>
              <a:rPr lang="pt-BR" sz="1400">
                <a:solidFill>
                  <a:schemeClr val="dk1"/>
                </a:solidFill>
                <a:latin typeface="Arial"/>
                <a:ea typeface="Arial"/>
                <a:cs typeface="Arial"/>
                <a:sym typeface="Arial"/>
              </a:rPr>
              <a:t> para busca aproximada.</a:t>
            </a:r>
            <a:endParaRPr sz="11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6"/>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2200">
                <a:solidFill>
                  <a:schemeClr val="lt1"/>
                </a:solidFill>
                <a:latin typeface="Arial"/>
                <a:ea typeface="Arial"/>
                <a:cs typeface="Arial"/>
                <a:sym typeface="Arial"/>
              </a:rPr>
              <a:t>FUNÇÃO PROCV()</a:t>
            </a:r>
            <a:endParaRPr sz="1100"/>
          </a:p>
        </p:txBody>
      </p:sp>
      <p:sp>
        <p:nvSpPr>
          <p:cNvPr id="249" name="Google Shape;249;p16"/>
          <p:cNvSpPr/>
          <p:nvPr/>
        </p:nvSpPr>
        <p:spPr>
          <a:xfrm>
            <a:off x="91452" y="1054200"/>
            <a:ext cx="3925200" cy="307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Exemplo prático: Cadastro de Peças</a:t>
            </a:r>
            <a:endParaRPr sz="1100"/>
          </a:p>
        </p:txBody>
      </p:sp>
      <p:graphicFrame>
        <p:nvGraphicFramePr>
          <p:cNvPr id="250" name="Google Shape;250;p16"/>
          <p:cNvGraphicFramePr/>
          <p:nvPr/>
        </p:nvGraphicFramePr>
        <p:xfrm>
          <a:off x="160118" y="1581173"/>
          <a:ext cx="3000000" cy="3000000"/>
        </p:xfrm>
        <a:graphic>
          <a:graphicData uri="http://schemas.openxmlformats.org/drawingml/2006/table">
            <a:tbl>
              <a:tblPr>
                <a:noFill/>
                <a:tableStyleId>{6652544A-3DE9-4E41-A4F8-6EBCEEEDEAF2}</a:tableStyleId>
              </a:tblPr>
              <a:tblGrid>
                <a:gridCol w="1971675"/>
                <a:gridCol w="1971675"/>
                <a:gridCol w="1971675"/>
                <a:gridCol w="1971675"/>
              </a:tblGrid>
              <a:tr h="190500">
                <a:tc>
                  <a:txBody>
                    <a:bodyPr/>
                    <a:lstStyle/>
                    <a:p>
                      <a:pPr indent="0" lvl="0" marL="0" marR="0" rtl="0" algn="l">
                        <a:spcBef>
                          <a:spcPts val="0"/>
                        </a:spcBef>
                        <a:spcAft>
                          <a:spcPts val="0"/>
                        </a:spcAft>
                        <a:buNone/>
                      </a:pPr>
                      <a:r>
                        <a:rPr lang="pt-BR" sz="1500">
                          <a:latin typeface="Arial"/>
                          <a:ea typeface="Arial"/>
                          <a:cs typeface="Arial"/>
                          <a:sym typeface="Arial"/>
                        </a:rPr>
                        <a:t>Código</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Nome da Peça</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Preço</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Fabricante</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0500">
                <a:tc>
                  <a:txBody>
                    <a:bodyPr/>
                    <a:lstStyle/>
                    <a:p>
                      <a:pPr indent="0" lvl="0" marL="0" marR="0" rtl="0" algn="l">
                        <a:spcBef>
                          <a:spcPts val="0"/>
                        </a:spcBef>
                        <a:spcAft>
                          <a:spcPts val="0"/>
                        </a:spcAft>
                        <a:buNone/>
                      </a:pPr>
                      <a:r>
                        <a:rPr lang="pt-BR" sz="1500">
                          <a:latin typeface="Arial"/>
                          <a:ea typeface="Arial"/>
                          <a:cs typeface="Arial"/>
                          <a:sym typeface="Arial"/>
                        </a:rPr>
                        <a:t>101</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Pastilha de Freio</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R$ 150,00</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Bosch</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0500">
                <a:tc>
                  <a:txBody>
                    <a:bodyPr/>
                    <a:lstStyle/>
                    <a:p>
                      <a:pPr indent="0" lvl="0" marL="0" marR="0" rtl="0" algn="l">
                        <a:spcBef>
                          <a:spcPts val="0"/>
                        </a:spcBef>
                        <a:spcAft>
                          <a:spcPts val="0"/>
                        </a:spcAft>
                        <a:buNone/>
                      </a:pPr>
                      <a:r>
                        <a:rPr lang="pt-BR" sz="1500">
                          <a:latin typeface="Arial"/>
                          <a:ea typeface="Arial"/>
                          <a:cs typeface="Arial"/>
                          <a:sym typeface="Arial"/>
                        </a:rPr>
                        <a:t>102</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Filtro de Ar</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R$ 60,00</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Mann Filter</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0500">
                <a:tc>
                  <a:txBody>
                    <a:bodyPr/>
                    <a:lstStyle/>
                    <a:p>
                      <a:pPr indent="0" lvl="0" marL="0" marR="0" rtl="0" algn="l">
                        <a:spcBef>
                          <a:spcPts val="0"/>
                        </a:spcBef>
                        <a:spcAft>
                          <a:spcPts val="0"/>
                        </a:spcAft>
                        <a:buNone/>
                      </a:pPr>
                      <a:r>
                        <a:rPr lang="pt-BR" sz="1500">
                          <a:latin typeface="Arial"/>
                          <a:ea typeface="Arial"/>
                          <a:cs typeface="Arial"/>
                          <a:sym typeface="Arial"/>
                        </a:rPr>
                        <a:t>103</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Vela de Ignição</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R$ 25,00</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NGK</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90500">
                <a:tc>
                  <a:txBody>
                    <a:bodyPr/>
                    <a:lstStyle/>
                    <a:p>
                      <a:pPr indent="0" lvl="0" marL="0" marR="0" rtl="0" algn="l">
                        <a:spcBef>
                          <a:spcPts val="0"/>
                        </a:spcBef>
                        <a:spcAft>
                          <a:spcPts val="0"/>
                        </a:spcAft>
                        <a:buNone/>
                      </a:pPr>
                      <a:r>
                        <a:rPr lang="pt-BR" sz="1500">
                          <a:latin typeface="Arial"/>
                          <a:ea typeface="Arial"/>
                          <a:cs typeface="Arial"/>
                          <a:sym typeface="Arial"/>
                        </a:rPr>
                        <a:t>104</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Bateria 60Ah</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R$ 350,00</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pt-BR" sz="1500">
                          <a:latin typeface="Arial"/>
                          <a:ea typeface="Arial"/>
                          <a:cs typeface="Arial"/>
                          <a:sym typeface="Arial"/>
                        </a:rPr>
                        <a:t>Heliar</a:t>
                      </a:r>
                      <a:endParaRPr sz="1200"/>
                    </a:p>
                  </a:txBody>
                  <a:tcPr marT="38100" marB="381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51" name="Google Shape;251;p16"/>
          <p:cNvSpPr/>
          <p:nvPr/>
        </p:nvSpPr>
        <p:spPr>
          <a:xfrm>
            <a:off x="160118" y="3199610"/>
            <a:ext cx="8554800" cy="5385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Objetivo do exemplo:</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Pesquisar o </a:t>
            </a:r>
            <a:r>
              <a:rPr b="1" lang="pt-BR" sz="1400">
                <a:solidFill>
                  <a:schemeClr val="dk1"/>
                </a:solidFill>
                <a:latin typeface="Arial"/>
                <a:ea typeface="Arial"/>
                <a:cs typeface="Arial"/>
                <a:sym typeface="Arial"/>
              </a:rPr>
              <a:t>nome da peça</a:t>
            </a:r>
            <a:r>
              <a:rPr lang="pt-BR" sz="1400">
                <a:solidFill>
                  <a:schemeClr val="dk1"/>
                </a:solidFill>
                <a:latin typeface="Arial"/>
                <a:ea typeface="Arial"/>
                <a:cs typeface="Arial"/>
                <a:sym typeface="Arial"/>
              </a:rPr>
              <a:t> com base no </a:t>
            </a:r>
            <a:r>
              <a:rPr b="1" lang="pt-BR" sz="1400">
                <a:solidFill>
                  <a:schemeClr val="dk1"/>
                </a:solidFill>
                <a:latin typeface="Arial"/>
                <a:ea typeface="Arial"/>
                <a:cs typeface="Arial"/>
                <a:sym typeface="Arial"/>
              </a:rPr>
              <a:t>código informado</a:t>
            </a:r>
            <a:r>
              <a:rPr lang="pt-BR" sz="1400">
                <a:solidFill>
                  <a:schemeClr val="dk1"/>
                </a:solidFill>
                <a:latin typeface="Arial"/>
                <a:ea typeface="Arial"/>
                <a:cs typeface="Arial"/>
                <a:sym typeface="Arial"/>
              </a:rPr>
              <a:t>.</a:t>
            </a:r>
            <a:endParaRPr sz="1100"/>
          </a:p>
        </p:txBody>
      </p:sp>
      <p:sp>
        <p:nvSpPr>
          <p:cNvPr id="252" name="Google Shape;252;p16"/>
          <p:cNvSpPr/>
          <p:nvPr/>
        </p:nvSpPr>
        <p:spPr>
          <a:xfrm>
            <a:off x="238543" y="3687977"/>
            <a:ext cx="1513800" cy="307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Fórmula aplicada:</a:t>
            </a:r>
            <a:endParaRPr sz="1100"/>
          </a:p>
        </p:txBody>
      </p:sp>
      <p:sp>
        <p:nvSpPr>
          <p:cNvPr id="253" name="Google Shape;253;p16"/>
          <p:cNvSpPr/>
          <p:nvPr/>
        </p:nvSpPr>
        <p:spPr>
          <a:xfrm>
            <a:off x="160129" y="4073725"/>
            <a:ext cx="4060500" cy="307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=PROCV(102;A2:D5;2;FALSO)</a:t>
            </a:r>
            <a:endParaRPr sz="1100"/>
          </a:p>
        </p:txBody>
      </p:sp>
      <p:sp>
        <p:nvSpPr>
          <p:cNvPr id="254" name="Google Shape;254;p16"/>
          <p:cNvSpPr/>
          <p:nvPr/>
        </p:nvSpPr>
        <p:spPr>
          <a:xfrm>
            <a:off x="91440" y="4459483"/>
            <a:ext cx="5606100" cy="846300"/>
          </a:xfrm>
          <a:prstGeom prst="rect">
            <a:avLst/>
          </a:prstGeom>
          <a:noFill/>
          <a:ln>
            <a:noFill/>
          </a:ln>
        </p:spPr>
        <p:txBody>
          <a:bodyPr anchorCtr="0" anchor="ctr" bIns="35550" lIns="71100" spcFirstLastPara="1" rIns="71100" wrap="square" tIns="35550">
            <a:spAutoFit/>
          </a:bodyPr>
          <a:lstStyle/>
          <a:p>
            <a:pPr indent="-69850" lvl="0" marL="0" marR="0" rtl="0" algn="l">
              <a:lnSpc>
                <a:spcPct val="100000"/>
              </a:lnSpc>
              <a:spcBef>
                <a:spcPts val="0"/>
              </a:spcBef>
              <a:spcAft>
                <a:spcPts val="0"/>
              </a:spcAft>
              <a:buClr>
                <a:schemeClr val="dk1"/>
              </a:buClr>
              <a:buSzPts val="1100"/>
              <a:buFont typeface="Arial"/>
              <a:buChar char="•"/>
            </a:pPr>
            <a:r>
              <a:rPr b="0" i="0" lang="pt-BR" sz="1100" u="none" cap="none" strike="noStrike">
                <a:solidFill>
                  <a:schemeClr val="dk1"/>
                </a:solidFill>
                <a:latin typeface="Arial"/>
                <a:ea typeface="Arial"/>
                <a:cs typeface="Arial"/>
                <a:sym typeface="Arial"/>
              </a:rPr>
              <a:t>102: é o código da peça que estamos procurando.</a:t>
            </a:r>
            <a:endParaRPr sz="1100"/>
          </a:p>
          <a:p>
            <a:pPr indent="-69850" lvl="0" marL="0" marR="0" rtl="0" algn="l">
              <a:lnSpc>
                <a:spcPct val="100000"/>
              </a:lnSpc>
              <a:spcBef>
                <a:spcPts val="0"/>
              </a:spcBef>
              <a:spcAft>
                <a:spcPts val="0"/>
              </a:spcAft>
              <a:buClr>
                <a:schemeClr val="dk1"/>
              </a:buClr>
              <a:buSzPts val="1100"/>
              <a:buFont typeface="Arial"/>
              <a:buChar char="•"/>
            </a:pPr>
            <a:r>
              <a:rPr b="0" i="0" lang="pt-BR" sz="1100" u="none" cap="none" strike="noStrike">
                <a:solidFill>
                  <a:schemeClr val="dk1"/>
                </a:solidFill>
                <a:latin typeface="Arial"/>
                <a:ea typeface="Arial"/>
                <a:cs typeface="Arial"/>
                <a:sym typeface="Arial"/>
              </a:rPr>
              <a:t>A2:D5: é a tabela com todos os dados.</a:t>
            </a:r>
            <a:endParaRPr sz="1100"/>
          </a:p>
          <a:p>
            <a:pPr indent="-69850" lvl="0" marL="0" marR="0" rtl="0" algn="l">
              <a:lnSpc>
                <a:spcPct val="100000"/>
              </a:lnSpc>
              <a:spcBef>
                <a:spcPts val="0"/>
              </a:spcBef>
              <a:spcAft>
                <a:spcPts val="0"/>
              </a:spcAft>
              <a:buClr>
                <a:schemeClr val="dk1"/>
              </a:buClr>
              <a:buSzPts val="1100"/>
              <a:buFont typeface="Arial"/>
              <a:buChar char="•"/>
            </a:pPr>
            <a:r>
              <a:rPr b="0" i="0" lang="pt-BR" sz="1100" u="none" cap="none" strike="noStrike">
                <a:solidFill>
                  <a:schemeClr val="dk1"/>
                </a:solidFill>
                <a:latin typeface="Arial"/>
                <a:ea typeface="Arial"/>
                <a:cs typeface="Arial"/>
                <a:sym typeface="Arial"/>
              </a:rPr>
              <a:t>2: indica que queremos retornar o valor da </a:t>
            </a:r>
            <a:r>
              <a:rPr b="1" i="0" lang="pt-BR" sz="1100" u="none" cap="none" strike="noStrike">
                <a:solidFill>
                  <a:schemeClr val="dk1"/>
                </a:solidFill>
                <a:latin typeface="Arial"/>
                <a:ea typeface="Arial"/>
                <a:cs typeface="Arial"/>
                <a:sym typeface="Arial"/>
              </a:rPr>
              <a:t>segunda coluna</a:t>
            </a:r>
            <a:r>
              <a:rPr b="0" i="0" lang="pt-BR" sz="1100" u="none" cap="none" strike="noStrike">
                <a:solidFill>
                  <a:schemeClr val="dk1"/>
                </a:solidFill>
                <a:latin typeface="Arial"/>
                <a:ea typeface="Arial"/>
                <a:cs typeface="Arial"/>
                <a:sym typeface="Arial"/>
              </a:rPr>
              <a:t> (Nome da Peça).</a:t>
            </a:r>
            <a:endParaRPr sz="1100"/>
          </a:p>
          <a:p>
            <a:pPr indent="-69850" lvl="0" marL="0" marR="0" rtl="0" algn="l">
              <a:lnSpc>
                <a:spcPct val="100000"/>
              </a:lnSpc>
              <a:spcBef>
                <a:spcPts val="0"/>
              </a:spcBef>
              <a:spcAft>
                <a:spcPts val="0"/>
              </a:spcAft>
              <a:buClr>
                <a:schemeClr val="dk1"/>
              </a:buClr>
              <a:buSzPts val="1100"/>
              <a:buFont typeface="Arial"/>
              <a:buChar char="•"/>
            </a:pPr>
            <a:r>
              <a:rPr b="0" i="0" lang="pt-BR" sz="1100" u="none" cap="none" strike="noStrike">
                <a:solidFill>
                  <a:schemeClr val="dk1"/>
                </a:solidFill>
                <a:latin typeface="Arial"/>
                <a:ea typeface="Arial"/>
                <a:cs typeface="Arial"/>
                <a:sym typeface="Arial"/>
              </a:rPr>
              <a:t>FALSO: significa que queremos uma </a:t>
            </a:r>
            <a:r>
              <a:rPr b="1" i="0" lang="pt-BR" sz="1100" u="none" cap="none" strike="noStrike">
                <a:solidFill>
                  <a:schemeClr val="dk1"/>
                </a:solidFill>
                <a:latin typeface="Arial"/>
                <a:ea typeface="Arial"/>
                <a:cs typeface="Arial"/>
                <a:sym typeface="Arial"/>
              </a:rPr>
              <a:t>correspondência exata</a:t>
            </a:r>
            <a:r>
              <a:rPr b="0" i="0" lang="pt-BR" sz="1400" u="none" cap="none" strike="noStrike">
                <a:solidFill>
                  <a:schemeClr val="dk1"/>
                </a:solidFill>
                <a:latin typeface="Arial"/>
                <a:ea typeface="Arial"/>
                <a:cs typeface="Arial"/>
                <a:sym typeface="Arial"/>
              </a:rPr>
              <a:t>.</a:t>
            </a:r>
            <a:endParaRPr sz="1100"/>
          </a:p>
        </p:txBody>
      </p:sp>
      <p:sp>
        <p:nvSpPr>
          <p:cNvPr id="255" name="Google Shape;255;p16"/>
          <p:cNvSpPr/>
          <p:nvPr/>
        </p:nvSpPr>
        <p:spPr>
          <a:xfrm>
            <a:off x="6200336" y="4227611"/>
            <a:ext cx="2831100" cy="10002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Resultado esperado:</a:t>
            </a:r>
            <a:endParaRPr sz="1100"/>
          </a:p>
          <a:p>
            <a:pPr indent="0" lvl="0" marL="0" marR="0" rtl="0" algn="l">
              <a:spcBef>
                <a:spcPts val="0"/>
              </a:spcBef>
              <a:spcAft>
                <a:spcPts val="0"/>
              </a:spcAft>
              <a:buNone/>
            </a:pPr>
            <a:r>
              <a:rPr lang="pt-BR" sz="1400">
                <a:solidFill>
                  <a:schemeClr val="dk1"/>
                </a:solidFill>
                <a:latin typeface="Arial"/>
                <a:ea typeface="Arial"/>
                <a:cs typeface="Arial"/>
                <a:sym typeface="Arial"/>
              </a:rPr>
              <a:t>A fórmula irá retornar </a:t>
            </a:r>
            <a:r>
              <a:rPr b="1" lang="pt-BR" sz="1400">
                <a:solidFill>
                  <a:schemeClr val="dk1"/>
                </a:solidFill>
                <a:latin typeface="Arial"/>
                <a:ea typeface="Arial"/>
                <a:cs typeface="Arial"/>
                <a:sym typeface="Arial"/>
              </a:rPr>
              <a:t>"Filtro de Ar"</a:t>
            </a:r>
            <a:r>
              <a:rPr lang="pt-BR" sz="1400">
                <a:solidFill>
                  <a:schemeClr val="dk1"/>
                </a:solidFill>
                <a:latin typeface="Arial"/>
                <a:ea typeface="Arial"/>
                <a:cs typeface="Arial"/>
                <a:sym typeface="Arial"/>
              </a:rPr>
              <a:t>, pois é o nome correspondente ao código </a:t>
            </a:r>
            <a:r>
              <a:rPr b="1" lang="pt-BR" sz="1400">
                <a:solidFill>
                  <a:schemeClr val="dk1"/>
                </a:solidFill>
                <a:latin typeface="Arial"/>
                <a:ea typeface="Arial"/>
                <a:cs typeface="Arial"/>
                <a:sym typeface="Arial"/>
              </a:rPr>
              <a:t>102</a:t>
            </a:r>
            <a:r>
              <a:rPr lang="pt-BR" sz="1400">
                <a:solidFill>
                  <a:schemeClr val="dk1"/>
                </a:solidFill>
                <a:latin typeface="Arial"/>
                <a:ea typeface="Arial"/>
                <a:cs typeface="Arial"/>
                <a:sym typeface="Arial"/>
              </a:rPr>
              <a:t>.</a:t>
            </a:r>
            <a:endParaRPr sz="11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7"/>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2200">
                <a:solidFill>
                  <a:schemeClr val="lt1"/>
                </a:solidFill>
                <a:latin typeface="Arial"/>
                <a:ea typeface="Arial"/>
                <a:cs typeface="Arial"/>
                <a:sym typeface="Arial"/>
              </a:rPr>
              <a:t>ATIVIDADE</a:t>
            </a:r>
            <a:endParaRPr sz="1100"/>
          </a:p>
        </p:txBody>
      </p:sp>
      <p:sp>
        <p:nvSpPr>
          <p:cNvPr id="262" name="Google Shape;262;p17"/>
          <p:cNvSpPr/>
          <p:nvPr/>
        </p:nvSpPr>
        <p:spPr>
          <a:xfrm>
            <a:off x="133643" y="1148071"/>
            <a:ext cx="8834400" cy="5385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Os alunos vão organizar e analisar uma feira de frutas, onde cada fruta tem uma categoria, quantidade, valor e fornecedor.</a:t>
            </a:r>
            <a:endParaRPr sz="1100"/>
          </a:p>
        </p:txBody>
      </p:sp>
      <p:pic>
        <p:nvPicPr>
          <p:cNvPr id="263" name="Google Shape;263;p17"/>
          <p:cNvPicPr preferRelativeResize="0"/>
          <p:nvPr/>
        </p:nvPicPr>
        <p:blipFill rotWithShape="1">
          <a:blip r:embed="rId3">
            <a:alphaModFix/>
          </a:blip>
          <a:srcRect b="13156" l="0" r="0" t="0"/>
          <a:stretch/>
        </p:blipFill>
        <p:spPr>
          <a:xfrm>
            <a:off x="133650" y="1909425"/>
            <a:ext cx="8650700" cy="276825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18"/>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2200">
                <a:solidFill>
                  <a:schemeClr val="lt1"/>
                </a:solidFill>
                <a:latin typeface="Arial"/>
                <a:ea typeface="Arial"/>
                <a:cs typeface="Arial"/>
                <a:sym typeface="Arial"/>
              </a:rPr>
              <a:t>ATIVIDADE</a:t>
            </a:r>
            <a:endParaRPr sz="1100"/>
          </a:p>
        </p:txBody>
      </p:sp>
      <p:sp>
        <p:nvSpPr>
          <p:cNvPr id="270" name="Google Shape;270;p18"/>
          <p:cNvSpPr/>
          <p:nvPr/>
        </p:nvSpPr>
        <p:spPr>
          <a:xfrm>
            <a:off x="175846" y="1305916"/>
            <a:ext cx="8834400" cy="6924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200">
                <a:solidFill>
                  <a:schemeClr val="dk1"/>
                </a:solidFill>
                <a:latin typeface="Arial"/>
                <a:ea typeface="Arial"/>
                <a:cs typeface="Arial"/>
                <a:sym typeface="Arial"/>
              </a:rPr>
              <a:t>Desafio: Organize a Feira de Frutas!</a:t>
            </a:r>
            <a:endParaRPr sz="1100"/>
          </a:p>
          <a:p>
            <a:pPr indent="0" lvl="0" marL="0" marR="0" rtl="0" algn="l">
              <a:spcBef>
                <a:spcPts val="0"/>
              </a:spcBef>
              <a:spcAft>
                <a:spcPts val="0"/>
              </a:spcAft>
              <a:buNone/>
            </a:pPr>
            <a:r>
              <a:rPr lang="pt-BR" sz="1200">
                <a:solidFill>
                  <a:schemeClr val="dk1"/>
                </a:solidFill>
                <a:latin typeface="Arial"/>
                <a:ea typeface="Arial"/>
                <a:cs typeface="Arial"/>
                <a:sym typeface="Arial"/>
              </a:rPr>
              <a:t>Você agora é responsável por organizar os dados de uma feira de frutas.</a:t>
            </a:r>
            <a:br>
              <a:rPr lang="pt-BR" sz="1200">
                <a:solidFill>
                  <a:schemeClr val="dk1"/>
                </a:solidFill>
                <a:latin typeface="Arial"/>
                <a:ea typeface="Arial"/>
                <a:cs typeface="Arial"/>
                <a:sym typeface="Arial"/>
              </a:rPr>
            </a:br>
            <a:r>
              <a:rPr lang="pt-BR" sz="1200">
                <a:solidFill>
                  <a:schemeClr val="dk1"/>
                </a:solidFill>
                <a:latin typeface="Arial"/>
                <a:ea typeface="Arial"/>
                <a:cs typeface="Arial"/>
                <a:sym typeface="Arial"/>
              </a:rPr>
              <a:t>Com essa tabela, vamos usar as funções que aprendemos hoje para </a:t>
            </a:r>
            <a:r>
              <a:rPr b="1" lang="pt-BR" sz="1200">
                <a:solidFill>
                  <a:schemeClr val="dk1"/>
                </a:solidFill>
                <a:latin typeface="Arial"/>
                <a:ea typeface="Arial"/>
                <a:cs typeface="Arial"/>
                <a:sym typeface="Arial"/>
              </a:rPr>
              <a:t>analisar e pesquisar os dados</a:t>
            </a:r>
            <a:r>
              <a:rPr lang="pt-BR" sz="1200">
                <a:solidFill>
                  <a:schemeClr val="dk1"/>
                </a:solidFill>
                <a:latin typeface="Arial"/>
                <a:ea typeface="Arial"/>
                <a:cs typeface="Arial"/>
                <a:sym typeface="Arial"/>
              </a:rPr>
              <a:t>!</a:t>
            </a:r>
            <a:endParaRPr sz="1100"/>
          </a:p>
        </p:txBody>
      </p:sp>
      <p:sp>
        <p:nvSpPr>
          <p:cNvPr id="271" name="Google Shape;271;p18"/>
          <p:cNvSpPr/>
          <p:nvPr/>
        </p:nvSpPr>
        <p:spPr>
          <a:xfrm>
            <a:off x="175846" y="2473059"/>
            <a:ext cx="9010500" cy="1923600"/>
          </a:xfrm>
          <a:prstGeom prst="rect">
            <a:avLst/>
          </a:prstGeom>
          <a:noFill/>
          <a:ln>
            <a:noFill/>
          </a:ln>
        </p:spPr>
        <p:txBody>
          <a:bodyPr anchorCtr="0" anchor="ctr" bIns="35550" lIns="71100" spcFirstLastPara="1" rIns="71100" wrap="square" tIns="35550">
            <a:spAutoFit/>
          </a:bodyPr>
          <a:lstStyle/>
          <a:p>
            <a:pPr indent="0" lvl="0" marL="0" marR="0" rtl="0" algn="l">
              <a:lnSpc>
                <a:spcPct val="100000"/>
              </a:lnSpc>
              <a:spcBef>
                <a:spcPts val="0"/>
              </a:spcBef>
              <a:spcAft>
                <a:spcPts val="0"/>
              </a:spcAft>
              <a:buClr>
                <a:schemeClr val="dk1"/>
              </a:buClr>
              <a:buSzPts val="1200"/>
              <a:buFont typeface="Arial"/>
              <a:buNone/>
            </a:pPr>
            <a:r>
              <a:rPr b="1" i="0" lang="pt-BR" sz="1200" u="none" cap="none" strike="noStrike">
                <a:solidFill>
                  <a:schemeClr val="dk1"/>
                </a:solidFill>
                <a:latin typeface="Arial"/>
                <a:ea typeface="Arial"/>
                <a:cs typeface="Arial"/>
                <a:sym typeface="Arial"/>
              </a:rPr>
              <a:t>O que você deve observar:</a:t>
            </a:r>
            <a:endParaRPr sz="1100"/>
          </a:p>
          <a:p>
            <a:pPr indent="-76200" lvl="0" marL="0" marR="0" rtl="0" algn="l">
              <a:lnSpc>
                <a:spcPct val="100000"/>
              </a:lnSpc>
              <a:spcBef>
                <a:spcPts val="0"/>
              </a:spcBef>
              <a:spcAft>
                <a:spcPts val="0"/>
              </a:spcAft>
              <a:buClr>
                <a:schemeClr val="dk1"/>
              </a:buClr>
              <a:buSzPts val="1200"/>
              <a:buFont typeface="Arial"/>
              <a:buAutoNum type="arabicPeriod"/>
            </a:pPr>
            <a:r>
              <a:rPr b="1" i="0" lang="pt-BR" sz="1200" u="none" cap="none" strike="noStrike">
                <a:solidFill>
                  <a:schemeClr val="dk1"/>
                </a:solidFill>
                <a:latin typeface="Arial"/>
                <a:ea typeface="Arial"/>
                <a:cs typeface="Arial"/>
                <a:sym typeface="Arial"/>
              </a:rPr>
              <a:t>SOMASE</a:t>
            </a:r>
            <a:r>
              <a:rPr b="0" i="0" lang="pt-BR" sz="1200" u="none" cap="none" strike="noStrike">
                <a:solidFill>
                  <a:schemeClr val="dk1"/>
                </a:solidFill>
                <a:latin typeface="Arial"/>
                <a:ea typeface="Arial"/>
                <a:cs typeface="Arial"/>
                <a:sym typeface="Arial"/>
              </a:rPr>
              <a:t> – Está sendo usada para somar </a:t>
            </a:r>
            <a:r>
              <a:rPr b="1" i="0" lang="pt-BR" sz="1200" u="none" cap="none" strike="noStrike">
                <a:solidFill>
                  <a:schemeClr val="dk1"/>
                </a:solidFill>
                <a:latin typeface="Arial"/>
                <a:ea typeface="Arial"/>
                <a:cs typeface="Arial"/>
                <a:sym typeface="Arial"/>
              </a:rPr>
              <a:t>a quantidade de frutas por categoria</a:t>
            </a:r>
            <a:r>
              <a:rPr b="0" i="0" lang="pt-BR" sz="1200" u="none" cap="none" strike="noStrike">
                <a:solidFill>
                  <a:schemeClr val="dk1"/>
                </a:solidFill>
                <a:latin typeface="Arial"/>
                <a:ea typeface="Arial"/>
                <a:cs typeface="Arial"/>
                <a:sym typeface="Arial"/>
              </a:rPr>
              <a:t> (Nacional e Importada).</a:t>
            </a:r>
            <a:endParaRPr sz="1100"/>
          </a:p>
          <a:p>
            <a:pPr indent="-76200" lvl="0" marL="0" marR="0" rtl="0" algn="l">
              <a:lnSpc>
                <a:spcPct val="100000"/>
              </a:lnSpc>
              <a:spcBef>
                <a:spcPts val="0"/>
              </a:spcBef>
              <a:spcAft>
                <a:spcPts val="0"/>
              </a:spcAft>
              <a:buClr>
                <a:schemeClr val="dk1"/>
              </a:buClr>
              <a:buSzPts val="1200"/>
              <a:buFont typeface="Arial"/>
              <a:buAutoNum type="arabicPeriod"/>
            </a:pPr>
            <a:r>
              <a:rPr b="1" i="0" lang="pt-BR" sz="1200" u="none" cap="none" strike="noStrike">
                <a:solidFill>
                  <a:schemeClr val="dk1"/>
                </a:solidFill>
                <a:latin typeface="Arial"/>
                <a:ea typeface="Arial"/>
                <a:cs typeface="Arial"/>
                <a:sym typeface="Arial"/>
              </a:rPr>
              <a:t>CONT.SE</a:t>
            </a:r>
            <a:r>
              <a:rPr b="0" i="0" lang="pt-BR" sz="1200" u="none" cap="none" strike="noStrike">
                <a:solidFill>
                  <a:schemeClr val="dk1"/>
                </a:solidFill>
                <a:latin typeface="Arial"/>
                <a:ea typeface="Arial"/>
                <a:cs typeface="Arial"/>
                <a:sym typeface="Arial"/>
              </a:rPr>
              <a:t> – Conta </a:t>
            </a:r>
            <a:r>
              <a:rPr b="1" i="0" lang="pt-BR" sz="1200" u="none" cap="none" strike="noStrike">
                <a:solidFill>
                  <a:schemeClr val="dk1"/>
                </a:solidFill>
                <a:latin typeface="Arial"/>
                <a:ea typeface="Arial"/>
                <a:cs typeface="Arial"/>
                <a:sym typeface="Arial"/>
              </a:rPr>
              <a:t>quantas vezes um fornecedor aparece</a:t>
            </a:r>
            <a:r>
              <a:rPr b="0" i="0" lang="pt-BR" sz="1200" u="none" cap="none" strike="noStrike">
                <a:solidFill>
                  <a:schemeClr val="dk1"/>
                </a:solidFill>
                <a:latin typeface="Arial"/>
                <a:ea typeface="Arial"/>
                <a:cs typeface="Arial"/>
                <a:sym typeface="Arial"/>
              </a:rPr>
              <a:t> na tabela.</a:t>
            </a:r>
            <a:endParaRPr sz="1100"/>
          </a:p>
          <a:p>
            <a:pPr indent="-76200" lvl="0" marL="0" marR="0" rtl="0" algn="l">
              <a:lnSpc>
                <a:spcPct val="100000"/>
              </a:lnSpc>
              <a:spcBef>
                <a:spcPts val="0"/>
              </a:spcBef>
              <a:spcAft>
                <a:spcPts val="0"/>
              </a:spcAft>
              <a:buClr>
                <a:schemeClr val="dk1"/>
              </a:buClr>
              <a:buSzPts val="1200"/>
              <a:buFont typeface="Arial"/>
              <a:buAutoNum type="arabicPeriod"/>
            </a:pPr>
            <a:r>
              <a:rPr b="1" i="0" lang="pt-BR" sz="1200" u="none" cap="none" strike="noStrike">
                <a:solidFill>
                  <a:schemeClr val="dk1"/>
                </a:solidFill>
                <a:latin typeface="Arial"/>
                <a:ea typeface="Arial"/>
                <a:cs typeface="Arial"/>
                <a:sym typeface="Arial"/>
              </a:rPr>
              <a:t>CONT.VALORES</a:t>
            </a:r>
            <a:r>
              <a:rPr b="0" i="0" lang="pt-BR" sz="1200" u="none" cap="none" strike="noStrike">
                <a:solidFill>
                  <a:schemeClr val="dk1"/>
                </a:solidFill>
                <a:latin typeface="Arial"/>
                <a:ea typeface="Arial"/>
                <a:cs typeface="Arial"/>
                <a:sym typeface="Arial"/>
              </a:rPr>
              <a:t> – Conta </a:t>
            </a:r>
            <a:r>
              <a:rPr b="1" i="0" lang="pt-BR" sz="1200" u="none" cap="none" strike="noStrike">
                <a:solidFill>
                  <a:schemeClr val="dk1"/>
                </a:solidFill>
                <a:latin typeface="Arial"/>
                <a:ea typeface="Arial"/>
                <a:cs typeface="Arial"/>
                <a:sym typeface="Arial"/>
              </a:rPr>
              <a:t>quantas células estão preenchidas</a:t>
            </a:r>
            <a:r>
              <a:rPr b="0" i="0" lang="pt-BR" sz="1200" u="none" cap="none" strike="noStrike">
                <a:solidFill>
                  <a:schemeClr val="dk1"/>
                </a:solidFill>
                <a:latin typeface="Arial"/>
                <a:ea typeface="Arial"/>
                <a:cs typeface="Arial"/>
                <a:sym typeface="Arial"/>
              </a:rPr>
              <a:t> na tabela.</a:t>
            </a:r>
            <a:endParaRPr sz="1100"/>
          </a:p>
          <a:p>
            <a:pPr indent="-76200" lvl="0" marL="0" marR="0" rtl="0" algn="l">
              <a:lnSpc>
                <a:spcPct val="100000"/>
              </a:lnSpc>
              <a:spcBef>
                <a:spcPts val="0"/>
              </a:spcBef>
              <a:spcAft>
                <a:spcPts val="0"/>
              </a:spcAft>
              <a:buClr>
                <a:schemeClr val="dk1"/>
              </a:buClr>
              <a:buSzPts val="1200"/>
              <a:buFont typeface="Arial"/>
              <a:buAutoNum type="arabicPeriod"/>
            </a:pPr>
            <a:r>
              <a:rPr b="1" i="0" lang="pt-BR" sz="1200" u="none" cap="none" strike="noStrike">
                <a:solidFill>
                  <a:schemeClr val="dk1"/>
                </a:solidFill>
                <a:latin typeface="Arial"/>
                <a:ea typeface="Arial"/>
                <a:cs typeface="Arial"/>
                <a:sym typeface="Arial"/>
              </a:rPr>
              <a:t>PROCV</a:t>
            </a:r>
            <a:r>
              <a:rPr b="0" i="0" lang="pt-BR" sz="1200" u="none" cap="none" strike="noStrike">
                <a:solidFill>
                  <a:schemeClr val="dk1"/>
                </a:solidFill>
                <a:latin typeface="Arial"/>
                <a:ea typeface="Arial"/>
                <a:cs typeface="Arial"/>
                <a:sym typeface="Arial"/>
              </a:rPr>
              <a:t> – Quando o usuário digita um código (como 102), a planilha retorna:</a:t>
            </a:r>
            <a:endParaRPr sz="1100"/>
          </a:p>
          <a:p>
            <a:pPr indent="-76200" lvl="1" marL="355600" marR="0" rtl="0" algn="l">
              <a:lnSpc>
                <a:spcPct val="100000"/>
              </a:lnSpc>
              <a:spcBef>
                <a:spcPts val="0"/>
              </a:spcBef>
              <a:spcAft>
                <a:spcPts val="0"/>
              </a:spcAft>
              <a:buClr>
                <a:schemeClr val="dk1"/>
              </a:buClr>
              <a:buSzPts val="1200"/>
              <a:buFont typeface="Arial"/>
              <a:buChar char="•"/>
            </a:pPr>
            <a:r>
              <a:rPr b="0" i="0" lang="pt-BR" sz="1200" u="none" cap="none" strike="noStrike">
                <a:solidFill>
                  <a:schemeClr val="dk1"/>
                </a:solidFill>
                <a:latin typeface="Arial"/>
                <a:ea typeface="Arial"/>
                <a:cs typeface="Arial"/>
                <a:sym typeface="Arial"/>
              </a:rPr>
              <a:t>o nome da fruta</a:t>
            </a:r>
            <a:endParaRPr sz="1100"/>
          </a:p>
          <a:p>
            <a:pPr indent="-76200" lvl="1" marL="355600" marR="0" rtl="0" algn="l">
              <a:lnSpc>
                <a:spcPct val="100000"/>
              </a:lnSpc>
              <a:spcBef>
                <a:spcPts val="0"/>
              </a:spcBef>
              <a:spcAft>
                <a:spcPts val="0"/>
              </a:spcAft>
              <a:buClr>
                <a:schemeClr val="dk1"/>
              </a:buClr>
              <a:buSzPts val="1200"/>
              <a:buFont typeface="Arial"/>
              <a:buChar char="•"/>
            </a:pPr>
            <a:r>
              <a:rPr b="0" i="0" lang="pt-BR" sz="1200" u="none" cap="none" strike="noStrike">
                <a:solidFill>
                  <a:schemeClr val="dk1"/>
                </a:solidFill>
                <a:latin typeface="Arial"/>
                <a:ea typeface="Arial"/>
                <a:cs typeface="Arial"/>
                <a:sym typeface="Arial"/>
              </a:rPr>
              <a:t>sua categoria</a:t>
            </a:r>
            <a:endParaRPr sz="1100"/>
          </a:p>
          <a:p>
            <a:pPr indent="-76200" lvl="1" marL="355600" marR="0" rtl="0" algn="l">
              <a:lnSpc>
                <a:spcPct val="100000"/>
              </a:lnSpc>
              <a:spcBef>
                <a:spcPts val="0"/>
              </a:spcBef>
              <a:spcAft>
                <a:spcPts val="0"/>
              </a:spcAft>
              <a:buClr>
                <a:schemeClr val="dk1"/>
              </a:buClr>
              <a:buSzPts val="1200"/>
              <a:buFont typeface="Arial"/>
              <a:buChar char="•"/>
            </a:pPr>
            <a:r>
              <a:rPr b="0" i="0" lang="pt-BR" sz="1200" u="none" cap="none" strike="noStrike">
                <a:solidFill>
                  <a:schemeClr val="dk1"/>
                </a:solidFill>
                <a:latin typeface="Arial"/>
                <a:ea typeface="Arial"/>
                <a:cs typeface="Arial"/>
                <a:sym typeface="Arial"/>
              </a:rPr>
              <a:t>e o valor unitário!</a:t>
            </a:r>
            <a:endParaRPr sz="1100"/>
          </a:p>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272" name="Google Shape;272;p18"/>
          <p:cNvSpPr/>
          <p:nvPr/>
        </p:nvSpPr>
        <p:spPr>
          <a:xfrm>
            <a:off x="1009356" y="4367453"/>
            <a:ext cx="6900300" cy="8976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200">
                <a:solidFill>
                  <a:schemeClr val="dk1"/>
                </a:solidFill>
                <a:latin typeface="Arial"/>
                <a:ea typeface="Arial"/>
                <a:cs typeface="Arial"/>
                <a:sym typeface="Arial"/>
              </a:rPr>
              <a:t>Objetivo:</a:t>
            </a:r>
            <a:endParaRPr sz="1100"/>
          </a:p>
          <a:p>
            <a:pPr indent="-76200" lvl="0" marL="0" marR="0" rtl="0" algn="l">
              <a:spcBef>
                <a:spcPts val="0"/>
              </a:spcBef>
              <a:spcAft>
                <a:spcPts val="0"/>
              </a:spcAft>
              <a:buClr>
                <a:schemeClr val="dk1"/>
              </a:buClr>
              <a:buSzPts val="1200"/>
              <a:buFont typeface="Arial"/>
              <a:buChar char="•"/>
            </a:pPr>
            <a:r>
              <a:rPr lang="pt-BR" sz="1200">
                <a:solidFill>
                  <a:schemeClr val="dk1"/>
                </a:solidFill>
                <a:latin typeface="Arial"/>
                <a:ea typeface="Arial"/>
                <a:cs typeface="Arial"/>
                <a:sym typeface="Arial"/>
              </a:rPr>
              <a:t>Entender como aplicar fórmulas no Excel com base em critérios.</a:t>
            </a:r>
            <a:endParaRPr sz="1100"/>
          </a:p>
          <a:p>
            <a:pPr indent="-76200" lvl="0" marL="0" marR="0" rtl="0" algn="l">
              <a:spcBef>
                <a:spcPts val="0"/>
              </a:spcBef>
              <a:spcAft>
                <a:spcPts val="0"/>
              </a:spcAft>
              <a:buClr>
                <a:schemeClr val="dk1"/>
              </a:buClr>
              <a:buSzPts val="1200"/>
              <a:buFont typeface="Arial"/>
              <a:buChar char="•"/>
            </a:pPr>
            <a:r>
              <a:rPr lang="pt-BR" sz="1200">
                <a:solidFill>
                  <a:schemeClr val="dk1"/>
                </a:solidFill>
                <a:latin typeface="Arial"/>
                <a:ea typeface="Arial"/>
                <a:cs typeface="Arial"/>
                <a:sym typeface="Arial"/>
              </a:rPr>
              <a:t>Saber buscar dados usando o código do produto.</a:t>
            </a:r>
            <a:endParaRPr sz="1100"/>
          </a:p>
          <a:p>
            <a:pPr indent="-76200" lvl="0" marL="0" marR="0" rtl="0" algn="l">
              <a:spcBef>
                <a:spcPts val="0"/>
              </a:spcBef>
              <a:spcAft>
                <a:spcPts val="0"/>
              </a:spcAft>
              <a:buClr>
                <a:schemeClr val="dk1"/>
              </a:buClr>
              <a:buSzPts val="1200"/>
              <a:buFont typeface="Arial"/>
              <a:buChar char="•"/>
            </a:pPr>
            <a:r>
              <a:rPr lang="pt-BR" sz="1200">
                <a:solidFill>
                  <a:schemeClr val="dk1"/>
                </a:solidFill>
                <a:latin typeface="Arial"/>
                <a:ea typeface="Arial"/>
                <a:cs typeface="Arial"/>
                <a:sym typeface="Arial"/>
              </a:rPr>
              <a:t>Ver que funções são aliadas no dia a dia, seja no mercado, no trabalho ou na vida.</a:t>
            </a:r>
            <a:endParaRPr sz="11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9"/>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2200">
                <a:solidFill>
                  <a:schemeClr val="lt1"/>
                </a:solidFill>
                <a:latin typeface="Arial"/>
                <a:ea typeface="Arial"/>
                <a:cs typeface="Arial"/>
                <a:sym typeface="Arial"/>
              </a:rPr>
              <a:t>ATIVIDADE</a:t>
            </a:r>
            <a:endParaRPr sz="1100"/>
          </a:p>
        </p:txBody>
      </p:sp>
      <p:sp>
        <p:nvSpPr>
          <p:cNvPr id="279" name="Google Shape;279;p19"/>
          <p:cNvSpPr/>
          <p:nvPr/>
        </p:nvSpPr>
        <p:spPr>
          <a:xfrm>
            <a:off x="508275" y="1302050"/>
            <a:ext cx="8289900" cy="3946200"/>
          </a:xfrm>
          <a:prstGeom prst="rect">
            <a:avLst/>
          </a:prstGeom>
          <a:solidFill>
            <a:schemeClr val="lt1"/>
          </a:solid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900">
                <a:solidFill>
                  <a:schemeClr val="dk1"/>
                </a:solidFill>
                <a:latin typeface="Arial"/>
                <a:ea typeface="Arial"/>
                <a:cs typeface="Arial"/>
                <a:sym typeface="Arial"/>
              </a:rPr>
              <a:t>Total de Frutas Nacionais</a:t>
            </a:r>
            <a:r>
              <a:rPr lang="pt-BR" sz="1900">
                <a:solidFill>
                  <a:schemeClr val="dk1"/>
                </a:solidFill>
                <a:latin typeface="Arial"/>
                <a:ea typeface="Arial"/>
                <a:cs typeface="Arial"/>
                <a:sym typeface="Arial"/>
              </a:rPr>
              <a:t>: =SOMASE(D2:D8;"Nacional";E2:E8)</a:t>
            </a:r>
            <a:endParaRPr sz="1900"/>
          </a:p>
          <a:p>
            <a:pPr indent="0" lvl="0" marL="0" marR="0" rtl="0" algn="l">
              <a:spcBef>
                <a:spcPts val="0"/>
              </a:spcBef>
              <a:spcAft>
                <a:spcPts val="0"/>
              </a:spcAft>
              <a:buNone/>
            </a:pPr>
            <a:r>
              <a:rPr b="1" lang="pt-BR" sz="1900">
                <a:solidFill>
                  <a:schemeClr val="dk1"/>
                </a:solidFill>
                <a:latin typeface="Arial"/>
                <a:ea typeface="Arial"/>
                <a:cs typeface="Arial"/>
                <a:sym typeface="Arial"/>
              </a:rPr>
              <a:t>Total de Frutas Importadas</a:t>
            </a:r>
            <a:r>
              <a:rPr lang="pt-BR" sz="1900">
                <a:solidFill>
                  <a:schemeClr val="dk1"/>
                </a:solidFill>
                <a:latin typeface="Arial"/>
                <a:ea typeface="Arial"/>
                <a:cs typeface="Arial"/>
                <a:sym typeface="Arial"/>
              </a:rPr>
              <a:t>: =SOMASE(D2:D8;"Importada";E2:E8)</a:t>
            </a:r>
            <a:endParaRPr sz="1900"/>
          </a:p>
          <a:p>
            <a:pPr indent="0" lvl="0" marL="0" marR="0" rtl="0" algn="l">
              <a:spcBef>
                <a:spcPts val="0"/>
              </a:spcBef>
              <a:spcAft>
                <a:spcPts val="0"/>
              </a:spcAft>
              <a:buNone/>
            </a:pPr>
            <a:r>
              <a:rPr b="1" lang="pt-BR" sz="1900">
                <a:solidFill>
                  <a:schemeClr val="dk1"/>
                </a:solidFill>
                <a:latin typeface="Arial"/>
                <a:ea typeface="Arial"/>
                <a:cs typeface="Arial"/>
                <a:sym typeface="Arial"/>
              </a:rPr>
              <a:t>Total de Fornecimentos da "Pomar Real"</a:t>
            </a:r>
            <a:r>
              <a:rPr lang="pt-BR" sz="1900">
                <a:solidFill>
                  <a:schemeClr val="dk1"/>
                </a:solidFill>
                <a:latin typeface="Arial"/>
                <a:ea typeface="Arial"/>
                <a:cs typeface="Arial"/>
                <a:sym typeface="Arial"/>
              </a:rPr>
              <a:t>: =CONT.SE(G2:G8;"Pomar Real")</a:t>
            </a:r>
            <a:endParaRPr sz="1900"/>
          </a:p>
          <a:p>
            <a:pPr indent="0" lvl="0" marL="0" marR="0" rtl="0" algn="l">
              <a:spcBef>
                <a:spcPts val="0"/>
              </a:spcBef>
              <a:spcAft>
                <a:spcPts val="0"/>
              </a:spcAft>
              <a:buNone/>
            </a:pPr>
            <a:r>
              <a:rPr b="1" lang="pt-BR" sz="1900">
                <a:solidFill>
                  <a:schemeClr val="dk1"/>
                </a:solidFill>
                <a:latin typeface="Arial"/>
                <a:ea typeface="Arial"/>
                <a:cs typeface="Arial"/>
                <a:sym typeface="Arial"/>
              </a:rPr>
              <a:t>Quantos itens estão preenchidos na tabela</a:t>
            </a:r>
            <a:r>
              <a:rPr lang="pt-BR" sz="1900">
                <a:solidFill>
                  <a:schemeClr val="dk1"/>
                </a:solidFill>
                <a:latin typeface="Arial"/>
                <a:ea typeface="Arial"/>
                <a:cs typeface="Arial"/>
                <a:sym typeface="Arial"/>
              </a:rPr>
              <a:t>: =CONT.VALORES(A2:G8)</a:t>
            </a:r>
            <a:endParaRPr sz="1900"/>
          </a:p>
          <a:p>
            <a:pPr indent="0" lvl="0" marL="0" marR="0" rtl="0" algn="l">
              <a:spcBef>
                <a:spcPts val="0"/>
              </a:spcBef>
              <a:spcAft>
                <a:spcPts val="0"/>
              </a:spcAft>
              <a:buNone/>
            </a:pPr>
            <a:r>
              <a:t/>
            </a:r>
            <a:endParaRPr b="1" sz="1900">
              <a:solidFill>
                <a:schemeClr val="dk1"/>
              </a:solidFill>
            </a:endParaRPr>
          </a:p>
          <a:p>
            <a:pPr indent="0" lvl="0" marL="0" marR="0" rtl="0" algn="l">
              <a:spcBef>
                <a:spcPts val="0"/>
              </a:spcBef>
              <a:spcAft>
                <a:spcPts val="0"/>
              </a:spcAft>
              <a:buNone/>
            </a:pPr>
            <a:r>
              <a:rPr b="1" lang="pt-BR" sz="1900">
                <a:solidFill>
                  <a:schemeClr val="dk1"/>
                </a:solidFill>
                <a:latin typeface="Arial"/>
                <a:ea typeface="Arial"/>
                <a:cs typeface="Arial"/>
                <a:sym typeface="Arial"/>
              </a:rPr>
              <a:t>Pesquisar pelo código:102			</a:t>
            </a:r>
            <a:endParaRPr b="1" sz="1900"/>
          </a:p>
          <a:p>
            <a:pPr indent="0" lvl="0" marL="0" marR="0" rtl="0" algn="l">
              <a:spcBef>
                <a:spcPts val="0"/>
              </a:spcBef>
              <a:spcAft>
                <a:spcPts val="0"/>
              </a:spcAft>
              <a:buNone/>
            </a:pPr>
            <a:r>
              <a:rPr b="1" lang="pt-BR" sz="1900">
                <a:solidFill>
                  <a:schemeClr val="dk1"/>
                </a:solidFill>
                <a:latin typeface="Arial"/>
                <a:ea typeface="Arial"/>
                <a:cs typeface="Arial"/>
                <a:sym typeface="Arial"/>
              </a:rPr>
              <a:t>Resultado da pesquisa:</a:t>
            </a:r>
            <a:r>
              <a:rPr b="1" lang="pt-BR" sz="1900">
                <a:solidFill>
                  <a:schemeClr val="dk1"/>
                </a:solidFill>
              </a:rPr>
              <a:t>			</a:t>
            </a:r>
            <a:endParaRPr b="1" sz="1900"/>
          </a:p>
          <a:p>
            <a:pPr indent="0" lvl="0" marL="0" marR="0" rtl="0" algn="l">
              <a:spcBef>
                <a:spcPts val="0"/>
              </a:spcBef>
              <a:spcAft>
                <a:spcPts val="0"/>
              </a:spcAft>
              <a:buNone/>
            </a:pPr>
            <a:r>
              <a:rPr b="1" lang="pt-BR" sz="1900">
                <a:solidFill>
                  <a:schemeClr val="dk1"/>
                </a:solidFill>
                <a:latin typeface="Arial"/>
                <a:ea typeface="Arial"/>
                <a:cs typeface="Arial"/>
                <a:sym typeface="Arial"/>
              </a:rPr>
              <a:t>Fruta</a:t>
            </a:r>
            <a:r>
              <a:rPr b="1" lang="pt-BR" sz="1900">
                <a:solidFill>
                  <a:schemeClr val="dk1"/>
                </a:solidFill>
              </a:rPr>
              <a:t>: “</a:t>
            </a:r>
            <a:endParaRPr b="1" sz="1900">
              <a:solidFill>
                <a:schemeClr val="dk1"/>
              </a:solidFill>
            </a:endParaRPr>
          </a:p>
          <a:p>
            <a:pPr indent="0" lvl="0" marL="0" marR="0" rtl="0" algn="l">
              <a:spcBef>
                <a:spcPts val="0"/>
              </a:spcBef>
              <a:spcAft>
                <a:spcPts val="0"/>
              </a:spcAft>
              <a:buNone/>
            </a:pPr>
            <a:r>
              <a:t/>
            </a:r>
            <a:endParaRPr b="1" sz="1900">
              <a:solidFill>
                <a:schemeClr val="dk1"/>
              </a:solidFill>
            </a:endParaRPr>
          </a:p>
          <a:p>
            <a:pPr indent="0" lvl="0" marL="0" marR="0" rtl="0" algn="l">
              <a:spcBef>
                <a:spcPts val="0"/>
              </a:spcBef>
              <a:spcAft>
                <a:spcPts val="0"/>
              </a:spcAft>
              <a:buNone/>
            </a:pPr>
            <a:r>
              <a:t/>
            </a:r>
            <a:endParaRPr b="1" sz="1900">
              <a:solidFill>
                <a:schemeClr val="dk1"/>
              </a:solidFill>
            </a:endParaRPr>
          </a:p>
          <a:p>
            <a:pPr indent="0" lvl="0" marL="0" marR="0" rtl="0" algn="l">
              <a:spcBef>
                <a:spcPts val="0"/>
              </a:spcBef>
              <a:spcAft>
                <a:spcPts val="0"/>
              </a:spcAft>
              <a:buNone/>
            </a:pPr>
            <a:r>
              <a:t/>
            </a:r>
            <a:endParaRPr b="1" sz="1900">
              <a:solidFill>
                <a:schemeClr val="dk1"/>
              </a:solidFill>
            </a:endParaRPr>
          </a:p>
          <a:p>
            <a:pPr indent="0" lvl="0" marL="0" marR="0" rtl="0" algn="l">
              <a:spcBef>
                <a:spcPts val="0"/>
              </a:spcBef>
              <a:spcAft>
                <a:spcPts val="0"/>
              </a:spcAft>
              <a:buNone/>
            </a:pPr>
            <a:r>
              <a:rPr b="1" lang="pt-BR" sz="1900">
                <a:solidFill>
                  <a:schemeClr val="dk1"/>
                </a:solidFill>
              </a:rPr>
              <a:t>=SEERRO(PROCV("102";B2: G8;2;FALSO);"Não encontrado")</a:t>
            </a:r>
            <a:endParaRPr b="1" sz="1900"/>
          </a:p>
        </p:txBody>
      </p:sp>
    </p:spTree>
  </p:cSld>
  <p:clrMapOvr>
    <a:masterClrMapping/>
  </p:clrMapOvr>
</p:sld>
</file>

<file path=ppt/theme/theme1.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2025-04-28T23:09:06Z</dcterms:created>
  <dc:creator>leo Souza</dc:creator>
</cp:coreProperties>
</file>