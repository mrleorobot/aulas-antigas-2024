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715000" cx="9144000"/>
  <p:notesSz cx="6858000" cy="9144000"/>
  <p:embeddedFontLst>
    <p:embeddedFont>
      <p:font typeface="Play"/>
      <p:regular r:id="rId22"/>
      <p:bold r:id="rId23"/>
    </p:embeddedFont>
    <p:embeddedFont>
      <p:font typeface="Old Standard TT"/>
      <p:regular r:id="rId24"/>
      <p:bold r:id="rId25"/>
      <p: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lay-regular.fntdata"/><Relationship Id="rId21" Type="http://schemas.openxmlformats.org/officeDocument/2006/relationships/slide" Target="slides/slide17.xml"/><Relationship Id="rId24" Type="http://schemas.openxmlformats.org/officeDocument/2006/relationships/font" Target="fonts/OldStandardTT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ldStandardTT-italic.fntdata"/><Relationship Id="rId25" Type="http://schemas.openxmlformats.org/officeDocument/2006/relationships/font" Target="fonts/OldStandardT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gif"/><Relationship Id="rId4" Type="http://schemas.openxmlformats.org/officeDocument/2006/relationships/image" Target="../media/image14.gif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64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4532424" y="685017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33955" y="2162043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sz="1100"/>
          </a:p>
        </p:txBody>
      </p:sp>
      <p:sp>
        <p:nvSpPr>
          <p:cNvPr id="90" name="Google Shape;90;p13"/>
          <p:cNvSpPr txBox="1"/>
          <p:nvPr/>
        </p:nvSpPr>
        <p:spPr>
          <a:xfrm>
            <a:off x="634070" y="2823575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Ícone&#10;&#10;O conteúdo gerado por IA pode estar incorreto.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6896" y="945542"/>
            <a:ext cx="3326444" cy="3326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COMEÇANDO NO EXCEL</a:t>
            </a:r>
            <a:endParaRPr sz="1100"/>
          </a:p>
        </p:txBody>
      </p:sp>
      <p:sp>
        <p:nvSpPr>
          <p:cNvPr id="98" name="Google Shape;98;p14"/>
          <p:cNvSpPr txBox="1"/>
          <p:nvPr/>
        </p:nvSpPr>
        <p:spPr>
          <a:xfrm>
            <a:off x="244258" y="1346547"/>
            <a:ext cx="84834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o Excel?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programa do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pacote Office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criado pela Microsoft, e serve pra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planilhas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que nada mais são do que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com números, textos e cálculos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28808" y="2200684"/>
            <a:ext cx="48249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que ele serve?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usar o Excel pra: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contas simples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lista de compras do mês.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Organizar seus estudos, horários ou rotina.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 de controle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financeiro.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até coisas mais complexas, como planilhas de empresas!</a:t>
            </a:r>
            <a:endParaRPr sz="1100"/>
          </a:p>
        </p:txBody>
      </p:sp>
      <p:sp>
        <p:nvSpPr>
          <p:cNvPr id="100" name="Google Shape;100;p14"/>
          <p:cNvSpPr txBox="1"/>
          <p:nvPr/>
        </p:nvSpPr>
        <p:spPr>
          <a:xfrm>
            <a:off x="348212" y="3752899"/>
            <a:ext cx="8275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o Excel?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botão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(aquele botão com o símbolo do Windows lá embaixo, no canto esquerdo da tela)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ou digite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barrinha de pesquisa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aparecer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verde com um "X"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para abrir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, Ícone&#10;&#10;O conteúdo gerado por IA pode estar incorreto.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9168" y="4368453"/>
            <a:ext cx="394572" cy="394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COMEÇANDO NO EXCEL</a:t>
            </a:r>
            <a:endParaRPr sz="1100"/>
          </a:p>
        </p:txBody>
      </p:sp>
      <p:sp>
        <p:nvSpPr>
          <p:cNvPr id="107" name="Google Shape;107;p15"/>
          <p:cNvSpPr txBox="1"/>
          <p:nvPr/>
        </p:nvSpPr>
        <p:spPr>
          <a:xfrm>
            <a:off x="281836" y="1246171"/>
            <a:ext cx="6782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começar uma nova planilha?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Excel abrir: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"Pasta de trabalho em branco"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Agora você já está dentro do espaço onde tudo acontece no Excel!</a:t>
            </a:r>
            <a:endParaRPr sz="1100"/>
          </a:p>
        </p:txBody>
      </p:sp>
      <p:sp>
        <p:nvSpPr>
          <p:cNvPr id="108" name="Google Shape;108;p15"/>
          <p:cNvSpPr txBox="1"/>
          <p:nvPr/>
        </p:nvSpPr>
        <p:spPr>
          <a:xfrm>
            <a:off x="281836" y="2332949"/>
            <a:ext cx="7895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Colunas, Linhas e Células: o mapa do Excel!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abre uma planilha do Excel, ela parece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grande tabela cheia de quadradinhos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certo?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Esses quadradinhos são chamados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células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eles são organizados por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81836" y="3269381"/>
            <a:ext cx="52890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ficam?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Ficam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de cima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letras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 B, C, D...)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coluna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coluna A é a primeira de todas, onde você vê o “A” lá em cima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Ficam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lateral esquerda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(1, 2, 3, 4...)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número representa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linha</a:t>
            </a:r>
            <a:endParaRPr sz="1100"/>
          </a:p>
          <a:p>
            <a:pPr indent="-571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</a:pPr>
            <a:r>
              <a:rPr i="1" lang="pt-BR" sz="900">
                <a:solidFill>
                  <a:schemeClr val="dk1"/>
                </a:solidFill>
              </a:rPr>
              <a:t> </a:t>
            </a:r>
            <a:r>
              <a:rPr i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linha 1 é a primeira de todas, onde você vê o “1” na esquerda</a:t>
            </a:r>
            <a:endParaRPr sz="1100"/>
          </a:p>
        </p:txBody>
      </p:sp>
      <p:sp>
        <p:nvSpPr>
          <p:cNvPr id="110" name="Google Shape;110;p15"/>
          <p:cNvSpPr txBox="1"/>
          <p:nvPr/>
        </p:nvSpPr>
        <p:spPr>
          <a:xfrm>
            <a:off x="5664896" y="3495352"/>
            <a:ext cx="31974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a célula?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cruzamento entre uma coluna e uma linha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forma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célula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Ela tem um “nome” baseado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letra + número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célula na </a:t>
            </a: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 B e linha 2</a:t>
            </a: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chama </a:t>
            </a: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443608" y="5135671"/>
            <a:ext cx="1409100" cy="206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E864A"/>
          </a:solidFill>
          <a:ln cap="flat" cmpd="sng" w="19050">
            <a:solidFill>
              <a:srgbClr val="0E86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TELA DO EXCEL</a:t>
            </a:r>
            <a:endParaRPr sz="1100"/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3660" l="0" r="0" t="0"/>
          <a:stretch/>
        </p:blipFill>
        <p:spPr>
          <a:xfrm>
            <a:off x="3817482" y="1475473"/>
            <a:ext cx="4483968" cy="383991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4696590" y="1190378"/>
            <a:ext cx="2049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ld Standard TT"/>
              <a:buNone/>
            </a:pPr>
            <a:r>
              <a:rPr lang="pt-BR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BARRA DE ACESSO RÁPIDO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19" name="Google Shape;119;p16"/>
          <p:cNvCxnSpPr>
            <a:stCxn id="118" idx="1"/>
          </p:cNvCxnSpPr>
          <p:nvPr/>
        </p:nvCxnSpPr>
        <p:spPr>
          <a:xfrm flipH="1">
            <a:off x="4272090" y="1318178"/>
            <a:ext cx="424500" cy="1929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16"/>
          <p:cNvSpPr txBox="1"/>
          <p:nvPr/>
        </p:nvSpPr>
        <p:spPr>
          <a:xfrm>
            <a:off x="6909110" y="1110149"/>
            <a:ext cx="1134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ld Standard TT"/>
              <a:buNone/>
            </a:pPr>
            <a:r>
              <a:rPr lang="pt-BR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BARRA DE TÍTULO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 flipH="1">
            <a:off x="6296810" y="1309774"/>
            <a:ext cx="612300" cy="2496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6353941" y="1710399"/>
            <a:ext cx="604200" cy="616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16"/>
          <p:cNvSpPr txBox="1"/>
          <p:nvPr/>
        </p:nvSpPr>
        <p:spPr>
          <a:xfrm>
            <a:off x="6949928" y="2189649"/>
            <a:ext cx="1134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ld Standard TT"/>
              <a:buNone/>
            </a:pPr>
            <a:r>
              <a:rPr lang="pt-BR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GUIAS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4639441" y="2906295"/>
            <a:ext cx="1290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ld Standard TT"/>
              <a:buNone/>
            </a:pPr>
            <a:r>
              <a:rPr lang="pt-BR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BARRA DE FÓRMULA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25" name="Google Shape;125;p16"/>
          <p:cNvCxnSpPr/>
          <p:nvPr/>
        </p:nvCxnSpPr>
        <p:spPr>
          <a:xfrm>
            <a:off x="4925191" y="2608462"/>
            <a:ext cx="0" cy="308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16"/>
          <p:cNvCxnSpPr/>
          <p:nvPr/>
        </p:nvCxnSpPr>
        <p:spPr>
          <a:xfrm>
            <a:off x="6141672" y="3506545"/>
            <a:ext cx="604200" cy="5169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" name="Google Shape;127;p16"/>
          <p:cNvSpPr txBox="1"/>
          <p:nvPr/>
        </p:nvSpPr>
        <p:spPr>
          <a:xfrm>
            <a:off x="6688647" y="3886003"/>
            <a:ext cx="1134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None/>
            </a:pPr>
            <a:r>
              <a:rPr lang="pt-BR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CÉLULA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631341" y="4824014"/>
            <a:ext cx="1134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ld Standard TT"/>
              <a:buNone/>
            </a:pPr>
            <a:r>
              <a:rPr lang="pt-BR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PLANILHA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29" name="Google Shape;129;p16"/>
          <p:cNvCxnSpPr/>
          <p:nvPr/>
        </p:nvCxnSpPr>
        <p:spPr>
          <a:xfrm flipH="1" rot="10800000">
            <a:off x="4353691" y="5030553"/>
            <a:ext cx="277500" cy="154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" name="Google Shape;130;p16"/>
          <p:cNvCxnSpPr/>
          <p:nvPr/>
        </p:nvCxnSpPr>
        <p:spPr>
          <a:xfrm flipH="1" rot="10800000">
            <a:off x="5080310" y="5048708"/>
            <a:ext cx="702300" cy="3084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" name="Google Shape;131;p16"/>
          <p:cNvSpPr txBox="1"/>
          <p:nvPr/>
        </p:nvSpPr>
        <p:spPr>
          <a:xfrm>
            <a:off x="5782535" y="4912503"/>
            <a:ext cx="15795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ld Standard TT"/>
              <a:buNone/>
            </a:pPr>
            <a:r>
              <a:rPr lang="pt-BR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BARRA DE STATUS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129516" y="4758253"/>
            <a:ext cx="1134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ld Standard TT"/>
              <a:buNone/>
            </a:pPr>
            <a:r>
              <a:rPr lang="pt-BR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ZOOM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33" name="Google Shape;133;p16"/>
          <p:cNvCxnSpPr/>
          <p:nvPr/>
        </p:nvCxnSpPr>
        <p:spPr>
          <a:xfrm rot="10800000">
            <a:off x="7399028" y="5021633"/>
            <a:ext cx="591900" cy="299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p16"/>
          <p:cNvSpPr txBox="1"/>
          <p:nvPr/>
        </p:nvSpPr>
        <p:spPr>
          <a:xfrm>
            <a:off x="299337" y="3033475"/>
            <a:ext cx="3363600" cy="2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GUIAS DO EXCEL – O que são e para que servem?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Guias do Excel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ficam na parte superior da tela, logo abaixo do nome do arquivo. Elas funcionam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abas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onde cada guia reúne botões com funções parecidas.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estão as principais guias e o que você encontra em cada uma: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362654" y="1318178"/>
            <a:ext cx="2790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clicar numa célula ela ficará ativa, isso significa que está pronta para que o usuário insira os dados.</a:t>
            </a:r>
            <a:endParaRPr sz="1100"/>
          </a:p>
        </p:txBody>
      </p:sp>
      <p:sp>
        <p:nvSpPr>
          <p:cNvPr id="136" name="Google Shape;136;p16"/>
          <p:cNvSpPr txBox="1"/>
          <p:nvPr/>
        </p:nvSpPr>
        <p:spPr>
          <a:xfrm>
            <a:off x="4697255" y="3642207"/>
            <a:ext cx="12900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ld Standard TT"/>
              <a:buNone/>
            </a:pPr>
            <a:r>
              <a:rPr lang="pt-BR"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LINHA</a:t>
            </a:r>
            <a:endParaRPr sz="1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cxnSp>
        <p:nvCxnSpPr>
          <p:cNvPr id="137" name="Google Shape;137;p16"/>
          <p:cNvCxnSpPr/>
          <p:nvPr/>
        </p:nvCxnSpPr>
        <p:spPr>
          <a:xfrm>
            <a:off x="3965903" y="3765045"/>
            <a:ext cx="7755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" name="Google Shape;138;p16"/>
          <p:cNvCxnSpPr/>
          <p:nvPr/>
        </p:nvCxnSpPr>
        <p:spPr>
          <a:xfrm flipH="1">
            <a:off x="5904685" y="2906295"/>
            <a:ext cx="8100" cy="7167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16"/>
          <p:cNvSpPr txBox="1"/>
          <p:nvPr/>
        </p:nvSpPr>
        <p:spPr>
          <a:xfrm>
            <a:off x="5898679" y="3007232"/>
            <a:ext cx="808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GUIAS</a:t>
            </a:r>
            <a:endParaRPr sz="1100"/>
          </a:p>
        </p:txBody>
      </p:sp>
      <p:sp>
        <p:nvSpPr>
          <p:cNvPr id="145" name="Google Shape;145;p17"/>
          <p:cNvSpPr txBox="1"/>
          <p:nvPr/>
        </p:nvSpPr>
        <p:spPr>
          <a:xfrm>
            <a:off x="375781" y="1164729"/>
            <a:ext cx="8323500" cy="3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guia mais usada! Aqui você encontra: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(letra): mudar tamanho, cor, estilo da letra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Alinhamento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centralizar texto, alinhar à esquerda ou direita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transformar o conteúdo da célula em moeda, data, porcentagem, etc.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pt-BR" sz="1600">
                <a:solidFill>
                  <a:schemeClr val="dk1"/>
                </a:solidFill>
              </a:rPr>
              <a:t>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 da célula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rápida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que você quiser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colocar na planilha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vem daqui: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Tabelas, imagens, formas, gráficos, links e até mini-gráficos!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da Página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você escolhe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 planilha vai aparecer na impressão ou na tela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Margens, orientação da página, tamanho do papel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do plano de fundo, bordas e temas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GUIAS</a:t>
            </a:r>
            <a:endParaRPr sz="1100"/>
          </a:p>
        </p:txBody>
      </p:sp>
      <p:sp>
        <p:nvSpPr>
          <p:cNvPr id="151" name="Google Shape;151;p18"/>
          <p:cNvSpPr txBox="1"/>
          <p:nvPr/>
        </p:nvSpPr>
        <p:spPr>
          <a:xfrm>
            <a:off x="216074" y="1054274"/>
            <a:ext cx="8323500" cy="4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Fórmulas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guia é 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coração dos cálculos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Botões para inserir fórmulas prontas (como SOMA, MÉDIA, MÁXIMO...)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 para montar fórmulas mais complexas também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quando for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trabalhar com listas grandes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Filtrar, classificar e organizar informações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Importar dados de outros lugares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para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verificar e proteger seu trabalho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Corretor ortográfico, adicionar comentários e proteger a planilha com senha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aparece ou não na tela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</a:rPr>
              <a:t> 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de grade, régua, zoom, modo de leitura e separadores de página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DÚVIDAS?</a:t>
            </a:r>
            <a:endParaRPr sz="1100"/>
          </a:p>
        </p:txBody>
      </p:sp>
      <p:pic>
        <p:nvPicPr>
          <p:cNvPr descr="Foto de uma pessoa olhando para a câmera&#10;&#10;Descrição gerada automaticamente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9713" y="1631410"/>
            <a:ext cx="3257937" cy="28747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ulher com a mão no rosto&#10;&#10;Descrição gerada automaticamente"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159" y="1631411"/>
            <a:ext cx="2587293" cy="2587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1910" y="1631410"/>
            <a:ext cx="2813930" cy="2874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INSERINDO DADOS NA PLANILHA E MESCLANDO CÉLULAS</a:t>
            </a:r>
            <a:endParaRPr sz="1100"/>
          </a:p>
        </p:txBody>
      </p:sp>
      <p:pic>
        <p:nvPicPr>
          <p:cNvPr descr="Interface gráfica do usuário, Aplicativo, Tabela, Excel&#10;&#10;Descrição gerada automaticamente"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9107" y="1230793"/>
            <a:ext cx="3645083" cy="351865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209811" y="1209917"/>
            <a:ext cx="4857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ativar uma célula?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➡ Basta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 com o mouse em cima dela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Quando a célula estiver com a bordinha mais escura, ela está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pronta para digitar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testar na prática?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Monte a tabela igual a que aparece na imagem ao lado.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Mesclando Células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reparou que o título “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RELAÇÃO DE PRODUTOS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está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centralizado no topo da tabela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ocupando mais de uma coluna?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acontece porque ele está em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célula mesclada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mesclar células no Excel:</a:t>
            </a:r>
            <a:endParaRPr sz="1100"/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b="1" lang="pt-BR" sz="1100">
                <a:solidFill>
                  <a:schemeClr val="dk1"/>
                </a:solidFill>
              </a:rPr>
              <a:t> </a:t>
            </a: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as células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deseja unir (clique e arraste com o mouse, por exemplo: da célula A1 até D1).</a:t>
            </a:r>
            <a:endParaRPr sz="1100"/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lang="pt-BR" sz="1100">
                <a:solidFill>
                  <a:schemeClr val="dk1"/>
                </a:solidFill>
              </a:rPr>
              <a:t> 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“Página Inicial”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lang="pt-BR" sz="1100">
                <a:solidFill>
                  <a:schemeClr val="dk1"/>
                </a:solidFill>
              </a:rPr>
              <a:t> 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botão </a:t>
            </a: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“Mesclar e Centralizar”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com duas setinhas unindo quadrados).</a:t>
            </a:r>
            <a:endParaRPr sz="1100"/>
          </a:p>
          <a:p>
            <a:pPr indent="-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lay"/>
              <a:buAutoNum type="arabicPeriod"/>
            </a:pPr>
            <a:r>
              <a:rPr lang="pt-BR" sz="1100">
                <a:solidFill>
                  <a:schemeClr val="dk1"/>
                </a:solidFill>
              </a:rPr>
              <a:t> 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Prontinho! Agora é só digitar o título, como “RELAÇÃO DE PRODUTOS”.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OPERADORES NO EXCEL</a:t>
            </a:r>
            <a:endParaRPr sz="1100"/>
          </a:p>
        </p:txBody>
      </p:sp>
      <p:sp>
        <p:nvSpPr>
          <p:cNvPr id="173" name="Google Shape;173;p21"/>
          <p:cNvSpPr txBox="1"/>
          <p:nvPr/>
        </p:nvSpPr>
        <p:spPr>
          <a:xfrm>
            <a:off x="497909" y="1294976"/>
            <a:ext cx="79461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 operadores?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Operadores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símbolos matemáticos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utilizados nas planilhas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cálculos ou comparar valores entre células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Eles são como os sinais das operações que a gente já conhece: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soma, subtração, multiplicação...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por aí vai!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abela&#10;&#10;Descrição gerada automaticamente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603" y="2225846"/>
            <a:ext cx="5040273" cy="290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497909" y="2690486"/>
            <a:ext cx="29124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Sempre que for usar uma fórmula no Excel,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comece com o sinal de igual (=)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Ele avisa ao programa que você quer fazer um cálculo ou uma função.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CALCULANDO O VALOR FINAL DE UM PRODUTO</a:t>
            </a:r>
            <a:endParaRPr sz="1100"/>
          </a:p>
        </p:txBody>
      </p:sp>
      <p:sp>
        <p:nvSpPr>
          <p:cNvPr id="181" name="Google Shape;181;p22"/>
          <p:cNvSpPr txBox="1"/>
          <p:nvPr/>
        </p:nvSpPr>
        <p:spPr>
          <a:xfrm>
            <a:off x="657616" y="1294356"/>
            <a:ext cx="77787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montar a tabela com os produtos, precisamos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calcular o valor final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cada item.</a:t>
            </a:r>
            <a:b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valor final é obtido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multiplicando a quantidade pelo valor unitário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Linha do tempo&#10;&#10;O conteúdo gerado por IA pode estar incorreto." id="182" name="Google Shape;1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211" y="2115093"/>
            <a:ext cx="4001059" cy="49298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/>
          <p:nvPr/>
        </p:nvSpPr>
        <p:spPr>
          <a:xfrm>
            <a:off x="1101168" y="2371574"/>
            <a:ext cx="363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calcular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 final (D4)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basta digitar:</a:t>
            </a:r>
            <a:endParaRPr sz="1100"/>
          </a:p>
        </p:txBody>
      </p:sp>
      <p:sp>
        <p:nvSpPr>
          <p:cNvPr id="184" name="Google Shape;184;p22"/>
          <p:cNvSpPr txBox="1"/>
          <p:nvPr/>
        </p:nvSpPr>
        <p:spPr>
          <a:xfrm>
            <a:off x="836113" y="3108123"/>
            <a:ext cx="60126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significa cada parte?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→ Indica que você está iniciando uma fórmula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B4 → É a célula da quantidade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→ É o operador de multiplicação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C4 → É a célula do valor unitário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/>
          <p:nvPr/>
        </p:nvSpPr>
        <p:spPr>
          <a:xfrm>
            <a:off x="0" y="1"/>
            <a:ext cx="9144000" cy="8874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FÓRMULAS: COMO FAZER CONTAS NO EXCEL SEM DOR DE CABEÇA!</a:t>
            </a:r>
            <a:endParaRPr sz="1100"/>
          </a:p>
        </p:txBody>
      </p:sp>
      <p:sp>
        <p:nvSpPr>
          <p:cNvPr id="191" name="Google Shape;191;p23"/>
          <p:cNvSpPr txBox="1"/>
          <p:nvPr/>
        </p:nvSpPr>
        <p:spPr>
          <a:xfrm>
            <a:off x="356992" y="927144"/>
            <a:ext cx="85395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Fórmulas (ou funções) são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jeitos rápidos e automáticos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fazer contas dentro do Excel, sem precisar ficar somando ou multiplicando tudo na mão.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fácil: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Imagina que você tem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lanchonete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no final do dia precisa somar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vai pagar pra 10 funcionários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Se fizer do jeito difícil, a conta ficaria assim: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A1 + A2 + A3 + A4 + A5 + A6 + A7 + A8 + A9 + A10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356991" y="2506565"/>
            <a:ext cx="85395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cansativo, né? No Excel, você pode usar a </a:t>
            </a:r>
            <a:r>
              <a:rPr b="1"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 SOMA</a:t>
            </a:r>
            <a:r>
              <a:rPr lang="pt-BR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 facilitar tudo isso! Olha como fica: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SOMA(A1:A10)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Entenda: 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→ é sempre usado para começar qualquer fórmula no Excel!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SOMA → É o nome da função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(A1:A10) → Significa da célula A1 até a A10</a:t>
            </a:r>
            <a:endParaRPr sz="1100"/>
          </a:p>
        </p:txBody>
      </p:sp>
      <p:sp>
        <p:nvSpPr>
          <p:cNvPr id="193" name="Google Shape;193;p23"/>
          <p:cNvSpPr txBox="1"/>
          <p:nvPr/>
        </p:nvSpPr>
        <p:spPr>
          <a:xfrm>
            <a:off x="356991" y="4464206"/>
            <a:ext cx="6951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é sua vez!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célula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D10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final da coluna de valores)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Escreva a fórmula: =SOMA(D4:D9)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Assim, você vai somar todos os valores finais da tabela de produtos rapidinho!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RENOMEANDO PLANILHAS NO EXCEL</a:t>
            </a:r>
            <a:endParaRPr sz="1100"/>
          </a:p>
        </p:txBody>
      </p:sp>
      <p:sp>
        <p:nvSpPr>
          <p:cNvPr id="199" name="Google Shape;199;p24"/>
          <p:cNvSpPr/>
          <p:nvPr/>
        </p:nvSpPr>
        <p:spPr>
          <a:xfrm>
            <a:off x="217639" y="1331644"/>
            <a:ext cx="8708700" cy="3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 embaixo, bem no cantinho da sua tela do Excel, fica o nome da planilha que você está usando.</a:t>
            </a:r>
            <a:b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Normalmente aparece como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Plan1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Plan2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 mudar esse nome? Olha Lá embaixo, bem no cantinho da sua tela do Excel, fica o nome da planilha que você está usando. Normalmente aparece como Plan1, Plan2...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Olha só como é fácil: Dê dois cliques bem em cima do nome ("Plan1").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nome vai ficar azulzinho, pronto pra digitar.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é só escrever um nome novo — por exemplo:👉 Aula 1 e 2 de Excel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Enter e pronto! Nome trocado!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extra: Se quiser criar outra planilha, é só clicar no ícone de + que aparece do lado direito dos nomes das planilhas.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Tarefa: Agora, vá lá na sua planilha e renomeie para: Aula 1 e 2 de Excel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APLICANDO BORDAS NAS PLANILHAS</a:t>
            </a:r>
            <a:endParaRPr sz="1100"/>
          </a:p>
        </p:txBody>
      </p:sp>
      <p:sp>
        <p:nvSpPr>
          <p:cNvPr id="205" name="Google Shape;205;p25"/>
          <p:cNvSpPr txBox="1"/>
          <p:nvPr/>
        </p:nvSpPr>
        <p:spPr>
          <a:xfrm>
            <a:off x="294574" y="1177576"/>
            <a:ext cx="5627400" cy="43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padrão as planilhas do Excel já tem divisões, mas o usuário pode deixar essas bordas mais visíveis, para isso o usuário deve ir até a guia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 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clicar na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tem disponível ao lado do ícone de borda.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clicar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nessa seta irão aparecer todas as opções de borda que estão disponíveis e  também as opções para alterar a cor da linha, estilo da linha e mais bordas.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ver na prática.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todos os dados da sua planilha e aplique a opção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as bordas.</a:t>
            </a:r>
            <a:endParaRPr sz="1100"/>
          </a:p>
        </p:txBody>
      </p:sp>
      <p:pic>
        <p:nvPicPr>
          <p:cNvPr id="206" name="Google Shape;206;p25"/>
          <p:cNvPicPr preferRelativeResize="0"/>
          <p:nvPr/>
        </p:nvPicPr>
        <p:blipFill rotWithShape="1">
          <a:blip r:embed="rId3">
            <a:alphaModFix/>
          </a:blip>
          <a:srcRect b="88077" l="16129" r="78669" t="7553"/>
          <a:stretch/>
        </p:blipFill>
        <p:spPr>
          <a:xfrm>
            <a:off x="6573573" y="1177576"/>
            <a:ext cx="1552912" cy="1159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25"/>
          <p:cNvCxnSpPr/>
          <p:nvPr/>
        </p:nvCxnSpPr>
        <p:spPr>
          <a:xfrm flipH="1" rot="10800000">
            <a:off x="5818316" y="2066246"/>
            <a:ext cx="1734900" cy="198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08" name="Google Shape;208;p25"/>
          <p:cNvPicPr preferRelativeResize="0"/>
          <p:nvPr/>
        </p:nvPicPr>
        <p:blipFill rotWithShape="1">
          <a:blip r:embed="rId4">
            <a:alphaModFix/>
          </a:blip>
          <a:srcRect b="35998" l="16034" r="62387" t="5563"/>
          <a:stretch/>
        </p:blipFill>
        <p:spPr>
          <a:xfrm>
            <a:off x="7011712" y="2460440"/>
            <a:ext cx="1465254" cy="29677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5"/>
          <p:cNvCxnSpPr/>
          <p:nvPr/>
        </p:nvCxnSpPr>
        <p:spPr>
          <a:xfrm>
            <a:off x="5682468" y="2985370"/>
            <a:ext cx="1401000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EXIBINDO E OCULTANDO LINHAS DE GRADE</a:t>
            </a:r>
            <a:endParaRPr sz="1100"/>
          </a:p>
        </p:txBody>
      </p:sp>
      <p:sp>
        <p:nvSpPr>
          <p:cNvPr id="215" name="Google Shape;215;p26"/>
          <p:cNvSpPr txBox="1"/>
          <p:nvPr/>
        </p:nvSpPr>
        <p:spPr>
          <a:xfrm>
            <a:off x="425885" y="1362552"/>
            <a:ext cx="5032200" cy="4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linhas de grade são essas linhas mais fracas que aparecem entre as células.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exibir ou ocultar as linhas de grade o usuário deve ir até a guia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Exibição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marcar ou desmarcar a opção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de grade.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ver na prática: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Exibição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desmarque a opção Linhas de grade, deixando sua tabela apenas com as bordas que você colocou antes.</a:t>
            </a:r>
            <a:endParaRPr sz="1100"/>
          </a:p>
        </p:txBody>
      </p:sp>
      <p:pic>
        <p:nvPicPr>
          <p:cNvPr id="216" name="Google Shape;216;p26"/>
          <p:cNvPicPr preferRelativeResize="0"/>
          <p:nvPr/>
        </p:nvPicPr>
        <p:blipFill rotWithShape="1">
          <a:blip r:embed="rId3">
            <a:alphaModFix/>
          </a:blip>
          <a:srcRect b="84874" l="24487" r="56049" t="4607"/>
          <a:stretch/>
        </p:blipFill>
        <p:spPr>
          <a:xfrm>
            <a:off x="6012493" y="1517207"/>
            <a:ext cx="2705622" cy="134029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/>
          <p:nvPr/>
        </p:nvSpPr>
        <p:spPr>
          <a:xfrm>
            <a:off x="5736842" y="1517208"/>
            <a:ext cx="3055500" cy="134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FORMATANDO DADOS NA PLANILHA</a:t>
            </a:r>
            <a:endParaRPr sz="1100"/>
          </a:p>
        </p:txBody>
      </p:sp>
      <p:sp>
        <p:nvSpPr>
          <p:cNvPr id="223" name="Google Shape;223;p27"/>
          <p:cNvSpPr txBox="1"/>
          <p:nvPr/>
        </p:nvSpPr>
        <p:spPr>
          <a:xfrm>
            <a:off x="393482" y="1290303"/>
            <a:ext cx="8578200" cy="27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guia página inicial o Excel disponibiliza opções de formatação para os dados da planilha.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Nessa guia o usuário pode</a:t>
            </a: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a fonte, tamanho da fonte, estilo da fonte, cor de destaque da fonte, cor da fonte e adicionar bordas (grupo Fonte).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os alinhamentos, recuo, orientação de texto, mesclar células e adicionar quebra de texto automática (grupo alinhamento).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o estilo de dado que está inserido nessa célula, adicionar estilo de porcentagem, adicionar separador de milhares e aumentar ou diminuir as casas decimais de um número (grupo número).</a:t>
            </a:r>
            <a:endParaRPr sz="1100"/>
          </a:p>
        </p:txBody>
      </p:sp>
      <p:pic>
        <p:nvPicPr>
          <p:cNvPr id="224" name="Google Shape;224;p27"/>
          <p:cNvPicPr preferRelativeResize="0"/>
          <p:nvPr/>
        </p:nvPicPr>
        <p:blipFill rotWithShape="1">
          <a:blip r:embed="rId3">
            <a:alphaModFix/>
          </a:blip>
          <a:srcRect b="85863" l="9948" r="49296" t="4450"/>
          <a:stretch/>
        </p:blipFill>
        <p:spPr>
          <a:xfrm>
            <a:off x="3123514" y="4068897"/>
            <a:ext cx="4863267" cy="127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7"/>
          <p:cNvSpPr/>
          <p:nvPr/>
        </p:nvSpPr>
        <p:spPr>
          <a:xfrm rot="5400000">
            <a:off x="717080" y="3854903"/>
            <a:ext cx="626400" cy="10542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0E864A"/>
          </a:solidFill>
          <a:ln cap="flat" cmpd="sng" w="19050">
            <a:solidFill>
              <a:srgbClr val="0E86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SALVAR PLANILHA</a:t>
            </a:r>
            <a:endParaRPr sz="1100"/>
          </a:p>
        </p:txBody>
      </p:sp>
      <p:sp>
        <p:nvSpPr>
          <p:cNvPr id="231" name="Google Shape;231;p28"/>
          <p:cNvSpPr txBox="1"/>
          <p:nvPr/>
        </p:nvSpPr>
        <p:spPr>
          <a:xfrm>
            <a:off x="694106" y="1300154"/>
            <a:ext cx="4313100" cy="3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salvar uma planilha no Excel é simples, basta ir até a guia 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a opção Salvar (se for salvar a primeira vez ou salvar alguma alteração de dado)</a:t>
            </a:r>
            <a:endParaRPr sz="1100"/>
          </a:p>
          <a:p>
            <a:pPr indent="-177800" lvl="0" marL="177800" marR="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Salvar como (se for salvar a primeira vez ou quiser fazer uma cópia da planilha).</a:t>
            </a:r>
            <a:endParaRPr sz="1100"/>
          </a:p>
        </p:txBody>
      </p:sp>
      <p:pic>
        <p:nvPicPr>
          <p:cNvPr id="232" name="Google Shape;232;p28"/>
          <p:cNvPicPr preferRelativeResize="0"/>
          <p:nvPr/>
        </p:nvPicPr>
        <p:blipFill rotWithShape="1">
          <a:blip r:embed="rId3">
            <a:alphaModFix/>
          </a:blip>
          <a:srcRect b="49290" l="0" r="88154" t="0"/>
          <a:stretch/>
        </p:blipFill>
        <p:spPr>
          <a:xfrm>
            <a:off x="6365320" y="1507759"/>
            <a:ext cx="1037699" cy="3948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28"/>
          <p:cNvCxnSpPr/>
          <p:nvPr/>
        </p:nvCxnSpPr>
        <p:spPr>
          <a:xfrm>
            <a:off x="4903940" y="2857500"/>
            <a:ext cx="1374000" cy="1542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" name="Google Shape;234;p28"/>
          <p:cNvCxnSpPr/>
          <p:nvPr/>
        </p:nvCxnSpPr>
        <p:spPr>
          <a:xfrm>
            <a:off x="4903940" y="3343093"/>
            <a:ext cx="1245300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240" name="Google Shape;240;p29"/>
          <p:cNvSpPr txBox="1"/>
          <p:nvPr/>
        </p:nvSpPr>
        <p:spPr>
          <a:xfrm>
            <a:off x="524593" y="1115018"/>
            <a:ext cx="8332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treinar tudo que aprendemos até agora criando uma tabela simples de controle de material escolar!</a:t>
            </a:r>
            <a:endParaRPr sz="1100"/>
          </a:p>
        </p:txBody>
      </p:sp>
      <p:sp>
        <p:nvSpPr>
          <p:cNvPr id="241" name="Google Shape;241;p29"/>
          <p:cNvSpPr txBox="1"/>
          <p:nvPr/>
        </p:nvSpPr>
        <p:spPr>
          <a:xfrm>
            <a:off x="381007" y="1483539"/>
            <a:ext cx="86193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Tarefa: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Excel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uma nova planilha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 os dados da tabela abaixo: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 1: Produto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 2: Quantidade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 3: Valor Unitário (R$)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fórmula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calcular o valor total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cada produto (Quantidade x Valor Unitário)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 SOMA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somar todos os valores finais.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pt-BR">
                <a:solidFill>
                  <a:schemeClr val="dk1"/>
                </a:solidFill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as bordas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formate como quiser (cor, negrito nos títulos, etc.)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29"/>
          <p:cNvGrpSpPr/>
          <p:nvPr/>
        </p:nvGrpSpPr>
        <p:grpSpPr>
          <a:xfrm>
            <a:off x="227034" y="3710147"/>
            <a:ext cx="8689931" cy="1430006"/>
            <a:chOff x="302712" y="4698874"/>
            <a:chExt cx="11586574" cy="1716076"/>
          </a:xfrm>
        </p:grpSpPr>
        <p:pic>
          <p:nvPicPr>
            <p:cNvPr descr="Tabela&#10;&#10;O conteúdo gerado por IA pode estar incorreto." id="243" name="Google Shape;243;p29"/>
            <p:cNvPicPr preferRelativeResize="0"/>
            <p:nvPr/>
          </p:nvPicPr>
          <p:blipFill rotWithShape="1">
            <a:blip r:embed="rId3">
              <a:alphaModFix/>
            </a:blip>
            <a:srcRect b="23725" l="0" r="0" t="24436"/>
            <a:stretch/>
          </p:blipFill>
          <p:spPr>
            <a:xfrm>
              <a:off x="302712" y="4698874"/>
              <a:ext cx="11586574" cy="1716065"/>
            </a:xfrm>
            <a:prstGeom prst="rect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4" name="Google Shape;244;p29"/>
            <p:cNvSpPr/>
            <p:nvPr/>
          </p:nvSpPr>
          <p:spPr>
            <a:xfrm>
              <a:off x="6114167" y="5001050"/>
              <a:ext cx="5694900" cy="14139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5550" lIns="71100" spcFirstLastPara="1" rIns="71100" wrap="square" tIns="355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