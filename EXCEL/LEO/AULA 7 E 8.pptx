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715000" cx="9144000"/>
  <p:notesSz cx="6858000" cy="9144000"/>
  <p:embeddedFontLst>
    <p:embeddedFont>
      <p:font typeface="Play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j7XftDedKSTRlRu7knLS+l1NZe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811CAD-58F4-4036-BDF9-AA45D9A2C6AA}">
  <a:tblStyle styleId="{57811CAD-58F4-4036-BDF9-AA45D9A2C6A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lay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Play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8110a6a7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g388110a6a79_0_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5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6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7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1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1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18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18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864A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4532424" y="685017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99599" y="2252818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i="0" lang="pt-BR" sz="3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EXCEL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18280" y="2793565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Ícone&#10;&#10;O conteúdo gerado por IA pode estar incorreto.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6896" y="945542"/>
            <a:ext cx="3326444" cy="3326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Excel no Mercado de Trabalho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367862" y="1412190"/>
            <a:ext cx="840827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Atualmente, um dos requisitos do exigente mercado de trabalho é saber como usar e criar planilhas no Excel. Hoje, ele está presente em mais de 95% das empresas em todo o mundo, e ter conhecimentos, mesmo que sejam básicos, é, com toda certeza, importante.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683172" y="2508844"/>
            <a:ext cx="7735614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Construindo uma Planilha no Excel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construir uma planilha no Excel, a primeira coisa que devemos fazer é abrir o programa. Ao abrir o Excel, você vai para uma tela onde pode: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Abrir uma pasta de trabalho em branco;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Abrir uma planilha já salva;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Criar uma nova pasta de trabalho a partir de modelos prontos.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Aqui, vamos escolher uma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planilha em branco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Área de Trabalho do Excel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252248" y="1178566"/>
            <a:ext cx="8639504" cy="3754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Ao clicar em "Pasta de Trabalho em Branco", você será redirecionado para 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área de trabalho do Excel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que é composta por: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Barra de Título: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Exibe o nome do arquivo e do programa.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Botões Minimizar, Maximizar (Restaurar) e Fechar Janela.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Menu de Acesso Rápido: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Visualiza atalhos úteis como salvar, desfazer, refazer, etc.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Faixa de Opções: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Contém as guias (Arquivo, Página Inicial, Inserir etc.) com seus respectivos grupos de ferramentas.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Caixa de Nome: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Mostra a célula selecionada no momento (ex: A1).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Barra de Fórmulas: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Podemos digitar e editar conteúdos nela que irão para a célula selecionada.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Colunas: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Linhas verticais identificadas por letras (A até XFD).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Linhas: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Linhas horizontais identificadas por números (1 até 1.048.576).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Células: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Encontro de uma linha com uma coluna (ex: A1).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Guia da Planilha: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Parte inferior onde é exibido o nome da aba (Plan1, Plan2...), pode ser renomeado.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Barra de Rolagem Vertical: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rolar a planilha para cima ou para baixo.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Barra de Rolagem Horizontal: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rolar a planilha para os lados.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Zoom: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aumentar ou diminuir a visualização da área de trabalho.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864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8110a6a79_0_0"/>
          <p:cNvSpPr/>
          <p:nvPr/>
        </p:nvSpPr>
        <p:spPr>
          <a:xfrm>
            <a:off x="4532424" y="685017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88110a6a79_0_0"/>
          <p:cNvSpPr txBox="1"/>
          <p:nvPr/>
        </p:nvSpPr>
        <p:spPr>
          <a:xfrm>
            <a:off x="399599" y="2252818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i="0" lang="pt-BR" sz="3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EXCEL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88110a6a79_0_0"/>
          <p:cNvSpPr txBox="1"/>
          <p:nvPr/>
        </p:nvSpPr>
        <p:spPr>
          <a:xfrm>
            <a:off x="318280" y="2793565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Ícone&#10;&#10;O conteúdo gerado por IA pode estar incorreto." id="114" name="Google Shape;114;g388110a6a7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6896" y="945542"/>
            <a:ext cx="3326444" cy="3326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AUTOMATIZANDO PLANILHAS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294288" y="1215112"/>
            <a:ext cx="847133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Existem diversos modos de automatizar planilhas no Excel. Hoje, veremos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métodos diferentes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deixar sua planilha mais automática e livrar você de trabalhos pesados e demorados.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294288" y="1899244"/>
            <a:ext cx="8355726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Iremos ver: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Formatar Dados Como Tabela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Deixa os dados organizados visualmente e ativa automaticamente filtros, além de permitir o uso fácil de fórmulas dinâmicas.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Criar Tabela Dinâmica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analisar grandes quantidades de dados de forma rápida, agrupando, resumindo e criando relatórios automatizados com poucos cliques.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Inserir Validação de Dados (Lista Suspensa)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Garante que os dados digitados nas células sigam um padrão, evitando erros e agilizando o preenchimento. É muito usada para criar formulários e cadastros.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Esses são os principais métodos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mais básicos e eficientes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começar a automatizar suas planilhas no Excel!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AUTOMATIZANDO PLANILHAS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399393" y="1308465"/>
            <a:ext cx="8397766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Existem diversos modos de automatizar planilhas no Excel.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Hoje, veremos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métodos diferentes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deixar sua planilha mais automática 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livrar você de trabalhos pesados e demorados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Iremos ver: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Formatar Dados Como Tabela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Criar Tabela Dinâmica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Inserir Validação de Dados (Lista Suspensa)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Esses são os principais métodos mais básicos e práticos para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automatizar suas planilhas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facilitar seu dia a dia no Excel!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FORMATAR UMA PLANILHA EM BRANCO COMO TABELA NO EXCEL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283780" y="1238750"/>
            <a:ext cx="860797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Insira os dados na planilha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Antes de tudo, digite as informações que deseja organizar. Exemplo:</a:t>
            </a:r>
            <a:endParaRPr/>
          </a:p>
        </p:txBody>
      </p:sp>
      <p:graphicFrame>
        <p:nvGraphicFramePr>
          <p:cNvPr id="137" name="Google Shape;137;p6"/>
          <p:cNvGraphicFramePr/>
          <p:nvPr/>
        </p:nvGraphicFramePr>
        <p:xfrm>
          <a:off x="407933" y="1946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{57811CAD-58F4-4036-BDF9-AA45D9A2C6AA}</a:tableStyleId>
              </a:tblPr>
              <a:tblGrid>
                <a:gridCol w="2628900"/>
                <a:gridCol w="2628900"/>
                <a:gridCol w="2628900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Produto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Quantidade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Preço Unitário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Biscoito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4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Suco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Pão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" name="Google Shape;138;p6"/>
          <p:cNvSpPr txBox="1"/>
          <p:nvPr/>
        </p:nvSpPr>
        <p:spPr>
          <a:xfrm>
            <a:off x="407932" y="3350270"/>
            <a:ext cx="84838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 arraste para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selecionar toda a área da tabela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incluindo os títulos.</a:t>
            </a:r>
            <a:endParaRPr/>
          </a:p>
        </p:txBody>
      </p:sp>
      <p:sp>
        <p:nvSpPr>
          <p:cNvPr id="139" name="Google Shape;139;p6"/>
          <p:cNvSpPr txBox="1"/>
          <p:nvPr/>
        </p:nvSpPr>
        <p:spPr>
          <a:xfrm>
            <a:off x="407931" y="3683675"/>
            <a:ext cx="848381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Formate como Tabela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Vá até a guia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“Página Inicial”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“Formatar como Tabela”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Escolha um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estilo de cor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(azul, verde, listrado, etc.).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Na janela que abrir: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Confirme 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intervalo de células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Marque a opção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“Minha tabela tem cabeçalhos”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FORMATAR UMA PLANILHA EM BRANCO COMO TABELA NO EXCEL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336330" y="1259771"/>
            <a:ext cx="8513379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TESTANDO A AUTOMATIZAÇÃO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Vá até 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linha logo abaixo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 última da tabela.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Digite um novo item, como:</a:t>
            </a:r>
            <a:endParaRPr/>
          </a:p>
        </p:txBody>
      </p:sp>
      <p:sp>
        <p:nvSpPr>
          <p:cNvPr id="147" name="Google Shape;147;p7"/>
          <p:cNvSpPr txBox="1"/>
          <p:nvPr/>
        </p:nvSpPr>
        <p:spPr>
          <a:xfrm>
            <a:off x="630621" y="1998435"/>
            <a:ext cx="45825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Bolo   | 3 | 7,00</a:t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336330" y="2429322"/>
            <a:ext cx="45825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Pressione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Enter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49" name="Google Shape;149;p7"/>
          <p:cNvSpPr txBox="1"/>
          <p:nvPr/>
        </p:nvSpPr>
        <p:spPr>
          <a:xfrm>
            <a:off x="336331" y="2857500"/>
            <a:ext cx="851337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RESULTADO: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nova linha entra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automaticamente na tabela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com: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Mesma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borda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Fórmulas (se existirem nas colunas) aplicadas automaticamente.</a:t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336329" y="3975519"/>
            <a:ext cx="8513377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VANTAGENS DE USAR TABELA NO EXCEL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Aparência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uniforme e organizada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Facilita o uso de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filtros e ordenações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Fórmulas automáticas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aplicam a novas linhas.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Preparo ideal para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análises e tabelas dinâmicas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TABELA DINÂMICA: O QUE É E COMO USAR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493986" y="1351783"/>
            <a:ext cx="8113986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é uma Tabela Dinâmica?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Tabela Dinâmica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é como uma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Ferramenta do Excel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te ajuda 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organizar e resumir muitos dados de uma vez só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Ela pega várias informações bagunçadas 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deixa tudo arrumadinho e fácil de entender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como um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resumo de uma festa com o que cada pessoa trouxe e quanto gastou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/>
          </a:p>
        </p:txBody>
      </p:sp>
      <p:sp>
        <p:nvSpPr>
          <p:cNvPr id="158" name="Google Shape;158;p8"/>
          <p:cNvSpPr txBox="1"/>
          <p:nvPr/>
        </p:nvSpPr>
        <p:spPr>
          <a:xfrm>
            <a:off x="493986" y="2670447"/>
            <a:ext cx="585426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PASSO A PASSO PARA CRIAR UMA TABELA DINÂMICA</a:t>
            </a:r>
            <a:endParaRPr/>
          </a:p>
        </p:txBody>
      </p:sp>
      <p:sp>
        <p:nvSpPr>
          <p:cNvPr id="159" name="Google Shape;159;p8"/>
          <p:cNvSpPr txBox="1"/>
          <p:nvPr/>
        </p:nvSpPr>
        <p:spPr>
          <a:xfrm>
            <a:off x="493986" y="2978224"/>
            <a:ext cx="82926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Antes de criar a Tabela Dinâmica, você precisa ter algo escrito!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 de tabela simples:</a:t>
            </a:r>
            <a:endParaRPr/>
          </a:p>
        </p:txBody>
      </p:sp>
      <p:graphicFrame>
        <p:nvGraphicFramePr>
          <p:cNvPr id="160" name="Google Shape;160;p8"/>
          <p:cNvGraphicFramePr/>
          <p:nvPr/>
        </p:nvGraphicFramePr>
        <p:xfrm>
          <a:off x="493986" y="35014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{57811CAD-58F4-4036-BDF9-AA45D9A2C6AA}</a:tableStyleId>
              </a:tblPr>
              <a:tblGrid>
                <a:gridCol w="2628900"/>
                <a:gridCol w="2628900"/>
                <a:gridCol w="2628900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Nome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Data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Valor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Ana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01/05/2025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Bruno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01/05/2025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Carlos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02/05/2025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20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" name="Google Shape;161;p8"/>
          <p:cNvSpPr txBox="1"/>
          <p:nvPr/>
        </p:nvSpPr>
        <p:spPr>
          <a:xfrm>
            <a:off x="493985" y="4902248"/>
            <a:ext cx="771459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IMPORTANTE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Os títulos (Nome, Data, Valor)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devem estar na primeira linha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TABELA DINÂMICA: O QUE É E COMO USAR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294289" y="1280791"/>
            <a:ext cx="85028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Selecione qualquer célula da sua tabela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Basta clicar em uma célula com conteúdo — não precisa marcar tudo.</a:t>
            </a:r>
            <a:endParaRPr/>
          </a:p>
        </p:txBody>
      </p:sp>
      <p:sp>
        <p:nvSpPr>
          <p:cNvPr id="169" name="Google Shape;169;p9"/>
          <p:cNvSpPr txBox="1"/>
          <p:nvPr/>
        </p:nvSpPr>
        <p:spPr>
          <a:xfrm>
            <a:off x="294288" y="2030602"/>
            <a:ext cx="850286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 até a guia “Inserir”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topo da tela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Depois clique em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“Tabela Dinâmica”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294287" y="2687072"/>
            <a:ext cx="8502869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janelinha vai aparecer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Ela vai perguntar onde você quer colocar a nova tabela.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Deixe como está 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em “OK”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71" name="Google Shape;171;p9"/>
          <p:cNvSpPr txBox="1"/>
          <p:nvPr/>
        </p:nvSpPr>
        <p:spPr>
          <a:xfrm>
            <a:off x="294287" y="3530224"/>
            <a:ext cx="85028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Excel agora vai abrir uma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nova aba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 sua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Tabela Dinâmica vazia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72" name="Google Shape;172;p9"/>
          <p:cNvSpPr txBox="1"/>
          <p:nvPr/>
        </p:nvSpPr>
        <p:spPr>
          <a:xfrm>
            <a:off x="294286" y="3942489"/>
            <a:ext cx="850286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MONTAR SUA TABELA DINÂMICA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lado direito da tela, vai aparecer uma caixinha com os nomes dos campos (como Nome, Data, Valor).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Arraste “Data” para onde diz “Linhas”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Isso vai agrupar os dados por dia.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Arraste “Valor” para onde diz “Valores”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Isso vai somar tudo que foi colocado por data.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TABELA DINÂMICA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325821" y="1304431"/>
            <a:ext cx="841878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RESULTADO?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Agora você vai ver um resumo simples, como:</a:t>
            </a:r>
            <a:endParaRPr/>
          </a:p>
        </p:txBody>
      </p:sp>
      <p:graphicFrame>
        <p:nvGraphicFramePr>
          <p:cNvPr id="180" name="Google Shape;180;p10"/>
          <p:cNvGraphicFramePr/>
          <p:nvPr/>
        </p:nvGraphicFramePr>
        <p:xfrm>
          <a:off x="325821" y="194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{57811CAD-58F4-4036-BDF9-AA45D9A2C6AA}</a:tableStyleId>
              </a:tblPr>
              <a:tblGrid>
                <a:gridCol w="3943350"/>
                <a:gridCol w="3943350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Data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Soma de Valor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01/05/2025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25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02/05/2025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20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" name="Google Shape;181;p10"/>
          <p:cNvSpPr txBox="1"/>
          <p:nvPr/>
        </p:nvSpPr>
        <p:spPr>
          <a:xfrm>
            <a:off x="325821" y="2972949"/>
            <a:ext cx="45825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 seja: o Excel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fez a conta sozinho!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325821" y="3450225"/>
            <a:ext cx="841878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IMPORTANTE: ATUALIZAÇÃO DA TABELA DINÂMICA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Sempre que você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adicionar novos dados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na planilha original (aquela com Nome, Data e Valor):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Pressione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 + F5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atualizar a Tabela Dinâmica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ela mostrar os novos dados também.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INSERIR LISTA SUSPENSA (Validação de Dados)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1"/>
          <p:cNvSpPr txBox="1"/>
          <p:nvPr/>
        </p:nvSpPr>
        <p:spPr>
          <a:xfrm>
            <a:off x="367863" y="1207294"/>
            <a:ext cx="8502868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é isso?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lista suspensa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é como um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menu com opções prontas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aparece quando você clica em uma célula.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Assim, a pessoa não precisa digitar —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só escolher o que quer!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Imagina que você está montando a lista do lanche da escola e quer que a pessoa escolha entre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"Suco", "Bolo" ou "Fruta"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Você pode criar uma célula que mostra essas opções quando a pessoa clicar nela!</a:t>
            </a:r>
            <a:endParaRPr/>
          </a:p>
        </p:txBody>
      </p:sp>
      <p:sp>
        <p:nvSpPr>
          <p:cNvPr id="190" name="Google Shape;190;p11"/>
          <p:cNvSpPr txBox="1"/>
          <p:nvPr/>
        </p:nvSpPr>
        <p:spPr>
          <a:xfrm>
            <a:off x="483475" y="2907269"/>
            <a:ext cx="8387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PASSO A PASSO: Como fazer uma lista suspensa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Escreva as opções que você quer usar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planilha em branco, escreva:</a:t>
            </a:r>
            <a:endParaRPr/>
          </a:p>
        </p:txBody>
      </p:sp>
      <p:graphicFrame>
        <p:nvGraphicFramePr>
          <p:cNvPr id="191" name="Google Shape;191;p11"/>
          <p:cNvGraphicFramePr/>
          <p:nvPr/>
        </p:nvGraphicFramePr>
        <p:xfrm>
          <a:off x="628650" y="38129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{57811CAD-58F4-4036-BDF9-AA45D9A2C6AA}</a:tableStyleId>
              </a:tblPr>
              <a:tblGrid>
                <a:gridCol w="7886700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Suco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Bolo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Fruta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11"/>
          <p:cNvSpPr txBox="1"/>
          <p:nvPr/>
        </p:nvSpPr>
        <p:spPr>
          <a:xfrm>
            <a:off x="483475" y="5032104"/>
            <a:ext cx="45825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Essas palavras serão as opções da sua lista!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INSERIR LISTA SUSPENSA (Validação de Dados)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420413" y="1278174"/>
            <a:ext cx="838725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Escolha onde você quer que apareça a lista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em qualquer célula onde você quer que a pessoa escolha a opção —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Exemplo: clique na célula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C1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00" name="Google Shape;200;p24"/>
          <p:cNvSpPr txBox="1"/>
          <p:nvPr/>
        </p:nvSpPr>
        <p:spPr>
          <a:xfrm>
            <a:off x="420412" y="2240812"/>
            <a:ext cx="838725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 até a guia “Dados” no topo do Excel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Depois clique no botão chamado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“Validação de Dados”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(Tem uma setinha pequena ao lado — clique nela.)</a:t>
            </a:r>
            <a:endParaRPr/>
          </a:p>
        </p:txBody>
      </p:sp>
      <p:sp>
        <p:nvSpPr>
          <p:cNvPr id="201" name="Google Shape;201;p24"/>
          <p:cNvSpPr/>
          <p:nvPr/>
        </p:nvSpPr>
        <p:spPr>
          <a:xfrm>
            <a:off x="162910" y="3203450"/>
            <a:ext cx="881817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janelinha que abrir: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Onde está escrito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"Permitir"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escolha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"Lista"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Onde está escrito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"Fonte"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clique dentro e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com o mouse as células A1 até A3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digite =A1:A3).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Marque a opção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"Ignorar em branco"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"Lista suspensa na célula"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INSERIR LISTA SUSPENSA (Validação de Dados)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5"/>
          <p:cNvSpPr txBox="1"/>
          <p:nvPr/>
        </p:nvSpPr>
        <p:spPr>
          <a:xfrm>
            <a:off x="241737" y="1286066"/>
            <a:ext cx="850286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Prontinho!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Agora, vá até a célula C1 e clique na setinha que apareceu.</a:t>
            </a:r>
            <a:b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Você vai ver a lista: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Suco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Bolo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Fruta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só escolher!</a:t>
            </a:r>
            <a:endParaRPr/>
          </a:p>
        </p:txBody>
      </p:sp>
      <p:sp>
        <p:nvSpPr>
          <p:cNvPr id="209" name="Google Shape;209;p25"/>
          <p:cNvSpPr txBox="1"/>
          <p:nvPr/>
        </p:nvSpPr>
        <p:spPr>
          <a:xfrm>
            <a:off x="241737" y="2581457"/>
            <a:ext cx="850286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QUE SERVE ESSA LISTA?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Evita erros de digitação.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 a vida de quem vai usar a planilha.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Deixa sua planilha mais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bonita e profissional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/>
          <p:nvPr/>
        </p:nvSpPr>
        <p:spPr>
          <a:xfrm>
            <a:off x="0" y="-6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TRABALHANDO COM FUNÇÕES NO EXCEL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 txBox="1"/>
          <p:nvPr/>
        </p:nvSpPr>
        <p:spPr>
          <a:xfrm>
            <a:off x="178676" y="1291302"/>
            <a:ext cx="59227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funções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Excel servem para facilitar cálculos e análises de dados. Abaixo estão as funções mais comuns que já estudamos</a:t>
            </a:r>
            <a:endParaRPr/>
          </a:p>
        </p:txBody>
      </p:sp>
      <p:sp>
        <p:nvSpPr>
          <p:cNvPr id="217" name="Google Shape;217;p26"/>
          <p:cNvSpPr/>
          <p:nvPr/>
        </p:nvSpPr>
        <p:spPr>
          <a:xfrm>
            <a:off x="372256" y="1889638"/>
            <a:ext cx="4116997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SOMA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Usada para somar um grupo de células.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Fórmula: =SOMA(A1:A5)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Soma todos os valores de A1 até A5.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372256" y="3045981"/>
            <a:ext cx="395189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MÉDIA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 a média (valor médio) entre os números.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Fórmula: =MÉDIA(B1:B5)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Soma os valores e divide pela quantidade de células.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6"/>
          <p:cNvSpPr/>
          <p:nvPr/>
        </p:nvSpPr>
        <p:spPr>
          <a:xfrm>
            <a:off x="372256" y="4127208"/>
            <a:ext cx="4056993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MÁXIMO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 o maior valor entre os dados.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Fórmula: =MÁXIMO(C1:C5)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Procura o maior número do intervalo.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6"/>
          <p:cNvSpPr/>
          <p:nvPr/>
        </p:nvSpPr>
        <p:spPr>
          <a:xfrm>
            <a:off x="4572000" y="1880266"/>
            <a:ext cx="341217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MÍNIMO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 o menor valor entre os dados.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Fórmula: =MÍNIMO(D1:D5)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Procura o menor número do intervalo.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4572000" y="4085144"/>
            <a:ext cx="405699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SE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Verifica se uma condição é verdadeira ou falsa.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Fórmula: =SE(E2&lt;=10; "Aprovado"; "Reprovado")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o valor da célula E2 for menor ou igual a 10, aparece “Aprovado”, senão, aparece “Reprovado”.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FUNÇÕES MAIS IMPORTANTES DO EXCEL - Funções Condicionais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1" y="1352267"/>
            <a:ext cx="9143999" cy="420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Usadas para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fazer testes lógicos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tomar decisões automáticas: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=SE(teste_lógico; valor_se_verdadeiro; valor_se_falso)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=SE(A1&gt;10; "OK"; "Erro")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Se o valor de A1 for maior que 10, aparece “OK”; senão, “Erro”.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=E(teste1; teste2)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=E(A1&gt;10; B1&lt;20)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Só retorna VERDADEIRO se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dois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testes forem verdadeiros.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=OU(teste1; teste2)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=OU(A1&gt;10; B1&lt;20)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Retorna VERDADEIRO se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pelo menos um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teste for verdadeiro.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=NÃO(teste)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=NÃO(A1&gt;10)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Inverte o resultado lógico. Se for verdadeiro, vira falso.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=SEERRO(valor; valor_se_erro)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=SEERRO(A1/B1; "Erro!")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Se houver erro (como divisão por zero), retorna "Erro!".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FUNÇÕES MAIS IMPORTANTES DO EXCEL - Funções de Procura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8"/>
          <p:cNvSpPr/>
          <p:nvPr/>
        </p:nvSpPr>
        <p:spPr>
          <a:xfrm>
            <a:off x="0" y="1215783"/>
            <a:ext cx="9144000" cy="41703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Usadas para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buscar dados em tabelas ou listas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=PROCV(valor_procurado; tabela; coluna; [procurar_aproximação])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=PROCV("Leo"; A2:C10; 2; FALSO)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Procura “Leo” na primeira coluna da tabela e retorna o valor da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2ª coluna na mesma linha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=ÍNDICE(intervalo; linha; coluna)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=ÍNDICE(A2:C5; 2; 3)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Retorna o valor que está na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2ª linha e 3ª coluna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intervalo.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=CORRESP(valor_procurado; intervalo; [tipo])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=CORRESP(25; A1:A10; 0)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Retorna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posição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valor 25 no intervalo.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=DESLOC(ref; linhas; colunas)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=DESLOC(A1; 2; 1)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Vai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linhas para baixo e 1 coluna à direita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A1.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=PROCH(valor_procurado; tabela; linha; [procurar_aproximação])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=PROCH("Janeiro"; A1:D3; 2; FALSO)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Procura “Janeiro” na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primeira linha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retorna o valor da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2ª linha na mesma coluna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FUNÇÕES MAIS IMPORTANTES DO EXCEL - Funções de Procura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9"/>
          <p:cNvSpPr/>
          <p:nvPr/>
        </p:nvSpPr>
        <p:spPr>
          <a:xfrm>
            <a:off x="0" y="1161364"/>
            <a:ext cx="9013371" cy="41703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Usadas para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buscar dados em tabelas ou listas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=PROCV(valor_procurado; tabela; coluna; [procurar_aproximação])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=PROCV("Leo"; A2:C10; 2; FALSO)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Procura “Leo” na primeira coluna da tabela e retorna o valor da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2ª coluna na mesma linha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=ÍNDICE(intervalo; linha; coluna)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=ÍNDICE(A2:C5; 2; 3)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Retorna o valor que está na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2ª linha e 3ª coluna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intervalo.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=CORRESP(valor_procurado; intervalo; [tipo])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=CORRESP(25; A1:A10; 0)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Retorna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posição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valor 25 no intervalo.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=DESLOC(ref; linhas; colunas)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=DESLOC(A1; 2; 1)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Vai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linhas para baixo e 1 coluna à direita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A1.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=PROCH(valor_procurado; tabela; linha; [procurar_aproximação])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=PROCH("Janeiro"; A1:D3; 2; FALSO)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Procura “Janeiro” na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primeira linha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retorna o valor da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2ª linha na mesma coluna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Funções de Data e Hora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0"/>
          <p:cNvSpPr/>
          <p:nvPr/>
        </p:nvSpPr>
        <p:spPr>
          <a:xfrm>
            <a:off x="115613" y="1231171"/>
            <a:ext cx="8502869" cy="433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=DIATRABALHOTOTAL(data_inicial; data_final)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 a quantidade de dias úteis entre duas datas (desconsidera sábados e domingos).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=DIATRABALHOTOTAL(A1;B1)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=MÊS(data)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Retorna o número do mês (1 a 12).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=MÊS(A1) → Se a data for 10/05/2025, retorna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=ANO(data)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Retorna o ano da data.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=ANO(A1) → 2025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=HORA(horário)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=MINUTO(horário)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=SEGUNDO(horário)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Separa a hora, os minutos ou os segundos de uma célula com horário.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=HORA(A1) → Se for 14:30:15, retorna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=HOJE()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Retorna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atual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=HOJE() → 12/05/2025 (depende do dia)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=AGORA()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Retorna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e hora atual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=AGORA() → 12/05/2025 14:45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Funções Financeiras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1"/>
          <p:cNvSpPr/>
          <p:nvPr/>
        </p:nvSpPr>
        <p:spPr>
          <a:xfrm>
            <a:off x="157655" y="1237054"/>
            <a:ext cx="85764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=XTIR(valores; datas)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Retorna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taxa interna de retorno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um investimento com base em fluxo de caixa.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=XTIR(A2:A7;B2:B7)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Funções Estatísticas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2"/>
          <p:cNvSpPr/>
          <p:nvPr/>
        </p:nvSpPr>
        <p:spPr>
          <a:xfrm>
            <a:off x="0" y="1290321"/>
            <a:ext cx="9144000" cy="40934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=MÉDIA(intervalo)</a:t>
            </a:r>
            <a:b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Retorna a média dos valores.</a:t>
            </a:r>
            <a:b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=MÉDIA(A1:A5)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=MÉDIASE(intervalo; critério)</a:t>
            </a:r>
            <a:b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Retorna a média apenas das células que atendem ao critério.</a:t>
            </a:r>
            <a:b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=MÉDIASE(A1:A5;"&gt;0")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=MED(intervalo)</a:t>
            </a:r>
            <a:b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Retorna o valor central (mediana).</a:t>
            </a:r>
            <a:b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=MED(A1:A5)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=MODO(intervalo)</a:t>
            </a:r>
            <a:b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Retorna o valor que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se repete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=MODO(A1:A10)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=SOMARPRODUTO(matriz1; matriz2)</a:t>
            </a:r>
            <a:b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 os pares de valores e soma o total.</a:t>
            </a:r>
            <a:b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=SOMARPRODUTO(A1:A3;B1:B3)</a:t>
            </a:r>
            <a:b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(A1×B1) + (A2×B2) + (A3×B3)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Funções Matemáticas no Excel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3"/>
          <p:cNvSpPr/>
          <p:nvPr/>
        </p:nvSpPr>
        <p:spPr>
          <a:xfrm>
            <a:off x="0" y="1197051"/>
            <a:ext cx="9144000" cy="449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Funções Básicas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=SOMA(A1:A5)</a:t>
            </a:r>
            <a:b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Soma os valores de A1 até A5.</a:t>
            </a:r>
            <a:b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➤ </a:t>
            </a:r>
            <a:r>
              <a:rPr b="0" i="1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10 + 20 + 30 =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=SOMASE(intervalo; critério; [intervalo_soma])</a:t>
            </a:r>
            <a:b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Soma os valores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somente se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atenderem ao critério.</a:t>
            </a:r>
            <a:b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➤ </a:t>
            </a:r>
            <a:r>
              <a:rPr b="0" i="1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=SOMASE(A1:A5;"&gt;10")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=MULT(valor1; valor2)</a:t>
            </a:r>
            <a:b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 dois ou mais valores.</a:t>
            </a:r>
            <a:b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➤ </a:t>
            </a:r>
            <a:r>
              <a:rPr b="0" i="1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=MULT(4;3) →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=POTÊNCIA(base;expoente)</a:t>
            </a:r>
            <a:b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Eleva um número a uma potência.</a:t>
            </a:r>
            <a:b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➤ </a:t>
            </a:r>
            <a:r>
              <a:rPr b="0" i="1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=POTÊNCIA(2;3) → 2³ =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=FATORIAL(n)</a:t>
            </a:r>
            <a:b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Retorna o fatorial de um número.</a:t>
            </a:r>
            <a:b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➤ </a:t>
            </a:r>
            <a:r>
              <a:rPr b="0" i="1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=FATORIAL(5) → 5! =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Funções de Análise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4"/>
          <p:cNvSpPr/>
          <p:nvPr/>
        </p:nvSpPr>
        <p:spPr>
          <a:xfrm>
            <a:off x="1" y="1141557"/>
            <a:ext cx="91440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=BDSOMA(banco_de_dados; campo; critérios)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Soma dados de um banco (tabela), de acordo com critérios específicos.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➤ </a:t>
            </a: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=BDSOMA(A1:C10;"Valor";E1:F2)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=FREQÜÊNCIA(matriz_dados; matriz_classes)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 quantos valores estão dentro de cada faixa (intervalo).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➤ Usada em análises estatísticas e histogramas.</a:t>
            </a:r>
            <a:endParaRPr/>
          </a:p>
        </p:txBody>
      </p:sp>
      <p:sp>
        <p:nvSpPr>
          <p:cNvPr id="278" name="Google Shape;278;p34"/>
          <p:cNvSpPr txBox="1"/>
          <p:nvPr/>
        </p:nvSpPr>
        <p:spPr>
          <a:xfrm>
            <a:off x="-10510" y="2665139"/>
            <a:ext cx="45825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Funções de Mínimo e Máximo</a:t>
            </a:r>
            <a:endParaRPr/>
          </a:p>
        </p:txBody>
      </p:sp>
      <p:sp>
        <p:nvSpPr>
          <p:cNvPr id="279" name="Google Shape;279;p34"/>
          <p:cNvSpPr/>
          <p:nvPr/>
        </p:nvSpPr>
        <p:spPr>
          <a:xfrm>
            <a:off x="0" y="2972916"/>
            <a:ext cx="8713076" cy="2631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=MÍNIMO(intervalo)</a:t>
            </a:r>
            <a:b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 o menor número de um grupo.</a:t>
            </a:r>
            <a:b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➤ </a:t>
            </a:r>
            <a:r>
              <a:rPr b="0" i="1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=MÍNIMO(A1:A5) →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=MÁXIMO(intervalo)</a:t>
            </a:r>
            <a:b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 o maior número de um grupo.</a:t>
            </a:r>
            <a:b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➤ </a:t>
            </a:r>
            <a:r>
              <a:rPr b="0" i="1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=MÁXIMO(A1:A5) →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=MENOR(intervalo; posição)</a:t>
            </a:r>
            <a:b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 o menor valor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posição escolhida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➤ </a:t>
            </a:r>
            <a:r>
              <a:rPr b="0" i="1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=MENOR(A1:A5;2) → 2º menor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=MAIOR(intervalo; posição)</a:t>
            </a:r>
            <a:b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 o maior valor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posição escolhida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➤ </a:t>
            </a:r>
            <a:r>
              <a:rPr b="0" i="1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=MAIOR(A1:A5;2) → 2º maior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Funções de Contagem no Excel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5"/>
          <p:cNvSpPr/>
          <p:nvPr/>
        </p:nvSpPr>
        <p:spPr>
          <a:xfrm>
            <a:off x="162910" y="1156905"/>
            <a:ext cx="89810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=CONT.VALORES(intervalo)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 todas as células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preenchidas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 número, texto ou fórmula.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➤ </a:t>
            </a: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=CONT.VALORES(A1:A5) → conta tudo que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está vazio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87" name="Google Shape;287;p35"/>
          <p:cNvSpPr/>
          <p:nvPr/>
        </p:nvSpPr>
        <p:spPr>
          <a:xfrm>
            <a:off x="162910" y="1861956"/>
            <a:ext cx="89810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=CONT.SE(intervalo; critério)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 as células que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atendem a uma condição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➤ </a:t>
            </a: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=CONT.SE(B2:B10;"&gt;10") → conta quem for maior que 10.</a:t>
            </a:r>
            <a:endParaRPr/>
          </a:p>
        </p:txBody>
      </p:sp>
      <p:sp>
        <p:nvSpPr>
          <p:cNvPr id="288" name="Google Shape;288;p35"/>
          <p:cNvSpPr/>
          <p:nvPr/>
        </p:nvSpPr>
        <p:spPr>
          <a:xfrm>
            <a:off x="162910" y="2607848"/>
            <a:ext cx="89810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=CONTA(intervalo)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somente números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dentro de um intervalo.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➤ </a:t>
            </a: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=CONTA(A1:A10) → ignora textos e células vazias.</a:t>
            </a:r>
            <a:endParaRPr/>
          </a:p>
        </p:txBody>
      </p:sp>
      <p:sp>
        <p:nvSpPr>
          <p:cNvPr id="289" name="Google Shape;289;p35"/>
          <p:cNvSpPr/>
          <p:nvPr/>
        </p:nvSpPr>
        <p:spPr>
          <a:xfrm>
            <a:off x="162910" y="3353740"/>
            <a:ext cx="5373587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=NÚM.CARACT(texto ou célula)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quantos caracteres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(letras, números e espaços) tem em uma célula.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➤ </a:t>
            </a: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=NÚM.CARACT(A1)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A1 = "Leo" → Resultado: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5"/>
          <p:cNvSpPr/>
          <p:nvPr/>
        </p:nvSpPr>
        <p:spPr>
          <a:xfrm>
            <a:off x="162910" y="4258013"/>
            <a:ext cx="3820511" cy="600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=INT(número)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Arredonda o número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baixo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➤ </a:t>
            </a:r>
            <a:r>
              <a:rPr b="0" i="1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=INT(4,9) →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6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Funções de Conversão no Excel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6"/>
          <p:cNvSpPr/>
          <p:nvPr/>
        </p:nvSpPr>
        <p:spPr>
          <a:xfrm>
            <a:off x="0" y="1166110"/>
            <a:ext cx="8734097" cy="600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=CONVERTER(número; de_unidade; para_unidade)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Converte de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unidade para outra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➤ </a:t>
            </a:r>
            <a:r>
              <a:rPr b="0" i="1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=CONVERTER(10;"km";"m") → Resultado: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10.000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6"/>
          <p:cNvSpPr txBox="1"/>
          <p:nvPr/>
        </p:nvSpPr>
        <p:spPr>
          <a:xfrm>
            <a:off x="105103" y="1822229"/>
            <a:ext cx="45825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Conversões Numéricas</a:t>
            </a:r>
            <a:endParaRPr/>
          </a:p>
        </p:txBody>
      </p:sp>
      <p:graphicFrame>
        <p:nvGraphicFramePr>
          <p:cNvPr id="299" name="Google Shape;299;p36"/>
          <p:cNvGraphicFramePr/>
          <p:nvPr/>
        </p:nvGraphicFramePr>
        <p:xfrm>
          <a:off x="536028" y="21859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{57811CAD-58F4-4036-BDF9-AA45D9A2C6AA}</a:tableStyleId>
              </a:tblPr>
              <a:tblGrid>
                <a:gridCol w="1694400"/>
                <a:gridCol w="2840850"/>
                <a:gridCol w="3452600"/>
              </a:tblGrid>
              <a:tr h="24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Função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O que faz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Exemplo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=BIN2DEC()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Binário → Decimal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=BIN2DEC(110) → </a:t>
                      </a:r>
                      <a:r>
                        <a:rPr b="1" lang="pt-BR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=BIN2HEX()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Binário → Hexadecimal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=BIN2HEX(110) → </a:t>
                      </a:r>
                      <a:r>
                        <a:rPr b="1" lang="pt-BR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=BIN2OCT()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Binário → Octal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=BIN2OCT(110) → </a:t>
                      </a:r>
                      <a:r>
                        <a:rPr b="1" lang="pt-BR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=DECABIN()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Decimal → Binário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=DECABIN(10) → </a:t>
                      </a:r>
                      <a:r>
                        <a:rPr b="1" lang="pt-BR" sz="1100" u="none" cap="none" strike="noStrike"/>
                        <a:t>1010</a:t>
                      </a:r>
                      <a:endParaRPr sz="1100" u="none" cap="none" strike="noStrike"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=DECAHEX()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Decimal → Hexadecimal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=DECAHEX(10) → </a:t>
                      </a:r>
                      <a:r>
                        <a:rPr b="1" lang="pt-BR" sz="1100" u="none" cap="none" strike="noStrike"/>
                        <a:t>A</a:t>
                      </a:r>
                      <a:endParaRPr sz="1100" u="none" cap="none" strike="noStrike"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=DECAOCT()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Decimal → Octal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=DECAOCT(10) → </a:t>
                      </a:r>
                      <a:r>
                        <a:rPr b="1" lang="pt-BR" sz="1100" u="none" cap="none" strike="noStrike"/>
                        <a:t>12</a:t>
                      </a:r>
                      <a:endParaRPr sz="1100" u="none" cap="none" strike="noStrike"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=HEXABIN()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Hexadecimal → Binário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=HEXABIN("A") → </a:t>
                      </a:r>
                      <a:r>
                        <a:rPr b="1" lang="pt-BR" sz="1100" u="none" cap="none" strike="noStrike"/>
                        <a:t>1010</a:t>
                      </a:r>
                      <a:endParaRPr sz="1100" u="none" cap="none" strike="noStrike"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=HEXADEC()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Hexadecimal → Decimal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=HEXADEC("A") → </a:t>
                      </a:r>
                      <a:r>
                        <a:rPr b="1" lang="pt-BR" sz="1100" u="none" cap="none" strike="noStrike"/>
                        <a:t>10</a:t>
                      </a:r>
                      <a:endParaRPr sz="1100" u="none" cap="none" strike="noStrike"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=HEXAOCT()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Hexadecimal → Octal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=HEXAOCT("A") → </a:t>
                      </a:r>
                      <a:r>
                        <a:rPr b="1" lang="pt-BR" sz="1100" u="none" cap="none" strike="noStrike"/>
                        <a:t>12</a:t>
                      </a:r>
                      <a:endParaRPr sz="1100" u="none" cap="none" strike="noStrike"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=OCTABIN()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Octal → Binário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=OCTABIN(12) → </a:t>
                      </a:r>
                      <a:r>
                        <a:rPr b="1" lang="pt-BR" sz="1100" u="none" cap="none" strike="noStrike"/>
                        <a:t>1010</a:t>
                      </a:r>
                      <a:endParaRPr sz="1100" u="none" cap="none" strike="noStrike"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=OCTADEC()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Octal → Decimal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=OCTADEC(12) → </a:t>
                      </a:r>
                      <a:r>
                        <a:rPr b="1" lang="pt-BR" sz="1100" u="none" cap="none" strike="noStrike"/>
                        <a:t>10</a:t>
                      </a:r>
                      <a:endParaRPr sz="1100" u="none" cap="none" strike="noStrike"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=OCTAHEX()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Octal → Hexadecimal</a:t>
                      </a:r>
                      <a:endParaRPr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u="none" cap="none" strike="noStrike"/>
                        <a:t>=OCTAHEX(12) → </a:t>
                      </a:r>
                      <a:r>
                        <a:rPr b="1" lang="pt-BR" sz="1100" u="none" cap="none" strike="noStrike"/>
                        <a:t>A</a:t>
                      </a:r>
                      <a:endParaRPr sz="1100" u="none" cap="none" strike="noStrike"/>
                    </a:p>
                  </a:txBody>
                  <a:tcPr marT="41825" marB="41825" marR="83675" marL="836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Texto</a:t>
            </a:r>
            <a:endParaRPr/>
          </a:p>
        </p:txBody>
      </p:sp>
      <p:sp>
        <p:nvSpPr>
          <p:cNvPr id="306" name="Google Shape;306;p37"/>
          <p:cNvSpPr txBox="1"/>
          <p:nvPr/>
        </p:nvSpPr>
        <p:spPr>
          <a:xfrm>
            <a:off x="241738" y="1334677"/>
            <a:ext cx="8660524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11111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Texto</a:t>
            </a:r>
            <a:endParaRPr/>
          </a:p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=TEXTO() - </a:t>
            </a:r>
            <a:r>
              <a:rPr b="0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Converte uma célula numérica em texto.</a:t>
            </a:r>
            <a:endParaRPr/>
          </a:p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=MAIÚSCULA() - </a:t>
            </a:r>
            <a:r>
              <a:rPr b="0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Alterna todos os caracteres em uma célula para letras maiúsculas.</a:t>
            </a:r>
            <a:endParaRPr/>
          </a:p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=MINÚSCULA() - </a:t>
            </a:r>
            <a:r>
              <a:rPr b="0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Alterna todos os caracteres em uma célula para letras minuscúlas.</a:t>
            </a:r>
            <a:endParaRPr/>
          </a:p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=PRI.MAIÚSCULA() - </a:t>
            </a:r>
            <a:r>
              <a:rPr b="0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Alterna o primeiro caractere de todas as palavras em uma célula para letras maiúsculas.</a:t>
            </a:r>
            <a:endParaRPr/>
          </a:p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=ÉTEXTO() - </a:t>
            </a:r>
            <a:r>
              <a:rPr b="0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Verifica se uma célula possui texto.</a:t>
            </a:r>
            <a:endParaRPr/>
          </a:p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=ÉNUM() - </a:t>
            </a:r>
            <a:r>
              <a:rPr b="0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Verifica se uma célula possui números.</a:t>
            </a:r>
            <a:endParaRPr/>
          </a:p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=PESQUISAR() - </a:t>
            </a:r>
            <a:r>
              <a:rPr b="0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Encontra um número ou letra em uma célula.</a:t>
            </a:r>
            <a:endParaRPr/>
          </a:p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=EXATO() - </a:t>
            </a:r>
            <a:r>
              <a:rPr b="0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Verifica se o conteúdo de uma célula é exatamente igual ao inserido.</a:t>
            </a:r>
            <a:endParaRPr/>
          </a:p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=CONCATENAR() - </a:t>
            </a:r>
            <a:r>
              <a:rPr b="0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Retorna os valores de várias células em uma única string.</a:t>
            </a:r>
            <a:endParaRPr/>
          </a:p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=CHAR() - </a:t>
            </a:r>
            <a:r>
              <a:rPr b="0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Retorna um caractere representante do número especificado em um conjunto.</a:t>
            </a:r>
            <a:endParaRPr/>
          </a:p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=ESQUERDA() - </a:t>
            </a:r>
            <a:r>
              <a:rPr b="0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Retorna os caracteres mais a esquerda de uma célula com texto.</a:t>
            </a:r>
            <a:endParaRPr/>
          </a:p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=DIREITA() - </a:t>
            </a:r>
            <a:r>
              <a:rPr b="0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Retorna os caracteres mais a direita de uma célula com texto.</a:t>
            </a:r>
            <a:endParaRPr/>
          </a:p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=EXT.TEXTO() - </a:t>
            </a:r>
            <a:r>
              <a:rPr b="0" i="0" lang="pt-BR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Retorna o número de caracteres em uma célula com texto.</a:t>
            </a:r>
            <a:endParaRPr b="1" i="0" sz="2000" u="none" cap="none" strike="noStrike">
              <a:solidFill>
                <a:srgbClr val="11111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8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Atividade: Formatando e Usando Comandos no Excel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8"/>
          <p:cNvSpPr/>
          <p:nvPr/>
        </p:nvSpPr>
        <p:spPr>
          <a:xfrm>
            <a:off x="219693" y="1229383"/>
            <a:ext cx="87224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Objetivo:Inserir dados simples, Formatar como Tabela e Utilizar 3 funções básicas: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=SOMA(), =MÉDIA() e =MÁXIMO()</a:t>
            </a:r>
            <a:endParaRPr/>
          </a:p>
        </p:txBody>
      </p:sp>
      <p:sp>
        <p:nvSpPr>
          <p:cNvPr id="314" name="Google Shape;314;p38"/>
          <p:cNvSpPr/>
          <p:nvPr/>
        </p:nvSpPr>
        <p:spPr>
          <a:xfrm>
            <a:off x="108114" y="1927786"/>
            <a:ext cx="45720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em qualquer célula da tabela (por exemplo, A1).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 na guia "Página Inicial" &gt; "Formatar como Tabela".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Escolha um estilo de cor que você quiser (azul, verde, listrado...).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Marque a opção “Minha tabela tem cabeçalhos” e clique em OK.</a:t>
            </a:r>
            <a:endParaRPr/>
          </a:p>
        </p:txBody>
      </p:sp>
      <p:sp>
        <p:nvSpPr>
          <p:cNvPr id="315" name="Google Shape;315;p38"/>
          <p:cNvSpPr/>
          <p:nvPr/>
        </p:nvSpPr>
        <p:spPr>
          <a:xfrm>
            <a:off x="156487" y="3959111"/>
            <a:ext cx="67549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Agora use essas funções nas células abaixo da tabela: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célula C7 Escreva Total e Abaixo,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escreva: =SOMA(C2:C6)</a:t>
            </a:r>
            <a:endParaRPr/>
          </a:p>
        </p:txBody>
      </p:sp>
      <p:pic>
        <p:nvPicPr>
          <p:cNvPr id="316" name="Google Shape;31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4639" y="1727183"/>
            <a:ext cx="3653597" cy="205674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8"/>
          <p:cNvSpPr/>
          <p:nvPr/>
        </p:nvSpPr>
        <p:spPr>
          <a:xfrm>
            <a:off x="108114" y="4503625"/>
            <a:ext cx="791873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Vamos somar  a média. Na célula C8, escreva: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=MÉDIA(C2:C6)</a:t>
            </a:r>
            <a:endParaRPr/>
          </a:p>
        </p:txBody>
      </p:sp>
      <p:sp>
        <p:nvSpPr>
          <p:cNvPr id="318" name="Google Shape;318;p38"/>
          <p:cNvSpPr/>
          <p:nvPr/>
        </p:nvSpPr>
        <p:spPr>
          <a:xfrm>
            <a:off x="210787" y="4811402"/>
            <a:ext cx="87224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Vamos calcular o preço Máximo dos produtos. Na célula C9, escreva: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=MÁXIMO(C2:C6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Vai mostrar o preço mais alto da lista.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2025-04-28T23:09:06Z</dcterms:created>
  <dc:creator>leo Souza</dc:creator>
</cp:coreProperties>
</file>