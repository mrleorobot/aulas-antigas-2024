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id8vfXu0tXsiBoAvJm2eVwhf8s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288623-1258-4F7B-A971-047308444B83}">
  <a:tblStyle styleId="{98288623-1258-4F7B-A971-047308444B8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d39af0af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6d39af0af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512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6043232" y="822021"/>
            <a:ext cx="5060515" cy="5060515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083510" y="2271383"/>
            <a:ext cx="6884968" cy="21617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7D22"/>
              </a:buClr>
              <a:buSzPts val="16600"/>
              <a:buFont typeface="Arial"/>
              <a:buNone/>
            </a:pPr>
            <a:r>
              <a:rPr b="1" i="0" lang="pt-BR" sz="16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RH</a:t>
            </a:r>
            <a:endParaRPr b="1" i="0" sz="4400" u="none" cap="none" strike="noStrike">
              <a:solidFill>
                <a:srgbClr val="3A7D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453376" y="3097060"/>
            <a:ext cx="4659137" cy="5104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RECURSOS HUMANOS?</a:t>
            </a:r>
            <a:endParaRPr b="1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64435" y="3150201"/>
            <a:ext cx="1146313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Recursos Humanos (RH)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setor responsável por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cuidar das pessoas dentro da empresa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Atua desde a contratação até o desligamento dos funcionários.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 foco em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desenvolvimento, motivação e bem-estar dos colaboradores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RH também organiza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treinamentos, avaliações de desempenho e clima organizacional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DEPARTAMENTO PESSOAL?</a:t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331304" y="2792969"/>
            <a:ext cx="1152939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Departamento Pessoal (DP)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cuida da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burocrática e legal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dos funcionários.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Responsável por: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Admissão e demissão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Férias e 13º salário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Folha de pagamento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Encargos sociais (INSS, FGTS, IRRF)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Garante que a empresa siga a </a:t>
            </a: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legislação trabalhista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corretamente.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ETAPAS NA ADMISSÃO DE UM FUNCIONÁRIO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3372679" y="2095214"/>
            <a:ext cx="5446643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Recrutamento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Divulgação da vaga e atração de candidatos.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Seleção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Análise de currículos, entrevistas e testes.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Documentação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Coleta de documentos pessoais e profissionais.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Registro em carteira (CTPS)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Assinatura da carteira e cadastro no eSocial.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Contrato de trabalho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Definição do tipo de contrato (CLT, experiência etc).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Integração</a:t>
            </a:r>
            <a:b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 da empresa e normas internas.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RECURSOS HUMANOS × DEPARTAMENTO PESSOAL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158924" y="1269760"/>
            <a:ext cx="32367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(Diferenças e Características)</a:t>
            </a:r>
            <a:endParaRPr/>
          </a:p>
        </p:txBody>
      </p:sp>
      <p:graphicFrame>
        <p:nvGraphicFramePr>
          <p:cNvPr id="119" name="Google Shape;119;p5"/>
          <p:cNvGraphicFramePr/>
          <p:nvPr/>
        </p:nvGraphicFramePr>
        <p:xfrm>
          <a:off x="255104" y="18566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{98288623-1258-4F7B-A971-047308444B83}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Recursos Humanos (RH)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Departamento Pessoal (DP)</a:t>
                      </a:r>
                      <a:endParaRPr sz="1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Foco em pessoas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Foco em processos legais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Gestão de talentos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Gestão de documentos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Clima organizacional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Admissão e demissão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Treinamentos e capacitação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Folha de pagamento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Avaliação de desempenho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Encargos e obrigações legais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5"/>
          <p:cNvSpPr/>
          <p:nvPr/>
        </p:nvSpPr>
        <p:spPr>
          <a:xfrm>
            <a:off x="158924" y="4547008"/>
            <a:ext cx="53539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RH é estratégico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pensa no futuro da equipe.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DP é operacional</a:t>
            </a: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executa rotinas obrigatórias.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DOCUMENTOS (Área de RH e DP)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762538" y="2093197"/>
            <a:ext cx="9223513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Documentos para Admissão: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RG e CPF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Carteira de Trabalho (CTPS)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Comprovante de residência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Título de eleitor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Certificado de reservista (homens)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Certidão de nascimento dos filhos (para salário-família)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Documentos utilizados no dia a dia: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Ficha de registro de empregado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Contrato de trabalho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Holerite (contracheque)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Atestado médico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Aviso prévio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CALCULANDO O PIS/PASEP NO EXCEL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185530" y="1200116"/>
            <a:ext cx="1182094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o PIS/PASEP?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Benefício pago anualmente para trabalhadores que atendem a critérios específicos.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Valor é proporcional ao tempo de trabalho no ano-base.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185530" y="2378262"/>
            <a:ext cx="1155589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no Excel: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Funcionário trabalhou 8 meses no ano. Salário mínimo: R$ 1.512,00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Fórmula:</a:t>
            </a:r>
            <a:endParaRPr/>
          </a:p>
        </p:txBody>
      </p:sp>
      <p:graphicFrame>
        <p:nvGraphicFramePr>
          <p:cNvPr id="136" name="Google Shape;136;p7"/>
          <p:cNvGraphicFramePr/>
          <p:nvPr/>
        </p:nvGraphicFramePr>
        <p:xfrm>
          <a:off x="185530" y="3455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{98288623-1258-4F7B-A971-047308444B83}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B1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Salário Mínimo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1412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Meses Trabalhados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Valor do PIS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=B1/12*B2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FOLHA DE PAGAMENTO E SUAS PROPRIEDADES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172278" y="1218554"/>
            <a:ext cx="1170167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Documento que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detalha os valores pagos ao funcionário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 período (geralmente mensal).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 principais: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Salário base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Horas extras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Descontos (INSS, IRRF, faltas)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Benefícios (VT, VR, plano de saúde)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Salário líquido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valor final recebido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Importância: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Garante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transparência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 empresa e o empregado.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exigida por lei e usada para fins 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fiscalização e comprovação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renda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FOLHAS DE CÁLCULO UTILIZANDO TAXAS DE DESPESAS E RECEITAS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251791" y="1363822"/>
            <a:ext cx="115558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Controlar quanto a empresa ganha (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receitas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e gasta (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despesas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por mês.</a:t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251791" y="2010153"/>
            <a:ext cx="17748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Monte a tabela:</a:t>
            </a:r>
            <a:endParaRPr/>
          </a:p>
        </p:txBody>
      </p:sp>
      <p:graphicFrame>
        <p:nvGraphicFramePr>
          <p:cNvPr id="152" name="Google Shape;152;p9"/>
          <p:cNvGraphicFramePr/>
          <p:nvPr/>
        </p:nvGraphicFramePr>
        <p:xfrm>
          <a:off x="276877" y="25594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{98288623-1258-4F7B-A971-047308444B83}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A (Descrição)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 (Valor)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Mesada da mamãe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100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Mesada do papai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50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Bala na escola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-10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Lanche no sábado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-20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Presentinho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Arial"/>
                          <a:ea typeface="Arial"/>
                          <a:cs typeface="Arial"/>
                          <a:sym typeface="Arial"/>
                        </a:rPr>
                        <a:t>-15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9"/>
          <p:cNvSpPr/>
          <p:nvPr/>
        </p:nvSpPr>
        <p:spPr>
          <a:xfrm>
            <a:off x="2026636" y="2010153"/>
            <a:ext cx="29675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Tabelinha simples no Excel</a:t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251791" y="4940613"/>
            <a:ext cx="654749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fazer no Excel: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célula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B6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digite: =SOMA(B1:B2) Isso soma as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RECEITAS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B7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digite: =SOMA(B3:B5) Isso soma as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DESPESAS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B8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digite: =B6 - B7 Isso mostra o quanto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sobrou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INSTITUTO NACIONAL DO SEGURO SOCIAL (INSS)</a:t>
            </a:r>
            <a:endParaRPr/>
          </a:p>
        </p:txBody>
      </p:sp>
      <p:sp>
        <p:nvSpPr>
          <p:cNvPr id="161" name="Google Shape;161;p10"/>
          <p:cNvSpPr/>
          <p:nvPr/>
        </p:nvSpPr>
        <p:spPr>
          <a:xfrm>
            <a:off x="655983" y="2020960"/>
            <a:ext cx="1088003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o órgão responsável pelo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pagamento de benefícios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Aposentadoria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Auxílio-doença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Salário-maternidade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pt-BR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Pensão por morte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Contribuição obrigatória: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Descontada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diretamente do salário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trabalhador com carteira assinada (CLT).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empresa também contribui com uma parte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fora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salário.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Tabela de contribuição (atualizada todo ano)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Percentual varia conforme o valor do salário (progressiva).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CÁLCULO DE FÉRIAS E 13º SALÁRIO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265043" y="1052187"/>
            <a:ext cx="1166191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Férias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trabalhador tem direito 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dias de férias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depois de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 meses trabalhando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Ele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recebe só o salário normal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mas também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bônus de 1/3 a mais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calcular?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Pega o salário e soma mais um terço: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o salário é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R$ 900,00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cálculo é: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1/3 de 900 =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R$ 300,00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900 + 300 =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R$ 1.200,00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(valor que ele recebe nas férias)</a:t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265043" y="3914509"/>
            <a:ext cx="1115833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13º Salário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 pagamento extra no fim do ano, tipo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“um salário de presente”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a pessoa trabalhou o ano inteiro, ela ganha o valor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inteiro do salário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trabalhou só alguns meses, ganha só uma parte.</a:t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357809" y="5114838"/>
            <a:ext cx="10760765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calcular?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Divide o salário por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(porque o ano tem 12 meses) e multiplica pelos meses que trabalhou.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Salário: R$ 1.200,00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Trabalhou 6 meses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1.200 ÷ 12 = 100</a:t>
            </a:r>
            <a:endParaRPr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× 6 =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R$ 600,00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(valor proporcional do 13º)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0" y="1"/>
            <a:ext cx="12192000" cy="1052186"/>
          </a:xfrm>
          <a:prstGeom prst="rect">
            <a:avLst/>
          </a:prstGeom>
          <a:solidFill>
            <a:srgbClr val="0C3512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CÁLCULOS GERAIS COM CALCULADORA</a:t>
            </a:r>
            <a:endParaRPr b="1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1126435" y="1761893"/>
            <a:ext cx="993913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calculadora serve para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fazer contas simples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como: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Somar e subtrair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ganhou e o que gastou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Calcular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1/3 das férias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quanto sobra depois de um desconto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1 – Desconto no salário: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Salário: R$ 1.000,00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Desconto do INSS: R$ 80,00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1000 - 80 =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R$ 920,00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 2 – Salário + bônus de férias: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Salário: R$ 1.200,00</a:t>
            </a:r>
            <a:b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1/3 = R$ 400,00</a:t>
            </a:r>
            <a:endParaRPr/>
          </a:p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1200 + 400 = </a:t>
            </a:r>
            <a:r>
              <a:rPr b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R$ 1.600,00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3512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d39af0af3_0_0"/>
          <p:cNvSpPr/>
          <p:nvPr/>
        </p:nvSpPr>
        <p:spPr>
          <a:xfrm>
            <a:off x="6043232" y="822021"/>
            <a:ext cx="5060400" cy="50604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6d39af0af3_0_0"/>
          <p:cNvSpPr txBox="1"/>
          <p:nvPr/>
        </p:nvSpPr>
        <p:spPr>
          <a:xfrm>
            <a:off x="5083510" y="2271383"/>
            <a:ext cx="6885000" cy="21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7D22"/>
              </a:buClr>
              <a:buSzPts val="16600"/>
              <a:buFont typeface="Arial"/>
              <a:buNone/>
            </a:pPr>
            <a:r>
              <a:rPr b="1" i="0" lang="pt-BR" sz="16600" u="none" cap="none" strike="noStrike">
                <a:solidFill>
                  <a:srgbClr val="3A7D22"/>
                </a:solidFill>
                <a:latin typeface="Arial"/>
                <a:ea typeface="Arial"/>
                <a:cs typeface="Arial"/>
                <a:sym typeface="Arial"/>
              </a:rPr>
              <a:t>RH</a:t>
            </a:r>
            <a:endParaRPr b="1" i="0" sz="4400" u="none" cap="none" strike="noStrike">
              <a:solidFill>
                <a:srgbClr val="3A7D2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6d39af0af3_0_0"/>
          <p:cNvSpPr txBox="1"/>
          <p:nvPr/>
        </p:nvSpPr>
        <p:spPr>
          <a:xfrm>
            <a:off x="453376" y="3097060"/>
            <a:ext cx="4659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i="0" lang="pt-BR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sp>
        <p:nvSpPr>
          <p:cNvPr id="185" name="Google Shape;185;g36d39af0af3_0_0"/>
          <p:cNvSpPr txBox="1"/>
          <p:nvPr/>
        </p:nvSpPr>
        <p:spPr>
          <a:xfrm>
            <a:off x="252675" y="3490875"/>
            <a:ext cx="50604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FFFFFF"/>
                </a:solidFill>
              </a:rPr>
              <a:t>ATIVIDADE IMPRESSA</a:t>
            </a:r>
            <a:endParaRPr b="1"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2025-04-28T23:09:06Z</dcterms:created>
  <dc:creator>leo Souza</dc:creator>
</cp:coreProperties>
</file>