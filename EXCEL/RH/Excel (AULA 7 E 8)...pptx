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715000" type="screen16x10"/>
  <p:notesSz cx="6858000" cy="9144000"/>
  <p:embeddedFontLst>
    <p:embeddedFont>
      <p:font typeface="Play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gNJeL7zMsx9qCMhuU1HqhHhZYJ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144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120" y="1143000"/>
            <a:ext cx="493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120" y="1143000"/>
            <a:ext cx="493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61E9C9F-5FB3-13D0-EBF9-B5BD936A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C4DAC07-5970-8E01-BAD2-366936ECD7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111723F-FDC1-824A-F69D-8BB456B0F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96C75FC-DAB3-4A2D-CB2F-B7C0082078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17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8DEB721-6B47-40EE-517B-D0615DAAA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1C46C34-B8AD-7061-E00F-E79900563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BDF5AEA-133C-6A8B-324C-B7A15C3C6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E971169-D987-7B0D-1604-194A794024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55861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774576B-0801-BDFF-5D37-DB2255485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0BACF15-288F-258F-71B0-32484290D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7554156-5B8A-5B47-09DC-08FC7FF738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9982B10-8281-3473-AD1F-AD01DA4936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268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C4F7162-72E7-5B59-8470-95713689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41E92A9-E5FC-8373-FFA4-9D5D83A24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4589210D-8361-A8ED-3DB5-31496971BD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B55D0B8-D341-549D-1C92-5776369521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4833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2816C70-0C40-6E6E-6104-F25270256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864E4B5-E18E-5C9B-3B66-377D2CD8FF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9F142C5-D291-9140-4108-08A48EEF31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9028FDA-A22F-DD67-0F92-1EEACA3FAA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384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8066A64-7F8B-FAA3-6DF5-D0AC33E02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48D8C73-7C0D-1F55-1D66-9E708B5D67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69691C9-6DFB-0C1F-82F7-2C1217BAA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712EFB7-77AB-6B39-6124-762272B3E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601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5057109-1144-78AC-05AA-4D748FD5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C28B317-FABD-627C-0EE7-5BFB21C9B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1FEF5F2-4448-C1EB-2E55-51B5DFF29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EC7D5AF-A1D6-2574-7AA7-CBF061AEA1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5966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9FF930F-FD1E-62F8-AC30-1575029E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6305A37-D3F2-F38E-3934-4DE70ECC7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CD34CCB-A1B9-2F3F-AB52-E7A4E5CF16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2289EA4-AC65-B24A-E706-BF7C23FA9D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5686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5855F06-A255-88CD-0E91-D57A2CD7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A0AC88F-713E-3102-6B4E-5C6228998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F3FE463-FD6A-25C8-6867-694AE632D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71E6D1A-2877-0C29-52E5-11883606B6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2911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274590C-73BE-ADDC-F9DF-31F806FA0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BCD82E3C-F50B-A2E9-55B8-CD6F51699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671A566-CA8F-F438-93D1-AF9DA0D09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C218B28-CCBE-241D-1251-EDB7FD9985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0654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7EAA126-D74A-803D-91E2-F06FB8CB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596E2FD-70DF-7D44-C210-8BED76206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42F2408-EF43-8DDF-D338-AFA12EBC5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0C47B1F-0726-F250-32B6-A9475C42FF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3814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4AE9997B-A0E1-8F2D-15F3-F67F1FCB6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425CDB2-F692-4BA8-5CD6-8BAD373C8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52CD7AC-1A1E-EA91-7B2D-ACBC489A9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1DA77DF-BA63-0126-E8EB-A150C23195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332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9098654-DBE1-19AA-93C5-6BD5F595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F47094F-143E-67E8-2BCF-4D7AE45545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7FB480F-50B6-5BD2-E2D3-8A56362C7B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88DE673-B38F-E68D-CF21-4C6D5F56F9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416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2E0D309-9613-7D60-4D96-0E85A4791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C9FAE2A-C72F-9FBD-347B-8196987F8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79220A7-F3A3-FCC4-FA42-F6C84779A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DC513E4E-056B-67C1-B755-5DE20DE774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4530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1515BA0-140A-F2AC-6220-8D2FF7B5E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1EAF9D1-F135-DF21-3F8C-537086B53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08A35A1-8787-7AD6-506F-8D7A80D24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6902C94-5D74-95BB-6D7D-09923ED7C1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67947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A798BE7F-9ADA-F108-8068-DA3B7D47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64018438-064D-4F31-F72C-3F756C260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BA8E4D3-00B7-490A-0199-69CEE9BDD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D7F9A90-D5EE-10E3-1365-0397189AC2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78132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79506E5-F58C-3D14-9544-9A89CBDE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E4BF3E4-8AC4-3AFF-BE5C-4B12FE86AD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8AE5645-120D-36D2-B3FF-83AAE3825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8D739B21-DD9D-FD52-410F-C427528ED2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06445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F268F24-6F85-FD56-D3D9-496B51D93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2882C58A-D7F5-75BD-FF29-7D6B3FCC91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4804DB2-A2B6-6E4C-EBAA-BBC1E1A39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170F3965-E9EF-6D0D-1F92-44279CB36B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7000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2E6B8E9-D46F-16D8-463D-6734B454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E1D42CB-F7D6-9049-C67E-00E32C90E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10E3024-E1F7-7BFE-E22E-844EDB2F0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32463FA-8ACB-BC73-2DD4-91CB960B01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854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C72E3F7E-54AC-E2BC-A6D9-5841307A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DE5BBE83-3519-87F9-2F68-FCA1D8594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6BB437D-DE3F-818A-59AD-5F46A3E6B7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88C6C86-6449-EE11-D70B-E6EFC029A1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6095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55AB385-61F1-1E5C-B77B-2816B05B8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CEAF6052-D602-F025-64FC-7D93AC8CB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34A4287-1FF0-AD18-8273-4A96E486F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E0C0434-34E4-E32B-F90C-1641553797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215716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117A1CE-E172-3D0F-698C-D4ADB253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1B1D16CE-1CC8-AE5D-EA03-6884548A8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4057961-1995-A278-38F3-4C40DED62D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CFA2F16A-C8AF-B814-B873-878E108134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83243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91D7539-5036-BFE7-614A-19AC3FFD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AC98B26A-031C-8438-E001-992907005D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464381C-6117-2CB1-45E1-A713F9973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C6192A5-2242-264C-E578-4387CD7685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7156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F34255F-EBF6-2EF7-C3F9-D09FE4CB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B6BE892-4D1A-9FEB-566A-4C6B51206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DE344C1-7EFD-3F7E-0167-B4EC84984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A56C5664-D830-B76B-D737-95B56E5BBD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3289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08C0BB4-70ED-9A32-55C3-6DB368040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A61E4C7-06F6-5957-6461-A7B53EF6C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5D858CA7-ED38-9880-32DC-4D066EF14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256B338A-64DA-428B-4E21-BC391414E4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81871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043C6CF-847C-2BD3-432B-2EB68823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814DD6BB-670C-064B-355C-F0F0DC20C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C07211C5-6393-B344-5526-CEADACE2A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0B48853-2452-B426-091F-33E9F5A125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36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>
            <a:spLocks noGrp="1"/>
          </p:cNvSpPr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2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2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body" idx="3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4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873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marL="914400" lvl="1" indent="-3683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492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marL="1828800" lvl="3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sz="3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864A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532424" y="685017"/>
            <a:ext cx="3795300" cy="42171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99599" y="2252818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lang="pt-BR" sz="3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318280" y="2793565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id="91" name="Google Shape;91;p1" descr="Ícone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6896" y="945542"/>
            <a:ext cx="3326444" cy="332644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318280" y="3127031"/>
            <a:ext cx="5590800" cy="9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100" tIns="35550" rIns="71100" bIns="3555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pt-BR" sz="1400" b="0" i="0" u="none" strike="noStrike" cap="none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LOCALIZAR E SUBSTITUIR DADOS</a:t>
            </a:r>
            <a:endParaRPr sz="1100" dirty="0"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pt-BR" sz="1400" b="0" i="0" u="none" strike="noStrike" cap="none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CONTROLE DE ALTERAÇÕES</a:t>
            </a:r>
            <a:endParaRPr sz="1100" dirty="0"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pt-BR" sz="1400" b="0" i="0" u="none" strike="noStrike" cap="none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PROTEÇÃO E COMPARTILHAMENTO DE PASTAS</a:t>
            </a:r>
            <a:endParaRPr sz="1100" dirty="0"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Arial"/>
              <a:buChar char="•"/>
            </a:pPr>
            <a:r>
              <a:rPr lang="pt-BR" sz="1400" b="0" i="0" u="none" strike="noStrike" cap="none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EXERCÍCIOS</a:t>
            </a:r>
            <a:endParaRPr sz="1400" b="0" i="0" u="none" strike="noStrike" cap="none" dirty="0">
              <a:solidFill>
                <a:srgbClr val="F2F2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 no Mercado de Trabalho</a:t>
            </a:r>
            <a:endParaRPr lang="pt-BR" sz="11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04228E2-815E-35D6-D8EF-6C9AD5A68D8F}"/>
              </a:ext>
            </a:extLst>
          </p:cNvPr>
          <p:cNvSpPr txBox="1"/>
          <p:nvPr/>
        </p:nvSpPr>
        <p:spPr>
          <a:xfrm>
            <a:off x="367862" y="1412190"/>
            <a:ext cx="84082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Atualmente, um dos requisitos do exigente mercado de trabalho é saber como usar e criar planilhas no Excel. Hoje, ele está presente em mais de 95% das empresas em todo o mundo, e ter conhecimentos, mesmo que sejam básicos, é, com toda certeza, importante.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C592727-ECAE-7744-0B99-E69B27949682}"/>
              </a:ext>
            </a:extLst>
          </p:cNvPr>
          <p:cNvSpPr txBox="1"/>
          <p:nvPr/>
        </p:nvSpPr>
        <p:spPr>
          <a:xfrm>
            <a:off x="683172" y="2508844"/>
            <a:ext cx="773561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Construindo uma Planilha no Excel</a:t>
            </a:r>
            <a:endParaRPr lang="pt-BR" dirty="0"/>
          </a:p>
          <a:p>
            <a:pPr>
              <a:buNone/>
            </a:pPr>
            <a:r>
              <a:rPr lang="pt-BR" dirty="0"/>
              <a:t>Para construir uma planilha no Excel, a primeira coisa que devemos fazer é abrir o programa. Ao abrir o Excel, você vai para uma tela onde pode: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Abrir uma pasta de trabalho em branco;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Abrir uma planilha já salva;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Criar uma nova pasta de trabalho a partir de modelos prontos.</a:t>
            </a:r>
          </a:p>
          <a:p>
            <a:r>
              <a:rPr lang="pt-BR" dirty="0"/>
              <a:t>Aqui, vamos escolher uma </a:t>
            </a:r>
            <a:r>
              <a:rPr lang="pt-BR" b="1" dirty="0"/>
              <a:t>planilha em branco</a:t>
            </a:r>
            <a:r>
              <a:rPr lang="pt-BR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BF48213-A890-5378-32E7-0E670470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D7940C6B-E793-8F6A-A3A0-DB560396BBD5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Área de Trabalho do Excel</a:t>
            </a:r>
            <a:endParaRPr lang="pt-BR" sz="11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DD1D04-87E6-7B44-614F-3044F4B79C7B}"/>
              </a:ext>
            </a:extLst>
          </p:cNvPr>
          <p:cNvSpPr txBox="1"/>
          <p:nvPr/>
        </p:nvSpPr>
        <p:spPr>
          <a:xfrm>
            <a:off x="252248" y="1178566"/>
            <a:ext cx="863950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Ao clicar em "Pasta de Trabalho em Branco", você será redirecionado para a </a:t>
            </a:r>
            <a:r>
              <a:rPr lang="pt-BR" b="1" dirty="0"/>
              <a:t>área de trabalho do Excel</a:t>
            </a:r>
            <a:r>
              <a:rPr lang="pt-BR" dirty="0"/>
              <a:t>, que é composta por: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Barra de Título:</a:t>
            </a:r>
            <a:r>
              <a:rPr lang="pt-BR" dirty="0"/>
              <a:t> Exibe o nome do arquivo e do programa.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Botões Minimizar, Maximizar (Restaurar) e Fechar Janela.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Menu de Acesso Rápido:</a:t>
            </a:r>
            <a:r>
              <a:rPr lang="pt-BR" dirty="0"/>
              <a:t> Visualiza atalhos úteis como salvar, desfazer, refazer,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Faixa de Opções:</a:t>
            </a:r>
            <a:r>
              <a:rPr lang="pt-BR" dirty="0"/>
              <a:t> Contém as guias (Arquivo, Página Inicial, Inserir etc.) com seus respectivos grupos de ferramentas.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Caixa de Nome:</a:t>
            </a:r>
            <a:r>
              <a:rPr lang="pt-BR" dirty="0"/>
              <a:t> Mostra a célula selecionada no momento (</a:t>
            </a:r>
            <a:r>
              <a:rPr lang="pt-BR" dirty="0" err="1"/>
              <a:t>ex</a:t>
            </a:r>
            <a:r>
              <a:rPr lang="pt-BR" dirty="0"/>
              <a:t>: A1).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Barra de Fórmulas:</a:t>
            </a:r>
            <a:r>
              <a:rPr lang="pt-BR" dirty="0"/>
              <a:t> Podemos digitar e editar conteúdos nela que irão para a célula selecionada.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Colunas:</a:t>
            </a:r>
            <a:r>
              <a:rPr lang="pt-BR" dirty="0"/>
              <a:t> Linhas verticais identificadas por letras (A até XFD).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Linhas:</a:t>
            </a:r>
            <a:r>
              <a:rPr lang="pt-BR" dirty="0"/>
              <a:t> Linhas horizontais identificadas por números (1 até 1.048.576).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Células:</a:t>
            </a:r>
            <a:r>
              <a:rPr lang="pt-BR" dirty="0"/>
              <a:t> Encontro de uma linha com uma coluna (</a:t>
            </a:r>
            <a:r>
              <a:rPr lang="pt-BR" dirty="0" err="1"/>
              <a:t>ex</a:t>
            </a:r>
            <a:r>
              <a:rPr lang="pt-BR" dirty="0"/>
              <a:t>: A1).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Guia da Planilha:</a:t>
            </a:r>
            <a:r>
              <a:rPr lang="pt-BR" dirty="0"/>
              <a:t> Parte inferior onde é exibido o nome da aba (Plan1, Plan2...), pode ser renomeado.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Barra de Rolagem Vertical:</a:t>
            </a:r>
            <a:r>
              <a:rPr lang="pt-BR" dirty="0"/>
              <a:t> Para rolar a planilha para cima ou para baixo.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Barra de Rolagem Horizontal:</a:t>
            </a:r>
            <a:r>
              <a:rPr lang="pt-BR" dirty="0"/>
              <a:t> Para rolar a planilha para os lados.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Zoom:</a:t>
            </a:r>
            <a:r>
              <a:rPr lang="pt-BR" dirty="0"/>
              <a:t> Para aumentar ou diminuir a visualização da área de trabalho.</a:t>
            </a:r>
          </a:p>
        </p:txBody>
      </p:sp>
    </p:spTree>
    <p:extLst>
      <p:ext uri="{BB962C8B-B14F-4D97-AF65-F5344CB8AC3E}">
        <p14:creationId xmlns:p14="http://schemas.microsoft.com/office/powerpoint/2010/main" val="181293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07B2CAE-032D-CEFA-9484-C247F82D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0099F4F-040A-8591-8BB6-386F76D55FFF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AUTOMATIZANDO PLANILHAS</a:t>
            </a:r>
            <a:endParaRPr lang="pt-BR" sz="11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E6CC98C-B519-3564-A675-7038FBA90E5E}"/>
              </a:ext>
            </a:extLst>
          </p:cNvPr>
          <p:cNvSpPr txBox="1"/>
          <p:nvPr/>
        </p:nvSpPr>
        <p:spPr>
          <a:xfrm>
            <a:off x="294288" y="1215112"/>
            <a:ext cx="84713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Existem diversos modos de automatizar planilhas no Excel. Hoje, veremos </a:t>
            </a:r>
            <a:r>
              <a:rPr lang="pt-BR" b="1" dirty="0"/>
              <a:t>3 métodos diferentes</a:t>
            </a:r>
            <a:r>
              <a:rPr lang="pt-BR" dirty="0"/>
              <a:t> para deixar sua planilha mais automática e livrar você de trabalhos pesados e demorados.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E272D7-000E-5952-5C26-ED6CF8A86AA1}"/>
              </a:ext>
            </a:extLst>
          </p:cNvPr>
          <p:cNvSpPr txBox="1"/>
          <p:nvPr/>
        </p:nvSpPr>
        <p:spPr>
          <a:xfrm>
            <a:off x="294288" y="1899244"/>
            <a:ext cx="835572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Iremos ver:</a:t>
            </a: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 Formatar Dados Como Tabela</a:t>
            </a:r>
            <a:br>
              <a:rPr lang="pt-BR" dirty="0"/>
            </a:br>
            <a:r>
              <a:rPr lang="pt-BR" dirty="0"/>
              <a:t>Deixa os dados organizados visualmente e ativa automaticamente filtros, além de permitir o uso fácil de fórmulas dinâmicas.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 Criar Tabela Dinâmica</a:t>
            </a:r>
            <a:br>
              <a:rPr lang="pt-BR" dirty="0"/>
            </a:br>
            <a:r>
              <a:rPr lang="pt-BR" dirty="0"/>
              <a:t>Permite analisar grandes quantidades de dados de forma rápida, agrupando, resumindo e criando relatórios automatizados com poucos cliques.</a:t>
            </a:r>
          </a:p>
          <a:p>
            <a:pPr>
              <a:buFont typeface="+mj-lt"/>
              <a:buAutoNum type="arabicPeriod"/>
            </a:pPr>
            <a:endParaRPr lang="pt-BR" dirty="0"/>
          </a:p>
          <a:p>
            <a:pPr>
              <a:buFont typeface="+mj-lt"/>
              <a:buAutoNum type="arabicPeriod"/>
            </a:pPr>
            <a:r>
              <a:rPr lang="pt-BR" b="1" dirty="0"/>
              <a:t> Inserir Validação de Dados (Lista Suspensa)</a:t>
            </a:r>
            <a:br>
              <a:rPr lang="pt-BR" dirty="0"/>
            </a:br>
            <a:r>
              <a:rPr lang="pt-BR" dirty="0"/>
              <a:t>Garante que os dados digitados nas células sigam um padrão, evitando erros e agilizando o preenchimento. É muito usada para criar formulários e cadastros.</a:t>
            </a:r>
          </a:p>
          <a:p>
            <a:r>
              <a:rPr lang="pt-BR" dirty="0"/>
              <a:t>Esses são os principais métodos </a:t>
            </a:r>
            <a:r>
              <a:rPr lang="pt-BR" b="1" dirty="0"/>
              <a:t>mais básicos e eficientes</a:t>
            </a:r>
            <a:r>
              <a:rPr lang="pt-BR" dirty="0"/>
              <a:t> para começar a automatizar suas planilhas no Excel!</a:t>
            </a:r>
          </a:p>
        </p:txBody>
      </p:sp>
    </p:spTree>
    <p:extLst>
      <p:ext uri="{BB962C8B-B14F-4D97-AF65-F5344CB8AC3E}">
        <p14:creationId xmlns:p14="http://schemas.microsoft.com/office/powerpoint/2010/main" val="2738138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8404384-96E7-C98C-EFED-E2777BD5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43D810C-A19B-A191-D14A-477EC9593890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AUTOMATIZANDO PLANILHAS</a:t>
            </a:r>
            <a:endParaRPr lang="pt-BR" sz="11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4F2E15-CF56-EE64-BB66-876570994D47}"/>
              </a:ext>
            </a:extLst>
          </p:cNvPr>
          <p:cNvSpPr txBox="1"/>
          <p:nvPr/>
        </p:nvSpPr>
        <p:spPr>
          <a:xfrm>
            <a:off x="399393" y="1308465"/>
            <a:ext cx="839776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/>
              <a:t>Existem diversos modos de automatizar planilhas no Excel.</a:t>
            </a:r>
            <a:br>
              <a:rPr lang="pt-BR" dirty="0"/>
            </a:br>
            <a:r>
              <a:rPr lang="pt-BR" dirty="0"/>
              <a:t>Hoje, veremos </a:t>
            </a:r>
            <a:r>
              <a:rPr lang="pt-BR" b="1" dirty="0"/>
              <a:t>3 métodos diferentes</a:t>
            </a:r>
            <a:r>
              <a:rPr lang="pt-BR" dirty="0"/>
              <a:t> para deixar sua planilha mais automática e </a:t>
            </a:r>
            <a:r>
              <a:rPr lang="pt-BR" b="1" dirty="0"/>
              <a:t>livrar você de trabalhos pesados e demorados</a:t>
            </a:r>
            <a:r>
              <a:rPr lang="pt-BR" dirty="0"/>
              <a:t>.</a:t>
            </a:r>
          </a:p>
          <a:p>
            <a:pPr>
              <a:buNone/>
            </a:pPr>
            <a:r>
              <a:rPr lang="pt-BR" b="1" dirty="0"/>
              <a:t>Iremos ver: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Formatar Dados Como Tabela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Criar Tabela Dinâmica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Inserir Validação de Dados (Lista Suspensa)</a:t>
            </a:r>
          </a:p>
          <a:p>
            <a:endParaRPr lang="pt-BR" dirty="0"/>
          </a:p>
          <a:p>
            <a:r>
              <a:rPr lang="pt-BR" dirty="0"/>
              <a:t>Esses são os principais métodos mais básicos e práticos para </a:t>
            </a:r>
            <a:r>
              <a:rPr lang="pt-BR" b="1" dirty="0"/>
              <a:t>automatizar suas planilhas</a:t>
            </a:r>
            <a:r>
              <a:rPr lang="pt-BR" dirty="0"/>
              <a:t> e facilitar seu dia a dia no Excel!</a:t>
            </a:r>
          </a:p>
        </p:txBody>
      </p:sp>
    </p:spTree>
    <p:extLst>
      <p:ext uri="{BB962C8B-B14F-4D97-AF65-F5344CB8AC3E}">
        <p14:creationId xmlns:p14="http://schemas.microsoft.com/office/powerpoint/2010/main" val="301244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B60D837-A61E-A324-64DD-2D272798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983B04C-9BC2-D57D-B37C-517118B9ABEB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FORMATAR UMA PLANILHA EM BRANCO COMO TABELA NO EXCEL</a:t>
            </a:r>
            <a:endParaRPr lang="pt-BR" sz="1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4EB52F-2168-92C2-4FDA-837E39C8BABD}"/>
              </a:ext>
            </a:extLst>
          </p:cNvPr>
          <p:cNvSpPr txBox="1"/>
          <p:nvPr/>
        </p:nvSpPr>
        <p:spPr>
          <a:xfrm>
            <a:off x="283780" y="1238750"/>
            <a:ext cx="8607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Insira os dados na planilha</a:t>
            </a:r>
          </a:p>
          <a:p>
            <a:r>
              <a:rPr lang="pt-BR" dirty="0"/>
              <a:t>Antes de tudo, digite as informações que deseja organizar. Exemplo: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56ACFF5-3B68-3071-D86D-40A4DF48B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561812"/>
              </p:ext>
            </p:extLst>
          </p:nvPr>
        </p:nvGraphicFramePr>
        <p:xfrm>
          <a:off x="407933" y="1946520"/>
          <a:ext cx="7886700" cy="12192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670314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19909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76814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Produto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Quantidade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Preço Unitário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772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Biscoito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3,50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707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Suco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4,00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199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Pão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0,90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409678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019EDD95-1098-C3B7-D249-678D2951753C}"/>
              </a:ext>
            </a:extLst>
          </p:cNvPr>
          <p:cNvSpPr txBox="1"/>
          <p:nvPr/>
        </p:nvSpPr>
        <p:spPr>
          <a:xfrm>
            <a:off x="407932" y="3350270"/>
            <a:ext cx="84838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Clique e arraste para </a:t>
            </a:r>
            <a:r>
              <a:rPr lang="pt-BR" b="1" dirty="0"/>
              <a:t>selecionar toda a área da tabela</a:t>
            </a:r>
            <a:r>
              <a:rPr lang="pt-BR" dirty="0"/>
              <a:t>, incluindo os títulos.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F88B58B-C1C5-1BB9-35DF-D83E160B4DBE}"/>
              </a:ext>
            </a:extLst>
          </p:cNvPr>
          <p:cNvSpPr txBox="1"/>
          <p:nvPr/>
        </p:nvSpPr>
        <p:spPr>
          <a:xfrm>
            <a:off x="407931" y="3683675"/>
            <a:ext cx="84838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Formate como Tabela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Vá até a guia </a:t>
            </a:r>
            <a:r>
              <a:rPr lang="pt-BR" b="1" dirty="0"/>
              <a:t>“Página Inicial”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Clique em </a:t>
            </a:r>
            <a:r>
              <a:rPr lang="pt-BR" b="1" dirty="0"/>
              <a:t>“Formatar como Tabela”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Escolha um </a:t>
            </a:r>
            <a:r>
              <a:rPr lang="pt-BR" b="1" dirty="0"/>
              <a:t>estilo de cor</a:t>
            </a:r>
            <a:r>
              <a:rPr lang="pt-BR" dirty="0"/>
              <a:t> (azul, verde, listrado,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Na janela que abrir: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Confirme o </a:t>
            </a:r>
            <a:r>
              <a:rPr lang="pt-BR" b="1" dirty="0"/>
              <a:t>intervalo de células</a:t>
            </a:r>
            <a:r>
              <a:rPr lang="pt-B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Marque a opção </a:t>
            </a:r>
            <a:r>
              <a:rPr lang="pt-BR" b="1" dirty="0"/>
              <a:t>“Minha tabela tem cabeçalhos”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Clique em </a:t>
            </a:r>
            <a:r>
              <a:rPr lang="pt-BR" b="1" dirty="0"/>
              <a:t>OK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438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0B1CCC5-11D3-8ECE-A17D-E21E7948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74D2DD0-2EFC-355A-6718-8C6B143D671C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FORMATAR UMA PLANILHA EM BRANCO COMO TABELA NO EXCEL</a:t>
            </a:r>
            <a:endParaRPr lang="pt-BR" sz="1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DB2546-1150-7058-3D7D-15E08C5DE736}"/>
              </a:ext>
            </a:extLst>
          </p:cNvPr>
          <p:cNvSpPr txBox="1"/>
          <p:nvPr/>
        </p:nvSpPr>
        <p:spPr>
          <a:xfrm>
            <a:off x="336330" y="1259771"/>
            <a:ext cx="85133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TESTANDO A AUTOMATIZAÇÃO</a:t>
            </a:r>
          </a:p>
          <a:p>
            <a:pPr>
              <a:buFont typeface="+mj-lt"/>
              <a:buAutoNum type="arabicPeriod"/>
            </a:pPr>
            <a:r>
              <a:rPr lang="pt-BR" dirty="0"/>
              <a:t> Vá até a </a:t>
            </a:r>
            <a:r>
              <a:rPr lang="pt-BR" b="1" dirty="0"/>
              <a:t>linha logo abaixo</a:t>
            </a:r>
            <a:r>
              <a:rPr lang="pt-BR" dirty="0"/>
              <a:t> da última da tabela.</a:t>
            </a:r>
          </a:p>
          <a:p>
            <a:pPr>
              <a:buFont typeface="+mj-lt"/>
              <a:buAutoNum type="arabicPeriod"/>
            </a:pPr>
            <a:r>
              <a:rPr lang="pt-BR" dirty="0"/>
              <a:t> Digite um novo item, como: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EE607C-88D7-937B-FE2F-5EB6536B64E4}"/>
              </a:ext>
            </a:extLst>
          </p:cNvPr>
          <p:cNvSpPr txBox="1"/>
          <p:nvPr/>
        </p:nvSpPr>
        <p:spPr>
          <a:xfrm>
            <a:off x="630621" y="1998435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Bolo   | 3 | 7,00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5F703A-D270-C79D-320A-270F3A7C560F}"/>
              </a:ext>
            </a:extLst>
          </p:cNvPr>
          <p:cNvSpPr txBox="1"/>
          <p:nvPr/>
        </p:nvSpPr>
        <p:spPr>
          <a:xfrm>
            <a:off x="336330" y="2429322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Pressione </a:t>
            </a:r>
            <a:r>
              <a:rPr lang="pt-BR" b="1" dirty="0" err="1"/>
              <a:t>Enter</a:t>
            </a:r>
            <a:r>
              <a:rPr lang="pt-BR" dirty="0"/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D586F2-F1B4-E786-0EE6-4FA5F9BB4F13}"/>
              </a:ext>
            </a:extLst>
          </p:cNvPr>
          <p:cNvSpPr txBox="1"/>
          <p:nvPr/>
        </p:nvSpPr>
        <p:spPr>
          <a:xfrm>
            <a:off x="336331" y="2857500"/>
            <a:ext cx="85133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RESULTADO:</a:t>
            </a:r>
          </a:p>
          <a:p>
            <a:pPr>
              <a:buNone/>
            </a:pPr>
            <a:r>
              <a:rPr lang="pt-BR" dirty="0"/>
              <a:t> A nova linha entra </a:t>
            </a:r>
            <a:r>
              <a:rPr lang="pt-BR" b="1" dirty="0"/>
              <a:t>automaticamente na tabela</a:t>
            </a:r>
            <a:r>
              <a:rPr lang="pt-BR" dirty="0"/>
              <a:t>, com: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Mesma </a:t>
            </a:r>
            <a:r>
              <a:rPr lang="pt-BR" b="1" dirty="0"/>
              <a:t>cor</a:t>
            </a:r>
            <a:r>
              <a:rPr lang="pt-BR" dirty="0"/>
              <a:t> e </a:t>
            </a:r>
            <a:r>
              <a:rPr lang="pt-BR" b="1" dirty="0"/>
              <a:t>borda</a:t>
            </a:r>
            <a:r>
              <a:rPr lang="pt-BR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Fórmulas (se existirem nas colunas) aplicadas automaticamente.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9ADD274-A458-3BA3-004B-04AB920E3F66}"/>
              </a:ext>
            </a:extLst>
          </p:cNvPr>
          <p:cNvSpPr txBox="1"/>
          <p:nvPr/>
        </p:nvSpPr>
        <p:spPr>
          <a:xfrm>
            <a:off x="336329" y="3975519"/>
            <a:ext cx="851337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VANTAGENS DE USAR TABELA NO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Aparência </a:t>
            </a:r>
            <a:r>
              <a:rPr lang="pt-BR" b="1" dirty="0"/>
              <a:t>uniforme e organizada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Facilita o uso de </a:t>
            </a:r>
            <a:r>
              <a:rPr lang="pt-BR" b="1" dirty="0"/>
              <a:t>filtros e ordenações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 Fórmulas automáticas</a:t>
            </a:r>
            <a:r>
              <a:rPr lang="pt-BR" dirty="0"/>
              <a:t> se aplicam a novas linhas.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Preparo ideal para </a:t>
            </a:r>
            <a:r>
              <a:rPr lang="pt-BR" b="1" dirty="0"/>
              <a:t>análises e tabelas dinâmicas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390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73EEEE3-E226-7464-8B3B-DCEB6A89E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5A5AF4D-2CCD-DA85-66D2-AE9DE5AB63C0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DINÂMICA: O QUE É E COMO USAR</a:t>
            </a:r>
            <a:endParaRPr lang="pt-BR" sz="1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B82321-379C-340B-8916-F5D3B7C6F75C}"/>
              </a:ext>
            </a:extLst>
          </p:cNvPr>
          <p:cNvSpPr txBox="1"/>
          <p:nvPr/>
        </p:nvSpPr>
        <p:spPr>
          <a:xfrm>
            <a:off x="493986" y="1351783"/>
            <a:ext cx="81139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uma Tabela Dinâmica?</a:t>
            </a:r>
          </a:p>
          <a:p>
            <a:r>
              <a:rPr lang="pt-BR" dirty="0"/>
              <a:t>A </a:t>
            </a:r>
            <a:r>
              <a:rPr lang="pt-BR" b="1" dirty="0"/>
              <a:t>Tabela Dinâmica</a:t>
            </a:r>
            <a:r>
              <a:rPr lang="pt-BR" dirty="0"/>
              <a:t> é como uma </a:t>
            </a:r>
            <a:r>
              <a:rPr lang="pt-BR" b="1" dirty="0"/>
              <a:t>Ferramenta do Excel</a:t>
            </a:r>
            <a:r>
              <a:rPr lang="pt-BR" dirty="0"/>
              <a:t> que te ajuda a </a:t>
            </a:r>
            <a:r>
              <a:rPr lang="pt-BR" b="1" dirty="0"/>
              <a:t>organizar e resumir muitos dados de uma vez só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Ela pega várias informações bagunçadas e </a:t>
            </a:r>
            <a:r>
              <a:rPr lang="pt-BR" b="1" dirty="0"/>
              <a:t>deixa tudo arrumadinho e fácil de entender</a:t>
            </a:r>
            <a:r>
              <a:rPr lang="pt-BR" dirty="0"/>
              <a:t>, como um </a:t>
            </a:r>
            <a:r>
              <a:rPr lang="pt-BR" b="1" dirty="0"/>
              <a:t>resumo de uma festa com o que cada pessoa trouxe e quanto gastou</a:t>
            </a:r>
            <a:r>
              <a:rPr lang="pt-BR" dirty="0"/>
              <a:t>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FEAEDDF-37CB-E0AA-2D3B-C98898235C7E}"/>
              </a:ext>
            </a:extLst>
          </p:cNvPr>
          <p:cNvSpPr txBox="1"/>
          <p:nvPr/>
        </p:nvSpPr>
        <p:spPr>
          <a:xfrm>
            <a:off x="493986" y="2670447"/>
            <a:ext cx="5854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PASSO A PASSO PARA CRIAR UMA TABELA DINÂMICA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537B87-42E2-3BE0-BCC1-3BE937A95F1D}"/>
              </a:ext>
            </a:extLst>
          </p:cNvPr>
          <p:cNvSpPr txBox="1"/>
          <p:nvPr/>
        </p:nvSpPr>
        <p:spPr>
          <a:xfrm>
            <a:off x="493986" y="2978224"/>
            <a:ext cx="8292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Antes de criar a Tabela Dinâmica, você precisa ter algo escrito!</a:t>
            </a:r>
            <a:br>
              <a:rPr lang="pt-BR" dirty="0"/>
            </a:br>
            <a:r>
              <a:rPr lang="pt-BR" dirty="0"/>
              <a:t>Exemplo de tabela simples: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CA47C54-E1A6-D40C-B981-A31279CBA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901753"/>
              </p:ext>
            </p:extLst>
          </p:nvPr>
        </p:nvGraphicFramePr>
        <p:xfrm>
          <a:off x="493986" y="3501444"/>
          <a:ext cx="7886700" cy="12192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8960421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8730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485513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48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01/05/2025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02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Bruno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01/05/2025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3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Carlos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02/05/2025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238787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6CD9D2DA-C2D5-CD79-AD5F-82F1B7C5562F}"/>
              </a:ext>
            </a:extLst>
          </p:cNvPr>
          <p:cNvSpPr txBox="1"/>
          <p:nvPr/>
        </p:nvSpPr>
        <p:spPr>
          <a:xfrm>
            <a:off x="493985" y="4902248"/>
            <a:ext cx="7714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IMPORTANTE</a:t>
            </a:r>
            <a:r>
              <a:rPr lang="pt-BR" dirty="0"/>
              <a:t>: Os títulos (Nome, Data, Valor) </a:t>
            </a:r>
            <a:r>
              <a:rPr lang="pt-BR" b="1" dirty="0"/>
              <a:t>devem estar na primeira linha</a:t>
            </a:r>
            <a:r>
              <a:rPr lang="pt-B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650199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FC28627-4385-19CA-87F8-DE27B17F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69E3D27-0FD7-F29D-93B9-08CAC3405C75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DINÂMICA: O QUE É E COMO USAR</a:t>
            </a:r>
            <a:endParaRPr lang="pt-BR" sz="1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B07F3E0-D118-C1F8-D3B5-43D7EDFB0FD8}"/>
              </a:ext>
            </a:extLst>
          </p:cNvPr>
          <p:cNvSpPr txBox="1"/>
          <p:nvPr/>
        </p:nvSpPr>
        <p:spPr>
          <a:xfrm>
            <a:off x="294289" y="1280791"/>
            <a:ext cx="85028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Selecione qualquer célula da sua tabela</a:t>
            </a:r>
            <a:br>
              <a:rPr lang="pt-BR" dirty="0"/>
            </a:br>
            <a:r>
              <a:rPr lang="pt-BR" dirty="0"/>
              <a:t>Basta clicar em uma célula com conteúdo — não precisa marcar tudo.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9CC0E75-623D-9745-DDF5-B12650008FBD}"/>
              </a:ext>
            </a:extLst>
          </p:cNvPr>
          <p:cNvSpPr txBox="1"/>
          <p:nvPr/>
        </p:nvSpPr>
        <p:spPr>
          <a:xfrm>
            <a:off x="294288" y="2030602"/>
            <a:ext cx="85028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Vá até a guia “Inserir”</a:t>
            </a:r>
            <a:r>
              <a:rPr lang="pt-BR" dirty="0"/>
              <a:t> no topo da tela</a:t>
            </a:r>
            <a:br>
              <a:rPr lang="pt-BR" dirty="0"/>
            </a:br>
            <a:r>
              <a:rPr lang="pt-BR" dirty="0"/>
              <a:t>Depois clique em </a:t>
            </a:r>
            <a:r>
              <a:rPr lang="pt-BR" b="1" dirty="0"/>
              <a:t>“Tabela Dinâmica”</a:t>
            </a:r>
            <a:r>
              <a:rPr lang="pt-BR" dirty="0"/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D08E702-058D-269D-9C66-F53CA43E2BD2}"/>
              </a:ext>
            </a:extLst>
          </p:cNvPr>
          <p:cNvSpPr txBox="1"/>
          <p:nvPr/>
        </p:nvSpPr>
        <p:spPr>
          <a:xfrm>
            <a:off x="294287" y="2687072"/>
            <a:ext cx="850286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Uma janelinha vai aparecer</a:t>
            </a:r>
            <a:br>
              <a:rPr lang="pt-BR" dirty="0"/>
            </a:br>
            <a:r>
              <a:rPr lang="pt-BR" dirty="0"/>
              <a:t>Ela vai perguntar onde você quer colocar a nova tabela.</a:t>
            </a:r>
            <a:br>
              <a:rPr lang="pt-BR" dirty="0"/>
            </a:br>
            <a:r>
              <a:rPr lang="pt-BR" dirty="0"/>
              <a:t>Deixe como está e </a:t>
            </a:r>
            <a:r>
              <a:rPr lang="pt-BR" b="1" dirty="0"/>
              <a:t>clique em “OK”</a:t>
            </a:r>
            <a:r>
              <a:rPr lang="pt-BR" dirty="0"/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388D0D5-8278-3D07-A7C5-C7654A5FA7BC}"/>
              </a:ext>
            </a:extLst>
          </p:cNvPr>
          <p:cNvSpPr txBox="1"/>
          <p:nvPr/>
        </p:nvSpPr>
        <p:spPr>
          <a:xfrm>
            <a:off x="294287" y="3530224"/>
            <a:ext cx="8502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Excel agora vai abrir uma </a:t>
            </a:r>
            <a:r>
              <a:rPr lang="pt-BR" b="1" dirty="0"/>
              <a:t>nova aba</a:t>
            </a:r>
            <a:r>
              <a:rPr lang="pt-BR" dirty="0"/>
              <a:t> com sua </a:t>
            </a:r>
            <a:r>
              <a:rPr lang="pt-BR" b="1" dirty="0"/>
              <a:t>Tabela Dinâmica vazia</a:t>
            </a:r>
            <a:r>
              <a:rPr lang="pt-BR" dirty="0"/>
              <a:t>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D9856B3-BF88-E9BA-4FF1-AAD3113F234E}"/>
              </a:ext>
            </a:extLst>
          </p:cNvPr>
          <p:cNvSpPr txBox="1"/>
          <p:nvPr/>
        </p:nvSpPr>
        <p:spPr>
          <a:xfrm>
            <a:off x="294286" y="3942489"/>
            <a:ext cx="85028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COMO MONTAR SUA TABELA DINÂMICA</a:t>
            </a:r>
          </a:p>
          <a:p>
            <a:pPr>
              <a:buNone/>
            </a:pPr>
            <a:r>
              <a:rPr lang="pt-BR" dirty="0"/>
              <a:t>Do lado direito da tela, vai aparecer uma caixinha com os nomes dos campos (como Nome, Data, Valor).</a:t>
            </a:r>
          </a:p>
          <a:p>
            <a:pPr>
              <a:buNone/>
            </a:pPr>
            <a:r>
              <a:rPr lang="pt-BR" dirty="0"/>
              <a:t> </a:t>
            </a:r>
            <a:r>
              <a:rPr lang="pt-BR" b="1" dirty="0"/>
              <a:t>Arraste “Data” para onde diz “Linhas”</a:t>
            </a:r>
            <a:br>
              <a:rPr lang="pt-BR" dirty="0"/>
            </a:br>
            <a:r>
              <a:rPr lang="pt-BR" dirty="0"/>
              <a:t> Isso vai agrupar os dados por dia.</a:t>
            </a:r>
          </a:p>
          <a:p>
            <a:r>
              <a:rPr lang="pt-BR" dirty="0"/>
              <a:t> </a:t>
            </a:r>
            <a:r>
              <a:rPr lang="pt-BR" b="1" dirty="0"/>
              <a:t>Arraste “Valor” para onde diz “Valores”</a:t>
            </a:r>
            <a:br>
              <a:rPr lang="pt-BR" dirty="0"/>
            </a:br>
            <a:r>
              <a:rPr lang="pt-BR" dirty="0"/>
              <a:t> Isso vai somar tudo que foi colocado por data.</a:t>
            </a:r>
          </a:p>
        </p:txBody>
      </p:sp>
    </p:spTree>
    <p:extLst>
      <p:ext uri="{BB962C8B-B14F-4D97-AF65-F5344CB8AC3E}">
        <p14:creationId xmlns:p14="http://schemas.microsoft.com/office/powerpoint/2010/main" val="52584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0968A000-8DDF-9C13-1423-27C67CF4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A740608-3E79-E226-4169-661148B28BFF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TABELA DINÂMICA</a:t>
            </a:r>
            <a:endParaRPr lang="pt-BR" sz="1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677BD0-C3B0-C364-50FA-40CDFEC9B4FB}"/>
              </a:ext>
            </a:extLst>
          </p:cNvPr>
          <p:cNvSpPr txBox="1"/>
          <p:nvPr/>
        </p:nvSpPr>
        <p:spPr>
          <a:xfrm>
            <a:off x="325821" y="1304431"/>
            <a:ext cx="8418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RESULTADO?</a:t>
            </a:r>
          </a:p>
          <a:p>
            <a:r>
              <a:rPr lang="pt-BR" dirty="0"/>
              <a:t>Agora você vai ver um resumo simples, como: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3219D05-8DD9-D13C-B3E4-2B9D21B512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186011"/>
              </p:ext>
            </p:extLst>
          </p:nvPr>
        </p:nvGraphicFramePr>
        <p:xfrm>
          <a:off x="325821" y="1943100"/>
          <a:ext cx="7886700" cy="9144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84647403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22322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Soma de Valor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129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01/05/2025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432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02/05/2025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390402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89E32844-5532-D1D9-E76F-567C90040233}"/>
              </a:ext>
            </a:extLst>
          </p:cNvPr>
          <p:cNvSpPr txBox="1"/>
          <p:nvPr/>
        </p:nvSpPr>
        <p:spPr>
          <a:xfrm>
            <a:off x="325821" y="2972949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Ou seja: o Excel </a:t>
            </a:r>
            <a:r>
              <a:rPr lang="pt-BR" b="1" dirty="0"/>
              <a:t>fez a conta sozinho!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59E2361-E44D-16A0-B659-CA0AD37865A2}"/>
              </a:ext>
            </a:extLst>
          </p:cNvPr>
          <p:cNvSpPr txBox="1"/>
          <p:nvPr/>
        </p:nvSpPr>
        <p:spPr>
          <a:xfrm>
            <a:off x="325821" y="3450225"/>
            <a:ext cx="84187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IMPORTANTE: ATUALIZAÇÃO DA TABELA DINÂMICA</a:t>
            </a:r>
          </a:p>
          <a:p>
            <a:pPr>
              <a:buNone/>
            </a:pPr>
            <a:r>
              <a:rPr lang="pt-BR" dirty="0"/>
              <a:t>Sempre que você </a:t>
            </a:r>
            <a:r>
              <a:rPr lang="pt-BR" b="1" dirty="0"/>
              <a:t>adicionar novos dados</a:t>
            </a:r>
            <a:r>
              <a:rPr lang="pt-BR" dirty="0"/>
              <a:t> na planilha original (aquela com Nome, Data e Valor):</a:t>
            </a:r>
          </a:p>
          <a:p>
            <a:r>
              <a:rPr lang="pt-BR" dirty="0"/>
              <a:t>Pressione </a:t>
            </a:r>
            <a:r>
              <a:rPr lang="pt-BR" b="1" dirty="0"/>
              <a:t>Alt + F5</a:t>
            </a:r>
            <a:r>
              <a:rPr lang="pt-BR" dirty="0"/>
              <a:t> para </a:t>
            </a:r>
            <a:r>
              <a:rPr lang="pt-BR" b="1" dirty="0"/>
              <a:t>atualizar a Tabela Dinâmica</a:t>
            </a:r>
            <a:r>
              <a:rPr lang="pt-BR" dirty="0"/>
              <a:t> e ela mostrar os novos dados também.</a:t>
            </a:r>
          </a:p>
        </p:txBody>
      </p:sp>
    </p:spTree>
    <p:extLst>
      <p:ext uri="{BB962C8B-B14F-4D97-AF65-F5344CB8AC3E}">
        <p14:creationId xmlns:p14="http://schemas.microsoft.com/office/powerpoint/2010/main" val="3416748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1C2A0BD-691E-49DB-EDAC-514C6A39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6989B98-FA11-DAE7-6909-0B8976151C81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LISTA SUSPENSA (Validação de Dados)</a:t>
            </a:r>
            <a:endParaRPr lang="pt-BR" sz="1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5A5327-7B51-EFAB-B9E6-2F8B309ECB41}"/>
              </a:ext>
            </a:extLst>
          </p:cNvPr>
          <p:cNvSpPr txBox="1"/>
          <p:nvPr/>
        </p:nvSpPr>
        <p:spPr>
          <a:xfrm>
            <a:off x="367863" y="1207294"/>
            <a:ext cx="850286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é isso?</a:t>
            </a:r>
          </a:p>
          <a:p>
            <a:pPr>
              <a:buNone/>
            </a:pPr>
            <a:r>
              <a:rPr lang="pt-BR" dirty="0"/>
              <a:t>Uma </a:t>
            </a:r>
            <a:r>
              <a:rPr lang="pt-BR" b="1" dirty="0"/>
              <a:t>lista suspensa</a:t>
            </a:r>
            <a:r>
              <a:rPr lang="pt-BR" dirty="0"/>
              <a:t> é como um </a:t>
            </a:r>
            <a:r>
              <a:rPr lang="pt-BR" b="1" dirty="0"/>
              <a:t>menu com opções prontas</a:t>
            </a:r>
            <a:r>
              <a:rPr lang="pt-BR" dirty="0"/>
              <a:t> que aparece quando você clica em uma célula.</a:t>
            </a:r>
            <a:br>
              <a:rPr lang="pt-BR" dirty="0"/>
            </a:br>
            <a:r>
              <a:rPr lang="pt-BR" dirty="0"/>
              <a:t>Assim, a pessoa não precisa digitar — </a:t>
            </a:r>
            <a:r>
              <a:rPr lang="pt-BR" b="1" dirty="0"/>
              <a:t>é só escolher o que quer!</a:t>
            </a:r>
            <a:endParaRPr lang="pt-BR" dirty="0"/>
          </a:p>
          <a:p>
            <a:r>
              <a:rPr lang="pt-BR" dirty="0"/>
              <a:t>Imagina que você está montando a lista do lanche da escola e quer que a pessoa escolha entre </a:t>
            </a:r>
            <a:r>
              <a:rPr lang="pt-BR" b="1" dirty="0"/>
              <a:t>"Suco", "Bolo" ou "Fruta"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Você pode criar uma célula que mostra essas opções quando a pessoa clicar nela!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4847D2-3912-9805-FF61-D9FB32E108C3}"/>
              </a:ext>
            </a:extLst>
          </p:cNvPr>
          <p:cNvSpPr txBox="1"/>
          <p:nvPr/>
        </p:nvSpPr>
        <p:spPr>
          <a:xfrm>
            <a:off x="483475" y="2907269"/>
            <a:ext cx="83872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PASSO A PASSO: Como fazer uma lista suspensa</a:t>
            </a:r>
          </a:p>
          <a:p>
            <a:pPr>
              <a:buNone/>
            </a:pPr>
            <a:r>
              <a:rPr lang="pt-BR" b="1" dirty="0"/>
              <a:t>📋 1. Escreva as opções que você quer usar</a:t>
            </a:r>
          </a:p>
          <a:p>
            <a:r>
              <a:rPr lang="pt-BR" dirty="0"/>
              <a:t>Exemplo:</a:t>
            </a:r>
            <a:br>
              <a:rPr lang="pt-BR" dirty="0"/>
            </a:br>
            <a:r>
              <a:rPr lang="pt-BR" dirty="0"/>
              <a:t>Na planilha em branco, escreva: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59CBC5F5-A5C8-CE52-011F-91209A0E8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53102"/>
              </p:ext>
            </p:extLst>
          </p:nvPr>
        </p:nvGraphicFramePr>
        <p:xfrm>
          <a:off x="628650" y="3812904"/>
          <a:ext cx="7886700" cy="1219200"/>
        </p:xfrm>
        <a:graphic>
          <a:graphicData uri="http://schemas.openxmlformats.org/drawingml/2006/table">
            <a:tbl>
              <a:tblPr/>
              <a:tblGrid>
                <a:gridCol w="7886700">
                  <a:extLst>
                    <a:ext uri="{9D8B030D-6E8A-4147-A177-3AD203B41FA5}">
                      <a16:colId xmlns:a16="http://schemas.microsoft.com/office/drawing/2014/main" val="30837211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A1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595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Suco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607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Bolo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52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/>
                        <a:t>Fruta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551022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BF453D40-9CCB-B384-2B85-8ADDCAF16542}"/>
              </a:ext>
            </a:extLst>
          </p:cNvPr>
          <p:cNvSpPr txBox="1"/>
          <p:nvPr/>
        </p:nvSpPr>
        <p:spPr>
          <a:xfrm>
            <a:off x="483475" y="5032104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Essas palavras serão as opções da sua lista!</a:t>
            </a:r>
          </a:p>
        </p:txBody>
      </p:sp>
    </p:spTree>
    <p:extLst>
      <p:ext uri="{BB962C8B-B14F-4D97-AF65-F5344CB8AC3E}">
        <p14:creationId xmlns:p14="http://schemas.microsoft.com/office/powerpoint/2010/main" val="1583764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1368B8B-DC56-4ECF-6836-7C3EFF4C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9CC57E4-C912-210D-D9EC-A13012D67F90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LISTA SUSPENSA (Validação de Dados)</a:t>
            </a:r>
            <a:endParaRPr lang="pt-BR" sz="1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C7CF59-2C24-94CB-AA7D-C5F1BA452D0C}"/>
              </a:ext>
            </a:extLst>
          </p:cNvPr>
          <p:cNvSpPr txBox="1"/>
          <p:nvPr/>
        </p:nvSpPr>
        <p:spPr>
          <a:xfrm>
            <a:off x="420413" y="1278174"/>
            <a:ext cx="83872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Escolha onde você quer que apareça a lista</a:t>
            </a:r>
          </a:p>
          <a:p>
            <a:r>
              <a:rPr lang="pt-BR" dirty="0"/>
              <a:t>Clique em qualquer célula onde você quer que a pessoa escolha a opção —</a:t>
            </a:r>
            <a:br>
              <a:rPr lang="pt-BR" dirty="0"/>
            </a:br>
            <a:r>
              <a:rPr lang="pt-BR" dirty="0"/>
              <a:t>Exemplo: clique na célula </a:t>
            </a:r>
            <a:r>
              <a:rPr lang="pt-BR" b="1" dirty="0"/>
              <a:t>C1</a:t>
            </a:r>
            <a:r>
              <a:rPr lang="pt-BR" dirty="0"/>
              <a:t>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6D4CB7-B234-4EEC-1561-B0CC5A3D6231}"/>
              </a:ext>
            </a:extLst>
          </p:cNvPr>
          <p:cNvSpPr txBox="1"/>
          <p:nvPr/>
        </p:nvSpPr>
        <p:spPr>
          <a:xfrm>
            <a:off x="420412" y="2240812"/>
            <a:ext cx="83872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Vá até a guia “Dados” no topo do Excel</a:t>
            </a:r>
          </a:p>
          <a:p>
            <a:r>
              <a:rPr lang="pt-BR" dirty="0"/>
              <a:t>Depois clique no botão chamado </a:t>
            </a:r>
            <a:r>
              <a:rPr lang="pt-BR" b="1" dirty="0"/>
              <a:t>“Validação de Dados”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(Tem uma setinha pequena ao lado — clique nela.)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EA43E70-B3A5-49DE-D688-5F5632437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10" y="3203450"/>
            <a:ext cx="881817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Na janelinha que abrir: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Onde está escrito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"Permitir"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escolha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"Lista"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Onde está escrito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"Fonte"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clique dentro 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selecione com o mouse as células A1 até A3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(ou digite =A1:A3).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Marque a opção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"Ignorar em branco"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"Lista suspensa na célula"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Clique em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OK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712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B8FD322-437C-A9B7-EFC4-3F6E638FC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006F5EF-7748-E3D4-8D39-934F068FECE1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INSERIR LISTA SUSPENSA (Validação de Dados)</a:t>
            </a:r>
            <a:endParaRPr lang="pt-BR" sz="10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CF2CD7-2277-AF7B-4868-DB7AD224F7D2}"/>
              </a:ext>
            </a:extLst>
          </p:cNvPr>
          <p:cNvSpPr txBox="1"/>
          <p:nvPr/>
        </p:nvSpPr>
        <p:spPr>
          <a:xfrm>
            <a:off x="241737" y="1286066"/>
            <a:ext cx="8502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Prontinho!</a:t>
            </a:r>
          </a:p>
          <a:p>
            <a:pPr>
              <a:buNone/>
            </a:pPr>
            <a:r>
              <a:rPr lang="pt-BR" dirty="0"/>
              <a:t>Agora, vá até a célula C1 e clique na setinha que apareceu.</a:t>
            </a:r>
            <a:br>
              <a:rPr lang="pt-BR" dirty="0"/>
            </a:br>
            <a:r>
              <a:rPr lang="pt-BR" dirty="0"/>
              <a:t>Você vai ver a lista: </a:t>
            </a:r>
            <a:r>
              <a:rPr lang="pt-BR" b="1" dirty="0"/>
              <a:t>Suco</a:t>
            </a:r>
            <a:r>
              <a:rPr lang="pt-BR" dirty="0"/>
              <a:t>, </a:t>
            </a:r>
            <a:r>
              <a:rPr lang="pt-BR" b="1" dirty="0"/>
              <a:t>Bolo</a:t>
            </a:r>
            <a:r>
              <a:rPr lang="pt-BR" dirty="0"/>
              <a:t>, </a:t>
            </a:r>
            <a:r>
              <a:rPr lang="pt-BR" b="1" dirty="0"/>
              <a:t>Fruta</a:t>
            </a:r>
            <a:r>
              <a:rPr lang="pt-BR" dirty="0"/>
              <a:t>.</a:t>
            </a:r>
          </a:p>
          <a:p>
            <a:r>
              <a:rPr lang="pt-BR" dirty="0"/>
              <a:t>É só escolher!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DA94EAA-02C1-0EEC-9A01-31AAA75763A7}"/>
              </a:ext>
            </a:extLst>
          </p:cNvPr>
          <p:cNvSpPr txBox="1"/>
          <p:nvPr/>
        </p:nvSpPr>
        <p:spPr>
          <a:xfrm>
            <a:off x="241737" y="2581457"/>
            <a:ext cx="85028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PARA QUE SERVE ESSA LISTA?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Evita erros de digitação.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Facilita a vida de quem vai usar a planilha.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Deixa sua planilha mais </a:t>
            </a:r>
            <a:r>
              <a:rPr lang="pt-BR" b="1" dirty="0"/>
              <a:t>bonita e profissional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9196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29E2CB4-96DE-9430-9F7C-21F6ED5B7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E278844-CF8A-AD9D-9D40-6C84638FD435}"/>
              </a:ext>
            </a:extLst>
          </p:cNvPr>
          <p:cNvSpPr/>
          <p:nvPr/>
        </p:nvSpPr>
        <p:spPr>
          <a:xfrm>
            <a:off x="0" y="94594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FUNÇÕES NO EXCEL</a:t>
            </a:r>
            <a:endParaRPr lang="pt-BR" sz="1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9BF5EDD-A26F-93B5-E073-9919F22E49AC}"/>
              </a:ext>
            </a:extLst>
          </p:cNvPr>
          <p:cNvSpPr txBox="1"/>
          <p:nvPr/>
        </p:nvSpPr>
        <p:spPr>
          <a:xfrm>
            <a:off x="178676" y="1291302"/>
            <a:ext cx="5922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As </a:t>
            </a:r>
            <a:r>
              <a:rPr lang="pt-BR" b="1" dirty="0"/>
              <a:t>funções</a:t>
            </a:r>
            <a:r>
              <a:rPr lang="pt-BR" dirty="0"/>
              <a:t> no Excel servem para facilitar cálculos e análises de dados. Abaixo estão as funções mais comuns que já estudamos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5AD00C7-0D56-F0D0-B8D3-A489ADCEF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6" y="1889638"/>
            <a:ext cx="411699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📌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1. SOMA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Usada para somar um grupo de células.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Fórmula: =SOMA(A1:A5)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Soma todos os valores de A1 até A5.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6939BC2-0818-FECF-8824-3038C17DC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6" y="3045981"/>
            <a:ext cx="395189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📌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2. MÉDIA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Calcula a média (valor médio) entre os números.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Fórmula: =MÉDIA(B1:B5)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Soma os valores e divide pela quantidade de células.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9235D0F7-3184-2D67-B7AB-F3186E75D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56" y="4127208"/>
            <a:ext cx="40569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📌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 MÁXIMO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Mostra o maior valor entre os dados.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Fórmula: =MÁXIMO(C1:C5)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Procura o maior número do intervalo.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91FA75E-586D-6D04-7A28-49721C15E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880266"/>
            <a:ext cx="34121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📌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MÍNIMO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Mostra o menor valor entre os dados.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Fórmula: =MÍNIMO(D1:D5)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Procura o menor número do intervalo.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7EE1FF3-FD30-BF2F-018E-3305CFE7B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85144"/>
            <a:ext cx="40569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📌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5. SE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Verifica se uma condição é verdadeira ou falsa.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Fórmula: =SE(E2&lt;=10; "Aprovado"; "Reprovado")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 o valor da célula E2 for menor ou igual a 10, aparece “Aprovado”, senão, aparece “Reprovado”.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03997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BBA4FAB4-0449-D959-63C7-5B06B1C3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C4587A7-6071-3D77-4BAA-B68AA095B3D1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FUNÇÕES MAIS IMPORTANTES DO EXCEL - Funções Condicionais</a:t>
            </a:r>
            <a:endParaRPr lang="pt-BR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D226F1-A581-A412-8035-379400EC3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029102"/>
            <a:ext cx="9143999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Usadas para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fazer testes lógicos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 tomar decisões automáticas: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=SE(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teste_lógico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valor_se_verdadeiro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valor_se_falso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=SE(A1&gt;10; "OK"; "Erro")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Se o valor de A1 for maior que 10, aparece “OK”; senão, “Erro”.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=E(teste1; teste2)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=E(A1&gt;10; B1&lt;20)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Só retorna VERDADEIRO se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os dois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testes forem verdadeiros.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=OU(teste1; teste2)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=OU(A1&gt;10; B1&lt;20)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Retorna VERDADEIRO se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pelo menos um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teste for verdadeiro.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=NÃO(teste)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=NÃO(A1&gt;10)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Inverte o resultado lógico. Se for verdadeiro, vira falso.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=SEERRO(valor;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valor_se_erro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=SEERRO(A1/B1; "Erro!")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Se houver erro (como divisão por zero), retorna "Erro!".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455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773F2E0A-5C0D-94DA-B7D1-344EC371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8B7EBD8-DC34-6BE1-E610-7DCF440ECCD7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FUNÇÕES MAIS IMPORTANTES DO EXCEL - Funções de Procura</a:t>
            </a:r>
            <a:endParaRPr lang="pt-BR" sz="1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2D40407-E6EA-7DB8-22AB-8A8C3FC4A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200"/>
            <a:ext cx="91440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Usadas para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buscar dados em tabelas ou listas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=PROCV(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valor_procurado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tabela; coluna; [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procurar_aproximação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=PROCV("Leo"; A2:C10; 2; FALSO)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Procura “Leo” na primeira coluna da tabela e retorna o valor da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2ª coluna na mesma linha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=ÍNDICE(intervalo; linha; coluna)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=ÍNDICE(A2:C5; 2; 3)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Retorna o valor que está 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2ª linha e 3ª coluna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do intervalo.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=CORRESP(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valor_procurado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intervalo; [tipo])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=CORRESP(25; A1:A10; 0)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Retorna 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posição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do valor 25 no intervalo.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=DESLOC(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ref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linhas; colunas)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=DESLOC(A1; 2; 1)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Vai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 linhas para baixo e 1 coluna à direita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de A1.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=PROCH(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valor_procurado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tabela; linha; [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procurar_aproximação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=PROCH("Janeiro"; A1:D3; 2; FALSO)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Procura “Janeiro” 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primeira linha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 retorna o valor da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2ª linha na mesma coluna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9590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045E879-149D-9F65-C6DC-901FFC30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BD0D96E-6DC1-3FE1-5BD4-49CB3D9624A2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FUNÇÕES MAIS IMPORTANTES DO EXCEL - Funções de Procura</a:t>
            </a:r>
            <a:endParaRPr lang="pt-BR" sz="10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442626-42D8-340E-06C8-902E3ACE6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54200"/>
            <a:ext cx="91440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Usadas para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buscar dados em tabelas ou listas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=PROCV(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valor_procurado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tabela; coluna; [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procurar_aproximação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=PROCV("Leo"; A2:C10; 2; FALSO)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Procura “Leo” na primeira coluna da tabela e retorna o valor da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2ª coluna na mesma linha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=ÍNDICE(intervalo; linha; coluna)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=ÍNDICE(A2:C5; 2; 3)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Retorna o valor que está 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2ª linha e 3ª coluna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do intervalo.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=CORRESP(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valor_procurado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intervalo; [tipo])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=CORRESP(25; A1:A10; 0)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Retorna 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posição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do valor 25 no intervalo.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=DESLOC(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ref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linhas; colunas)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=DESLOC(A1; 2; 1)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Vai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 linhas para baixo e 1 coluna à direita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de A1.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=PROCH(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valor_procurado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tabela; linha; [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procurar_aproximação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=PROCH("Janeiro"; A1:D3; 2; FALSO)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Procura “Janeiro” 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primeira linha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e retorna o valor da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2ª linha na mesma coluna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6230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D0EAE12-3DA6-77E7-97E8-FCA9350C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4E20D7F-7E50-962F-F077-659C3A71FF70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Data e Hora</a:t>
            </a:r>
            <a:endParaRPr lang="pt-BR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AB5271-7ACA-02EC-2289-9A9D86AC2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3" y="1054200"/>
            <a:ext cx="8502869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=DIATRABALHOTOTAL(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data_inicial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data_final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Calcula a quantidade de dias úteis entre duas datas (desconsidera sábados e domingos).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=DIATRABALHOTOTAL(A1;B1)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=MÊS(data)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o número do mês (1 a 12).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=MÊS(A1) → Se a data for 10/05/2025, retorna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5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=ANO(data)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o ano da data.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=ANO(A1) → 2025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=HORA(horário)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=MINUTO(horário)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=SEGUNDO(horário)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Separa a hora, os minutos ou os segundos de uma célula com horário.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=HORA(A1) → Se for 14:30:15, retorna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14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=HOJE()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atual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=HOJE() → 12/05/2025 (depende do dia)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=AGORA()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data e hora atual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=AGORA() → 12/05/2025 14:45</a:t>
            </a:r>
          </a:p>
        </p:txBody>
      </p:sp>
    </p:spTree>
    <p:extLst>
      <p:ext uri="{BB962C8B-B14F-4D97-AF65-F5344CB8AC3E}">
        <p14:creationId xmlns:p14="http://schemas.microsoft.com/office/powerpoint/2010/main" val="283754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FDE9777-036A-F40A-08E2-9658E7C0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1D5913C-5142-76EB-BB44-37524BD553D1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Financeiras</a:t>
            </a:r>
            <a:endParaRPr lang="pt-BR" sz="1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9B865D-5917-F4BD-9C11-D367EDF95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55" y="1237054"/>
            <a:ext cx="85764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=XTIR(valores; datas)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a </a:t>
            </a: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taxa interna de retorno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de um investimento com base em fluxo de caixa.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=XTIR(A2:A7;B2:B7) </a:t>
            </a:r>
          </a:p>
        </p:txBody>
      </p:sp>
    </p:spTree>
    <p:extLst>
      <p:ext uri="{BB962C8B-B14F-4D97-AF65-F5344CB8AC3E}">
        <p14:creationId xmlns:p14="http://schemas.microsoft.com/office/powerpoint/2010/main" val="3112206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FE0E1EA-1FE2-31B4-1179-D88E1021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9C2ADC9-0762-E8A2-1E9B-38D26E9FB126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Financeiras</a:t>
            </a:r>
            <a:endParaRPr lang="pt-BR" sz="1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3AC755-AE55-BE67-63F8-7DC8BE6C6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55" y="1237054"/>
            <a:ext cx="85764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=XTIR(valores; datas)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a </a:t>
            </a: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taxa interna de retorno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de um investimento com base em fluxo de caixa.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=XTIR(A2:A7;B2:B7) </a:t>
            </a:r>
          </a:p>
        </p:txBody>
      </p:sp>
    </p:spTree>
    <p:extLst>
      <p:ext uri="{BB962C8B-B14F-4D97-AF65-F5344CB8AC3E}">
        <p14:creationId xmlns:p14="http://schemas.microsoft.com/office/powerpoint/2010/main" val="35830817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F934E3EA-1524-8439-B335-FCC61A3D9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CE0202E-45A9-0817-FC95-95B2A155962D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Funções Estatísticas</a:t>
            </a:r>
            <a:endParaRPr lang="pt-BR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D1514E-CA29-2652-9C8C-F20A25D2E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6433"/>
            <a:ext cx="91440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=MÉDIA(intervalo)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a média dos valores.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=MÉDIA(A1:A5)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=MÉDIASE(intervalo; critério)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a média apenas das células que atendem ao critério.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=MÉDIASE(A1:A5;"&gt;0")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=MED(intervalo)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o valor central (mediana).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=MED(A1:A5)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=MODO(intervalo)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o valor que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mais se repete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=MODO(A1:A10)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=SOMARPRODUTO(matriz1; matriz2)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Multiplica os pares de valores e soma o total.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=SOMARPRODUTO(A1:A3;B1:B3)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→ (A1×B1) + (A2×B2) + (A3×B3)</a:t>
            </a:r>
          </a:p>
        </p:txBody>
      </p:sp>
    </p:spTree>
    <p:extLst>
      <p:ext uri="{BB962C8B-B14F-4D97-AF65-F5344CB8AC3E}">
        <p14:creationId xmlns:p14="http://schemas.microsoft.com/office/powerpoint/2010/main" val="3794599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FBDBF5E-B563-F4C9-B687-85CD7892A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116ACFF-CD20-E120-5130-E5D6B81C4AF5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Matemáticas no Excel</a:t>
            </a:r>
            <a:endParaRPr lang="pt-BR" sz="1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7A1F64-2874-A7C6-4B40-C9A880E9D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7051"/>
            <a:ext cx="91440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Funções Básicas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=SOMA(A1:A5)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Soma os valores de A1 até A5.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10 + 20 + 30 =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60</a:t>
            </a: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=SOMASE(intervalo; critério; [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intervalo_soma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])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Soma os valores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somente se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atenderem ao critério.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=SOMASE(A1:A5;"&gt;10")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=MULT(valor1; valor2)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Multiplica dois ou mais valores.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=MULT(4;3) →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12</a:t>
            </a: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=POTÊNCIA(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base;expoente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Eleva um número a uma potência.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=POTÊNCIA(2;3) → 2³ =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8</a:t>
            </a: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=FATORIAL(n)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Retorna o fatorial de um número.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=FATORIAL(5) → 5! = 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120</a:t>
            </a: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9069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A6981E3-5637-F2E2-EDFF-7DDB00E98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B4A3DC9E-A090-3704-BB79-6DC0DE5BF918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Análise</a:t>
            </a:r>
            <a:endParaRPr lang="pt-BR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3E7D5C-37FA-4D48-4918-7B117885F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087697"/>
            <a:ext cx="9144000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=BDSOMA(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banco_de_dados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campo; critérios)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Soma dados de um banco (tabela), de acordo com critérios específicos.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=BDSOMA(A1:C10;"Valor";E1:F2)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=FREQÜÊNCIA(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matriz_dados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; </a:t>
            </a:r>
            <a:r>
              <a:rPr kumimoji="0" lang="pt-BR" altLang="pt-BR" sz="13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matriz_classes</a:t>
            </a:r>
            <a:r>
              <a:rPr kumimoji="0" lang="pt-BR" altLang="pt-BR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)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Conta quantos valores estão dentro de cada faixa (intervalo).</a:t>
            </a:r>
            <a:b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Usada em análises estatísticas e histogramas.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2C1ABC-C324-B475-38C2-8E9895363832}"/>
              </a:ext>
            </a:extLst>
          </p:cNvPr>
          <p:cNvSpPr txBox="1"/>
          <p:nvPr/>
        </p:nvSpPr>
        <p:spPr>
          <a:xfrm>
            <a:off x="-10510" y="2665139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Funções de Mínimo e Máximo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FFDBA57-F16D-A739-117E-7F9F17BD0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2916"/>
            <a:ext cx="871307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=MÍNIMO(intervalo)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Mostra o menor número de um grupo.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=MÍNIMO(A1:A5) →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5</a:t>
            </a: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=MÁXIMO(intervalo)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Mostra o maior número de um grupo.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=MÁXIMO(A1:A5) →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90</a:t>
            </a:r>
            <a:endParaRPr kumimoji="0" lang="pt-BR" altLang="pt-B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=MENOR(intervalo; posição)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Mostra o menor valor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na posição escolhida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=MENOR(A1:A5;2) → 2º menor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=MAIOR(intervalo; posição)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Mostra o maior valor </a:t>
            </a:r>
            <a:r>
              <a:rPr kumimoji="0" lang="pt-BR" altLang="pt-BR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na posição escolhida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=MAIOR(A1:A5;2) → 2º maior</a:t>
            </a:r>
          </a:p>
        </p:txBody>
      </p:sp>
    </p:spTree>
    <p:extLst>
      <p:ext uri="{BB962C8B-B14F-4D97-AF65-F5344CB8AC3E}">
        <p14:creationId xmlns:p14="http://schemas.microsoft.com/office/powerpoint/2010/main" val="1276296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CB971B6-5294-FD7B-2D05-1FF186B28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2001EC2-0E2D-FEC9-0D26-BA738645DEA3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Contagem no Excel</a:t>
            </a:r>
            <a:endParaRPr lang="pt-BR" sz="10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59A15F-1435-8B75-13AD-62DCFDFA4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10" y="1156905"/>
            <a:ext cx="89810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=CONT.VALORES(intervalo)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Conta todas as células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preenchidas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com número, texto ou fórmula.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=CONT.VALORES(A1:A5) → conta tudo que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não está vazio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02D65DD-F00F-78F8-1E52-BE976B7AA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10" y="1861956"/>
            <a:ext cx="89810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=CONT.SE(intervalo; critério)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Conta as células que </a:t>
            </a: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atendem a uma condição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=CONT.SE(B2:B10;"&gt;10") → conta quem for maior que 10.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ABD43B-3219-E2B3-8457-E3379575D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10" y="2607848"/>
            <a:ext cx="89810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=CONTA(intervalo)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Conta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somente números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dentro de um intervalo.</a:t>
            </a:r>
            <a:b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=CONTA(A1:A10) → ignora textos e células vazias.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7A0487E-D5CF-C9D7-8DFC-9178BED77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10" y="3353740"/>
            <a:ext cx="53735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=NÚM.CARACT(texto ou célula)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Conta </a:t>
            </a: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quantos caracteres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(letras, números e espaços) tem em uma célula.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2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=NÚM.CARACT(A1)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Se A1 = "Leo" → Resultado: </a:t>
            </a:r>
            <a:r>
              <a:rPr kumimoji="0" lang="pt-BR" altLang="pt-B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</a:t>
            </a:r>
            <a:endParaRPr kumimoji="0" lang="pt-BR" altLang="pt-BR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ACA85259-F47B-A6E2-6FF8-B5301877A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10" y="4258013"/>
            <a:ext cx="382051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=INT(número)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Arredonda o número </a:t>
            </a: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para baixo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=INT(4,9) → </a:t>
            </a: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4</a:t>
            </a:r>
            <a:endParaRPr kumimoji="0" lang="pt-BR" altLang="pt-B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1723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791F7AB-0410-1B4B-C11E-95DCA232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7F383F8-6C28-62B3-261C-3A225F584061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Conversão no Excel</a:t>
            </a:r>
            <a:endParaRPr lang="pt-BR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0C09D-7D1E-170A-6F94-D92182EE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6110"/>
            <a:ext cx="873409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=CONVERTER(número; de_unidade; para_unidade)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Converte de </a:t>
            </a: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uma unidade para outra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=CONVERTER(10;"km";"m") → Resultado: </a:t>
            </a: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10.000</a:t>
            </a:r>
            <a:endParaRPr kumimoji="0" lang="pt-BR" altLang="pt-B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736422-112F-653B-1AF7-886D13A47491}"/>
              </a:ext>
            </a:extLst>
          </p:cNvPr>
          <p:cNvSpPr txBox="1"/>
          <p:nvPr/>
        </p:nvSpPr>
        <p:spPr>
          <a:xfrm>
            <a:off x="105103" y="1822229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Conversões Numéricas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2F812EC-47C3-B7F7-E558-EAA8DF84A2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489834"/>
              </p:ext>
            </p:extLst>
          </p:nvPr>
        </p:nvGraphicFramePr>
        <p:xfrm>
          <a:off x="536028" y="2185961"/>
          <a:ext cx="7987863" cy="3267082"/>
        </p:xfrm>
        <a:graphic>
          <a:graphicData uri="http://schemas.openxmlformats.org/drawingml/2006/table">
            <a:tbl>
              <a:tblPr/>
              <a:tblGrid>
                <a:gridCol w="1694407">
                  <a:extLst>
                    <a:ext uri="{9D8B030D-6E8A-4147-A177-3AD203B41FA5}">
                      <a16:colId xmlns:a16="http://schemas.microsoft.com/office/drawing/2014/main" val="3629719786"/>
                    </a:ext>
                  </a:extLst>
                </a:gridCol>
                <a:gridCol w="2840855">
                  <a:extLst>
                    <a:ext uri="{9D8B030D-6E8A-4147-A177-3AD203B41FA5}">
                      <a16:colId xmlns:a16="http://schemas.microsoft.com/office/drawing/2014/main" val="2142370101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3967636045"/>
                    </a:ext>
                  </a:extLst>
                </a:gridCol>
              </a:tblGrid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Função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 que faz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Exemplo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947558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=BIN2DEC()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Binário → 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=BIN2DEC(110) → </a:t>
                      </a:r>
                      <a:r>
                        <a:rPr lang="pt-BR" sz="1100" b="1"/>
                        <a:t>6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588866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=BIN2HEX()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Binário → Hexadecimal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=BIN2HEX(110) → </a:t>
                      </a:r>
                      <a:r>
                        <a:rPr lang="pt-BR" sz="1100" b="1"/>
                        <a:t>6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5668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=BIN2OCT()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Binário → Octal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=BIN2OCT(110) → </a:t>
                      </a:r>
                      <a:r>
                        <a:rPr lang="pt-BR" sz="1100" b="1"/>
                        <a:t>6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588620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=DECABIN()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Decimal → Binário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=DECABIN(10) → </a:t>
                      </a:r>
                      <a:r>
                        <a:rPr lang="pt-BR" sz="1100" b="1"/>
                        <a:t>1010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84890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=DECAHEX()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Decimal → Hexadecimal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=DECAHEX(10) → </a:t>
                      </a:r>
                      <a:r>
                        <a:rPr lang="pt-BR" sz="1100" b="1"/>
                        <a:t>A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943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=DECAOCT()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Decimal → Octal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=DECAOCT(10) → </a:t>
                      </a:r>
                      <a:r>
                        <a:rPr lang="pt-BR" sz="1100" b="1" dirty="0"/>
                        <a:t>12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16549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=HEXABIN()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Hexadecimal → Binário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=HEXABIN("A") → </a:t>
                      </a:r>
                      <a:r>
                        <a:rPr lang="pt-BR" sz="1100" b="1"/>
                        <a:t>1010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82655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=HEXADEC()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Hexadecimal → 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=HEXADEC("A") → </a:t>
                      </a:r>
                      <a:r>
                        <a:rPr lang="pt-BR" sz="1100" b="1" dirty="0"/>
                        <a:t>10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068224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=HEXAOCT()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Hexadecimal → Octal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=HEXAOCT("A") → </a:t>
                      </a:r>
                      <a:r>
                        <a:rPr lang="pt-BR" sz="1100" b="1" dirty="0"/>
                        <a:t>12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037954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=OCTABIN()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Octal → Binário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=OCTABIN(12) → </a:t>
                      </a:r>
                      <a:r>
                        <a:rPr lang="pt-BR" sz="1100" b="1" dirty="0"/>
                        <a:t>1010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38437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=OCTADEC()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Octal → 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=OCTADEC(12) → </a:t>
                      </a:r>
                      <a:r>
                        <a:rPr lang="pt-BR" sz="1100" b="1" dirty="0"/>
                        <a:t>10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0830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=OCTAHEX()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Octal → Hexadecimal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=OCTAHEX(12) → </a:t>
                      </a:r>
                      <a:r>
                        <a:rPr lang="pt-BR" sz="1100" b="1" dirty="0"/>
                        <a:t>A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6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847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CF4B0D7-7CD4-14AB-2A67-456C2C93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725208D9-6FD5-1555-37DC-58771A98D582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Funções de Conversão no Excel</a:t>
            </a:r>
            <a:endParaRPr lang="pt-BR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3D81AD-D0CC-8DA9-9914-34093CDCA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6110"/>
            <a:ext cx="8734097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=CONVERTER(número; de_unidade; para_unidade)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Converte de </a:t>
            </a: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uma unidade para outra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</a:t>
            </a:r>
            <a:b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➤ </a:t>
            </a:r>
            <a:r>
              <a:rPr kumimoji="0" lang="pt-BR" altLang="pt-BR" sz="11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Exemplo:</a:t>
            </a: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=CONVERTER(10;"km";"m") → Resultado: </a:t>
            </a:r>
            <a:r>
              <a:rPr kumimoji="0" lang="pt-BR" altLang="pt-BR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10.000</a:t>
            </a:r>
            <a:endParaRPr kumimoji="0" lang="pt-BR" altLang="pt-BR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9C6D522-2C7B-EFA7-9FEC-FD49636B8853}"/>
              </a:ext>
            </a:extLst>
          </p:cNvPr>
          <p:cNvSpPr txBox="1"/>
          <p:nvPr/>
        </p:nvSpPr>
        <p:spPr>
          <a:xfrm>
            <a:off x="105103" y="1822229"/>
            <a:ext cx="45825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Conversões Numéricas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BB542C9-6A50-A12B-917D-F8621438F253}"/>
              </a:ext>
            </a:extLst>
          </p:cNvPr>
          <p:cNvGraphicFramePr>
            <a:graphicFrameLocks noGrp="1"/>
          </p:cNvGraphicFramePr>
          <p:nvPr/>
        </p:nvGraphicFramePr>
        <p:xfrm>
          <a:off x="536028" y="2185961"/>
          <a:ext cx="7987863" cy="3267082"/>
        </p:xfrm>
        <a:graphic>
          <a:graphicData uri="http://schemas.openxmlformats.org/drawingml/2006/table">
            <a:tbl>
              <a:tblPr/>
              <a:tblGrid>
                <a:gridCol w="1694407">
                  <a:extLst>
                    <a:ext uri="{9D8B030D-6E8A-4147-A177-3AD203B41FA5}">
                      <a16:colId xmlns:a16="http://schemas.microsoft.com/office/drawing/2014/main" val="3629719786"/>
                    </a:ext>
                  </a:extLst>
                </a:gridCol>
                <a:gridCol w="2840855">
                  <a:extLst>
                    <a:ext uri="{9D8B030D-6E8A-4147-A177-3AD203B41FA5}">
                      <a16:colId xmlns:a16="http://schemas.microsoft.com/office/drawing/2014/main" val="2142370101"/>
                    </a:ext>
                  </a:extLst>
                </a:gridCol>
                <a:gridCol w="3452601">
                  <a:extLst>
                    <a:ext uri="{9D8B030D-6E8A-4147-A177-3AD203B41FA5}">
                      <a16:colId xmlns:a16="http://schemas.microsoft.com/office/drawing/2014/main" val="3967636045"/>
                    </a:ext>
                  </a:extLst>
                </a:gridCol>
              </a:tblGrid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Função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 que faz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Exemplo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947558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=BIN2DEC()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Binário → 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=BIN2DEC(110) → </a:t>
                      </a:r>
                      <a:r>
                        <a:rPr lang="pt-BR" sz="1100" b="1"/>
                        <a:t>6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588866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=BIN2HEX()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Binário → Hexadecimal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=BIN2HEX(110) → </a:t>
                      </a:r>
                      <a:r>
                        <a:rPr lang="pt-BR" sz="1100" b="1"/>
                        <a:t>6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235668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=BIN2OCT()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Binário → Octal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=BIN2OCT(110) → </a:t>
                      </a:r>
                      <a:r>
                        <a:rPr lang="pt-BR" sz="1100" b="1"/>
                        <a:t>6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588620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=DECABIN()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Decimal → Binário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=DECABIN(10) → </a:t>
                      </a:r>
                      <a:r>
                        <a:rPr lang="pt-BR" sz="1100" b="1"/>
                        <a:t>1010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84890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=DECAHEX()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Decimal → Hexadecimal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=DECAHEX(10) → </a:t>
                      </a:r>
                      <a:r>
                        <a:rPr lang="pt-BR" sz="1100" b="1"/>
                        <a:t>A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943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=DECAOCT()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Decimal → Octal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=DECAOCT(10) → </a:t>
                      </a:r>
                      <a:r>
                        <a:rPr lang="pt-BR" sz="1100" b="1" dirty="0"/>
                        <a:t>12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16549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=HEXABIN()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Hexadecimal → Binário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=HEXABIN("A") → </a:t>
                      </a:r>
                      <a:r>
                        <a:rPr lang="pt-BR" sz="1100" b="1"/>
                        <a:t>1010</a:t>
                      </a:r>
                      <a:endParaRPr lang="pt-BR" sz="110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182655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=HEXADEC()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Hexadecimal → 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=HEXADEC("A") → </a:t>
                      </a:r>
                      <a:r>
                        <a:rPr lang="pt-BR" sz="1100" b="1" dirty="0"/>
                        <a:t>10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068224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=HEXAOCT()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Hexadecimal → Octal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=HEXAOCT("A") → </a:t>
                      </a:r>
                      <a:r>
                        <a:rPr lang="pt-BR" sz="1100" b="1" dirty="0"/>
                        <a:t>12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6037954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=OCTABIN()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Octal → Binário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=OCTABIN(12) → </a:t>
                      </a:r>
                      <a:r>
                        <a:rPr lang="pt-BR" sz="1100" b="1" dirty="0"/>
                        <a:t>1010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38437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/>
                        <a:t>=OCTADEC()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Octal → 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=OCTADEC(12) → </a:t>
                      </a:r>
                      <a:r>
                        <a:rPr lang="pt-BR" sz="1100" b="1" dirty="0"/>
                        <a:t>10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08309"/>
                  </a:ext>
                </a:extLst>
              </a:tr>
              <a:tr h="240944">
                <a:tc>
                  <a:txBody>
                    <a:bodyPr/>
                    <a:lstStyle/>
                    <a:p>
                      <a:r>
                        <a:rPr lang="pt-BR" sz="1100" dirty="0"/>
                        <a:t>=OCTAHEX()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Octal → Hexadecimal</a:t>
                      </a:r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=OCTAHEX(12) → </a:t>
                      </a:r>
                      <a:r>
                        <a:rPr lang="pt-BR" sz="1100" b="1" dirty="0"/>
                        <a:t>A</a:t>
                      </a:r>
                      <a:endParaRPr lang="pt-BR" sz="1100" dirty="0"/>
                    </a:p>
                  </a:txBody>
                  <a:tcPr marL="83673" marR="83673" marT="41837" marB="418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6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334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D2A35AC-CF07-CB2C-E4B4-A7AFB204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A7C67BF-36ED-1BCD-7F61-850AB10237C9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8A26692-7179-A896-0B04-044677CEB64B}"/>
              </a:ext>
            </a:extLst>
          </p:cNvPr>
          <p:cNvSpPr txBox="1"/>
          <p:nvPr/>
        </p:nvSpPr>
        <p:spPr>
          <a:xfrm>
            <a:off x="241738" y="1334677"/>
            <a:ext cx="86605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11111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Texto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=TEXTO()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Converte uma célula numérica em texto.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=MAIÚSCULA()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 todos os caracteres em uma célula para letras maiúsculas.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=MINÚSCULA()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 todos os caracteres em uma célula para letras </a:t>
            </a:r>
            <a:r>
              <a:rPr lang="pt-BR" sz="1400" dirty="0" err="1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minuscúlas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=PRI.MAIÚSCULA()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Alterna o primeiro caractere de todas as palavras em uma célula para letras maiúsculas.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=ÉTEXTO()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Verifica se uma célula possui texto.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=ÉNUM()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Verifica se uma célula possui números.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=PESQUISAR()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Encontra um número ou letra em uma célula.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=EXATO()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Verifica se o conteúdo de uma célula é exatamente igual ao inserido.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=CONCATENAR()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os valores de várias células em uma única </a:t>
            </a:r>
            <a:r>
              <a:rPr lang="pt-BR" sz="1400" dirty="0" err="1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=CHAR()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um caractere representante do número especificado em um conjunto.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=ESQUERDA()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os caracteres mais a esquerda de uma célula com texto.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=DIREITA()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os caracteres mais a direita de uma célula com texto.</a:t>
            </a:r>
          </a:p>
          <a:p>
            <a:pPr marL="571500" lvl="0" indent="-3429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=EXT.TEXTO() - </a:t>
            </a:r>
            <a:r>
              <a:rPr lang="pt-BR" sz="1400" dirty="0">
                <a:solidFill>
                  <a:srgbClr val="333333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Retorna o número de caracteres em uma célula com texto.</a:t>
            </a:r>
            <a:endParaRPr lang="pt-BR" sz="2000" b="1" dirty="0">
              <a:solidFill>
                <a:srgbClr val="11111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505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35613D8-645B-775A-ECB4-49106EDC6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C06931F0-C436-91C4-9E50-46A4A2FE1B48}"/>
              </a:ext>
            </a:extLst>
          </p:cNvPr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0E864A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71100" tIns="35550" rIns="71100" bIns="35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1E9F9-30BC-7458-019C-ED95B1914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13" y="1389652"/>
            <a:ext cx="87866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Inserir dados simples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Formatar como Tabela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Utilizar funções </a:t>
            </a: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fáceis e diferentes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=MENOR()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=MAIOR()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=CONT.VALORES()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01532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4017</Words>
  <Application>Microsoft Office PowerPoint</Application>
  <PresentationFormat>Apresentação na tela (16:10)</PresentationFormat>
  <Paragraphs>403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Play</vt:lpstr>
      <vt:lpstr>Arial Unicode MS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 Souza</dc:creator>
  <cp:lastModifiedBy>leo Souza</cp:lastModifiedBy>
  <cp:revision>1</cp:revision>
  <dcterms:created xsi:type="dcterms:W3CDTF">2025-04-28T23:09:06Z</dcterms:created>
  <dcterms:modified xsi:type="dcterms:W3CDTF">2025-05-15T23:55:20Z</dcterms:modified>
</cp:coreProperties>
</file>