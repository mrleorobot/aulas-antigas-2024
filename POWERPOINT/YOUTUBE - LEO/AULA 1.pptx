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D5g0MuxlFlBedcX5vOLe87dt6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534167-854C-4585-96F5-E9EAB526573D}">
  <a:tblStyle styleId="{9B534167-854C-4585-96F5-E9EAB52657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youtu.be/jNQXAC9IVRw?feature=shared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305425" y="1153583"/>
            <a:ext cx="3133800" cy="34818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113" y="1619250"/>
            <a:ext cx="20383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257300" y="2931575"/>
            <a:ext cx="404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221581" y="2162142"/>
            <a:ext cx="3043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endParaRPr b="1" sz="4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YOUTUBE?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342900" y="945853"/>
            <a:ext cx="830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Definição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O YouTube é uma </a:t>
            </a:r>
            <a:r>
              <a:rPr b="1" lang="pt-BR" sz="1400">
                <a:solidFill>
                  <a:schemeClr val="dk1"/>
                </a:solidFill>
              </a:rPr>
              <a:t>plataforma de compartilhamento de vídeos</a:t>
            </a:r>
            <a:r>
              <a:rPr lang="pt-BR" sz="1400">
                <a:solidFill>
                  <a:schemeClr val="dk1"/>
                </a:solidFill>
              </a:rPr>
              <a:t>.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Foi criado para que qualquer pessoa possa </a:t>
            </a:r>
            <a:r>
              <a:rPr b="1" lang="pt-BR" sz="1400">
                <a:solidFill>
                  <a:schemeClr val="dk1"/>
                </a:solidFill>
              </a:rPr>
              <a:t>assistir, enviar, curtir, comentar</a:t>
            </a:r>
            <a:r>
              <a:rPr lang="pt-BR" sz="1400">
                <a:solidFill>
                  <a:schemeClr val="dk1"/>
                </a:solidFill>
              </a:rPr>
              <a:t> e </a:t>
            </a:r>
            <a:r>
              <a:rPr b="1" lang="pt-BR" sz="1400">
                <a:solidFill>
                  <a:schemeClr val="dk1"/>
                </a:solidFill>
              </a:rPr>
              <a:t>compartilhar vídeos</a:t>
            </a:r>
            <a:r>
              <a:rPr lang="pt-BR" sz="1400">
                <a:solidFill>
                  <a:schemeClr val="dk1"/>
                </a:solidFill>
              </a:rPr>
              <a:t> na internet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342900" y="1930888"/>
            <a:ext cx="83058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Lançamento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Criado em </a:t>
            </a:r>
            <a:r>
              <a:rPr b="1" lang="pt-BR" sz="1400">
                <a:solidFill>
                  <a:schemeClr val="dk1"/>
                </a:solidFill>
              </a:rPr>
              <a:t>fevereiro de 2005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Fundadores: </a:t>
            </a:r>
            <a:r>
              <a:rPr b="1" lang="pt-BR" sz="1400">
                <a:solidFill>
                  <a:schemeClr val="dk1"/>
                </a:solidFill>
              </a:rPr>
              <a:t>Steve Chen, Chad Hurley e Jawed Karim</a:t>
            </a:r>
            <a:r>
              <a:rPr lang="pt-BR" sz="1400">
                <a:solidFill>
                  <a:schemeClr val="dk1"/>
                </a:solidFill>
              </a:rPr>
              <a:t> (ex-funcionários do PayPal).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Em </a:t>
            </a:r>
            <a:r>
              <a:rPr b="1" lang="pt-BR" sz="1400">
                <a:solidFill>
                  <a:schemeClr val="dk1"/>
                </a:solidFill>
              </a:rPr>
              <a:t>2006</a:t>
            </a:r>
            <a:r>
              <a:rPr lang="pt-BR" sz="1400">
                <a:solidFill>
                  <a:schemeClr val="dk1"/>
                </a:solidFill>
              </a:rPr>
              <a:t>, o YouTube foi comprado pelo </a:t>
            </a:r>
            <a:r>
              <a:rPr b="1" lang="pt-BR" sz="1400">
                <a:solidFill>
                  <a:schemeClr val="dk1"/>
                </a:solidFill>
              </a:rPr>
              <a:t>Google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342900" y="2931163"/>
            <a:ext cx="830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Objetivo principal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Permitir que qualquer pessoa no mundo </a:t>
            </a:r>
            <a:r>
              <a:rPr b="1" lang="pt-BR" sz="1400">
                <a:solidFill>
                  <a:schemeClr val="dk1"/>
                </a:solidFill>
              </a:rPr>
              <a:t>publique vídeos</a:t>
            </a:r>
            <a:r>
              <a:rPr lang="pt-BR" sz="1400">
                <a:solidFill>
                  <a:schemeClr val="dk1"/>
                </a:solidFill>
              </a:rPr>
              <a:t> com facilidade.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Democratizar o acesso à informação, ao entretenimento e à criatividade.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342900" y="3802667"/>
            <a:ext cx="83058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O que tem no YouTube?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Tutoriais</a:t>
            </a:r>
            <a:r>
              <a:rPr lang="pt-BR" sz="1400">
                <a:solidFill>
                  <a:schemeClr val="dk1"/>
                </a:solidFill>
              </a:rPr>
              <a:t> (como fazer algo)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Aulas e conteúdos educativos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Vlogs pessoais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Vídeos de humor, música, games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Notícias, podcasts, eventos ao vivo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Shorts</a:t>
            </a:r>
            <a:r>
              <a:rPr lang="pt-BR" sz="1400">
                <a:solidFill>
                  <a:schemeClr val="dk1"/>
                </a:solidFill>
              </a:rPr>
              <a:t> (vídeos curtos no formato de celular)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YOUTUBE?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66700" y="981530"/>
            <a:ext cx="8591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Acesso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Pode ser acessado pelo navegador (</a:t>
            </a:r>
            <a:r>
              <a:rPr lang="pt-BR" sz="14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www.youtube.com</a:t>
            </a:r>
            <a:r>
              <a:rPr lang="pt-BR" sz="1400">
                <a:solidFill>
                  <a:schemeClr val="dk1"/>
                </a:solidFill>
              </a:rPr>
              <a:t>), app no celular, TV ou videogames.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Disponível em </a:t>
            </a:r>
            <a:r>
              <a:rPr b="1" lang="pt-BR" sz="1400">
                <a:solidFill>
                  <a:schemeClr val="dk1"/>
                </a:solidFill>
              </a:rPr>
              <a:t>mais de 100 países</a:t>
            </a:r>
            <a:r>
              <a:rPr lang="pt-BR" sz="1400">
                <a:solidFill>
                  <a:schemeClr val="dk1"/>
                </a:solidFill>
              </a:rPr>
              <a:t> e </a:t>
            </a:r>
            <a:r>
              <a:rPr b="1" lang="pt-BR" sz="1400">
                <a:solidFill>
                  <a:schemeClr val="dk1"/>
                </a:solidFill>
              </a:rPr>
              <a:t>80 idiomas diferentes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66700" y="2002252"/>
            <a:ext cx="30354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Interação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Os usuários podem: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Curtir 👍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Comentar 💬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Compartilhar 🔗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Se inscrever nos canais 🔔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Criar playlists 🎵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2001" y="2002252"/>
            <a:ext cx="5251449" cy="2953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BREVE HISTÓRIA DO YOUTUBE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38125" y="895425"/>
            <a:ext cx="86868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Início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Fundado em </a:t>
            </a:r>
            <a:r>
              <a:rPr b="1" lang="pt-BR" sz="1400">
                <a:solidFill>
                  <a:schemeClr val="dk1"/>
                </a:solidFill>
              </a:rPr>
              <a:t>fevereiro de 2005</a:t>
            </a:r>
            <a:r>
              <a:rPr lang="pt-BR" sz="1400">
                <a:solidFill>
                  <a:schemeClr val="dk1"/>
                </a:solidFill>
              </a:rPr>
              <a:t>, nos Estados Unidos.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Criado por </a:t>
            </a:r>
            <a:r>
              <a:rPr b="1" lang="pt-BR" sz="1400">
                <a:solidFill>
                  <a:schemeClr val="dk1"/>
                </a:solidFill>
              </a:rPr>
              <a:t>três ex-funcionários do PayPal</a:t>
            </a:r>
            <a:r>
              <a:rPr lang="pt-BR" sz="1400">
                <a:solidFill>
                  <a:schemeClr val="dk1"/>
                </a:solidFill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</a:rPr>
              <a:t>Steve Chen</a:t>
            </a:r>
            <a:endParaRPr i="0" sz="1400" u="none" cap="none" strike="noStrike">
              <a:solidFill>
                <a:schemeClr val="dk1"/>
              </a:solidFill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</a:rPr>
              <a:t>Chad Hurley</a:t>
            </a:r>
            <a:endParaRPr i="0" sz="1400" u="none" cap="none" strike="noStrike">
              <a:solidFill>
                <a:schemeClr val="dk1"/>
              </a:solidFill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</a:rPr>
              <a:t>Jawed Karim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38125" y="2371386"/>
            <a:ext cx="86868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Primeiro vídeo postado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Nome: </a:t>
            </a:r>
            <a:r>
              <a:rPr b="1" lang="pt-BR" sz="1400">
                <a:solidFill>
                  <a:schemeClr val="dk1"/>
                </a:solidFill>
              </a:rPr>
              <a:t>"Me at the zoo"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Data: </a:t>
            </a:r>
            <a:r>
              <a:rPr b="1" lang="pt-BR" sz="1400">
                <a:solidFill>
                  <a:schemeClr val="dk1"/>
                </a:solidFill>
              </a:rPr>
              <a:t>23 de abril de 2005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Duração: 18 segundos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Mostra Jawed Karim falando sobre elefantes num zoológico.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📌 Esse vídeo ainda está no ar e virou um marco da história da internet.</a:t>
            </a:r>
            <a:endParaRPr sz="1100"/>
          </a:p>
        </p:txBody>
      </p:sp>
      <p:sp>
        <p:nvSpPr>
          <p:cNvPr id="112" name="Google Shape;112;p4"/>
          <p:cNvSpPr/>
          <p:nvPr/>
        </p:nvSpPr>
        <p:spPr>
          <a:xfrm>
            <a:off x="238125" y="4239931"/>
            <a:ext cx="8201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Compra pelo Google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Em </a:t>
            </a:r>
            <a:r>
              <a:rPr b="1" lang="pt-BR" sz="1400">
                <a:solidFill>
                  <a:schemeClr val="dk1"/>
                </a:solidFill>
              </a:rPr>
              <a:t>novembro de 2006</a:t>
            </a:r>
            <a:r>
              <a:rPr lang="pt-BR" sz="1400">
                <a:solidFill>
                  <a:schemeClr val="dk1"/>
                </a:solidFill>
              </a:rPr>
              <a:t>, o </a:t>
            </a:r>
            <a:r>
              <a:rPr b="1" lang="pt-BR" sz="1400">
                <a:solidFill>
                  <a:schemeClr val="dk1"/>
                </a:solidFill>
              </a:rPr>
              <a:t>Google comprou o YouTube por 1,65 bilhão de dólares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Isso fez a plataforma crescer muito mais rápido.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Me at the zoo': The first-ever YouTube video got uploaded 15 years ago today" id="113" name="Google Shape;113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8375" y="2291689"/>
            <a:ext cx="2497932" cy="1407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5219" y="4239931"/>
            <a:ext cx="1081088" cy="1081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CRESCIMENTO E EVOLUÇÃO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95547" y="919783"/>
            <a:ext cx="85530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0" lang="pt-BR" sz="1200" u="none" cap="none" strike="noStrike">
                <a:solidFill>
                  <a:schemeClr val="dk1"/>
                </a:solidFill>
              </a:rPr>
              <a:t> Começou com vídeos caseiros, mas hoje tem </a:t>
            </a:r>
            <a:r>
              <a:rPr b="1" i="0" lang="pt-BR" sz="1200" u="none" cap="none" strike="noStrike">
                <a:solidFill>
                  <a:schemeClr val="dk1"/>
                </a:solidFill>
              </a:rPr>
              <a:t>canais profissionais, programas ao vivo, documentários, clipes oficiais e até filmes</a:t>
            </a:r>
            <a:r>
              <a:rPr i="0" lang="pt-BR" sz="1200" u="none" cap="none" strike="noStrike">
                <a:solidFill>
                  <a:schemeClr val="dk1"/>
                </a:solidFill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0" lang="pt-BR" sz="1200" u="none" cap="none" strike="noStrike">
                <a:solidFill>
                  <a:schemeClr val="dk1"/>
                </a:solidFill>
              </a:rPr>
              <a:t> Ganhou versões em </a:t>
            </a:r>
            <a:r>
              <a:rPr b="1" i="0" lang="pt-BR" sz="1200" u="none" cap="none" strike="noStrike">
                <a:solidFill>
                  <a:schemeClr val="dk1"/>
                </a:solidFill>
              </a:rPr>
              <a:t>diversos idiomas</a:t>
            </a:r>
            <a:r>
              <a:rPr i="0" lang="pt-BR" sz="1200" u="none" cap="none" strike="noStrike">
                <a:solidFill>
                  <a:schemeClr val="dk1"/>
                </a:solidFill>
              </a:rPr>
              <a:t>, com </a:t>
            </a:r>
            <a:r>
              <a:rPr b="1" i="0" lang="pt-BR" sz="1200" u="none" cap="none" strike="noStrike">
                <a:solidFill>
                  <a:schemeClr val="dk1"/>
                </a:solidFill>
              </a:rPr>
              <a:t>novos recursos</a:t>
            </a:r>
            <a:r>
              <a:rPr i="0" lang="pt-BR" sz="1200" u="none" cap="none" strike="noStrike">
                <a:solidFill>
                  <a:schemeClr val="dk1"/>
                </a:solidFill>
              </a:rPr>
              <a:t> ao longo dos anos: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i="0" lang="pt-BR" sz="1200" u="none" cap="none" strike="noStrike">
                <a:solidFill>
                  <a:schemeClr val="dk1"/>
                </a:solidFill>
              </a:rPr>
              <a:t> Transmissões ao vivo (Live)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i="0" lang="pt-BR" sz="1200" u="none" cap="none" strike="noStrike">
                <a:solidFill>
                  <a:schemeClr val="dk1"/>
                </a:solidFill>
              </a:rPr>
              <a:t> Shorts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i="0" lang="pt-BR" sz="1200" u="none" cap="none" strike="noStrike">
                <a:solidFill>
                  <a:schemeClr val="dk1"/>
                </a:solidFill>
              </a:rPr>
              <a:t> Estreias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i="0" lang="pt-BR" sz="1200" u="none" cap="none" strike="noStrike">
                <a:solidFill>
                  <a:schemeClr val="dk1"/>
                </a:solidFill>
              </a:rPr>
              <a:t> Monetização</a:t>
            </a:r>
            <a:endParaRPr sz="1100"/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295547" y="29098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{9B534167-854C-4585-96F5-E9EAB526573D}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Evento Importante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2005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Criação do YouTube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2005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Primeiro vídeo postado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2006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Compra pelo Google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2010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Explosão dos "Youtubers"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2015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Lançamento do YouTube Kids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Lançamento do YouTube Shorts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5"/>
          <p:cNvSpPr/>
          <p:nvPr/>
        </p:nvSpPr>
        <p:spPr>
          <a:xfrm>
            <a:off x="295547" y="2622550"/>
            <a:ext cx="14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Linha do Tempo</a:t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IMPORTÂNCIA CULTURAL DO YOUTUBE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47650" y="1003697"/>
            <a:ext cx="864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Uma nova voz para todos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Antes do YouTube, era preciso ter espaço na TV, rádio ou jornal para ser "visto".</a:t>
            </a:r>
            <a:br>
              <a:rPr lang="pt-BR" sz="1300">
                <a:solidFill>
                  <a:schemeClr val="dk1"/>
                </a:solidFill>
              </a:rPr>
            </a:br>
            <a:r>
              <a:rPr lang="pt-BR" sz="1300">
                <a:solidFill>
                  <a:schemeClr val="dk1"/>
                </a:solidFill>
              </a:rPr>
              <a:t>Com a plataforma, </a:t>
            </a:r>
            <a:r>
              <a:rPr b="1" lang="pt-BR" sz="1300">
                <a:solidFill>
                  <a:schemeClr val="dk1"/>
                </a:solidFill>
              </a:rPr>
              <a:t>qualquer pessoa com internet e criatividade pode ser ouvida e vista por milhões</a:t>
            </a:r>
            <a:r>
              <a:rPr lang="pt-BR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47650" y="1935030"/>
            <a:ext cx="864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Inclusão e diversidade</a:t>
            </a:r>
            <a:endParaRPr sz="10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Pessoas de diferentes culturas, classes sociais, regiões e estilos passaram a </a:t>
            </a:r>
            <a:r>
              <a:rPr b="1" lang="pt-BR" sz="1300">
                <a:solidFill>
                  <a:schemeClr val="dk1"/>
                </a:solidFill>
              </a:rPr>
              <a:t>compartilhar suas experiências</a:t>
            </a:r>
            <a:r>
              <a:rPr lang="pt-BR" sz="1300">
                <a:solidFill>
                  <a:schemeClr val="dk1"/>
                </a:solidFill>
              </a:rPr>
              <a:t>.</a:t>
            </a:r>
            <a:endParaRPr sz="10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Representatividade cresceu: vídeos em línguas regionais, acessibilidade (legendas, Libras), conteúdo voltado a nichos.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47650" y="2941448"/>
            <a:ext cx="8648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Mudança no jeito de se entreter</a:t>
            </a:r>
            <a:endParaRPr sz="10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O YouTube </a:t>
            </a:r>
            <a:r>
              <a:rPr b="1" lang="pt-BR" sz="1300">
                <a:solidFill>
                  <a:schemeClr val="dk1"/>
                </a:solidFill>
              </a:rPr>
              <a:t>mudou o comportamento da audiência</a:t>
            </a:r>
            <a:r>
              <a:rPr lang="pt-BR" sz="1300">
                <a:solidFill>
                  <a:schemeClr val="dk1"/>
                </a:solidFill>
              </a:rPr>
              <a:t>:</a:t>
            </a:r>
            <a:endParaRPr sz="1000"/>
          </a:p>
          <a:p>
            <a:pPr indent="-2222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i="0" lang="pt-BR" sz="1300" u="none" cap="none" strike="noStrike">
                <a:solidFill>
                  <a:schemeClr val="dk1"/>
                </a:solidFill>
              </a:rPr>
              <a:t>As pessoas assistem no horário que quiserem.</a:t>
            </a:r>
            <a:endParaRPr sz="1000"/>
          </a:p>
          <a:p>
            <a:pPr indent="-2222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i="0" lang="pt-BR" sz="1300" u="none" cap="none" strike="noStrike">
                <a:solidFill>
                  <a:schemeClr val="dk1"/>
                </a:solidFill>
              </a:rPr>
              <a:t>Pausam, voltam, aceleram.</a:t>
            </a:r>
            <a:endParaRPr sz="1000"/>
          </a:p>
          <a:p>
            <a:pPr indent="-2222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i="0" lang="pt-BR" sz="1300" u="none" cap="none" strike="noStrike">
                <a:solidFill>
                  <a:schemeClr val="dk1"/>
                </a:solidFill>
              </a:rPr>
              <a:t>Escolhem o que assistir (não é mais "programação fixa" como na TV).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47650" y="4409530"/>
            <a:ext cx="8648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Educação e conhecimento para todos</a:t>
            </a:r>
            <a:endParaRPr sz="10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Muitos usam o YouTube como ferramenta de estudo.</a:t>
            </a:r>
            <a:endParaRPr sz="10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Professores, estudantes e autodidatas encontram </a:t>
            </a:r>
            <a:r>
              <a:rPr b="1" lang="pt-BR" sz="1300">
                <a:solidFill>
                  <a:schemeClr val="dk1"/>
                </a:solidFill>
              </a:rPr>
              <a:t>aulas, tutoriais e dicas práticas</a:t>
            </a:r>
            <a:r>
              <a:rPr lang="pt-BR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IMPORTÂNCIA CULTURAL DO YOUTUBE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242888" y="950780"/>
            <a:ext cx="8658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Gerações conectadas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Crianças, jovens, adultos e idosos</a:t>
            </a:r>
            <a:r>
              <a:rPr lang="pt-BR" sz="1400">
                <a:solidFill>
                  <a:schemeClr val="dk1"/>
                </a:solidFill>
              </a:rPr>
              <a:t> usam o YouTube para aprender, se distrair e se atualizar.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Tornou-se uma </a:t>
            </a:r>
            <a:r>
              <a:rPr b="1" lang="pt-BR" sz="1400">
                <a:solidFill>
                  <a:schemeClr val="dk1"/>
                </a:solidFill>
              </a:rPr>
              <a:t>ponte entre gerações</a:t>
            </a:r>
            <a:r>
              <a:rPr lang="pt-BR" sz="1400">
                <a:solidFill>
                  <a:schemeClr val="dk1"/>
                </a:solidFill>
              </a:rPr>
              <a:t>, com conteúdos para todos os gostos.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Female artist playing drums and recording video on camera (Fornecido por Getty Images)" id="138" name="Google Shape;1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775" y="1940743"/>
            <a:ext cx="5051284" cy="336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NASCIMENTO DO YOUTUBER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33375" y="1045030"/>
            <a:ext cx="8353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Quem é o Youtuber?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É a pessoa que </a:t>
            </a:r>
            <a:r>
              <a:rPr b="1" lang="pt-BR" sz="1400">
                <a:solidFill>
                  <a:schemeClr val="dk1"/>
                </a:solidFill>
              </a:rPr>
              <a:t>cria vídeos para o YouTube de forma frequente</a:t>
            </a:r>
            <a:r>
              <a:rPr lang="pt-BR" sz="1400">
                <a:solidFill>
                  <a:schemeClr val="dk1"/>
                </a:solidFill>
              </a:rPr>
              <a:t>, com o objetivo de </a:t>
            </a:r>
            <a:r>
              <a:rPr b="1" lang="pt-BR" sz="1400">
                <a:solidFill>
                  <a:schemeClr val="dk1"/>
                </a:solidFill>
              </a:rPr>
              <a:t>informar, entreter ou ensinar</a:t>
            </a:r>
            <a:r>
              <a:rPr lang="pt-BR" sz="1400">
                <a:solidFill>
                  <a:schemeClr val="dk1"/>
                </a:solidFill>
              </a:rPr>
              <a:t>.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Com o tempo, virou </a:t>
            </a:r>
            <a:r>
              <a:rPr b="1" lang="pt-BR" sz="1400">
                <a:solidFill>
                  <a:schemeClr val="dk1"/>
                </a:solidFill>
              </a:rPr>
              <a:t>profissão</a:t>
            </a:r>
            <a:r>
              <a:rPr lang="pt-BR" sz="1400">
                <a:solidFill>
                  <a:schemeClr val="dk1"/>
                </a:solidFill>
              </a:rPr>
              <a:t> para muitos.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33375" y="2129260"/>
            <a:ext cx="8353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De hobby a carreira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No começo, era apenas diversão.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Com o crescimento da plataforma e a monetização, muitos passaram a viver disso.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Surgiram </a:t>
            </a:r>
            <a:r>
              <a:rPr b="1" lang="pt-BR" sz="1400">
                <a:solidFill>
                  <a:schemeClr val="dk1"/>
                </a:solidFill>
              </a:rPr>
              <a:t>estúdios caseiros</a:t>
            </a:r>
            <a:r>
              <a:rPr lang="pt-BR" sz="1400">
                <a:solidFill>
                  <a:schemeClr val="dk1"/>
                </a:solidFill>
              </a:rPr>
              <a:t>, equipamentos próprios e edições profissionais.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33375" y="3176770"/>
            <a:ext cx="8353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Relacionamento com o público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Youtubers criam uma </a:t>
            </a:r>
            <a:r>
              <a:rPr b="1" lang="pt-BR" sz="1400">
                <a:solidFill>
                  <a:schemeClr val="dk1"/>
                </a:solidFill>
              </a:rPr>
              <a:t>comunidade de seguidores</a:t>
            </a:r>
            <a:r>
              <a:rPr lang="pt-BR" sz="1400">
                <a:solidFill>
                  <a:schemeClr val="dk1"/>
                </a:solidFill>
              </a:rPr>
              <a:t> que comentam, curtem e compartilham.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A interação constante cria um </a:t>
            </a:r>
            <a:r>
              <a:rPr b="1" lang="pt-BR" sz="1400">
                <a:solidFill>
                  <a:schemeClr val="dk1"/>
                </a:solidFill>
              </a:rPr>
              <a:t>laço direto com o público</a:t>
            </a:r>
            <a:r>
              <a:rPr lang="pt-BR" sz="1400">
                <a:solidFill>
                  <a:schemeClr val="dk1"/>
                </a:solidFill>
              </a:rPr>
              <a:t>, diferente da TV.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33375" y="4197259"/>
            <a:ext cx="828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De anônimos a celebridades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Pessoas comuns ganharam fama e influência.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Muitos migraram para outras áreas: TV, música, livros, eventos, negócios.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MONETIZAÇÃO: COMO O YOUTUBE GERA RENDA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200025" y="854530"/>
            <a:ext cx="8496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O que é monetizar?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É transformar as visualizações do canal em </a:t>
            </a:r>
            <a:r>
              <a:rPr b="1" lang="pt-BR" sz="1400">
                <a:solidFill>
                  <a:schemeClr val="dk1"/>
                </a:solidFill>
              </a:rPr>
              <a:t>dinheiro</a:t>
            </a:r>
            <a:r>
              <a:rPr lang="pt-BR" sz="1400">
                <a:solidFill>
                  <a:schemeClr val="dk1"/>
                </a:solidFill>
              </a:rPr>
              <a:t>, seguindo as regras do YouTube.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Não é automático — o criador precisa atingir certos critérios.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200025" y="1748252"/>
            <a:ext cx="84963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Requisitos básicos para começar a ganhar: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1.000 inscritos no canal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4.000 horas de exibição nos últimos 12 meses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Conta no </a:t>
            </a:r>
            <a:r>
              <a:rPr b="1" lang="pt-BR" sz="1400">
                <a:solidFill>
                  <a:schemeClr val="dk1"/>
                </a:solidFill>
              </a:rPr>
              <a:t>Google AdSense</a:t>
            </a:r>
            <a:r>
              <a:rPr lang="pt-BR" sz="1400">
                <a:solidFill>
                  <a:schemeClr val="dk1"/>
                </a:solidFill>
              </a:rPr>
              <a:t> para receber pagamentos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200025" y="2872806"/>
            <a:ext cx="84963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Principais formas de ganhar dinheiro: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Anúncios (Ads)</a:t>
            </a:r>
            <a:r>
              <a:rPr lang="pt-BR" sz="1400">
                <a:solidFill>
                  <a:schemeClr val="dk1"/>
                </a:solidFill>
              </a:rPr>
              <a:t> – aparecem antes ou durante os vídeos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Super Chat</a:t>
            </a:r>
            <a:r>
              <a:rPr lang="pt-BR" sz="1400">
                <a:solidFill>
                  <a:schemeClr val="dk1"/>
                </a:solidFill>
              </a:rPr>
              <a:t> – doações feitas durante lives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Assinaturas de membros</a:t>
            </a:r>
            <a:r>
              <a:rPr lang="pt-BR" sz="1400">
                <a:solidFill>
                  <a:schemeClr val="dk1"/>
                </a:solidFill>
              </a:rPr>
              <a:t> – fãs que pagam mensalmente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Parcerias e publicidade com marcas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Venda de produtos ou cursos próprios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00025" y="4452803"/>
            <a:ext cx="8229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Importante destacar: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Não é fácil nem rápido.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É preciso </a:t>
            </a:r>
            <a:r>
              <a:rPr b="1" lang="pt-BR" sz="1400">
                <a:solidFill>
                  <a:schemeClr val="dk1"/>
                </a:solidFill>
              </a:rPr>
              <a:t>frequência, qualidade e público engajado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O YouTube analisa o conteúdo e pode </a:t>
            </a:r>
            <a:r>
              <a:rPr b="1" lang="pt-BR" sz="1400">
                <a:solidFill>
                  <a:schemeClr val="dk1"/>
                </a:solidFill>
              </a:rPr>
              <a:t>negar a monetização</a:t>
            </a:r>
            <a:r>
              <a:rPr lang="pt-BR" sz="1400">
                <a:solidFill>
                  <a:schemeClr val="dk1"/>
                </a:solidFill>
              </a:rPr>
              <a:t> se violar regras.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IMPACTO NAS PROFISSÕES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219075" y="964365"/>
            <a:ext cx="86391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Novas profissões que surgiram com o YouTube: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Youtuber</a:t>
            </a:r>
            <a:r>
              <a:rPr lang="pt-BR" sz="1400">
                <a:solidFill>
                  <a:schemeClr val="dk1"/>
                </a:solidFill>
              </a:rPr>
              <a:t> (criador de conteúdo)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Editor de vídeo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Designer de thumbnail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Social media (gestor de redes)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Roteirista de vídeos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Especialista em SEO para YouTube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Gestor de canal (canal manager)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219075" y="2954962"/>
            <a:ext cx="4572000" cy="12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Profissões tradicionais que se adaptaram: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Professores passaram a dar aulas online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Jornalistas criam seus próprios canais de notícias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Músicos lançam clipes diretamente no YouTube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Empresários usam vídeos para divulgar produtos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219075" y="4253062"/>
            <a:ext cx="86391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Como o mercado mudou: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Hoje, empresas contratam influenciadores para </a:t>
            </a:r>
            <a:r>
              <a:rPr b="1" lang="pt-BR" sz="1400">
                <a:solidFill>
                  <a:schemeClr val="dk1"/>
                </a:solidFill>
              </a:rPr>
              <a:t>divulgar marcas e serviços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O currículo agora pode incluir </a:t>
            </a:r>
            <a:r>
              <a:rPr b="1" lang="pt-BR" sz="1400">
                <a:solidFill>
                  <a:schemeClr val="dk1"/>
                </a:solidFill>
              </a:rPr>
              <a:t>"portfólio em vídeo"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Trabalhar de casa</a:t>
            </a:r>
            <a:r>
              <a:rPr lang="pt-BR" sz="1400">
                <a:solidFill>
                  <a:schemeClr val="dk1"/>
                </a:solidFill>
              </a:rPr>
              <a:t> se tornou mais comum para quem produz conteúdo digital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REGRAS DA COMUNIDADE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71450" y="929613"/>
            <a:ext cx="8715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O que são essas regras?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São </a:t>
            </a:r>
            <a:r>
              <a:rPr b="1" lang="pt-BR" sz="1400">
                <a:solidFill>
                  <a:schemeClr val="dk1"/>
                </a:solidFill>
              </a:rPr>
              <a:t>normas de segurança e comportamento</a:t>
            </a:r>
            <a:r>
              <a:rPr lang="pt-BR" sz="1400">
                <a:solidFill>
                  <a:schemeClr val="dk1"/>
                </a:solidFill>
              </a:rPr>
              <a:t> que todos devem seguir ao usar o YouTube.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Servem para proteger os usuários e manter a plataforma saudável.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171450" y="1898418"/>
            <a:ext cx="4572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Coisas proibidas: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Discurso de ódio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Violência ou conteúdo chocante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Desinformação perigosa (como fake news)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Plágio ou violação de direitos autorais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Conteúdo adulto ou inadequado para menores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171450" y="3559720"/>
            <a:ext cx="4572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Consequências: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Vídeos removidos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Canal punido ou </a:t>
            </a:r>
            <a:r>
              <a:rPr b="1" lang="pt-BR" sz="1400">
                <a:solidFill>
                  <a:schemeClr val="dk1"/>
                </a:solidFill>
              </a:rPr>
              <a:t>banido</a:t>
            </a:r>
            <a:endParaRPr sz="1400">
              <a:solidFill>
                <a:schemeClr val="dk1"/>
              </a:solidFill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Desmonetização (perde o direito de ganhar dinheiro)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171450" y="4559994"/>
            <a:ext cx="4572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Boas práticas: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Criar conteúdo original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Ser respeitoso nos comentários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Usar músicas, imagens e trechos com </a:t>
            </a:r>
            <a:r>
              <a:rPr b="1" lang="pt-BR" sz="1400">
                <a:solidFill>
                  <a:schemeClr val="dk1"/>
                </a:solidFill>
              </a:rPr>
              <a:t>direitos liberados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ALGORITMO DO YOUTUBE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123825" y="867833"/>
            <a:ext cx="8896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O que é o algoritmo?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É um </a:t>
            </a:r>
            <a:r>
              <a:rPr b="1" lang="pt-BR" sz="1400">
                <a:solidFill>
                  <a:schemeClr val="dk1"/>
                </a:solidFill>
              </a:rPr>
              <a:t>sistema inteligente</a:t>
            </a:r>
            <a:r>
              <a:rPr lang="pt-BR" sz="1400">
                <a:solidFill>
                  <a:schemeClr val="dk1"/>
                </a:solidFill>
              </a:rPr>
              <a:t> do YouTube que decide </a:t>
            </a:r>
            <a:r>
              <a:rPr b="1" lang="pt-BR" sz="1400">
                <a:solidFill>
                  <a:schemeClr val="dk1"/>
                </a:solidFill>
              </a:rPr>
              <a:t>quais vídeos aparecem para cada pessoa</a:t>
            </a:r>
            <a:r>
              <a:rPr lang="pt-BR" sz="1400">
                <a:solidFill>
                  <a:schemeClr val="dk1"/>
                </a:solidFill>
              </a:rPr>
              <a:t>.</a:t>
            </a:r>
            <a:br>
              <a:rPr lang="pt-BR" sz="1400">
                <a:solidFill>
                  <a:schemeClr val="dk1"/>
                </a:solidFill>
              </a:rPr>
            </a:br>
            <a:r>
              <a:rPr lang="pt-BR" sz="1400">
                <a:solidFill>
                  <a:schemeClr val="dk1"/>
                </a:solidFill>
              </a:rPr>
              <a:t>Funciona com base no comportamento de quem está assistindo.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123825" y="1774858"/>
            <a:ext cx="88965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Como ele “escolhe” os vídeos?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</a:rPr>
              <a:t>O algoritmo </a:t>
            </a:r>
            <a:r>
              <a:rPr b="1" lang="pt-BR" sz="1400">
                <a:solidFill>
                  <a:schemeClr val="dk1"/>
                </a:solidFill>
              </a:rPr>
              <a:t>observa o que você faz</a:t>
            </a:r>
            <a:r>
              <a:rPr lang="pt-BR" sz="1400">
                <a:solidFill>
                  <a:schemeClr val="dk1"/>
                </a:solidFill>
              </a:rPr>
              <a:t>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O que você assiste até o final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Quais vídeos você curte 👍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Quais canais você se inscreve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O que você pesquisa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O que você ignora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23825" y="3605213"/>
            <a:ext cx="4572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O que isso afeta?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Vídeos recomendados na tela inicial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Sugestões na lateral do vídeo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O que aparece no topo das buscas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123825" y="4743070"/>
            <a:ext cx="88107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Para os criadores: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É importante prender a atenção do público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Títulos e capas (thumbnails) chamativos ajudam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Quanto mais pessoas assistem por mais tempo, </a:t>
            </a:r>
            <a:r>
              <a:rPr b="1" lang="pt-BR" sz="1400">
                <a:solidFill>
                  <a:schemeClr val="dk1"/>
                </a:solidFill>
              </a:rPr>
              <a:t>mais o vídeo é divulgado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Conteúdo Populares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04775" y="790575"/>
            <a:ext cx="8905800" cy="45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Os formatos mais assistidos no YouTube: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1. Vlogs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Vídeos do dia a dia, rotina, opiniões e bastidores da vida da pessoa.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2. Tutoriais e “Como fazer”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Ensina algo passo a passo — maquiagem, culinária, edição, informática, etc.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3. Gameplays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Jogadores mostram partidas comentadas ou em tempo real. Muito populares entre jovens.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4. Podcasts em vídeo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Conversas gravadas com convidados. Podem ser informais, educativos ou de humor.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5. Vídeos Educativos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Explicações de conteúdos escolares, cursos, dicas para provas ou carreira.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6. Shorts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Vídeos curtos, na vertical, parecidos com Reels ou TikToks. Ideais para conteúdos rápidos e virais.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7. Entretenimento e humor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</a:rPr>
              <a:t>Esquetes, paródias, pegadinhas, vídeos engraçados e criativos.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Cuidados ao Usar o YouTube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133350" y="950780"/>
            <a:ext cx="888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Exposição pessoal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Evite mostrar </a:t>
            </a:r>
            <a:r>
              <a:rPr b="1" lang="pt-BR" sz="1400">
                <a:solidFill>
                  <a:schemeClr val="dk1"/>
                </a:solidFill>
              </a:rPr>
              <a:t>endereço, escola, rotina ou informações privadas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Pense antes de postar: o vídeo pode ser visto por milhares de pessoas.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128588" y="1901543"/>
            <a:ext cx="888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Comentários e interações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Nem todo mundo comenta com respeito.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Use os recursos de </a:t>
            </a:r>
            <a:r>
              <a:rPr b="1" lang="pt-BR" sz="1400">
                <a:solidFill>
                  <a:schemeClr val="dk1"/>
                </a:solidFill>
              </a:rPr>
              <a:t>moderação</a:t>
            </a:r>
            <a:r>
              <a:rPr lang="pt-BR" sz="1400">
                <a:solidFill>
                  <a:schemeClr val="dk1"/>
                </a:solidFill>
              </a:rPr>
              <a:t>, bloqueio ou denúncia se necessário.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Aprenda a </a:t>
            </a:r>
            <a:r>
              <a:rPr b="1" lang="pt-BR" sz="1400">
                <a:solidFill>
                  <a:schemeClr val="dk1"/>
                </a:solidFill>
              </a:rPr>
              <a:t>lidar com críticas</a:t>
            </a:r>
            <a:r>
              <a:rPr lang="pt-BR" sz="1400">
                <a:solidFill>
                  <a:schemeClr val="dk1"/>
                </a:solidFill>
              </a:rPr>
              <a:t> sem perder o foco.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133350" y="3148410"/>
            <a:ext cx="888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Conteúdo falso ou perigoso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Nem tudo o que está no YouTube é confiável.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</a:rPr>
              <a:t>Verifique a fonte</a:t>
            </a:r>
            <a:r>
              <a:rPr lang="pt-BR" sz="1400">
                <a:solidFill>
                  <a:schemeClr val="dk1"/>
                </a:solidFill>
              </a:rPr>
              <a:t> antes de acreditar, compartilhar ou seguir um conselho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128588" y="4164445"/>
            <a:ext cx="888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Controle para crianças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O YouTube comum </a:t>
            </a:r>
            <a:r>
              <a:rPr b="1" lang="pt-BR" sz="1400">
                <a:solidFill>
                  <a:schemeClr val="dk1"/>
                </a:solidFill>
              </a:rPr>
              <a:t>não é indicado para menores sem supervisão</a:t>
            </a:r>
            <a:r>
              <a:rPr lang="pt-BR" sz="1400">
                <a:solidFill>
                  <a:schemeClr val="dk1"/>
                </a:solidFill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Existe o </a:t>
            </a:r>
            <a:r>
              <a:rPr b="1" lang="pt-BR" sz="1400">
                <a:solidFill>
                  <a:schemeClr val="dk1"/>
                </a:solidFill>
              </a:rPr>
              <a:t>YouTube Kids</a:t>
            </a:r>
            <a:r>
              <a:rPr lang="pt-BR" sz="1400">
                <a:solidFill>
                  <a:schemeClr val="dk1"/>
                </a:solidFill>
              </a:rPr>
              <a:t>, com filtro de conteúdo infantil.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/>
          <p:nvPr/>
        </p:nvSpPr>
        <p:spPr>
          <a:xfrm>
            <a:off x="5305425" y="1153583"/>
            <a:ext cx="3133800" cy="34818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113" y="1619250"/>
            <a:ext cx="20383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5"/>
          <p:cNvSpPr txBox="1"/>
          <p:nvPr/>
        </p:nvSpPr>
        <p:spPr>
          <a:xfrm>
            <a:off x="818150" y="2880350"/>
            <a:ext cx="404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1221581" y="2162142"/>
            <a:ext cx="3043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endParaRPr b="1" sz="4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1073444" y="3167760"/>
            <a:ext cx="2971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- IMPRESSA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2025-04-20T22:21:06Z</dcterms:created>
  <dc:creator>Aluno</dc:creator>
</cp:coreProperties>
</file>