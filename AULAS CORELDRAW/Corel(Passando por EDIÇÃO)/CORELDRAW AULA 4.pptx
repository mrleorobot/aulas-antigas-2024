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5715000" cx="9144000"/>
  <p:notesSz cx="6858000" cy="9144000"/>
  <p:embeddedFontLst>
    <p:embeddedFont>
      <p:font typeface="Play"/>
      <p:regular r:id="rId38"/>
      <p:bold r:id="rId39"/>
    </p:embeddedFont>
    <p:embeddedFont>
      <p:font typeface="La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hP9azgaGxtv01RazG0K1gwQyIi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6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8.xml"/><Relationship Id="rId44" Type="http://customschemas.google.com/relationships/presentationmetadata" Target="metadata"/><Relationship Id="rId21" Type="http://schemas.openxmlformats.org/officeDocument/2006/relationships/slide" Target="slides/slide17.xml"/><Relationship Id="rId43" Type="http://schemas.openxmlformats.org/officeDocument/2006/relationships/font" Target="fonts/Lato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Play-bold.fntdata"/><Relationship Id="rId16" Type="http://schemas.openxmlformats.org/officeDocument/2006/relationships/slide" Target="slides/slide12.xml"/><Relationship Id="rId38" Type="http://schemas.openxmlformats.org/officeDocument/2006/relationships/font" Target="fonts/Play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0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40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40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42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4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4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43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3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4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4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864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969700" y="743733"/>
            <a:ext cx="3575400" cy="3972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98581" y="2536521"/>
            <a:ext cx="38733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Arial"/>
              <a:buNone/>
            </a:pPr>
            <a:r>
              <a:rPr b="1" i="0" lang="pt-BR" sz="5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</a:t>
            </a:r>
            <a:endParaRPr b="1" i="0" sz="5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22974" y="2082847"/>
            <a:ext cx="42246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Ícone&#10;&#10;O conteúdo gerado por IA pode estar incorreto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4646" y="1093672"/>
            <a:ext cx="2945463" cy="2945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MANIPULANDO OBJETOS NO CORELDRAW</a:t>
            </a:r>
            <a:endParaRPr sz="1100"/>
          </a:p>
        </p:txBody>
      </p:sp>
      <p:sp>
        <p:nvSpPr>
          <p:cNvPr id="93" name="Google Shape;93;p2"/>
          <p:cNvSpPr txBox="1"/>
          <p:nvPr/>
        </p:nvSpPr>
        <p:spPr>
          <a:xfrm>
            <a:off x="307105" y="1103575"/>
            <a:ext cx="8276700" cy="3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selecionar mais de um objeto ao mesmo tempo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CorelDRAW, muitas vezes precisamos trabalhar com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vários objetos de uma vez só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formas, imagens ou textos).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fazer isso de forma rápida e fácil, basta usar o seguinte passo: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para selecionar vários objetos: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primeiro objeto.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a tecla SHIFT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Enquanto segura o SHIFT,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nos outros objetos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selecionar.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Agora todos os objetos estarão selecionados e você pode mover, redimensionar ou aplicar efeitos neles ao mesmo tempo.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1"/>
            <a:ext cx="9144000" cy="7830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MANIPULANDO OBJETOS NO CORELDRAW</a:t>
            </a:r>
            <a:endParaRPr sz="1100"/>
          </a:p>
        </p:txBody>
      </p:sp>
      <p:sp>
        <p:nvSpPr>
          <p:cNvPr id="99" name="Google Shape;99;p3"/>
          <p:cNvSpPr/>
          <p:nvPr/>
        </p:nvSpPr>
        <p:spPr>
          <a:xfrm>
            <a:off x="199690" y="919083"/>
            <a:ext cx="8744700" cy="44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Slide: Posição dos Objetos (Camadas)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Entendendo a sobreposição (quem fica na frente e quem fica atrás)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Sempre que você cria um novo objeto no CorelDRAW, ele automaticamente é posicionado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frente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objetos que já estavam na página. Isso acontece porque o programa usa um sistema de camadas invisíveis chamadas de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layers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“camadas”).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um retângulo.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Depois crie um círculo por cima.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Perceba que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 fica na frente do retângulo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mudar a ordem dos objetos?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o objeto.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superior e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&gt; Ordem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clique com o botão direito do mouse sobre o objeto e vá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Ordenar &gt; Para trás da página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outras opções de posicionamento).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Atalhos rápidos de ordem: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Page Up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Traz o objeto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frente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Page Down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Manda o objeto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trás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+ Page Up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Traz o objeto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frente da camada toda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+ Page Down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Manda o objeto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 fundo da camada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30987" l="29230" r="29490" t="48877"/>
          <a:stretch/>
        </p:blipFill>
        <p:spPr>
          <a:xfrm>
            <a:off x="5816716" y="3943278"/>
            <a:ext cx="3010086" cy="1305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1"/>
            <a:ext cx="9144000" cy="7830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RELEMBRANDO E INDO ALÉM!</a:t>
            </a:r>
            <a:endParaRPr sz="1100"/>
          </a:p>
        </p:txBody>
      </p:sp>
      <p:sp>
        <p:nvSpPr>
          <p:cNvPr id="106" name="Google Shape;106;p4"/>
          <p:cNvSpPr txBox="1"/>
          <p:nvPr/>
        </p:nvSpPr>
        <p:spPr>
          <a:xfrm>
            <a:off x="319413" y="895878"/>
            <a:ext cx="84270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já sabe que objetos ficam empilhados, como bloquinhos, certo?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bora aprender a trocar a ordem desses blocos!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Ferramenta: ORGANIZAR &gt; ORDENAR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ela, você pode dizer: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Quem vai pra frente ou pra trás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Quem sobe só um degrauzinho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até quem fica exatamente na frente de quem!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319413" y="2819482"/>
            <a:ext cx="8661600" cy="23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Desafio: "Quem está na frente?"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as ferramentas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ordenar objetos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organizar uma cena com formas básicas.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4 formas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diferentes no seu slide (exemplo: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Posicione todas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mesmo local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sobrepondo-as (como se fosse uma bagunça de figurinhas!).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organize a cena seguindo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desafios abaixo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Traga o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triângulo para a frente de todos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outros objetos.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Mande o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 para trás da camada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 o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quadrado na frente do círculo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atrás da estrela.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opção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“Recuar um”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mover a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estrela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posição para trás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0" y="0"/>
            <a:ext cx="9144000" cy="7224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COPIAR OBJETOS NO CORELDRAW</a:t>
            </a:r>
            <a:endParaRPr sz="1100"/>
          </a:p>
        </p:txBody>
      </p:sp>
      <p:sp>
        <p:nvSpPr>
          <p:cNvPr id="113" name="Google Shape;113;p5"/>
          <p:cNvSpPr txBox="1"/>
          <p:nvPr/>
        </p:nvSpPr>
        <p:spPr>
          <a:xfrm>
            <a:off x="281835" y="793542"/>
            <a:ext cx="8606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Às vezes a gente precisa fazer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várias cópias de um mesmo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seja pra criar um padrão, repetir um elemento no desenho, ou só por segurança. E o CorelDRAW tem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vários jeitos simples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 isso.</a:t>
            </a:r>
            <a:endParaRPr sz="1100"/>
          </a:p>
        </p:txBody>
      </p:sp>
      <p:sp>
        <p:nvSpPr>
          <p:cNvPr id="114" name="Google Shape;114;p5"/>
          <p:cNvSpPr txBox="1"/>
          <p:nvPr/>
        </p:nvSpPr>
        <p:spPr>
          <a:xfrm>
            <a:off x="281835" y="1403313"/>
            <a:ext cx="43272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Métodos clássicos: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C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Copia o objeto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V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Cola o objeto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vá pelo menu: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&gt; Copiar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&gt; Colar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281835" y="2474750"/>
            <a:ext cx="77790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Copiando com o mouse (modo ninja):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objeto com o botão esquerdo.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arraste o objeto como se fosse mover.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de soltar, clique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botão 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mouse.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Você fez uma cópia no lugar novo!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Funciona até com várias formas selecionadas ao mesmo tempo!</a:t>
            </a:r>
            <a:endParaRPr sz="1100"/>
          </a:p>
        </p:txBody>
      </p:sp>
      <p:sp>
        <p:nvSpPr>
          <p:cNvPr id="116" name="Google Shape;116;p5"/>
          <p:cNvSpPr txBox="1"/>
          <p:nvPr/>
        </p:nvSpPr>
        <p:spPr>
          <a:xfrm>
            <a:off x="281836" y="3936688"/>
            <a:ext cx="88623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Duplicar com um toque: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repetir o objeto no mesmo lugar, só um pouquinho deslocado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use o atalho mágico: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D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&gt; Duplicar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objeto será colado com um pequeno deslocamento — ideal pra criar sequências, padrões ou elementos alinhados.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CLONANDO OBJETOS NO CORELDRAW</a:t>
            </a:r>
            <a:endParaRPr sz="1100"/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31400" l="31040" r="30743" t="33191"/>
          <a:stretch/>
        </p:blipFill>
        <p:spPr>
          <a:xfrm>
            <a:off x="6521222" y="3528743"/>
            <a:ext cx="2362384" cy="194566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/>
        </p:nvSpPr>
        <p:spPr>
          <a:xfrm>
            <a:off x="305973" y="1207477"/>
            <a:ext cx="857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 e colar é legal. Duplicar também. Mas e se você pudesse fazer uma cópia mágica que muda junto com o original? É isso que o clonar faz no CorelDRAW!</a:t>
            </a:r>
            <a:endParaRPr sz="1100"/>
          </a:p>
        </p:txBody>
      </p:sp>
      <p:sp>
        <p:nvSpPr>
          <p:cNvPr id="124" name="Google Shape;124;p6"/>
          <p:cNvSpPr txBox="1"/>
          <p:nvPr/>
        </p:nvSpPr>
        <p:spPr>
          <a:xfrm>
            <a:off x="305973" y="1867972"/>
            <a:ext cx="857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o clonar?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clona um objeto, qualquer mudança feita no objeto original será refletida automaticamente em todos os clones. É como ter gêmeos conectados: muda um, todos mudam.</a:t>
            </a:r>
            <a:endParaRPr sz="1100"/>
          </a:p>
        </p:txBody>
      </p:sp>
      <p:sp>
        <p:nvSpPr>
          <p:cNvPr id="125" name="Google Shape;125;p6"/>
          <p:cNvSpPr txBox="1"/>
          <p:nvPr/>
        </p:nvSpPr>
        <p:spPr>
          <a:xfrm>
            <a:off x="305973" y="2528468"/>
            <a:ext cx="84510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fazer isso: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objeto que você quer clonar.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Vá até o menu Editar &gt; Clonar.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Pronto! Uma cópia será criada e ela estará conectada ao original.</a:t>
            </a:r>
            <a:endParaRPr sz="1100"/>
          </a:p>
        </p:txBody>
      </p:sp>
      <p:sp>
        <p:nvSpPr>
          <p:cNvPr id="126" name="Google Shape;126;p6"/>
          <p:cNvSpPr txBox="1"/>
          <p:nvPr/>
        </p:nvSpPr>
        <p:spPr>
          <a:xfrm>
            <a:off x="305973" y="3693662"/>
            <a:ext cx="63780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estrela vermelha.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Clone a estrela.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mude a cor da estrela original para azul.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 a mágica: o clone também muda automaticamente!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AGRUPANDO OBJETOS NO CORELDRAW</a:t>
            </a:r>
            <a:endParaRPr sz="1100"/>
          </a:p>
        </p:txBody>
      </p:sp>
      <p:sp>
        <p:nvSpPr>
          <p:cNvPr id="132" name="Google Shape;132;p7"/>
          <p:cNvSpPr txBox="1"/>
          <p:nvPr/>
        </p:nvSpPr>
        <p:spPr>
          <a:xfrm>
            <a:off x="126610" y="1207477"/>
            <a:ext cx="873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Já tentou mover um desenho que você fez com várias partes, mas elas saem voando pra tudo quanto é lado? Pois é... isso acontece porque os objetos não estão agrupados.Vamos resolver isso!</a:t>
            </a:r>
            <a:endParaRPr sz="1100"/>
          </a:p>
        </p:txBody>
      </p:sp>
      <p:sp>
        <p:nvSpPr>
          <p:cNvPr id="133" name="Google Shape;133;p7"/>
          <p:cNvSpPr txBox="1"/>
          <p:nvPr/>
        </p:nvSpPr>
        <p:spPr>
          <a:xfrm>
            <a:off x="126610" y="1867973"/>
            <a:ext cx="8694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Pensa num olho feito com 3 círculos: um para o branco, outro pra íris e outro pra pupila. Se você tentar mover tudo junto... não dá certo! Cada parte vai pra um lado diferente.</a:t>
            </a:r>
            <a:endParaRPr sz="1100"/>
          </a:p>
        </p:txBody>
      </p:sp>
      <p:sp>
        <p:nvSpPr>
          <p:cNvPr id="134" name="Google Shape;134;p7"/>
          <p:cNvSpPr txBox="1"/>
          <p:nvPr/>
        </p:nvSpPr>
        <p:spPr>
          <a:xfrm>
            <a:off x="126610" y="2528470"/>
            <a:ext cx="8694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agrupar: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a tecla Shift e clique em cada parte do desenho que você quer juntar.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clique com o botão direito do mouse sobre um dos objetos selecionados e escolha Agrupar.Ou vá em Organizar &gt; Agrupar.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Agora os objetos andam juntinhos, como um time.</a:t>
            </a:r>
            <a:endParaRPr sz="1100"/>
          </a:p>
        </p:txBody>
      </p:sp>
      <p:sp>
        <p:nvSpPr>
          <p:cNvPr id="135" name="Google Shape;135;p7"/>
          <p:cNvSpPr txBox="1"/>
          <p:nvPr/>
        </p:nvSpPr>
        <p:spPr>
          <a:xfrm>
            <a:off x="126610" y="3881464"/>
            <a:ext cx="64677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desagrupar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botão direito em cima do grupo.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opção Desagrupar.Também pode ir em Organizar &gt; Desagrupar.</a:t>
            </a:r>
            <a:endParaRPr sz="1100"/>
          </a:p>
        </p:txBody>
      </p:sp>
      <p:sp>
        <p:nvSpPr>
          <p:cNvPr id="136" name="Google Shape;136;p7"/>
          <p:cNvSpPr txBox="1"/>
          <p:nvPr/>
        </p:nvSpPr>
        <p:spPr>
          <a:xfrm>
            <a:off x="126610" y="4680213"/>
            <a:ext cx="901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Exercício: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montem um “rosto emoji” com formas básicas (círculos, elipses, retângulos) e agruparem tudo no final. Depois, movam o rosto sem perder as partes.</a:t>
            </a:r>
            <a:endParaRPr sz="1100"/>
          </a:p>
        </p:txBody>
      </p:sp>
      <p:sp>
        <p:nvSpPr>
          <p:cNvPr id="137" name="Google Shape;137;p7"/>
          <p:cNvSpPr/>
          <p:nvPr/>
        </p:nvSpPr>
        <p:spPr>
          <a:xfrm>
            <a:off x="6260123" y="3327219"/>
            <a:ext cx="28839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highlight>
                  <a:srgbClr val="FFFF00"/>
                </a:highlight>
                <a:latin typeface="Lato"/>
                <a:ea typeface="Lato"/>
                <a:cs typeface="Lato"/>
                <a:sym typeface="Lato"/>
              </a:rPr>
              <a:t>Dica: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highlight>
                  <a:srgbClr val="FFFF00"/>
                </a:highlight>
                <a:latin typeface="Lato"/>
                <a:ea typeface="Lato"/>
                <a:cs typeface="Lato"/>
                <a:sym typeface="Lato"/>
              </a:rPr>
              <a:t>Podemos agrupar objetos através do atalho CTRL+G 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highlight>
                  <a:srgbClr val="FFFF00"/>
                </a:highlight>
                <a:latin typeface="Lato"/>
                <a:ea typeface="Lato"/>
                <a:cs typeface="Lato"/>
                <a:sym typeface="Lato"/>
              </a:rPr>
              <a:t>podemos desagrupa-los através do atalho CTRL+U.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ESPELHANDO OBJETOS NO CORELDRAW</a:t>
            </a:r>
            <a:endParaRPr sz="1100"/>
          </a:p>
        </p:txBody>
      </p:sp>
      <p:sp>
        <p:nvSpPr>
          <p:cNvPr id="143" name="Google Shape;143;p8"/>
          <p:cNvSpPr txBox="1"/>
          <p:nvPr/>
        </p:nvSpPr>
        <p:spPr>
          <a:xfrm>
            <a:off x="262848" y="1195752"/>
            <a:ext cx="861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 quando você desenha alguma coisa e quer fazer o outro lado igualzinho, só que invertido? Tipo um braço direito virando braço esquerdo? Então, é pra isso que serve o espelhamento!</a:t>
            </a:r>
            <a:endParaRPr sz="1100"/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3">
            <a:alphaModFix/>
          </a:blip>
          <a:srcRect b="35836" l="22864" r="22093" t="38362"/>
          <a:stretch/>
        </p:blipFill>
        <p:spPr>
          <a:xfrm>
            <a:off x="5841469" y="2744042"/>
            <a:ext cx="2588234" cy="107839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 txBox="1"/>
          <p:nvPr/>
        </p:nvSpPr>
        <p:spPr>
          <a:xfrm>
            <a:off x="262848" y="1854481"/>
            <a:ext cx="84591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espelhar? Espelhar é criar uma cópia invertida de um objeto. Você pode fazer isso de duas formas:Espelhamento horizontal (vira pro outro lado na horizontal, como olhar no espelho).Espelhamento vertical (vira de cabeça pra baixo).</a:t>
            </a:r>
            <a:endParaRPr sz="1100"/>
          </a:p>
        </p:txBody>
      </p:sp>
      <p:sp>
        <p:nvSpPr>
          <p:cNvPr id="146" name="Google Shape;146;p8"/>
          <p:cNvSpPr txBox="1"/>
          <p:nvPr/>
        </p:nvSpPr>
        <p:spPr>
          <a:xfrm>
            <a:off x="400930" y="3740375"/>
            <a:ext cx="83958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fazer: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objeto que você quer espelhar.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barra de propriedades (aquela barrinha que aparece em cima quando você clica num objeto).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um dos ícones de espelhamento:Espelhar horizontalmente (ícone com duas setinhas lado a lado)Espelhar verticalmente (ícone com setas pra cima e pra baixo)E pronto! Seu objeto foi invertido.</a:t>
            </a:r>
            <a:endParaRPr sz="1100"/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4">
            <a:alphaModFix/>
          </a:blip>
          <a:srcRect b="88706" l="35762" r="58574" t="7526"/>
          <a:stretch/>
        </p:blipFill>
        <p:spPr>
          <a:xfrm>
            <a:off x="7397607" y="4971482"/>
            <a:ext cx="1032093" cy="6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FERRAMENTAS DE PREENCHIMENTO NO CORELDRAW</a:t>
            </a:r>
            <a:endParaRPr sz="1100"/>
          </a:p>
        </p:txBody>
      </p:sp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31902" l="0" r="78260" t="57176"/>
          <a:stretch/>
        </p:blipFill>
        <p:spPr>
          <a:xfrm>
            <a:off x="6678637" y="1884489"/>
            <a:ext cx="2165757" cy="9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9"/>
          <p:cNvPicPr preferRelativeResize="0"/>
          <p:nvPr/>
        </p:nvPicPr>
        <p:blipFill rotWithShape="1">
          <a:blip r:embed="rId4">
            <a:alphaModFix/>
          </a:blip>
          <a:srcRect b="87764" l="0" r="76562" t="6515"/>
          <a:stretch/>
        </p:blipFill>
        <p:spPr>
          <a:xfrm>
            <a:off x="6153226" y="3145468"/>
            <a:ext cx="2990774" cy="64883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/>
        </p:nvSpPr>
        <p:spPr>
          <a:xfrm>
            <a:off x="232117" y="1266092"/>
            <a:ext cx="8764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mundo adora dar cor aos desenhos, né? No CorelDRAW isso é super fácil com as ferramentas de preenchimento! Esse grupo de ferramentas serve pra mudar a cor ou o estilo de cor dentro de um objeto. E ó: tem várias opções, mas as duas primeiras são as queridinhas do dia a dia!</a:t>
            </a:r>
            <a:endParaRPr sz="1100"/>
          </a:p>
        </p:txBody>
      </p:sp>
      <p:sp>
        <p:nvSpPr>
          <p:cNvPr id="156" name="Google Shape;156;p9"/>
          <p:cNvSpPr txBox="1"/>
          <p:nvPr/>
        </p:nvSpPr>
        <p:spPr>
          <a:xfrm>
            <a:off x="232117" y="2827222"/>
            <a:ext cx="859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 Você vai ver essas ferramentas do lado esquerdo da tela, na barra de ferramentas.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 ficam perto da parte de baixo, representadas por baldinhos e degradês.</a:t>
            </a:r>
            <a:endParaRPr sz="1100"/>
          </a:p>
        </p:txBody>
      </p:sp>
      <p:sp>
        <p:nvSpPr>
          <p:cNvPr id="157" name="Google Shape;157;p9"/>
          <p:cNvSpPr txBox="1"/>
          <p:nvPr/>
        </p:nvSpPr>
        <p:spPr>
          <a:xfrm>
            <a:off x="320039" y="3961423"/>
            <a:ext cx="85245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principais ferramentas:1. Preenchimento de Cor Uniforme É o famoso baldinho de tinta! Ele preenche seu objeto com uma única cor.Atalho: F11Depois de clicar no ícone, uma janelinha vai abrir pra você escolher a cor.Escolheu? Clique em “OK” e seu objeto tá pintado!2. Preenchimento InterativoEssa ferramenta deixa o preenchimento mais estiloso!Ela serve para criar degradês e transições de cor dentro do seu objeto.Ao clicar nela, uma linha aparece dentro do objeto.Você pode arrastar as pontas da linha para mudar a direção do degradê.Lá em cima, na barra de propriedades, dá pra escolher o tipo de preenchimento: linear, radial, cônico, etc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FERRAMENTAS DE PREENCHIMENTO NO CORELDRAW</a:t>
            </a:r>
            <a:endParaRPr sz="1100"/>
          </a:p>
        </p:txBody>
      </p:sp>
      <p:sp>
        <p:nvSpPr>
          <p:cNvPr id="163" name="Google Shape;163;p10"/>
          <p:cNvSpPr txBox="1"/>
          <p:nvPr/>
        </p:nvSpPr>
        <p:spPr>
          <a:xfrm>
            <a:off x="2978710" y="1346609"/>
            <a:ext cx="4741200" cy="3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Sem preenchimento: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Remove o preenchimento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uniforme: 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 uma cor de preenchimento sólido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Gradiente: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 um gradiente de cores ou tons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padrão de vetor: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 um preenchimento padrão de vetor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padrão de bitmap: 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 um preenchimento padrão de bitmap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padrão de duas cores: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 um preenchimento padrão de duas cores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de textura: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 um preenchimento de textura predefinida para criar a ilusão de uma variedade de texturas como água, nuvens e pedra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postScript: 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 um preenchimento de textura PostScript intrincado </a:t>
            </a: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pt-BR" sz="7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em que uma coisa se entrelaça ou se mistura a outra; emaranhado, embaraçado.)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Copiar preenchimento: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Aplique o preenchimento de outro objeto no documento ao objeto selecionado.</a:t>
            </a:r>
            <a:endParaRPr sz="1100"/>
          </a:p>
        </p:txBody>
      </p:sp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 b="89441" l="513" r="97503" t="8079"/>
          <a:stretch/>
        </p:blipFill>
        <p:spPr>
          <a:xfrm>
            <a:off x="2474048" y="1346609"/>
            <a:ext cx="319146" cy="35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/>
          <p:cNvPicPr preferRelativeResize="0"/>
          <p:nvPr/>
        </p:nvPicPr>
        <p:blipFill rotWithShape="1">
          <a:blip r:embed="rId3">
            <a:alphaModFix/>
          </a:blip>
          <a:srcRect b="89059" l="2714" r="95198" t="7790"/>
          <a:stretch/>
        </p:blipFill>
        <p:spPr>
          <a:xfrm>
            <a:off x="2474048" y="1704226"/>
            <a:ext cx="319146" cy="42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89002" l="4928" r="92849" t="7821"/>
          <a:stretch/>
        </p:blipFill>
        <p:spPr>
          <a:xfrm>
            <a:off x="2474048" y="2057068"/>
            <a:ext cx="319146" cy="405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0"/>
          <p:cNvPicPr preferRelativeResize="0"/>
          <p:nvPr/>
        </p:nvPicPr>
        <p:blipFill rotWithShape="1">
          <a:blip r:embed="rId3">
            <a:alphaModFix/>
          </a:blip>
          <a:srcRect b="89567" l="7521" r="90855" t="8252"/>
          <a:stretch/>
        </p:blipFill>
        <p:spPr>
          <a:xfrm>
            <a:off x="2474048" y="2462755"/>
            <a:ext cx="319146" cy="381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0"/>
          <p:cNvPicPr preferRelativeResize="0"/>
          <p:nvPr/>
        </p:nvPicPr>
        <p:blipFill rotWithShape="1">
          <a:blip r:embed="rId3">
            <a:alphaModFix/>
          </a:blip>
          <a:srcRect b="89290" l="9547" r="88566" t="8173"/>
          <a:stretch/>
        </p:blipFill>
        <p:spPr>
          <a:xfrm>
            <a:off x="2474048" y="2818588"/>
            <a:ext cx="296890" cy="35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0"/>
          <p:cNvPicPr preferRelativeResize="0"/>
          <p:nvPr/>
        </p:nvPicPr>
        <p:blipFill rotWithShape="1">
          <a:blip r:embed="rId3">
            <a:alphaModFix/>
          </a:blip>
          <a:srcRect b="89129" l="11801" r="86071" t="7966"/>
          <a:stretch/>
        </p:blipFill>
        <p:spPr>
          <a:xfrm>
            <a:off x="2474048" y="3154651"/>
            <a:ext cx="261994" cy="317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 b="89141" l="13727" r="83733" t="8043"/>
          <a:stretch/>
        </p:blipFill>
        <p:spPr>
          <a:xfrm>
            <a:off x="2474048" y="3605484"/>
            <a:ext cx="296886" cy="292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0"/>
          <p:cNvPicPr preferRelativeResize="0"/>
          <p:nvPr/>
        </p:nvPicPr>
        <p:blipFill rotWithShape="1">
          <a:blip r:embed="rId3">
            <a:alphaModFix/>
          </a:blip>
          <a:srcRect b="88942" l="16347" r="81570" t="8049"/>
          <a:stretch/>
        </p:blipFill>
        <p:spPr>
          <a:xfrm>
            <a:off x="2474048" y="3978422"/>
            <a:ext cx="296886" cy="381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0"/>
          <p:cNvPicPr preferRelativeResize="0"/>
          <p:nvPr/>
        </p:nvPicPr>
        <p:blipFill rotWithShape="1">
          <a:blip r:embed="rId4">
            <a:alphaModFix/>
          </a:blip>
          <a:srcRect b="88880" l="19484" r="78518" t="7446"/>
          <a:stretch/>
        </p:blipFill>
        <p:spPr>
          <a:xfrm>
            <a:off x="2502623" y="4330172"/>
            <a:ext cx="261994" cy="428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0"/>
          <p:cNvPicPr preferRelativeResize="0"/>
          <p:nvPr/>
        </p:nvPicPr>
        <p:blipFill rotWithShape="1">
          <a:blip r:embed="rId3">
            <a:alphaModFix/>
          </a:blip>
          <a:srcRect b="31902" l="0" r="78260" t="57176"/>
          <a:stretch/>
        </p:blipFill>
        <p:spPr>
          <a:xfrm>
            <a:off x="267348" y="1701233"/>
            <a:ext cx="1853357" cy="115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ATIVIDADE: CRIANDO UM MONSTRINHO DIVERTIDO</a:t>
            </a:r>
            <a:endParaRPr sz="1100"/>
          </a:p>
        </p:txBody>
      </p:sp>
      <p:sp>
        <p:nvSpPr>
          <p:cNvPr id="179" name="Google Shape;179;p11"/>
          <p:cNvSpPr txBox="1"/>
          <p:nvPr/>
        </p:nvSpPr>
        <p:spPr>
          <a:xfrm>
            <a:off x="149445" y="1353293"/>
            <a:ext cx="86181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Explorar as ferramentas básicas de manipulação de objetos no CorelDRAW de forma criativa.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Tarefa: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um monstrinho usando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básicas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(círculo, retângulo, triângulo, etc.). Ele deve conter: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olhos (pode usar círculos com preenchimentos diferentes)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boca (crie com formas ou use uma linha curvada)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corpo (pode ser um retângulo, oval ou outra forma criativa)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braços (você pode usar o recurso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espelhamento horizontal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os dois iguais)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acessório criativo (um chapéu, óculos ou outro detalhe usando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preenchimento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PREENCHIMENTO NO CORELDRAW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327174" y="1434033"/>
            <a:ext cx="39039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Uniforme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 mais simples e direto: ele pinta todo o objeto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cor só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objeto que você quer pintar.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lateral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balde de tinta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(Ferramenta de Preenchimento).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Uniforme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janela vai abrir — escolha a cor que quiser.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pronto, seu objeto vai ficar todo pintado com essa co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4360419" y="1434033"/>
            <a:ext cx="45444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Gradiente (ou Degradê)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é o queridinho de quem quer dar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charme a mais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nos desenhos. Aqui você mistura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ou mais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pode criar efeitos como claro para escuro, lado a lado, em círculos e muito mais.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objeto.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lateral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balde de tinta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novamente.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Gradiente (ou Degradê)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uma janela onde você pode: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Escolher duas cores (ou mais)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a direção do efeito (horizontal, vertical, radial, cônico…)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transição entre as cores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estiver feliz com o resultado.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UM PREENCHIMENTO GRADIENTE NO CORELDRAW</a:t>
            </a:r>
            <a:endParaRPr sz="1100"/>
          </a:p>
        </p:txBody>
      </p:sp>
      <p:pic>
        <p:nvPicPr>
          <p:cNvPr id="192" name="Google Shape;192;p13"/>
          <p:cNvPicPr preferRelativeResize="0"/>
          <p:nvPr/>
        </p:nvPicPr>
        <p:blipFill rotWithShape="1">
          <a:blip r:embed="rId3">
            <a:alphaModFix/>
          </a:blip>
          <a:srcRect b="87355" l="0" r="23217" t="4004"/>
          <a:stretch/>
        </p:blipFill>
        <p:spPr>
          <a:xfrm>
            <a:off x="1230110" y="3003181"/>
            <a:ext cx="6409837" cy="64122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3"/>
          <p:cNvSpPr txBox="1"/>
          <p:nvPr/>
        </p:nvSpPr>
        <p:spPr>
          <a:xfrm>
            <a:off x="576470" y="1313416"/>
            <a:ext cx="7991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que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ser um quadrado, círculo ou estrela!) e clicar para aplicar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gradiente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vai perceber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novas opções aparecem lá em cima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opções são super legais e permitem personalizar o degradê do jeitinho que você quiser! Vamos entender o que cada uma faz: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PREENCHIMENTO NO CORELDRAW</a:t>
            </a:r>
            <a:endParaRPr sz="1100"/>
          </a:p>
        </p:txBody>
      </p:sp>
      <p:pic>
        <p:nvPicPr>
          <p:cNvPr id="199" name="Google Shape;199;p14"/>
          <p:cNvPicPr preferRelativeResize="0"/>
          <p:nvPr/>
        </p:nvPicPr>
        <p:blipFill rotWithShape="1">
          <a:blip r:embed="rId3">
            <a:alphaModFix/>
          </a:blip>
          <a:srcRect b="87355" l="0" r="23217" t="4004"/>
          <a:stretch/>
        </p:blipFill>
        <p:spPr>
          <a:xfrm>
            <a:off x="1009931" y="1310529"/>
            <a:ext cx="6409837" cy="64122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4"/>
          <p:cNvSpPr/>
          <p:nvPr/>
        </p:nvSpPr>
        <p:spPr>
          <a:xfrm>
            <a:off x="1383375" y="1536821"/>
            <a:ext cx="258000" cy="33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2585231" y="1529279"/>
            <a:ext cx="4512300" cy="38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2" name="Google Shape;202;p14"/>
          <p:cNvCxnSpPr/>
          <p:nvPr/>
        </p:nvCxnSpPr>
        <p:spPr>
          <a:xfrm>
            <a:off x="2724694" y="1851821"/>
            <a:ext cx="6900" cy="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14"/>
          <p:cNvCxnSpPr/>
          <p:nvPr/>
        </p:nvCxnSpPr>
        <p:spPr>
          <a:xfrm>
            <a:off x="1510613" y="1914029"/>
            <a:ext cx="3600" cy="29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14"/>
          <p:cNvSpPr txBox="1"/>
          <p:nvPr/>
        </p:nvSpPr>
        <p:spPr>
          <a:xfrm>
            <a:off x="909188" y="2196342"/>
            <a:ext cx="977700" cy="332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Lato"/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Gradiente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1910175" y="2246008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Selecionador de preenchimento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2181319" y="2672196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Preenchimento gradiente linear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7" name="Google Shape;207;p14"/>
          <p:cNvCxnSpPr/>
          <p:nvPr/>
        </p:nvCxnSpPr>
        <p:spPr>
          <a:xfrm>
            <a:off x="3154444" y="1814696"/>
            <a:ext cx="4800" cy="8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" name="Google Shape;208;p14"/>
          <p:cNvCxnSpPr/>
          <p:nvPr/>
        </p:nvCxnSpPr>
        <p:spPr>
          <a:xfrm>
            <a:off x="3337781" y="1814696"/>
            <a:ext cx="4800" cy="129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14"/>
          <p:cNvSpPr txBox="1"/>
          <p:nvPr/>
        </p:nvSpPr>
        <p:spPr>
          <a:xfrm>
            <a:off x="2364656" y="3103696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Preenchimento de fonte elíptico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0" name="Google Shape;210;p14"/>
          <p:cNvCxnSpPr/>
          <p:nvPr/>
        </p:nvCxnSpPr>
        <p:spPr>
          <a:xfrm flipH="1">
            <a:off x="3519019" y="1814696"/>
            <a:ext cx="2100" cy="171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14"/>
          <p:cNvSpPr txBox="1"/>
          <p:nvPr/>
        </p:nvSpPr>
        <p:spPr>
          <a:xfrm>
            <a:off x="2541244" y="3535196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Preenchimento gradiente cônico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2" name="Google Shape;212;p14"/>
          <p:cNvCxnSpPr/>
          <p:nvPr/>
        </p:nvCxnSpPr>
        <p:spPr>
          <a:xfrm>
            <a:off x="3699731" y="1814696"/>
            <a:ext cx="2700" cy="21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p14"/>
          <p:cNvSpPr txBox="1"/>
          <p:nvPr/>
        </p:nvSpPr>
        <p:spPr>
          <a:xfrm>
            <a:off x="2724694" y="3951696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Preenchimento de fonte regular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4" name="Google Shape;214;p14"/>
          <p:cNvCxnSpPr/>
          <p:nvPr/>
        </p:nvCxnSpPr>
        <p:spPr>
          <a:xfrm>
            <a:off x="4059656" y="1814696"/>
            <a:ext cx="6900" cy="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" name="Google Shape;215;p14"/>
          <p:cNvSpPr txBox="1"/>
          <p:nvPr/>
        </p:nvSpPr>
        <p:spPr>
          <a:xfrm>
            <a:off x="3792263" y="2196342"/>
            <a:ext cx="4332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Cor do nó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4117388" y="3941738"/>
            <a:ext cx="9093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Transparência de nó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7" name="Google Shape;217;p14"/>
          <p:cNvCxnSpPr/>
          <p:nvPr/>
        </p:nvCxnSpPr>
        <p:spPr>
          <a:xfrm>
            <a:off x="4423631" y="1814696"/>
            <a:ext cx="5400" cy="21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" name="Google Shape;218;p14"/>
          <p:cNvCxnSpPr/>
          <p:nvPr/>
        </p:nvCxnSpPr>
        <p:spPr>
          <a:xfrm>
            <a:off x="4858481" y="1799696"/>
            <a:ext cx="5100" cy="5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14"/>
          <p:cNvSpPr txBox="1"/>
          <p:nvPr/>
        </p:nvSpPr>
        <p:spPr>
          <a:xfrm>
            <a:off x="4480781" y="2364946"/>
            <a:ext cx="6030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Posição do nó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0" name="Google Shape;220;p14"/>
          <p:cNvCxnSpPr/>
          <p:nvPr/>
        </p:nvCxnSpPr>
        <p:spPr>
          <a:xfrm>
            <a:off x="5394619" y="1799696"/>
            <a:ext cx="5400" cy="116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" name="Google Shape;221;p14"/>
          <p:cNvSpPr txBox="1"/>
          <p:nvPr/>
        </p:nvSpPr>
        <p:spPr>
          <a:xfrm>
            <a:off x="4520831" y="2939217"/>
            <a:ext cx="9093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Reverter preenchimento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5116294" y="3579258"/>
            <a:ext cx="6030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Suavizar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3" name="Google Shape;223;p14"/>
          <p:cNvCxnSpPr/>
          <p:nvPr/>
        </p:nvCxnSpPr>
        <p:spPr>
          <a:xfrm>
            <a:off x="5586544" y="1799758"/>
            <a:ext cx="10500" cy="17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" name="Google Shape;224;p14"/>
          <p:cNvCxnSpPr/>
          <p:nvPr/>
        </p:nvCxnSpPr>
        <p:spPr>
          <a:xfrm flipH="1">
            <a:off x="6119719" y="1799758"/>
            <a:ext cx="1500" cy="48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p14"/>
          <p:cNvSpPr txBox="1"/>
          <p:nvPr/>
        </p:nvSpPr>
        <p:spPr>
          <a:xfrm>
            <a:off x="5653275" y="2281758"/>
            <a:ext cx="7380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Aceleração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6" name="Google Shape;226;p14"/>
          <p:cNvCxnSpPr/>
          <p:nvPr/>
        </p:nvCxnSpPr>
        <p:spPr>
          <a:xfrm flipH="1">
            <a:off x="6500213" y="1841321"/>
            <a:ext cx="4800" cy="14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7" name="Google Shape;227;p14"/>
          <p:cNvSpPr txBox="1"/>
          <p:nvPr/>
        </p:nvSpPr>
        <p:spPr>
          <a:xfrm>
            <a:off x="5776744" y="3300321"/>
            <a:ext cx="738000" cy="59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Escala e inclinação livre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8" name="Google Shape;228;p14"/>
          <p:cNvCxnSpPr/>
          <p:nvPr/>
        </p:nvCxnSpPr>
        <p:spPr>
          <a:xfrm flipH="1">
            <a:off x="6669788" y="1841321"/>
            <a:ext cx="11700" cy="234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" name="Google Shape;229;p14"/>
          <p:cNvSpPr txBox="1"/>
          <p:nvPr/>
        </p:nvSpPr>
        <p:spPr>
          <a:xfrm>
            <a:off x="5772188" y="4190571"/>
            <a:ext cx="909300" cy="59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Copiar preenchimento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0" name="Google Shape;230;p14"/>
          <p:cNvCxnSpPr/>
          <p:nvPr/>
        </p:nvCxnSpPr>
        <p:spPr>
          <a:xfrm>
            <a:off x="6918075" y="1814696"/>
            <a:ext cx="3000" cy="17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" name="Google Shape;231;p14"/>
          <p:cNvSpPr txBox="1"/>
          <p:nvPr/>
        </p:nvSpPr>
        <p:spPr>
          <a:xfrm>
            <a:off x="6754406" y="3572008"/>
            <a:ext cx="909300" cy="59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Editar preenchimento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CONTA-GOTAS NO CORELDRAW</a:t>
            </a:r>
            <a:endParaRPr sz="1100"/>
          </a:p>
        </p:txBody>
      </p:sp>
      <p:sp>
        <p:nvSpPr>
          <p:cNvPr id="237" name="Google Shape;237;p15"/>
          <p:cNvSpPr txBox="1"/>
          <p:nvPr/>
        </p:nvSpPr>
        <p:spPr>
          <a:xfrm>
            <a:off x="270092" y="1291694"/>
            <a:ext cx="85701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Conta-Gotas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capturar uma cor exata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 objeto ou imagem que já está no seu projeto. Ela funciona como um “olhinho mágico” que copia a cor e permite que você use em outro lugar.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(geralmente à esquerda da tela).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da Conta-Gotas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sobre a cor que você deseja capturar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qualquer objeto do seu desenho.</a:t>
            </a:r>
            <a:endParaRPr sz="1100"/>
          </a:p>
        </p:txBody>
      </p:sp>
      <p:sp>
        <p:nvSpPr>
          <p:cNvPr id="238" name="Google Shape;238;p15"/>
          <p:cNvSpPr txBox="1"/>
          <p:nvPr/>
        </p:nvSpPr>
        <p:spPr>
          <a:xfrm>
            <a:off x="270091" y="2857500"/>
            <a:ext cx="857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ferramenta conta-gotas captura apenas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chapadas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seja,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sólidas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sem gradientes ou efeitos misturados.</a:t>
            </a:r>
            <a:endParaRPr sz="1100"/>
          </a:p>
        </p:txBody>
      </p:sp>
      <p:sp>
        <p:nvSpPr>
          <p:cNvPr id="239" name="Google Shape;239;p15"/>
          <p:cNvSpPr txBox="1"/>
          <p:nvPr/>
        </p:nvSpPr>
        <p:spPr>
          <a:xfrm>
            <a:off x="392221" y="3726803"/>
            <a:ext cx="8194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tem um círculo azul no projeto e quer que um quadrado tenha exatamente o mesmo azul: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Ative a conta-gotas, clique no círculo azul;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aplique essa cor no quadrado.</a:t>
            </a:r>
            <a:endParaRPr sz="1100"/>
          </a:p>
        </p:txBody>
      </p:sp>
      <p:pic>
        <p:nvPicPr>
          <p:cNvPr id="240" name="Google Shape;240;p15"/>
          <p:cNvPicPr preferRelativeResize="0"/>
          <p:nvPr/>
        </p:nvPicPr>
        <p:blipFill rotWithShape="1">
          <a:blip r:embed="rId3">
            <a:alphaModFix/>
          </a:blip>
          <a:srcRect b="40913" l="361" r="97599" t="56034"/>
          <a:stretch/>
        </p:blipFill>
        <p:spPr>
          <a:xfrm>
            <a:off x="8372710" y="1291694"/>
            <a:ext cx="427763" cy="568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LATA DE TINTA NO CORELDRAW</a:t>
            </a:r>
            <a:endParaRPr sz="1100"/>
          </a:p>
        </p:txBody>
      </p:sp>
      <p:sp>
        <p:nvSpPr>
          <p:cNvPr id="246" name="Google Shape;246;p16"/>
          <p:cNvSpPr txBox="1"/>
          <p:nvPr/>
        </p:nvSpPr>
        <p:spPr>
          <a:xfrm>
            <a:off x="317064" y="1249347"/>
            <a:ext cx="84291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capturar uma cor com 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Conta-Gotas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podemos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essa cor em outro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usando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Lata de Tinta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funciona como uma “tinta mágica”: você escolhe uma cor e pode “pintar” qualquer outro objeto com ela.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ferramenta Conta-Gotas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capturar a cor desejada;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que a cor for capturada,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automaticamente a Lata de Tinta será ativada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você quer aplicar essa cor.</a:t>
            </a:r>
            <a:endParaRPr sz="1100"/>
          </a:p>
        </p:txBody>
      </p:sp>
      <p:sp>
        <p:nvSpPr>
          <p:cNvPr id="247" name="Google Shape;247;p16"/>
          <p:cNvSpPr txBox="1"/>
          <p:nvPr/>
        </p:nvSpPr>
        <p:spPr>
          <a:xfrm>
            <a:off x="401615" y="3465379"/>
            <a:ext cx="8269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dois objetos diferentes (como um círculo e um retângulo), capturarem a cor de um deles e aplicarem no outro com a Lata de Tinta.</a:t>
            </a:r>
            <a:endParaRPr sz="1100"/>
          </a:p>
        </p:txBody>
      </p:sp>
      <p:pic>
        <p:nvPicPr>
          <p:cNvPr id="248" name="Google Shape;248;p16"/>
          <p:cNvPicPr preferRelativeResize="0"/>
          <p:nvPr/>
        </p:nvPicPr>
        <p:blipFill rotWithShape="1">
          <a:blip r:embed="rId3">
            <a:alphaModFix/>
          </a:blip>
          <a:srcRect b="38030" l="0" r="97522" t="58614"/>
          <a:stretch/>
        </p:blipFill>
        <p:spPr>
          <a:xfrm>
            <a:off x="8012196" y="2246396"/>
            <a:ext cx="507827" cy="61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MISTURA INTERATIVA</a:t>
            </a:r>
            <a:endParaRPr sz="1100"/>
          </a:p>
        </p:txBody>
      </p:sp>
      <p:sp>
        <p:nvSpPr>
          <p:cNvPr id="254" name="Google Shape;254;p17"/>
          <p:cNvSpPr txBox="1"/>
          <p:nvPr/>
        </p:nvSpPr>
        <p:spPr>
          <a:xfrm>
            <a:off x="523744" y="1318617"/>
            <a:ext cx="79878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Mistura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uma sequência de formas entre dois objetos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ligando um ao outro com um efeito suave e criativo.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sequência é formada por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vários objetos intermediários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o CorelDRAW cria automaticamente. Você pode definir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quantos passos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etapas) essa mistura vai ter!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dois objetos diferentes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um quadrado e um círculo);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selecione 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Mistura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dois quadrados unidos por uma linha);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primeiro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segure o clique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até o segundo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O programa vai criar o efeito de mistura automaticamente;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(na parte de cima)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o número de etapas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direção da mistura e outros efeitos.</a:t>
            </a:r>
            <a:endParaRPr sz="1100"/>
          </a:p>
        </p:txBody>
      </p:sp>
      <p:pic>
        <p:nvPicPr>
          <p:cNvPr id="255" name="Google Shape;255;p17"/>
          <p:cNvPicPr preferRelativeResize="0"/>
          <p:nvPr/>
        </p:nvPicPr>
        <p:blipFill rotWithShape="1">
          <a:blip r:embed="rId3">
            <a:alphaModFix/>
          </a:blip>
          <a:srcRect b="47090" l="0" r="97506" t="49287"/>
          <a:stretch/>
        </p:blipFill>
        <p:spPr>
          <a:xfrm>
            <a:off x="8511435" y="1318617"/>
            <a:ext cx="537546" cy="694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7"/>
          <p:cNvPicPr preferRelativeResize="0"/>
          <p:nvPr/>
        </p:nvPicPr>
        <p:blipFill rotWithShape="1">
          <a:blip r:embed="rId4">
            <a:alphaModFix/>
          </a:blip>
          <a:srcRect b="37219" l="40573" r="37599" t="22113"/>
          <a:stretch/>
        </p:blipFill>
        <p:spPr>
          <a:xfrm>
            <a:off x="8138273" y="4232965"/>
            <a:ext cx="963965" cy="1482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7"/>
          <p:cNvPicPr preferRelativeResize="0"/>
          <p:nvPr/>
        </p:nvPicPr>
        <p:blipFill rotWithShape="1">
          <a:blip r:embed="rId5">
            <a:alphaModFix/>
          </a:blip>
          <a:srcRect b="82721" l="33408" r="7028" t="6314"/>
          <a:stretch/>
        </p:blipFill>
        <p:spPr>
          <a:xfrm>
            <a:off x="2401148" y="4592993"/>
            <a:ext cx="4656938" cy="761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MISTURA INTERATIVA</a:t>
            </a:r>
            <a:endParaRPr sz="1100"/>
          </a:p>
        </p:txBody>
      </p:sp>
      <p:pic>
        <p:nvPicPr>
          <p:cNvPr id="263" name="Google Shape;263;p18"/>
          <p:cNvPicPr preferRelativeResize="0"/>
          <p:nvPr/>
        </p:nvPicPr>
        <p:blipFill rotWithShape="1">
          <a:blip r:embed="rId3">
            <a:alphaModFix/>
          </a:blip>
          <a:srcRect b="82721" l="33408" r="7028" t="6314"/>
          <a:stretch/>
        </p:blipFill>
        <p:spPr>
          <a:xfrm>
            <a:off x="1482694" y="1283238"/>
            <a:ext cx="6178611" cy="1010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18"/>
          <p:cNvCxnSpPr/>
          <p:nvPr/>
        </p:nvCxnSpPr>
        <p:spPr>
          <a:xfrm flipH="1">
            <a:off x="1720163" y="1708259"/>
            <a:ext cx="4500" cy="58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18"/>
          <p:cNvSpPr txBox="1"/>
          <p:nvPr/>
        </p:nvSpPr>
        <p:spPr>
          <a:xfrm>
            <a:off x="1159031" y="2266551"/>
            <a:ext cx="6312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Etapas</a:t>
            </a:r>
            <a:r>
              <a:rPr lang="pt-BR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de</a:t>
            </a:r>
            <a:r>
              <a:rPr lang="pt-BR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1375594" y="2724583"/>
            <a:ext cx="8298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Misturar espaçamento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7" name="Google Shape;267;p18"/>
          <p:cNvCxnSpPr/>
          <p:nvPr/>
        </p:nvCxnSpPr>
        <p:spPr>
          <a:xfrm>
            <a:off x="1966481" y="1625801"/>
            <a:ext cx="5100" cy="10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18"/>
          <p:cNvCxnSpPr/>
          <p:nvPr/>
        </p:nvCxnSpPr>
        <p:spPr>
          <a:xfrm flipH="1">
            <a:off x="2310975" y="1708259"/>
            <a:ext cx="1800" cy="146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p18"/>
          <p:cNvSpPr txBox="1"/>
          <p:nvPr/>
        </p:nvSpPr>
        <p:spPr>
          <a:xfrm>
            <a:off x="2066063" y="3182603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Misturar objetos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0" name="Google Shape;270;p18"/>
          <p:cNvCxnSpPr/>
          <p:nvPr/>
        </p:nvCxnSpPr>
        <p:spPr>
          <a:xfrm flipH="1">
            <a:off x="5251050" y="1662301"/>
            <a:ext cx="600" cy="25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" name="Google Shape;271;p18"/>
          <p:cNvSpPr txBox="1"/>
          <p:nvPr/>
        </p:nvSpPr>
        <p:spPr>
          <a:xfrm>
            <a:off x="2665125" y="3677468"/>
            <a:ext cx="6915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Direção da mistura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2" name="Google Shape;272;p18"/>
          <p:cNvCxnSpPr/>
          <p:nvPr/>
        </p:nvCxnSpPr>
        <p:spPr>
          <a:xfrm flipH="1">
            <a:off x="3227504" y="1647176"/>
            <a:ext cx="5400" cy="19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18"/>
          <p:cNvSpPr txBox="1"/>
          <p:nvPr/>
        </p:nvSpPr>
        <p:spPr>
          <a:xfrm>
            <a:off x="5918981" y="3438187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Mais opções de mistura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4" name="Google Shape;274;p18"/>
          <p:cNvCxnSpPr/>
          <p:nvPr/>
        </p:nvCxnSpPr>
        <p:spPr>
          <a:xfrm>
            <a:off x="6573600" y="1662301"/>
            <a:ext cx="150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" name="Google Shape;275;p18"/>
          <p:cNvSpPr txBox="1"/>
          <p:nvPr/>
        </p:nvSpPr>
        <p:spPr>
          <a:xfrm>
            <a:off x="4512975" y="4213051"/>
            <a:ext cx="738000" cy="56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 no sentido anti horário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4117388" y="3781676"/>
            <a:ext cx="9093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 no sentido horário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7" name="Google Shape;277;p18"/>
          <p:cNvCxnSpPr/>
          <p:nvPr/>
        </p:nvCxnSpPr>
        <p:spPr>
          <a:xfrm>
            <a:off x="5005041" y="1632176"/>
            <a:ext cx="5400" cy="21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p18"/>
          <p:cNvCxnSpPr/>
          <p:nvPr/>
        </p:nvCxnSpPr>
        <p:spPr>
          <a:xfrm>
            <a:off x="4146544" y="1716134"/>
            <a:ext cx="5100" cy="5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" name="Google Shape;279;p18"/>
          <p:cNvSpPr txBox="1"/>
          <p:nvPr/>
        </p:nvSpPr>
        <p:spPr>
          <a:xfrm>
            <a:off x="3559013" y="2266551"/>
            <a:ext cx="6030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Loop de mistura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0" name="Google Shape;280;p18"/>
          <p:cNvCxnSpPr/>
          <p:nvPr/>
        </p:nvCxnSpPr>
        <p:spPr>
          <a:xfrm>
            <a:off x="4412981" y="1625801"/>
            <a:ext cx="5400" cy="116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1" name="Google Shape;281;p18"/>
          <p:cNvSpPr txBox="1"/>
          <p:nvPr/>
        </p:nvSpPr>
        <p:spPr>
          <a:xfrm>
            <a:off x="3501863" y="2778718"/>
            <a:ext cx="9093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Propriedades do caminho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2" name="Google Shape;282;p18"/>
          <p:cNvSpPr txBox="1"/>
          <p:nvPr/>
        </p:nvSpPr>
        <p:spPr>
          <a:xfrm>
            <a:off x="4114181" y="3249218"/>
            <a:ext cx="6030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 direta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3" name="Google Shape;283;p18"/>
          <p:cNvCxnSpPr/>
          <p:nvPr/>
        </p:nvCxnSpPr>
        <p:spPr>
          <a:xfrm flipH="1">
            <a:off x="4680769" y="1647176"/>
            <a:ext cx="4800" cy="16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" name="Google Shape;284;p18"/>
          <p:cNvCxnSpPr/>
          <p:nvPr/>
        </p:nvCxnSpPr>
        <p:spPr>
          <a:xfrm>
            <a:off x="5536200" y="1663009"/>
            <a:ext cx="0" cy="280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5" name="Google Shape;285;p18"/>
          <p:cNvSpPr txBox="1"/>
          <p:nvPr/>
        </p:nvSpPr>
        <p:spPr>
          <a:xfrm>
            <a:off x="5340019" y="4462634"/>
            <a:ext cx="738000" cy="543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Aceleração de objeto e cor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6" name="Google Shape;286;p18"/>
          <p:cNvCxnSpPr/>
          <p:nvPr/>
        </p:nvCxnSpPr>
        <p:spPr>
          <a:xfrm flipH="1">
            <a:off x="5787375" y="1680384"/>
            <a:ext cx="6600" cy="22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" name="Google Shape;287;p18"/>
          <p:cNvSpPr txBox="1"/>
          <p:nvPr/>
        </p:nvSpPr>
        <p:spPr>
          <a:xfrm>
            <a:off x="5612156" y="3891863"/>
            <a:ext cx="1048500" cy="50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Aceleração de dimensionamento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8" name="Google Shape;288;p18"/>
          <p:cNvCxnSpPr/>
          <p:nvPr/>
        </p:nvCxnSpPr>
        <p:spPr>
          <a:xfrm>
            <a:off x="6341475" y="1669634"/>
            <a:ext cx="16500" cy="125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9" name="Google Shape;289;p18"/>
          <p:cNvSpPr txBox="1"/>
          <p:nvPr/>
        </p:nvSpPr>
        <p:spPr>
          <a:xfrm>
            <a:off x="6281719" y="2922791"/>
            <a:ext cx="9093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Objetos iniciais e finais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0" name="Google Shape;290;p18"/>
          <p:cNvCxnSpPr/>
          <p:nvPr/>
        </p:nvCxnSpPr>
        <p:spPr>
          <a:xfrm>
            <a:off x="6131925" y="1663009"/>
            <a:ext cx="3000" cy="17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p18"/>
          <p:cNvSpPr txBox="1"/>
          <p:nvPr/>
        </p:nvSpPr>
        <p:spPr>
          <a:xfrm>
            <a:off x="6435563" y="2229176"/>
            <a:ext cx="909300" cy="59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Copiar propriedades de mistura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CONTORNO INTERATIVO</a:t>
            </a:r>
            <a:endParaRPr sz="1100"/>
          </a:p>
        </p:txBody>
      </p:sp>
      <p:sp>
        <p:nvSpPr>
          <p:cNvPr id="297" name="Google Shape;297;p19"/>
          <p:cNvSpPr txBox="1"/>
          <p:nvPr/>
        </p:nvSpPr>
        <p:spPr>
          <a:xfrm>
            <a:off x="268213" y="1195387"/>
            <a:ext cx="80064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 Interativo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utilizadas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CorelDRAW! Ela serve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linhas ao redor (ou dentro) de um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seguindo exatamente o mesmo formato do desenho original.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linhas são chamadas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você pode controlar: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espessura do 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(mais grosso ou mais fino);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direção do 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(para fora ou para dentro do objeto);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cor do 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 quiser destacar mais ainda.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um objeto qualquer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ser um círculo ou uma estrela, por exemplo);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 Interativo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(parece uma estrela com uma linha ao redor);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segure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mouse levemente para fora ou para dentro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CorelDRAW vai mostrar os contornos criados.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mudar a quantidade de contornos, o espaço entre eles e até a cor!</a:t>
            </a:r>
            <a:endParaRPr sz="1100"/>
          </a:p>
        </p:txBody>
      </p:sp>
      <p:pic>
        <p:nvPicPr>
          <p:cNvPr id="298" name="Google Shape;298;p19"/>
          <p:cNvPicPr preferRelativeResize="0"/>
          <p:nvPr/>
        </p:nvPicPr>
        <p:blipFill rotWithShape="1">
          <a:blip r:embed="rId3">
            <a:alphaModFix/>
          </a:blip>
          <a:srcRect b="46616" l="26091" r="32134" t="36571"/>
          <a:stretch/>
        </p:blipFill>
        <p:spPr>
          <a:xfrm>
            <a:off x="6351563" y="4844615"/>
            <a:ext cx="2252950" cy="66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CONTORNO INTERATIVO</a:t>
            </a:r>
            <a:endParaRPr sz="1100"/>
          </a:p>
        </p:txBody>
      </p:sp>
      <p:sp>
        <p:nvSpPr>
          <p:cNvPr id="304" name="Google Shape;304;p20"/>
          <p:cNvSpPr txBox="1"/>
          <p:nvPr/>
        </p:nvSpPr>
        <p:spPr>
          <a:xfrm>
            <a:off x="1959446" y="1297451"/>
            <a:ext cx="47412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aplicar o efeito de Contorno, Ative a ferramenta, Clique no Objeto que receberá o efeito e arraste para fora ou para dentro da figura conforme você queira fazer o preenchimento.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Ajustando as opções de contorno:</a:t>
            </a:r>
            <a:endParaRPr sz="1100"/>
          </a:p>
        </p:txBody>
      </p:sp>
      <p:pic>
        <p:nvPicPr>
          <p:cNvPr id="305" name="Google Shape;305;p20"/>
          <p:cNvPicPr preferRelativeResize="0"/>
          <p:nvPr/>
        </p:nvPicPr>
        <p:blipFill rotWithShape="1">
          <a:blip r:embed="rId3">
            <a:alphaModFix/>
          </a:blip>
          <a:srcRect b="42857" l="19083" r="19255" t="28208"/>
          <a:stretch/>
        </p:blipFill>
        <p:spPr>
          <a:xfrm>
            <a:off x="2340465" y="2326692"/>
            <a:ext cx="3979162" cy="1659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0"/>
          <p:cNvPicPr preferRelativeResize="0"/>
          <p:nvPr/>
        </p:nvPicPr>
        <p:blipFill rotWithShape="1">
          <a:blip r:embed="rId4">
            <a:alphaModFix/>
          </a:blip>
          <a:srcRect b="31619" l="22494" r="60660" t="59345"/>
          <a:stretch/>
        </p:blipFill>
        <p:spPr>
          <a:xfrm>
            <a:off x="5325944" y="4081287"/>
            <a:ext cx="1592755" cy="75933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0"/>
          <p:cNvSpPr txBox="1"/>
          <p:nvPr/>
        </p:nvSpPr>
        <p:spPr>
          <a:xfrm>
            <a:off x="1336738" y="4114578"/>
            <a:ext cx="38703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Através das seguintes opções podemos alterar as configurações de posição do contorno são elas nesta respectiva ordem: Para o centro, Interno e Externo.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EXTRUSÃO INTERATIVA</a:t>
            </a:r>
            <a:endParaRPr sz="1100"/>
          </a:p>
        </p:txBody>
      </p:sp>
      <p:sp>
        <p:nvSpPr>
          <p:cNvPr id="313" name="Google Shape;313;p21"/>
          <p:cNvSpPr txBox="1"/>
          <p:nvPr/>
        </p:nvSpPr>
        <p:spPr>
          <a:xfrm>
            <a:off x="220085" y="1304219"/>
            <a:ext cx="84951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Extrusão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para deixar o objeto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aparência tridimensional (3D)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como se ele tivesse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volume e profundidade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desenhar um quadrado e fazer ele virar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caixote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transformar uma estrela em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com sombra e corpo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um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ser um quadrado ou uma letra).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Extrusão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que parece um cubo 3D).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objeto,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o mouse e arraste em qualquer direção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O CorelDRAW vai criar uma projeção 3D no seu desenho.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pode: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a profundidade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(mais ou menos volume);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a direção da extrusão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a cor da profundidade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destacar ainda mais!</a:t>
            </a:r>
            <a:endParaRPr sz="1100"/>
          </a:p>
        </p:txBody>
      </p:sp>
      <p:pic>
        <p:nvPicPr>
          <p:cNvPr id="314" name="Google Shape;314;p21"/>
          <p:cNvPicPr preferRelativeResize="0"/>
          <p:nvPr/>
        </p:nvPicPr>
        <p:blipFill rotWithShape="1">
          <a:blip r:embed="rId3">
            <a:alphaModFix/>
          </a:blip>
          <a:srcRect b="49793" l="22641" r="22361" t="33394"/>
          <a:stretch/>
        </p:blipFill>
        <p:spPr>
          <a:xfrm>
            <a:off x="4837335" y="4499216"/>
            <a:ext cx="4162614" cy="1084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EXTRUSÃO INTERATIVA</a:t>
            </a:r>
            <a:endParaRPr sz="1100"/>
          </a:p>
        </p:txBody>
      </p:sp>
      <p:pic>
        <p:nvPicPr>
          <p:cNvPr id="320" name="Google Shape;320;p22"/>
          <p:cNvPicPr preferRelativeResize="0"/>
          <p:nvPr/>
        </p:nvPicPr>
        <p:blipFill rotWithShape="1">
          <a:blip r:embed="rId3">
            <a:alphaModFix/>
          </a:blip>
          <a:srcRect b="23857" l="23796" r="23485" t="31396"/>
          <a:stretch/>
        </p:blipFill>
        <p:spPr>
          <a:xfrm>
            <a:off x="2063609" y="1289483"/>
            <a:ext cx="5010467" cy="403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DISTORÇÃO INTERATIVA</a:t>
            </a:r>
            <a:endParaRPr sz="1100"/>
          </a:p>
        </p:txBody>
      </p:sp>
      <p:sp>
        <p:nvSpPr>
          <p:cNvPr id="326" name="Google Shape;326;p23"/>
          <p:cNvSpPr txBox="1"/>
          <p:nvPr/>
        </p:nvSpPr>
        <p:spPr>
          <a:xfrm>
            <a:off x="392221" y="1254437"/>
            <a:ext cx="67476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a forma original de um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criando efeitos visuais como se o objeto tivesse sido puxado, torcido ou empurrado.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que seu desenho é feito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massinha de modelar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com essa ferramenta, você pode esticar, girar ou empurrar a forma para deixá-la mais criativa ou divertida!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 objeto simples, como um círculo ou uma estrela.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Distorção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com linhas onduladas).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objeto com o botão esquerdo do mouse.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cursor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centro do objeto e observe a distorção acontecer!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pode escolher: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 Ziguezague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faz parecer que o objeto está vibrando;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 de Empurrar/Puxar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cria uma espécie de explosão ou compressão no desenho;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 de Torção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gira partes do objeto como uma espiral.</a:t>
            </a:r>
            <a:endParaRPr sz="1100"/>
          </a:p>
        </p:txBody>
      </p:sp>
      <p:pic>
        <p:nvPicPr>
          <p:cNvPr id="327" name="Google Shape;327;p23"/>
          <p:cNvPicPr preferRelativeResize="0"/>
          <p:nvPr/>
        </p:nvPicPr>
        <p:blipFill rotWithShape="1">
          <a:blip r:embed="rId3">
            <a:alphaModFix/>
          </a:blip>
          <a:srcRect b="31192" l="24316" r="25328" t="52991"/>
          <a:stretch/>
        </p:blipFill>
        <p:spPr>
          <a:xfrm>
            <a:off x="5287523" y="4697420"/>
            <a:ext cx="3704624" cy="980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DISTORÇÃO INTERATIVA</a:t>
            </a:r>
            <a:endParaRPr sz="1100"/>
          </a:p>
        </p:txBody>
      </p:sp>
      <p:pic>
        <p:nvPicPr>
          <p:cNvPr id="333" name="Google Shape;333;p24"/>
          <p:cNvPicPr preferRelativeResize="0"/>
          <p:nvPr/>
        </p:nvPicPr>
        <p:blipFill rotWithShape="1">
          <a:blip r:embed="rId3">
            <a:alphaModFix/>
          </a:blip>
          <a:srcRect b="22130" l="23222" r="23940" t="48118"/>
          <a:stretch/>
        </p:blipFill>
        <p:spPr>
          <a:xfrm>
            <a:off x="1379887" y="1503516"/>
            <a:ext cx="6464538" cy="3454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5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PERSPECTIVA</a:t>
            </a:r>
            <a:endParaRPr sz="1100"/>
          </a:p>
        </p:txBody>
      </p:sp>
      <p:sp>
        <p:nvSpPr>
          <p:cNvPr id="339" name="Google Shape;339;p25"/>
          <p:cNvSpPr txBox="1"/>
          <p:nvPr/>
        </p:nvSpPr>
        <p:spPr>
          <a:xfrm>
            <a:off x="335853" y="1351120"/>
            <a:ext cx="85983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Perspectiva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CorelDRAW é usada para aplicar um efeito que faz parecer que o objeto está mais longe ou mais perto — criando 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sensação de profundidade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É como desenhar uma estrada que parece ficar mais fina à medida que se afasta!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 a Perspectiva: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ou selecione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objeto no qual deseja aplicar o efeito.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superior e clique em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&gt; Adicionar Perspectiva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contorno com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quatro alças nos cantos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irá aparecer em volta do objeto.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alças para deformar o objeto e aplicar o efeito de perspectiva.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estiver satisfeito com o resultado, clique fora do objeto para aplicar.</a:t>
            </a:r>
            <a:endParaRPr sz="1100"/>
          </a:p>
        </p:txBody>
      </p:sp>
      <p:pic>
        <p:nvPicPr>
          <p:cNvPr id="340" name="Google Shape;340;p25"/>
          <p:cNvPicPr preferRelativeResize="0"/>
          <p:nvPr/>
        </p:nvPicPr>
        <p:blipFill rotWithShape="1">
          <a:blip r:embed="rId3">
            <a:alphaModFix/>
          </a:blip>
          <a:srcRect b="38338" l="25527" r="25483" t="45269"/>
          <a:stretch/>
        </p:blipFill>
        <p:spPr>
          <a:xfrm>
            <a:off x="5372921" y="4655507"/>
            <a:ext cx="3674003" cy="812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TRANSPARÊNCIA INTERATIVA</a:t>
            </a:r>
            <a:endParaRPr sz="1100"/>
          </a:p>
        </p:txBody>
      </p:sp>
      <p:sp>
        <p:nvSpPr>
          <p:cNvPr id="346" name="Google Shape;346;p26"/>
          <p:cNvSpPr txBox="1"/>
          <p:nvPr/>
        </p:nvSpPr>
        <p:spPr>
          <a:xfrm>
            <a:off x="345247" y="1294666"/>
            <a:ext cx="8532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transparência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das mais queridinhas do CorelDRAW! Com ela, você consegue deixar um objeto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claro ou “invisível” em algumas partes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criando efeitos incríveis — como um vidro, um reflexo ou até uma sombra leve.</a:t>
            </a:r>
            <a:endParaRPr sz="1100"/>
          </a:p>
        </p:txBody>
      </p:sp>
      <p:sp>
        <p:nvSpPr>
          <p:cNvPr id="347" name="Google Shape;347;p26"/>
          <p:cNvSpPr txBox="1"/>
          <p:nvPr/>
        </p:nvSpPr>
        <p:spPr>
          <a:xfrm>
            <a:off x="805579" y="2273184"/>
            <a:ext cx="71046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ou selecione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objeto que deseja aplicar o efeito.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na lateral esquerda,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ícone de transparência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(parece um quadradinho com um degradê).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pressione o atalho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ferramenta ativa,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o objeto para aplicar a transparência.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 superior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vá até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de Efeito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escolha um tipo: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Uniforme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deixa todo o objeto igualmente transparente.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cria uma transparência em degradê, de um lado mais transparente que o outro.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Radial, Cônica, Retangular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outras formas de aplicar o efeito conforme sua criatividade.</a:t>
            </a:r>
            <a:endParaRPr sz="1100"/>
          </a:p>
        </p:txBody>
      </p:sp>
      <p:pic>
        <p:nvPicPr>
          <p:cNvPr id="348" name="Google Shape;348;p26"/>
          <p:cNvPicPr preferRelativeResize="0"/>
          <p:nvPr/>
        </p:nvPicPr>
        <p:blipFill rotWithShape="1">
          <a:blip r:embed="rId3">
            <a:alphaModFix/>
          </a:blip>
          <a:srcRect b="44332" l="0" r="97300" t="52273"/>
          <a:stretch/>
        </p:blipFill>
        <p:spPr>
          <a:xfrm>
            <a:off x="8201901" y="1903896"/>
            <a:ext cx="473661" cy="5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TRANSPARÊNCIA INTERATIVA</a:t>
            </a:r>
            <a:endParaRPr sz="1100"/>
          </a:p>
        </p:txBody>
      </p:sp>
      <p:pic>
        <p:nvPicPr>
          <p:cNvPr id="354" name="Google Shape;354;p27"/>
          <p:cNvPicPr preferRelativeResize="0"/>
          <p:nvPr/>
        </p:nvPicPr>
        <p:blipFill rotWithShape="1">
          <a:blip r:embed="rId3">
            <a:alphaModFix/>
          </a:blip>
          <a:srcRect b="25587" l="23129" r="24008" t="49845"/>
          <a:stretch/>
        </p:blipFill>
        <p:spPr>
          <a:xfrm>
            <a:off x="449289" y="1512863"/>
            <a:ext cx="4566973" cy="18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7"/>
          <p:cNvPicPr preferRelativeResize="0"/>
          <p:nvPr/>
        </p:nvPicPr>
        <p:blipFill rotWithShape="1">
          <a:blip r:embed="rId4">
            <a:alphaModFix/>
          </a:blip>
          <a:srcRect b="37015" l="22430" r="25537" t="26967"/>
          <a:stretch/>
        </p:blipFill>
        <p:spPr>
          <a:xfrm>
            <a:off x="5397027" y="3399488"/>
            <a:ext cx="3193539" cy="1964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 POWERCLIP: Colocando uma imagem dentro de outra forma!</a:t>
            </a:r>
            <a:endParaRPr sz="1100"/>
          </a:p>
        </p:txBody>
      </p:sp>
      <p:sp>
        <p:nvSpPr>
          <p:cNvPr id="361" name="Google Shape;361;p28"/>
          <p:cNvSpPr txBox="1"/>
          <p:nvPr/>
        </p:nvSpPr>
        <p:spPr>
          <a:xfrm>
            <a:off x="467377" y="1173153"/>
            <a:ext cx="81840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PowerClip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dos efeitos mais legais do CorelDRAW. Ele serve para colocar uma imagem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 uma forma fechada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um círculo, quadrado, estrela ou qualquer outro objeto que você desenhar.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se você recortasse uma imagem no formato que quiser!</a:t>
            </a:r>
            <a:endParaRPr sz="1100"/>
          </a:p>
        </p:txBody>
      </p:sp>
      <p:sp>
        <p:nvSpPr>
          <p:cNvPr id="362" name="Google Shape;362;p28"/>
          <p:cNvSpPr txBox="1"/>
          <p:nvPr/>
        </p:nvSpPr>
        <p:spPr>
          <a:xfrm>
            <a:off x="467378" y="2260992"/>
            <a:ext cx="81840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o PowerClip: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ou insira uma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seu projeto.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você quer que a imagem fique (por exemplo: um círculo, quadrado ou estrela).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selecioná-la.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superior e clique em: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&gt; PowerClip &gt; Colocar em recipiente...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mouse vai virar uma setinha — clique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o círculo que você criou).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 imagem vai "entrar" no formato. Se ela desaparecer, não se preocupe!</a:t>
            </a:r>
            <a:endParaRPr sz="1100"/>
          </a:p>
        </p:txBody>
      </p:sp>
      <p:sp>
        <p:nvSpPr>
          <p:cNvPr id="363" name="Google Shape;363;p28"/>
          <p:cNvSpPr txBox="1"/>
          <p:nvPr/>
        </p:nvSpPr>
        <p:spPr>
          <a:xfrm>
            <a:off x="467377" y="4272161"/>
            <a:ext cx="83382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Ajustando a imagem no objeto: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imagem não ficou do jeito que você queria: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botão direito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objeto (ex: círculo) e escolha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PowerClip &gt; Editar Conteúdo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posicione ou redimensione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imagem como preferir.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terminar, vá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PowerClip &gt; Sair da Edição de Conteúdo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 POWERCLIP: Colocando uma imagem dentro de outra forma!</a:t>
            </a:r>
            <a:endParaRPr sz="1100"/>
          </a:p>
        </p:txBody>
      </p:sp>
      <p:pic>
        <p:nvPicPr>
          <p:cNvPr id="369" name="Google Shape;369;p29"/>
          <p:cNvPicPr preferRelativeResize="0"/>
          <p:nvPr/>
        </p:nvPicPr>
        <p:blipFill rotWithShape="1">
          <a:blip r:embed="rId3">
            <a:alphaModFix/>
          </a:blip>
          <a:srcRect b="42527" l="32355" r="28725" t="30528"/>
          <a:stretch/>
        </p:blipFill>
        <p:spPr>
          <a:xfrm>
            <a:off x="1877311" y="1289504"/>
            <a:ext cx="3064950" cy="188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9"/>
          <p:cNvPicPr preferRelativeResize="0"/>
          <p:nvPr/>
        </p:nvPicPr>
        <p:blipFill rotWithShape="1">
          <a:blip r:embed="rId4">
            <a:alphaModFix/>
          </a:blip>
          <a:srcRect b="14173" l="36219" r="34211" t="54965"/>
          <a:stretch/>
        </p:blipFill>
        <p:spPr>
          <a:xfrm>
            <a:off x="5482880" y="1274411"/>
            <a:ext cx="2065651" cy="191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9"/>
          <p:cNvPicPr preferRelativeResize="0"/>
          <p:nvPr/>
        </p:nvPicPr>
        <p:blipFill rotWithShape="1">
          <a:blip r:embed="rId5">
            <a:alphaModFix/>
          </a:blip>
          <a:srcRect b="23302" l="36946" r="35312" t="42609"/>
          <a:stretch/>
        </p:blipFill>
        <p:spPr>
          <a:xfrm>
            <a:off x="4213112" y="3137921"/>
            <a:ext cx="1754387" cy="1916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0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 ENROLAR PÁGINA</a:t>
            </a:r>
            <a:endParaRPr sz="1100"/>
          </a:p>
        </p:txBody>
      </p:sp>
      <p:pic>
        <p:nvPicPr>
          <p:cNvPr id="377" name="Google Shape;377;p30"/>
          <p:cNvPicPr preferRelativeResize="0"/>
          <p:nvPr/>
        </p:nvPicPr>
        <p:blipFill rotWithShape="1">
          <a:blip r:embed="rId3">
            <a:alphaModFix/>
          </a:blip>
          <a:srcRect b="21870" l="28769" r="27360" t="43551"/>
          <a:stretch/>
        </p:blipFill>
        <p:spPr>
          <a:xfrm>
            <a:off x="5884138" y="3428818"/>
            <a:ext cx="3047363" cy="213512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0"/>
          <p:cNvSpPr txBox="1"/>
          <p:nvPr/>
        </p:nvSpPr>
        <p:spPr>
          <a:xfrm>
            <a:off x="411009" y="1294666"/>
            <a:ext cx="8520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 Enrolar Página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a ilusão de que o canto da imagem ou do objeto está sendo dobrado, como se fosse uma folha de papel prestes a virar.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efeito é ótimo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 um toque especial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pôsteres, banners e até convites digitais!</a:t>
            </a:r>
            <a:endParaRPr sz="1100"/>
          </a:p>
        </p:txBody>
      </p:sp>
      <p:sp>
        <p:nvSpPr>
          <p:cNvPr id="379" name="Google Shape;379;p30"/>
          <p:cNvSpPr txBox="1"/>
          <p:nvPr/>
        </p:nvSpPr>
        <p:spPr>
          <a:xfrm>
            <a:off x="645873" y="2428881"/>
            <a:ext cx="45798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 o efeito de Enrolar Página no CorelDRAW: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você quer aplicar o efeito.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superior e clique em: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&gt; Efeitos 3D &gt; Enrolar Página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janela vai abrir com as opções do efeito. Nela, você pode: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qual canto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imagem a dobra será aplicada.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da dobra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(quanto mais você mexer, mais "enrolada" a página vai parecer).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aplicar.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1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Texto Seguindo o Caminho</a:t>
            </a:r>
            <a:endParaRPr sz="1100"/>
          </a:p>
        </p:txBody>
      </p:sp>
      <p:pic>
        <p:nvPicPr>
          <p:cNvPr id="385" name="Google Shape;385;p31"/>
          <p:cNvPicPr preferRelativeResize="0"/>
          <p:nvPr/>
        </p:nvPicPr>
        <p:blipFill rotWithShape="1">
          <a:blip r:embed="rId3">
            <a:alphaModFix/>
          </a:blip>
          <a:srcRect b="21802" l="23440" r="24456" t="38735"/>
          <a:stretch/>
        </p:blipFill>
        <p:spPr>
          <a:xfrm>
            <a:off x="5309526" y="3255657"/>
            <a:ext cx="3217837" cy="21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1"/>
          <p:cNvSpPr txBox="1"/>
          <p:nvPr/>
        </p:nvSpPr>
        <p:spPr>
          <a:xfrm>
            <a:off x="401614" y="1373754"/>
            <a:ext cx="857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CorelDRAW, você pode fazer com que o texto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 o formato de uma linha, círculo ou forma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Isso é muito útil em logotipos, selos, carimbos ou qualquer arte onde o texto precise acompanhar um desenho.</a:t>
            </a:r>
            <a:endParaRPr sz="1100"/>
          </a:p>
        </p:txBody>
      </p:sp>
      <p:sp>
        <p:nvSpPr>
          <p:cNvPr id="387" name="Google Shape;387;p31"/>
          <p:cNvSpPr txBox="1"/>
          <p:nvPr/>
        </p:nvSpPr>
        <p:spPr>
          <a:xfrm>
            <a:off x="476772" y="2114541"/>
            <a:ext cx="45798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fazer o texto seguir um caminho no CorelDRAW: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seu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normalmente com a ferramenta de Texto.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que o texto siga. Pode ser: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curva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qualquer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(fechado ou não)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ferramenta de seleção.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superior: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&gt; Ajustar texto ao caminho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sobre o caminho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 linha ou forma).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O texto vai se encaixar automaticamente no contorno.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393" name="Google Shape;393;p32"/>
          <p:cNvSpPr txBox="1"/>
          <p:nvPr/>
        </p:nvSpPr>
        <p:spPr>
          <a:xfrm>
            <a:off x="345249" y="1085589"/>
            <a:ext cx="85419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Criação de Logotipos: A cara da sua marca!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criar um logotipo?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logotipo é como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assinatura visual de uma empresa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primeira impressão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ela passa para o mundo: clientes, fornecedores, parceiros e até os próprios funcionários.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bom logo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 a identidade da marca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que ela acredita, vende e defende.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aparece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redes sociais, produtos, embalagens, anúncios e cartões de visita.</a:t>
            </a:r>
            <a:endParaRPr sz="1100"/>
          </a:p>
        </p:txBody>
      </p:sp>
      <p:sp>
        <p:nvSpPr>
          <p:cNvPr id="394" name="Google Shape;394;p32"/>
          <p:cNvSpPr txBox="1"/>
          <p:nvPr/>
        </p:nvSpPr>
        <p:spPr>
          <a:xfrm>
            <a:off x="514350" y="3209924"/>
            <a:ext cx="8373000" cy="21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começar a criar um logotipo?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de sair desenhando, pare e pense nessas </a:t>
            </a: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perguntas mágicas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eu quero que a marca transmita?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(Ex: diversão? confiança? profissionalismo?)</a:t>
            </a:r>
            <a:endParaRPr sz="1100"/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 algo que já representa isso?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(Pesquise logotipos de empresas parecidas para se inspirar — </a:t>
            </a:r>
            <a:r>
              <a:rPr i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nada de copiar!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😉)</a:t>
            </a:r>
            <a:endParaRPr sz="1100"/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vou apresentar minha ideia?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uma frase?</a:t>
            </a:r>
            <a:endParaRPr sz="1100"/>
          </a:p>
          <a:p>
            <a:pPr indent="-2349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símbolo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simples?</a:t>
            </a:r>
            <a:endParaRPr sz="1100"/>
          </a:p>
          <a:p>
            <a:pPr indent="-2349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mascote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divertido?</a:t>
            </a:r>
            <a:endParaRPr sz="1100"/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pessoas vão se identificar?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o público-alvo vendo esse logo. Ele faz sentido? É fácil de entender e lembrar?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3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400" name="Google Shape;400;p33"/>
          <p:cNvSpPr txBox="1"/>
          <p:nvPr/>
        </p:nvSpPr>
        <p:spPr>
          <a:xfrm>
            <a:off x="2201400" y="1169398"/>
            <a:ext cx="47412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 fontScale="850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Trabalhar um pouco</a:t>
            </a:r>
            <a:endParaRPr sz="1100"/>
          </a:p>
        </p:txBody>
      </p:sp>
      <p:sp>
        <p:nvSpPr>
          <p:cNvPr id="401" name="Google Shape;401;p33"/>
          <p:cNvSpPr txBox="1"/>
          <p:nvPr/>
        </p:nvSpPr>
        <p:spPr>
          <a:xfrm>
            <a:off x="207304" y="2591520"/>
            <a:ext cx="39459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 os logotipos ao lado e tente confeccioná-los, ou, se preferir, confeccione seu próprio logotipo.</a:t>
            </a:r>
            <a:endParaRPr sz="1100"/>
          </a:p>
        </p:txBody>
      </p:sp>
      <p:pic>
        <p:nvPicPr>
          <p:cNvPr id="402" name="Google Shape;402;p33"/>
          <p:cNvPicPr preferRelativeResize="0"/>
          <p:nvPr/>
        </p:nvPicPr>
        <p:blipFill rotWithShape="1">
          <a:blip r:embed="rId3">
            <a:alphaModFix/>
          </a:blip>
          <a:srcRect b="2059" l="0" r="0" t="-2060"/>
          <a:stretch/>
        </p:blipFill>
        <p:spPr>
          <a:xfrm>
            <a:off x="4153292" y="2405313"/>
            <a:ext cx="4741199" cy="2778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2025-04-23T19:38:42Z</dcterms:created>
  <dc:creator>leo Souza</dc:creator>
</cp:coreProperties>
</file>