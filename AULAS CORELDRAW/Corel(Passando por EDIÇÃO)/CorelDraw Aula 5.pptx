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715000" cx="9144000"/>
  <p:notesSz cx="6858000" cy="9144000"/>
  <p:embeddedFontLst>
    <p:embeddedFont>
      <p:font typeface="Play"/>
      <p:regular r:id="rId49"/>
      <p:bold r:id="rId50"/>
    </p:embeddedFont>
    <p:embeddedFont>
      <p:font typeface="Lat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gkR78yKqknjYt4QIYG9VrSgkA7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Lato-regular.fntdata"/><Relationship Id="rId50" Type="http://schemas.openxmlformats.org/officeDocument/2006/relationships/font" Target="fonts/Play-bold.fntdata"/><Relationship Id="rId53" Type="http://schemas.openxmlformats.org/officeDocument/2006/relationships/font" Target="fonts/Lato-italic.fntdata"/><Relationship Id="rId52" Type="http://schemas.openxmlformats.org/officeDocument/2006/relationships/font" Target="fonts/Lato-bold.fntdata"/><Relationship Id="rId11" Type="http://schemas.openxmlformats.org/officeDocument/2006/relationships/slide" Target="slides/slide7.xml"/><Relationship Id="rId55" Type="http://customschemas.google.com/relationships/presentationmetadata" Target="metadata"/><Relationship Id="rId10" Type="http://schemas.openxmlformats.org/officeDocument/2006/relationships/slide" Target="slides/slide6.xml"/><Relationship Id="rId54" Type="http://schemas.openxmlformats.org/officeDocument/2006/relationships/font" Target="fonts/La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3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6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7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8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9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0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4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4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4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4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4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9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9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5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5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1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51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51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51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51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5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5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5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5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5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5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53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5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5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5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5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54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5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5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5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5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5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5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5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6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56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5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5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5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png"/><Relationship Id="rId4" Type="http://schemas.openxmlformats.org/officeDocument/2006/relationships/image" Target="../media/image1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6.png"/><Relationship Id="rId4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Relationship Id="rId4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png"/><Relationship Id="rId4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864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69700" y="743733"/>
            <a:ext cx="3575400" cy="3972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98581" y="2536521"/>
            <a:ext cx="38733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Arial"/>
              <a:buNone/>
            </a:pPr>
            <a:r>
              <a:rPr b="1" i="0" lang="pt-BR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b="1" i="0" sz="5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22974" y="2082847"/>
            <a:ext cx="42246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Ícone&#10;&#10;O conteúdo gerado por IA pode estar incorreto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4646" y="1093672"/>
            <a:ext cx="2945463" cy="2945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CORELDRAW</a:t>
            </a:r>
            <a:endParaRPr sz="1100"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3319" y="2705707"/>
            <a:ext cx="4020225" cy="234806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308931" y="918575"/>
            <a:ext cx="4020300" cy="46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CORELDRAW? 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 aplicativo de design gráfico criado para atender a demanda dos profissionais do setor gráfico da atualidade.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VETOR? 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Segmento de reta orientado com origem e extremidade.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BITMAP? 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comuns que são formadas por pequenos pontos (pixel) onde cada um é de uma cor.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DIFERENÇA ENTRE VETOR E BITMAP</a:t>
            </a:r>
            <a:endParaRPr sz="1100"/>
          </a:p>
        </p:txBody>
      </p:sp>
      <p:sp>
        <p:nvSpPr>
          <p:cNvPr id="100" name="Google Shape;100;p3"/>
          <p:cNvSpPr txBox="1"/>
          <p:nvPr/>
        </p:nvSpPr>
        <p:spPr>
          <a:xfrm>
            <a:off x="627083" y="1318617"/>
            <a:ext cx="8053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mundo do design, entender a diferença entre vetor e bitmap é muito importante!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vetoriais são formadas por linhas, curvas e formas matemáticas. Isso significa que você pode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 ou diminuir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tamanho da imagem sem perder qualidade.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Logotipos e ícones costumam ser vetores, porque precisam aparecer bem tanto em um cartão de visita quanto em um outdoor!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BITMAP (ou raster):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imagens são feitas de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milhares de pontinhos chamados pixels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Quanto mais você aumenta, mais “pixelada” ou borrada a imagem fica.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Fotos tiradas com o celular ou imagens da internet normalmente são bitmap.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FORMATOS DE ARQUIVOS MAIS USADOS NO CORELDRAW</a:t>
            </a:r>
            <a:endParaRPr sz="1100"/>
          </a:p>
        </p:txBody>
      </p:sp>
      <p:sp>
        <p:nvSpPr>
          <p:cNvPr id="106" name="Google Shape;106;p4"/>
          <p:cNvSpPr txBox="1"/>
          <p:nvPr/>
        </p:nvSpPr>
        <p:spPr>
          <a:xfrm>
            <a:off x="369277" y="961292"/>
            <a:ext cx="85884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FORMATOS DE ARQUIVOS MAIS USADOS NO CORELDRAW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CorelDRAW trabalha com diversos tipos de arquivos, mas os mais comuns são: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CDR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é o formato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CorelDRAW (quando você salva um projeto no programa).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PDF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muito usado para impressão de arquivos (mantém a qualidade e o layout)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JPG/JPEG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imagens comuns, boas para redes sociais, mas com perda de qualidade.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PNG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imagens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fundo transparente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muito usado em design.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SVG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formato vetorial que pode ser usado também em sites.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PIXEL, CORES E RESOLUÇÃO: O BÁSICO DO DESIGN DIGITAL</a:t>
            </a:r>
            <a:endParaRPr sz="1100"/>
          </a:p>
        </p:txBody>
      </p:sp>
      <p:sp>
        <p:nvSpPr>
          <p:cNvPr id="112" name="Google Shape;112;p5"/>
          <p:cNvSpPr txBox="1"/>
          <p:nvPr/>
        </p:nvSpPr>
        <p:spPr>
          <a:xfrm>
            <a:off x="523745" y="1076151"/>
            <a:ext cx="8241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um Pixel?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Pixel é o menor pontinho que forma uma imagem digital.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 quando você aproxima muito uma foto e ela fica toda cheia de quadradinhos? Cada um daqueles quadradinhos é um pixel!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Quanto mais pixels, melhor a qualidade da imagem.</a:t>
            </a:r>
            <a:endParaRPr sz="1100"/>
          </a:p>
        </p:txBody>
      </p:sp>
      <p:sp>
        <p:nvSpPr>
          <p:cNvPr id="113" name="Google Shape;113;p5"/>
          <p:cNvSpPr txBox="1"/>
          <p:nvPr/>
        </p:nvSpPr>
        <p:spPr>
          <a:xfrm>
            <a:off x="251303" y="2869223"/>
            <a:ext cx="45798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Cores: RGB x CMYK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é usado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telas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celulares, computadores e TVs.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letras significam: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  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Red (vermelho)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  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Green (verde)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  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Blue (azul)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três cores se misturam para criar as outras!</a:t>
            </a:r>
            <a:endParaRPr sz="1100"/>
          </a:p>
        </p:txBody>
      </p:sp>
      <p:sp>
        <p:nvSpPr>
          <p:cNvPr id="114" name="Google Shape;114;p5"/>
          <p:cNvSpPr txBox="1"/>
          <p:nvPr/>
        </p:nvSpPr>
        <p:spPr>
          <a:xfrm>
            <a:off x="4947190" y="2869223"/>
            <a:ext cx="41160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CMYK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é usado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impressões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cartazes e panfletos.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letras significam: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  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Ciano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  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Magenta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  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Yellow (amarelo)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  K = Black (preto)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PIXEL, CORES E RESOLUÇÃO: O BÁSICO DO DESIGN DIGITAL</a:t>
            </a:r>
            <a:endParaRPr sz="1100"/>
          </a:p>
        </p:txBody>
      </p:sp>
      <p:sp>
        <p:nvSpPr>
          <p:cNvPr id="120" name="Google Shape;120;p6"/>
          <p:cNvSpPr txBox="1"/>
          <p:nvPr/>
        </p:nvSpPr>
        <p:spPr>
          <a:xfrm>
            <a:off x="624048" y="1153217"/>
            <a:ext cx="81015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DPI?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DPI significa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Dots Per Inch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português: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pontos por polegada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mede a resolução de uma imagem — ou seja,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qualidade de 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maior o DPI, mais nítida e detalhada fica a imagem impressa.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impressão: recomenda-se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300 DPI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internet e tela: normalmente usamos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72 DPI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Termos Essenciais do CorelDRAW – Parte 1</a:t>
            </a:r>
            <a:endParaRPr sz="1100"/>
          </a:p>
        </p:txBody>
      </p:sp>
      <p:sp>
        <p:nvSpPr>
          <p:cNvPr id="126" name="Google Shape;126;p7"/>
          <p:cNvSpPr txBox="1"/>
          <p:nvPr/>
        </p:nvSpPr>
        <p:spPr>
          <a:xfrm>
            <a:off x="343363" y="1087263"/>
            <a:ext cx="84348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cada pedacinho do desenho: pode ser um texto, uma forma, uma linha, uma imagem... tudo o que você coloca no trabalho.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 trabalho completo que você está criando. Pode ser um cartaz, um convite, um logo, etc.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 Vetorial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imagem feita com linhas e formas que podem ser aumentadas ou diminuídas sem perder qualidade.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um logotipo vetorial pode ser usado em uma caneta ou em um outdoor sem borrar!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Bitmap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feita com pontinhos (píxels). Quando você aumenta demais, ela fica toda embaçada.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fotos são bitmaps.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 de Encaixe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aquelas janelinhas que aparecem na lateral com opções extras quando escolhemos uma ferramenta.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 ajudam a configurar melhor o que estamos usando.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Termos Essenciais do CorelDRAW – Parte 2</a:t>
            </a:r>
            <a:endParaRPr sz="1100"/>
          </a:p>
        </p:txBody>
      </p:sp>
      <p:sp>
        <p:nvSpPr>
          <p:cNvPr id="132" name="Google Shape;132;p8"/>
          <p:cNvSpPr txBox="1"/>
          <p:nvPr/>
        </p:nvSpPr>
        <p:spPr>
          <a:xfrm>
            <a:off x="595170" y="1121139"/>
            <a:ext cx="79536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 Desdobrável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aquele menu que aparece quando clicamos e seguramos em uma ferramenta que tem uma setinha pequena no canto.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🖱️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a ferramenta retângulo pode ter mais opções escondidas!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Artístico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frases curtas e com efeitos legais, como sombra e contorno.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deal para títulos e destaques.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de Parágrafo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escrever textos maiores, como descrições ou explicações.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ajustar o alinhamento, colunas, espaçamento e muito mais.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Trabalho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tudo o que você vê ao abrir o CorelDRAW: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Inclui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título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menus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 de desenho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Básicas do CorelDRAW – Parte 1</a:t>
            </a:r>
            <a:endParaRPr sz="1100"/>
          </a:p>
        </p:txBody>
      </p:sp>
      <p:sp>
        <p:nvSpPr>
          <p:cNvPr id="138" name="Google Shape;138;p9"/>
          <p:cNvSpPr txBox="1"/>
          <p:nvPr/>
        </p:nvSpPr>
        <p:spPr>
          <a:xfrm>
            <a:off x="362080" y="897699"/>
            <a:ext cx="84198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Seleção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selecionar, mover, redimensionar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objetos.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uma forma e arraste para movê-la.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Retângulo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quadrados e retângulos simples.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 de três pontos: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desenhar retângulos inclinados, começando por uma linha base.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Elipse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círculos e elipses.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 de três pontos: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Desenha elipses com uma base definida por 3 pontos.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Polígono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desenhar: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Polígonos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 vários lados),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Estrelas simples e complexas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Papel gráfico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uma grade),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Espirais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(ótimo para artes criativas).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Forma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os cantos e curvas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objeto.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puxar ou empurrar os pontos de uma estrela para deixá-la diferente.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Ferramentas Básicas do CorelDRAW – Parte 1</a:t>
            </a:r>
            <a:endParaRPr sz="1100"/>
          </a:p>
        </p:txBody>
      </p:sp>
      <p:sp>
        <p:nvSpPr>
          <p:cNvPr id="144" name="Google Shape;144;p10"/>
          <p:cNvSpPr txBox="1"/>
          <p:nvPr/>
        </p:nvSpPr>
        <p:spPr>
          <a:xfrm>
            <a:off x="362080" y="897699"/>
            <a:ext cx="84198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Seleção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selecionar, mover, redimensionar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objetos.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uma forma e arraste para movê-la.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Retângulo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quadrados e retângulos simples.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 de três pontos: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desenhar retângulos inclinados, começando por uma linha base.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Elipse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círculos e elipses.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Elipse de três pontos: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Desenha elipses com uma base definida por 3 pontos.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Ferramentas Polígono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desenhar: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Polígonos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 vários lados),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Estrelas simples e complexas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Papel gráfico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uma grade),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Espirais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(ótimo para artes criativas).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Forma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Usada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os cantos e curvas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objeto.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pode puxar ou empurrar os pontos de uma estrela para deixá-la diferente.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Formas de Aparagem e Efeitos com Objetos – Parte 2</a:t>
            </a:r>
            <a:endParaRPr sz="1100"/>
          </a:p>
        </p:txBody>
      </p:sp>
      <p:sp>
        <p:nvSpPr>
          <p:cNvPr id="150" name="Google Shape;150;p11"/>
          <p:cNvSpPr txBox="1"/>
          <p:nvPr/>
        </p:nvSpPr>
        <p:spPr>
          <a:xfrm>
            <a:off x="373431" y="989912"/>
            <a:ext cx="84480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Serve para cortar, unir ou transformar formas com base em outras. Só funciona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dois objetos selecionados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 os tipos mais usados: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Soldar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Une dois ou mais objetos em um só.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Unir dois círculos para fazer um boneco de neve.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Aparar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Corta uma forma com a outra, como um molde.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Interseção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 uma nova forma só com a parte onde os objetos se encostam.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Simplificar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Corta a parte onde os objetos se sobrepõem, deixando o restante separado.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Frente menos costa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Tira da parte de trás o que está encostando na parte da frente.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Costa menos frente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Tira da parte da frente o que encosta no que está atrás.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Limites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Gera uma nova forma ao redor de tudo o que estiver selecionado.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um contorno geral em vários objetos juntos.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ATALHOS NO CORELDRAW</a:t>
            </a:r>
            <a:endParaRPr sz="1100"/>
          </a:p>
        </p:txBody>
      </p:sp>
      <p:sp>
        <p:nvSpPr>
          <p:cNvPr id="156" name="Google Shape;156;p12"/>
          <p:cNvSpPr txBox="1"/>
          <p:nvPr/>
        </p:nvSpPr>
        <p:spPr>
          <a:xfrm>
            <a:off x="0" y="814813"/>
            <a:ext cx="4572000" cy="49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abrir um arquivo: Ctrl + O;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novo projeto: Ctrl + N;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salvar documentos: Ctrl + S;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criar arquivo novo: Ctrl + Shift + S;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imprimir documento: Ctrl + P, impressão;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fechar aplicativo: Alt + F4;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desfazer ação: Ctrl + Z;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colar: Ctrl + V;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copiar: Ctrl + C;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recortar: Ctrl + X;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refazer uma ação: Ctrl + Shift + Z;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rotacionar um objeto: Alt + F8; </a:t>
            </a:r>
            <a:endParaRPr sz="1100"/>
          </a:p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alterar o seu tamanho: Alt + F9;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2"/>
          <p:cNvSpPr txBox="1"/>
          <p:nvPr/>
        </p:nvSpPr>
        <p:spPr>
          <a:xfrm>
            <a:off x="3977014" y="814192"/>
            <a:ext cx="5166900" cy="49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355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▪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aumentar ou reduzir proporcionalmente um objeto: Alt + F10;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alinhar à esquerda: L;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alinhar à direita: R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mover para o topo: T;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mover para o rodapé: B;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centralizar: E;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agrupar: Ctrl + G;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desagrupar: Ctrl + U;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combinar: Ctrl + L;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descombinar: Ctrl + K;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converter em curvas: Ctrl + Q; 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▪ transformar um contorno em objeto: Ctrl + Shift + Q.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MANIPULAÇÃO DE OBJETOS NO CORELDRAW</a:t>
            </a:r>
            <a:endParaRPr sz="1100"/>
          </a:p>
        </p:txBody>
      </p:sp>
      <p:sp>
        <p:nvSpPr>
          <p:cNvPr id="163" name="Google Shape;163;p13"/>
          <p:cNvSpPr txBox="1"/>
          <p:nvPr/>
        </p:nvSpPr>
        <p:spPr>
          <a:xfrm>
            <a:off x="392222" y="1076648"/>
            <a:ext cx="4579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mais de um objeto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selecionar vários objetos ao mesmo tempo: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a tecla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nos objetos desejados.</a:t>
            </a:r>
            <a:endParaRPr sz="1100"/>
          </a:p>
        </p:txBody>
      </p:sp>
      <p:sp>
        <p:nvSpPr>
          <p:cNvPr id="164" name="Google Shape;164;p13"/>
          <p:cNvSpPr txBox="1"/>
          <p:nvPr/>
        </p:nvSpPr>
        <p:spPr>
          <a:xfrm>
            <a:off x="392221" y="2081081"/>
            <a:ext cx="84387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Posicionar um objeto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CorelDRAW, cada objeto criado é colocado em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(layer)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Objetos criados depois ficam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frente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anteriores.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alterar a ordem dos objetos: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&gt; Ordenar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escolha: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frente da página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trás da página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frente da camada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trás da camada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Recuar um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frente 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(exige clicar no outro objeto depois)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/>
          <p:nvPr/>
        </p:nvSpPr>
        <p:spPr>
          <a:xfrm>
            <a:off x="0" y="1"/>
            <a:ext cx="9144000" cy="8142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MANIPULAÇÃO DE OBJETOS NO CORELDRAW</a:t>
            </a:r>
            <a:endParaRPr sz="1100"/>
          </a:p>
        </p:txBody>
      </p:sp>
      <p:sp>
        <p:nvSpPr>
          <p:cNvPr id="170" name="Google Shape;170;p14"/>
          <p:cNvSpPr txBox="1"/>
          <p:nvPr/>
        </p:nvSpPr>
        <p:spPr>
          <a:xfrm>
            <a:off x="364037" y="1096337"/>
            <a:ext cx="45798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e colar objetos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C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(copiar)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V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(colar)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clique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botão direito do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objeto e selecione as opções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364037" y="2609588"/>
            <a:ext cx="82671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Clonar objetos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Clonar é como copiar, mas mantendo um vínculo com o objeto original.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clonar: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&gt; Clonar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1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simples: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Clone uma forma e altere o original — os clones receberão algumas alterações automaticamente.</a:t>
            </a:r>
            <a:endParaRPr sz="1100"/>
          </a:p>
        </p:txBody>
      </p:sp>
      <p:sp>
        <p:nvSpPr>
          <p:cNvPr id="172" name="Google Shape;172;p14"/>
          <p:cNvSpPr txBox="1"/>
          <p:nvPr/>
        </p:nvSpPr>
        <p:spPr>
          <a:xfrm>
            <a:off x="364037" y="4233943"/>
            <a:ext cx="8267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Agrupar e Desagrupar objetos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agrupar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selecione os objetos e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desagrupar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selecione o grupo e use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U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ESPELHANDO OBJETOS NO CORELDRAW</a:t>
            </a:r>
            <a:endParaRPr sz="1100"/>
          </a:p>
        </p:txBody>
      </p:sp>
      <p:sp>
        <p:nvSpPr>
          <p:cNvPr id="178" name="Google Shape;178;p15"/>
          <p:cNvSpPr txBox="1"/>
          <p:nvPr/>
        </p:nvSpPr>
        <p:spPr>
          <a:xfrm>
            <a:off x="262848" y="1195752"/>
            <a:ext cx="861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 quando você desenha alguma coisa e quer fazer o outro lado igualzinho, só que invertido? Tipo um braço direito virando braço esquerdo? Então, é pra isso que serve o espelhamento!</a:t>
            </a:r>
            <a:endParaRPr sz="1100"/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3">
            <a:alphaModFix/>
          </a:blip>
          <a:srcRect b="35836" l="22864" r="22093" t="38362"/>
          <a:stretch/>
        </p:blipFill>
        <p:spPr>
          <a:xfrm>
            <a:off x="5841469" y="2744042"/>
            <a:ext cx="2588234" cy="107839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262848" y="1854481"/>
            <a:ext cx="84591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espelhar? Espelhar é criar uma cópia invertida de um objeto. Você pode fazer isso de duas formas:Espelhamento horizontal (vira pro outro lado na horizontal, como olhar no espelho).Espelhamento vertical (vira de cabeça pra baixo).</a:t>
            </a:r>
            <a:endParaRPr sz="1100"/>
          </a:p>
        </p:txBody>
      </p:sp>
      <p:sp>
        <p:nvSpPr>
          <p:cNvPr id="181" name="Google Shape;181;p15"/>
          <p:cNvSpPr txBox="1"/>
          <p:nvPr/>
        </p:nvSpPr>
        <p:spPr>
          <a:xfrm>
            <a:off x="400930" y="3740375"/>
            <a:ext cx="83958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fazer: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 que você quer espelhar.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barra de propriedades (aquela barrinha que aparece em cima quando você clica num objeto).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um dos ícones de espelhamento:Espelhar horizontalmente (ícone com duas setinhas lado a lado)Espelhar verticalmente (ícone com setas pra cima e pra baixo)E pronto! Seu objeto foi invertido.</a:t>
            </a:r>
            <a:endParaRPr sz="1100"/>
          </a:p>
        </p:txBody>
      </p:sp>
      <p:pic>
        <p:nvPicPr>
          <p:cNvPr id="182" name="Google Shape;182;p15"/>
          <p:cNvPicPr preferRelativeResize="0"/>
          <p:nvPr/>
        </p:nvPicPr>
        <p:blipFill rotWithShape="1">
          <a:blip r:embed="rId4">
            <a:alphaModFix/>
          </a:blip>
          <a:srcRect b="88706" l="35762" r="58574" t="7526"/>
          <a:stretch/>
        </p:blipFill>
        <p:spPr>
          <a:xfrm>
            <a:off x="7397607" y="4971482"/>
            <a:ext cx="1032093" cy="61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FERRAMENTAS DE PREENCHIMENTO NO CORELDRAW</a:t>
            </a:r>
            <a:endParaRPr sz="1100"/>
          </a:p>
        </p:txBody>
      </p:sp>
      <p:pic>
        <p:nvPicPr>
          <p:cNvPr id="188" name="Google Shape;188;p16"/>
          <p:cNvPicPr preferRelativeResize="0"/>
          <p:nvPr/>
        </p:nvPicPr>
        <p:blipFill rotWithShape="1">
          <a:blip r:embed="rId3">
            <a:alphaModFix/>
          </a:blip>
          <a:srcRect b="31902" l="0" r="78260" t="57176"/>
          <a:stretch/>
        </p:blipFill>
        <p:spPr>
          <a:xfrm>
            <a:off x="6678637" y="1884489"/>
            <a:ext cx="2165757" cy="96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/>
          <p:cNvPicPr preferRelativeResize="0"/>
          <p:nvPr/>
        </p:nvPicPr>
        <p:blipFill rotWithShape="1">
          <a:blip r:embed="rId4">
            <a:alphaModFix/>
          </a:blip>
          <a:srcRect b="87764" l="0" r="76562" t="6515"/>
          <a:stretch/>
        </p:blipFill>
        <p:spPr>
          <a:xfrm>
            <a:off x="6153226" y="3145468"/>
            <a:ext cx="2990774" cy="64883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232117" y="1266092"/>
            <a:ext cx="8764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mundo adora dar cor aos desenhos, né? No CorelDRAW isso é super fácil com as ferramentas de preenchimento! Esse grupo de ferramentas serve pra mudar a cor ou o estilo de cor dentro de um objeto. E ó: tem várias opções, mas as duas primeiras são as queridinhas do dia a dia!</a:t>
            </a:r>
            <a:endParaRPr sz="1100"/>
          </a:p>
        </p:txBody>
      </p:sp>
      <p:sp>
        <p:nvSpPr>
          <p:cNvPr id="191" name="Google Shape;191;p16"/>
          <p:cNvSpPr txBox="1"/>
          <p:nvPr/>
        </p:nvSpPr>
        <p:spPr>
          <a:xfrm>
            <a:off x="232117" y="2827222"/>
            <a:ext cx="859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 Você vai ver essas ferramentas do lado esquerdo da tela, na barra de ferramentas.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 ficam perto da parte de baixo, representadas por baldinhos e degradês.</a:t>
            </a:r>
            <a:endParaRPr sz="1100"/>
          </a:p>
        </p:txBody>
      </p:sp>
      <p:sp>
        <p:nvSpPr>
          <p:cNvPr id="192" name="Google Shape;192;p16"/>
          <p:cNvSpPr txBox="1"/>
          <p:nvPr/>
        </p:nvSpPr>
        <p:spPr>
          <a:xfrm>
            <a:off x="320039" y="3961423"/>
            <a:ext cx="85245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principais ferramentas:1. Preenchimento de Cor Uniforme É o famoso baldinho de tinta! Ele preenche seu objeto com uma única cor.Atalho: F11Depois de clicar no ícone, uma janelinha vai abrir pra você escolher a cor.Escolheu? Clique em “OK” e seu objeto tá pintado!2. Preenchimento InterativoEssa ferramenta deixa o preenchimento mais estiloso!Ela serve para criar degradês e transições de cor dentro do seu objeto.Ao clicar nela, uma linha aparece dentro do objeto.Você pode arrastar as pontas da linha para mudar a direção do degradê.Lá em cima, na barra de propriedades, dá pra escolher o tipo de preenchimento: linear, radial, cônico, etc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FERRAMENTAS DE PREENCHIMENTO NO CORELDRAW</a:t>
            </a:r>
            <a:endParaRPr sz="1100"/>
          </a:p>
        </p:txBody>
      </p:sp>
      <p:sp>
        <p:nvSpPr>
          <p:cNvPr id="198" name="Google Shape;198;p17"/>
          <p:cNvSpPr txBox="1"/>
          <p:nvPr/>
        </p:nvSpPr>
        <p:spPr>
          <a:xfrm>
            <a:off x="2978710" y="1346609"/>
            <a:ext cx="4741200" cy="37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Sem preenchimento: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Remove o preenchimento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uniforme: 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 uma cor de preenchimento sólido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Gradiente: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 um gradiente de cores ou tons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padrão de vetor: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 um preenchimento padrão de vetor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padrão de bitmap: 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 um preenchimento padrão de bitmap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padrão de duas cores: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 um preenchimento padrão de duas cores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de textura: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Aplica um preenchimento de textura predefinida para criar a ilusão de uma variedade de texturas como água, nuvens e pedra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Preenchimento postScript: 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 um preenchimento de textura PostScript intrincado </a:t>
            </a:r>
            <a:r>
              <a:rPr lang="pt-BR" sz="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pt-BR" sz="7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em que uma coisa se entrelaça ou se mistura a outra; emaranhado, embaraçado.)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&gt; Copiar preenchimento: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Aplique o preenchimento de outro objeto no documento ao objeto selecionado.</a:t>
            </a:r>
            <a:endParaRPr sz="1100"/>
          </a:p>
        </p:txBody>
      </p:sp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 b="89441" l="513" r="97503" t="8079"/>
          <a:stretch/>
        </p:blipFill>
        <p:spPr>
          <a:xfrm>
            <a:off x="2474048" y="1346609"/>
            <a:ext cx="319146" cy="35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/>
          <p:cNvPicPr preferRelativeResize="0"/>
          <p:nvPr/>
        </p:nvPicPr>
        <p:blipFill rotWithShape="1">
          <a:blip r:embed="rId3">
            <a:alphaModFix/>
          </a:blip>
          <a:srcRect b="89059" l="2714" r="95198" t="7790"/>
          <a:stretch/>
        </p:blipFill>
        <p:spPr>
          <a:xfrm>
            <a:off x="2474048" y="1704226"/>
            <a:ext cx="319146" cy="42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7"/>
          <p:cNvPicPr preferRelativeResize="0"/>
          <p:nvPr/>
        </p:nvPicPr>
        <p:blipFill rotWithShape="1">
          <a:blip r:embed="rId3">
            <a:alphaModFix/>
          </a:blip>
          <a:srcRect b="89002" l="4928" r="92849" t="7821"/>
          <a:stretch/>
        </p:blipFill>
        <p:spPr>
          <a:xfrm>
            <a:off x="2474048" y="2057068"/>
            <a:ext cx="319146" cy="405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7"/>
          <p:cNvPicPr preferRelativeResize="0"/>
          <p:nvPr/>
        </p:nvPicPr>
        <p:blipFill rotWithShape="1">
          <a:blip r:embed="rId3">
            <a:alphaModFix/>
          </a:blip>
          <a:srcRect b="89567" l="7521" r="90855" t="8252"/>
          <a:stretch/>
        </p:blipFill>
        <p:spPr>
          <a:xfrm>
            <a:off x="2474048" y="2462755"/>
            <a:ext cx="319146" cy="381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/>
          <p:cNvPicPr preferRelativeResize="0"/>
          <p:nvPr/>
        </p:nvPicPr>
        <p:blipFill rotWithShape="1">
          <a:blip r:embed="rId3">
            <a:alphaModFix/>
          </a:blip>
          <a:srcRect b="89290" l="9547" r="88566" t="8173"/>
          <a:stretch/>
        </p:blipFill>
        <p:spPr>
          <a:xfrm>
            <a:off x="2474048" y="2818588"/>
            <a:ext cx="296890" cy="35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/>
          <p:cNvPicPr preferRelativeResize="0"/>
          <p:nvPr/>
        </p:nvPicPr>
        <p:blipFill rotWithShape="1">
          <a:blip r:embed="rId3">
            <a:alphaModFix/>
          </a:blip>
          <a:srcRect b="89129" l="11801" r="86071" t="7966"/>
          <a:stretch/>
        </p:blipFill>
        <p:spPr>
          <a:xfrm>
            <a:off x="2474048" y="3154651"/>
            <a:ext cx="261994" cy="317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7"/>
          <p:cNvPicPr preferRelativeResize="0"/>
          <p:nvPr/>
        </p:nvPicPr>
        <p:blipFill rotWithShape="1">
          <a:blip r:embed="rId3">
            <a:alphaModFix/>
          </a:blip>
          <a:srcRect b="89141" l="13727" r="83733" t="8043"/>
          <a:stretch/>
        </p:blipFill>
        <p:spPr>
          <a:xfrm>
            <a:off x="2474048" y="3605484"/>
            <a:ext cx="296886" cy="292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7"/>
          <p:cNvPicPr preferRelativeResize="0"/>
          <p:nvPr/>
        </p:nvPicPr>
        <p:blipFill rotWithShape="1">
          <a:blip r:embed="rId3">
            <a:alphaModFix/>
          </a:blip>
          <a:srcRect b="88942" l="16347" r="81570" t="8049"/>
          <a:stretch/>
        </p:blipFill>
        <p:spPr>
          <a:xfrm>
            <a:off x="2474048" y="3978422"/>
            <a:ext cx="296886" cy="381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/>
          <p:cNvPicPr preferRelativeResize="0"/>
          <p:nvPr/>
        </p:nvPicPr>
        <p:blipFill rotWithShape="1">
          <a:blip r:embed="rId4">
            <a:alphaModFix/>
          </a:blip>
          <a:srcRect b="88880" l="19484" r="78518" t="7446"/>
          <a:stretch/>
        </p:blipFill>
        <p:spPr>
          <a:xfrm>
            <a:off x="2502623" y="4330172"/>
            <a:ext cx="261994" cy="428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/>
          <p:cNvPicPr preferRelativeResize="0"/>
          <p:nvPr/>
        </p:nvPicPr>
        <p:blipFill rotWithShape="1">
          <a:blip r:embed="rId3">
            <a:alphaModFix/>
          </a:blip>
          <a:srcRect b="31902" l="0" r="78260" t="57176"/>
          <a:stretch/>
        </p:blipFill>
        <p:spPr>
          <a:xfrm>
            <a:off x="267348" y="1701233"/>
            <a:ext cx="1853357" cy="115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ATIVIDADE: CRIANDO UM MONSTRINHO DIVERTIDO</a:t>
            </a:r>
            <a:endParaRPr sz="1100"/>
          </a:p>
        </p:txBody>
      </p:sp>
      <p:sp>
        <p:nvSpPr>
          <p:cNvPr id="214" name="Google Shape;214;p18"/>
          <p:cNvSpPr txBox="1"/>
          <p:nvPr/>
        </p:nvSpPr>
        <p:spPr>
          <a:xfrm>
            <a:off x="149445" y="1353293"/>
            <a:ext cx="8618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Explorar as ferramentas básicas de manipulação de objetos no CorelDRAW de forma criativa.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Tarefa: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um monstrinho usando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básicas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(círculo, retângulo, triângulo, etc.). Ele deve conter: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olhos (pode usar círculos com preenchimentos diferentes)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boca (crie com formas ou use uma linha curvada)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corpo (pode ser um retângulo, oval ou outra forma criativa)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braços (você pode usar o recurso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espelhamento horizontal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os dois iguais)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acessório criativo (um chapéu, óculos ou outro detalhe usando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preenchimento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PREENCHIMENTO NO CORELDRAW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>
            <a:off x="327174" y="1434033"/>
            <a:ext cx="39039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Uniforme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o mais simples e direto: ele pinta todo o objeto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cor só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 que você quer pintar.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lateral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balde de tinta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(Ferramenta de Preenchimento).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Uniforme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janela vai abrir — escolha a cor que quiser.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pronto, seu objeto vai ficar todo pintado com essa co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4360419" y="1434033"/>
            <a:ext cx="45444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Gradiente (ou Degradê)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é o queridinho de quem quer dar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charme a mais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nos desenhos. Aqui você mistura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ou mais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pode criar efeitos como claro para escuro, lado a lado, em círculos e muito mais.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objeto.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lateral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balde de tinta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novamente.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Gradiente (ou Degradê)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uma janela onde você pode: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Escolher duas cores (ou mais)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Definir a direção do efeito (horizontal, vertical, radial, cônico…)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transição entre as cores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quando estiver feliz com o resultado.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UM PREENCHIMENTO GRADIENTE NO CORELDRAW</a:t>
            </a:r>
            <a:endParaRPr sz="1100"/>
          </a:p>
        </p:txBody>
      </p:sp>
      <p:pic>
        <p:nvPicPr>
          <p:cNvPr id="227" name="Google Shape;227;p20"/>
          <p:cNvPicPr preferRelativeResize="0"/>
          <p:nvPr/>
        </p:nvPicPr>
        <p:blipFill rotWithShape="1">
          <a:blip r:embed="rId3">
            <a:alphaModFix/>
          </a:blip>
          <a:srcRect b="87355" l="0" r="23217" t="4004"/>
          <a:stretch/>
        </p:blipFill>
        <p:spPr>
          <a:xfrm>
            <a:off x="1230110" y="3003181"/>
            <a:ext cx="6409837" cy="64122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76470" y="1313416"/>
            <a:ext cx="7991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que você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um quadrado, círculo ou estrela!) e clicar para aplicar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gradiente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vai perceber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novas opções aparecem lá em cima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opções são super legais e permitem personalizar o degradê do jeitinho que você quiser! Vamos entender o que cada uma faz: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PREENCHIMENTO NO CORELDRAW</a:t>
            </a:r>
            <a:endParaRPr sz="1100"/>
          </a:p>
        </p:txBody>
      </p:sp>
      <p:pic>
        <p:nvPicPr>
          <p:cNvPr id="234" name="Google Shape;234;p21"/>
          <p:cNvPicPr preferRelativeResize="0"/>
          <p:nvPr/>
        </p:nvPicPr>
        <p:blipFill rotWithShape="1">
          <a:blip r:embed="rId3">
            <a:alphaModFix/>
          </a:blip>
          <a:srcRect b="87355" l="0" r="23217" t="4004"/>
          <a:stretch/>
        </p:blipFill>
        <p:spPr>
          <a:xfrm>
            <a:off x="1009931" y="1310529"/>
            <a:ext cx="6409837" cy="641229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/>
          <p:nvPr/>
        </p:nvSpPr>
        <p:spPr>
          <a:xfrm>
            <a:off x="1383375" y="1536821"/>
            <a:ext cx="258000" cy="33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2585231" y="1529279"/>
            <a:ext cx="4512300" cy="38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100" lIns="71100" spcFirstLastPara="1" rIns="71100" wrap="square" tIns="71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37" name="Google Shape;237;p21"/>
          <p:cNvCxnSpPr/>
          <p:nvPr/>
        </p:nvCxnSpPr>
        <p:spPr>
          <a:xfrm>
            <a:off x="2724694" y="1851821"/>
            <a:ext cx="6900" cy="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21"/>
          <p:cNvCxnSpPr/>
          <p:nvPr/>
        </p:nvCxnSpPr>
        <p:spPr>
          <a:xfrm>
            <a:off x="1510613" y="1914029"/>
            <a:ext cx="3600" cy="29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" name="Google Shape;239;p21"/>
          <p:cNvSpPr txBox="1"/>
          <p:nvPr/>
        </p:nvSpPr>
        <p:spPr>
          <a:xfrm>
            <a:off x="909188" y="2196342"/>
            <a:ext cx="977700" cy="332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Lato"/>
              <a:buNone/>
            </a:pPr>
            <a:r>
              <a:rPr lang="pt-BR" sz="12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Gradiente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1910175" y="2246008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Selecionador de preenchimento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2181319" y="2672196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Preenchimento gradiente linear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2" name="Google Shape;242;p21"/>
          <p:cNvCxnSpPr/>
          <p:nvPr/>
        </p:nvCxnSpPr>
        <p:spPr>
          <a:xfrm>
            <a:off x="3154444" y="1814696"/>
            <a:ext cx="4800" cy="8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21"/>
          <p:cNvCxnSpPr/>
          <p:nvPr/>
        </p:nvCxnSpPr>
        <p:spPr>
          <a:xfrm>
            <a:off x="3337781" y="1814696"/>
            <a:ext cx="4800" cy="129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4" name="Google Shape;244;p21"/>
          <p:cNvSpPr txBox="1"/>
          <p:nvPr/>
        </p:nvSpPr>
        <p:spPr>
          <a:xfrm>
            <a:off x="2364656" y="3103696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Preenchimento de fonte elíptico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5" name="Google Shape;245;p21"/>
          <p:cNvCxnSpPr/>
          <p:nvPr/>
        </p:nvCxnSpPr>
        <p:spPr>
          <a:xfrm flipH="1">
            <a:off x="3519019" y="1814696"/>
            <a:ext cx="2100" cy="171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p21"/>
          <p:cNvSpPr txBox="1"/>
          <p:nvPr/>
        </p:nvSpPr>
        <p:spPr>
          <a:xfrm>
            <a:off x="2541244" y="3535196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Preenchimento gradiente cônico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7" name="Google Shape;247;p21"/>
          <p:cNvCxnSpPr/>
          <p:nvPr/>
        </p:nvCxnSpPr>
        <p:spPr>
          <a:xfrm>
            <a:off x="3699731" y="1814696"/>
            <a:ext cx="2700" cy="21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8" name="Google Shape;248;p21"/>
          <p:cNvSpPr txBox="1"/>
          <p:nvPr/>
        </p:nvSpPr>
        <p:spPr>
          <a:xfrm>
            <a:off x="2724694" y="3951696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Preenchimento de fonte regular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49" name="Google Shape;249;p21"/>
          <p:cNvCxnSpPr/>
          <p:nvPr/>
        </p:nvCxnSpPr>
        <p:spPr>
          <a:xfrm>
            <a:off x="4059656" y="1814696"/>
            <a:ext cx="6900" cy="39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p21"/>
          <p:cNvSpPr txBox="1"/>
          <p:nvPr/>
        </p:nvSpPr>
        <p:spPr>
          <a:xfrm>
            <a:off x="3792263" y="2196342"/>
            <a:ext cx="4332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Cor do nó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4117388" y="3941738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Transparência de nó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2" name="Google Shape;252;p21"/>
          <p:cNvCxnSpPr/>
          <p:nvPr/>
        </p:nvCxnSpPr>
        <p:spPr>
          <a:xfrm>
            <a:off x="4423631" y="1814696"/>
            <a:ext cx="5400" cy="21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" name="Google Shape;253;p21"/>
          <p:cNvCxnSpPr/>
          <p:nvPr/>
        </p:nvCxnSpPr>
        <p:spPr>
          <a:xfrm>
            <a:off x="4858481" y="1799696"/>
            <a:ext cx="5100" cy="5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4" name="Google Shape;254;p21"/>
          <p:cNvSpPr txBox="1"/>
          <p:nvPr/>
        </p:nvSpPr>
        <p:spPr>
          <a:xfrm>
            <a:off x="4480781" y="2364946"/>
            <a:ext cx="603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Posição do nó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5" name="Google Shape;255;p21"/>
          <p:cNvCxnSpPr/>
          <p:nvPr/>
        </p:nvCxnSpPr>
        <p:spPr>
          <a:xfrm>
            <a:off x="5394619" y="1799696"/>
            <a:ext cx="5400" cy="116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21"/>
          <p:cNvSpPr txBox="1"/>
          <p:nvPr/>
        </p:nvSpPr>
        <p:spPr>
          <a:xfrm>
            <a:off x="4520831" y="2939217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Reverter preenchimento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116294" y="3579258"/>
            <a:ext cx="603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Suavizar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>
            <a:off x="5586544" y="1799758"/>
            <a:ext cx="10500" cy="17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21"/>
          <p:cNvCxnSpPr/>
          <p:nvPr/>
        </p:nvCxnSpPr>
        <p:spPr>
          <a:xfrm flipH="1">
            <a:off x="6119719" y="1799758"/>
            <a:ext cx="1500" cy="48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21"/>
          <p:cNvSpPr txBox="1"/>
          <p:nvPr/>
        </p:nvSpPr>
        <p:spPr>
          <a:xfrm>
            <a:off x="5653275" y="2281758"/>
            <a:ext cx="738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Aceleração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 flipH="1">
            <a:off x="6500213" y="1841321"/>
            <a:ext cx="4800" cy="145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" name="Google Shape;262;p21"/>
          <p:cNvSpPr txBox="1"/>
          <p:nvPr/>
        </p:nvSpPr>
        <p:spPr>
          <a:xfrm>
            <a:off x="5776744" y="3300321"/>
            <a:ext cx="738000" cy="59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Escala e inclinação livre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3" name="Google Shape;263;p21"/>
          <p:cNvCxnSpPr/>
          <p:nvPr/>
        </p:nvCxnSpPr>
        <p:spPr>
          <a:xfrm flipH="1">
            <a:off x="6669788" y="1841321"/>
            <a:ext cx="11700" cy="234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" name="Google Shape;264;p21"/>
          <p:cNvSpPr txBox="1"/>
          <p:nvPr/>
        </p:nvSpPr>
        <p:spPr>
          <a:xfrm>
            <a:off x="5772188" y="4190571"/>
            <a:ext cx="909300" cy="59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Copiar preenchimento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65" name="Google Shape;265;p21"/>
          <p:cNvCxnSpPr/>
          <p:nvPr/>
        </p:nvCxnSpPr>
        <p:spPr>
          <a:xfrm>
            <a:off x="6918075" y="1814696"/>
            <a:ext cx="3000" cy="17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6" name="Google Shape;266;p21"/>
          <p:cNvSpPr txBox="1"/>
          <p:nvPr/>
        </p:nvSpPr>
        <p:spPr>
          <a:xfrm>
            <a:off x="6754406" y="3572008"/>
            <a:ext cx="909300" cy="59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Editar preenchimento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CONTA-GOTAS NO CORELDRAW</a:t>
            </a:r>
            <a:endParaRPr sz="1100"/>
          </a:p>
        </p:txBody>
      </p:sp>
      <p:sp>
        <p:nvSpPr>
          <p:cNvPr id="272" name="Google Shape;272;p22"/>
          <p:cNvSpPr txBox="1"/>
          <p:nvPr/>
        </p:nvSpPr>
        <p:spPr>
          <a:xfrm>
            <a:off x="270092" y="1291694"/>
            <a:ext cx="85701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capturar uma cor exata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 objeto ou imagem que já está no seu projeto. Ela funciona como um “olhinho mágico” que copia a cor e permite que você use em outro lugar.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(geralmente à esquerda da tela).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da 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sobre a cor que você deseja capturar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qualquer objeto do seu desenho.</a:t>
            </a:r>
            <a:endParaRPr sz="1100"/>
          </a:p>
        </p:txBody>
      </p:sp>
      <p:sp>
        <p:nvSpPr>
          <p:cNvPr id="273" name="Google Shape;273;p22"/>
          <p:cNvSpPr txBox="1"/>
          <p:nvPr/>
        </p:nvSpPr>
        <p:spPr>
          <a:xfrm>
            <a:off x="270091" y="2857500"/>
            <a:ext cx="8570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ferramenta conta-gotas captura apenas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chapadas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seja,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sólidas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sem gradientes ou efeitos misturados.</a:t>
            </a:r>
            <a:endParaRPr sz="1100"/>
          </a:p>
        </p:txBody>
      </p:sp>
      <p:sp>
        <p:nvSpPr>
          <p:cNvPr id="274" name="Google Shape;274;p22"/>
          <p:cNvSpPr txBox="1"/>
          <p:nvPr/>
        </p:nvSpPr>
        <p:spPr>
          <a:xfrm>
            <a:off x="392221" y="3726803"/>
            <a:ext cx="8194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tem um círculo azul no projeto e quer que um quadrado tenha exatamente o mesmo azul: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conta-gotas, clique no círculo azul;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aplique essa cor no quadrado.</a:t>
            </a:r>
            <a:endParaRPr sz="1100"/>
          </a:p>
        </p:txBody>
      </p:sp>
      <p:pic>
        <p:nvPicPr>
          <p:cNvPr id="275" name="Google Shape;275;p22"/>
          <p:cNvPicPr preferRelativeResize="0"/>
          <p:nvPr/>
        </p:nvPicPr>
        <p:blipFill rotWithShape="1">
          <a:blip r:embed="rId3">
            <a:alphaModFix/>
          </a:blip>
          <a:srcRect b="40913" l="361" r="97599" t="56034"/>
          <a:stretch/>
        </p:blipFill>
        <p:spPr>
          <a:xfrm>
            <a:off x="8372710" y="1291694"/>
            <a:ext cx="427763" cy="568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3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LATA DE TINTA NO CORELDRAW</a:t>
            </a:r>
            <a:endParaRPr sz="1100"/>
          </a:p>
        </p:txBody>
      </p:sp>
      <p:sp>
        <p:nvSpPr>
          <p:cNvPr id="281" name="Google Shape;281;p23"/>
          <p:cNvSpPr txBox="1"/>
          <p:nvPr/>
        </p:nvSpPr>
        <p:spPr>
          <a:xfrm>
            <a:off x="317064" y="1249347"/>
            <a:ext cx="8429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capturar uma cor com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podemos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essa cor em outro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Lata de Tinta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funciona como uma “tinta mágica”: você escolhe uma cor e pode “pintar” qualquer outro objeto com ela.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ferramenta Conta-Gotas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capturar a cor desejada;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que a cor for capturada,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automaticamente a Lata de Tinta será ativada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você quer aplicar essa cor.</a:t>
            </a:r>
            <a:endParaRPr sz="1100"/>
          </a:p>
        </p:txBody>
      </p:sp>
      <p:sp>
        <p:nvSpPr>
          <p:cNvPr id="282" name="Google Shape;282;p23"/>
          <p:cNvSpPr txBox="1"/>
          <p:nvPr/>
        </p:nvSpPr>
        <p:spPr>
          <a:xfrm>
            <a:off x="401615" y="3465379"/>
            <a:ext cx="8269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dois objetos diferentes (como um círculo e um retângulo), capturarem a cor de um deles e aplicarem no outro com a Lata de Tinta.</a:t>
            </a:r>
            <a:endParaRPr sz="1100"/>
          </a:p>
        </p:txBody>
      </p:sp>
      <p:pic>
        <p:nvPicPr>
          <p:cNvPr id="283" name="Google Shape;283;p23"/>
          <p:cNvPicPr preferRelativeResize="0"/>
          <p:nvPr/>
        </p:nvPicPr>
        <p:blipFill rotWithShape="1">
          <a:blip r:embed="rId3">
            <a:alphaModFix/>
          </a:blip>
          <a:srcRect b="38030" l="0" r="97522" t="58614"/>
          <a:stretch/>
        </p:blipFill>
        <p:spPr>
          <a:xfrm>
            <a:off x="8012196" y="2246396"/>
            <a:ext cx="507827" cy="611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MISTURA INTERATIVA</a:t>
            </a:r>
            <a:endParaRPr sz="1100"/>
          </a:p>
        </p:txBody>
      </p:sp>
      <p:sp>
        <p:nvSpPr>
          <p:cNvPr id="289" name="Google Shape;289;p24"/>
          <p:cNvSpPr txBox="1"/>
          <p:nvPr/>
        </p:nvSpPr>
        <p:spPr>
          <a:xfrm>
            <a:off x="523744" y="1318617"/>
            <a:ext cx="7987800" cy="28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Mistura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uma sequência de formas entre dois objetos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ligando um ao outro com um efeito suave e criativo.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sequência é formada por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vários objetos intermediários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o CorelDRAW cria automaticamente. Você pode definir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quantos passos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etapas) essa mistura vai ter!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dois objetos diferentes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um quadrado e um círculo);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selecione 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Mistura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de dois quadrados unidos por uma linha);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primeiro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segure o clique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até o segundo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O programa vai criar o efeito de mistura automaticamente;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(na parte de cima)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o número de etapas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direção da mistura e outros efeitos.</a:t>
            </a:r>
            <a:endParaRPr sz="1100"/>
          </a:p>
        </p:txBody>
      </p:sp>
      <p:pic>
        <p:nvPicPr>
          <p:cNvPr id="290" name="Google Shape;290;p24"/>
          <p:cNvPicPr preferRelativeResize="0"/>
          <p:nvPr/>
        </p:nvPicPr>
        <p:blipFill rotWithShape="1">
          <a:blip r:embed="rId3">
            <a:alphaModFix/>
          </a:blip>
          <a:srcRect b="47090" l="0" r="97506" t="49287"/>
          <a:stretch/>
        </p:blipFill>
        <p:spPr>
          <a:xfrm>
            <a:off x="8511435" y="1318617"/>
            <a:ext cx="537546" cy="694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4"/>
          <p:cNvPicPr preferRelativeResize="0"/>
          <p:nvPr/>
        </p:nvPicPr>
        <p:blipFill rotWithShape="1">
          <a:blip r:embed="rId4">
            <a:alphaModFix/>
          </a:blip>
          <a:srcRect b="37219" l="40573" r="37599" t="22113"/>
          <a:stretch/>
        </p:blipFill>
        <p:spPr>
          <a:xfrm>
            <a:off x="8138273" y="4232965"/>
            <a:ext cx="963965" cy="1482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4"/>
          <p:cNvPicPr preferRelativeResize="0"/>
          <p:nvPr/>
        </p:nvPicPr>
        <p:blipFill rotWithShape="1">
          <a:blip r:embed="rId5">
            <a:alphaModFix/>
          </a:blip>
          <a:srcRect b="82721" l="33408" r="7028" t="6314"/>
          <a:stretch/>
        </p:blipFill>
        <p:spPr>
          <a:xfrm>
            <a:off x="2401148" y="4592993"/>
            <a:ext cx="4656938" cy="761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5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MISTURA INTERATIVA</a:t>
            </a:r>
            <a:endParaRPr sz="1100"/>
          </a:p>
        </p:txBody>
      </p:sp>
      <p:pic>
        <p:nvPicPr>
          <p:cNvPr id="298" name="Google Shape;298;p25"/>
          <p:cNvPicPr preferRelativeResize="0"/>
          <p:nvPr/>
        </p:nvPicPr>
        <p:blipFill rotWithShape="1">
          <a:blip r:embed="rId3">
            <a:alphaModFix/>
          </a:blip>
          <a:srcRect b="82721" l="33408" r="7028" t="6314"/>
          <a:stretch/>
        </p:blipFill>
        <p:spPr>
          <a:xfrm>
            <a:off x="1482694" y="1283238"/>
            <a:ext cx="6178611" cy="10109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9" name="Google Shape;299;p25"/>
          <p:cNvCxnSpPr/>
          <p:nvPr/>
        </p:nvCxnSpPr>
        <p:spPr>
          <a:xfrm flipH="1">
            <a:off x="1720163" y="1708259"/>
            <a:ext cx="4500" cy="58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0" name="Google Shape;300;p25"/>
          <p:cNvSpPr txBox="1"/>
          <p:nvPr/>
        </p:nvSpPr>
        <p:spPr>
          <a:xfrm>
            <a:off x="1159031" y="2266551"/>
            <a:ext cx="6312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Etapas</a:t>
            </a:r>
            <a:r>
              <a:rPr lang="pt-BR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de</a:t>
            </a:r>
            <a:r>
              <a:rPr lang="pt-BR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1375594" y="2724583"/>
            <a:ext cx="8298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Misturar espaçamento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2" name="Google Shape;302;p25"/>
          <p:cNvCxnSpPr/>
          <p:nvPr/>
        </p:nvCxnSpPr>
        <p:spPr>
          <a:xfrm>
            <a:off x="1966481" y="1625801"/>
            <a:ext cx="5100" cy="10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3" name="Google Shape;303;p25"/>
          <p:cNvCxnSpPr/>
          <p:nvPr/>
        </p:nvCxnSpPr>
        <p:spPr>
          <a:xfrm flipH="1">
            <a:off x="2310975" y="1708259"/>
            <a:ext cx="1800" cy="146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" name="Google Shape;304;p25"/>
          <p:cNvSpPr txBox="1"/>
          <p:nvPr/>
        </p:nvSpPr>
        <p:spPr>
          <a:xfrm>
            <a:off x="2066063" y="3182603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Misturar objetos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5" name="Google Shape;305;p25"/>
          <p:cNvCxnSpPr/>
          <p:nvPr/>
        </p:nvCxnSpPr>
        <p:spPr>
          <a:xfrm flipH="1">
            <a:off x="5251050" y="1662301"/>
            <a:ext cx="600" cy="25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6" name="Google Shape;306;p25"/>
          <p:cNvSpPr txBox="1"/>
          <p:nvPr/>
        </p:nvSpPr>
        <p:spPr>
          <a:xfrm>
            <a:off x="2665125" y="3677468"/>
            <a:ext cx="6915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Direção da 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7" name="Google Shape;307;p25"/>
          <p:cNvCxnSpPr/>
          <p:nvPr/>
        </p:nvCxnSpPr>
        <p:spPr>
          <a:xfrm flipH="1">
            <a:off x="3227504" y="1647176"/>
            <a:ext cx="5400" cy="19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8" name="Google Shape;308;p25"/>
          <p:cNvSpPr txBox="1"/>
          <p:nvPr/>
        </p:nvSpPr>
        <p:spPr>
          <a:xfrm>
            <a:off x="5918981" y="3438187"/>
            <a:ext cx="9777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Mais opções de 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09" name="Google Shape;309;p25"/>
          <p:cNvCxnSpPr/>
          <p:nvPr/>
        </p:nvCxnSpPr>
        <p:spPr>
          <a:xfrm>
            <a:off x="6573600" y="1662301"/>
            <a:ext cx="15000" cy="55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25"/>
          <p:cNvSpPr txBox="1"/>
          <p:nvPr/>
        </p:nvSpPr>
        <p:spPr>
          <a:xfrm>
            <a:off x="4512975" y="4213051"/>
            <a:ext cx="738000" cy="565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 no sentido anti horário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4117388" y="3781676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 no sentido horário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2" name="Google Shape;312;p25"/>
          <p:cNvCxnSpPr/>
          <p:nvPr/>
        </p:nvCxnSpPr>
        <p:spPr>
          <a:xfrm>
            <a:off x="5005041" y="1632176"/>
            <a:ext cx="5400" cy="21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" name="Google Shape;313;p25"/>
          <p:cNvCxnSpPr/>
          <p:nvPr/>
        </p:nvCxnSpPr>
        <p:spPr>
          <a:xfrm>
            <a:off x="4146544" y="1716134"/>
            <a:ext cx="5100" cy="56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4" name="Google Shape;314;p25"/>
          <p:cNvSpPr txBox="1"/>
          <p:nvPr/>
        </p:nvSpPr>
        <p:spPr>
          <a:xfrm>
            <a:off x="3559013" y="2266551"/>
            <a:ext cx="603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Loop de 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5" name="Google Shape;315;p25"/>
          <p:cNvCxnSpPr/>
          <p:nvPr/>
        </p:nvCxnSpPr>
        <p:spPr>
          <a:xfrm>
            <a:off x="4412981" y="1625801"/>
            <a:ext cx="5400" cy="116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6" name="Google Shape;316;p25"/>
          <p:cNvSpPr txBox="1"/>
          <p:nvPr/>
        </p:nvSpPr>
        <p:spPr>
          <a:xfrm>
            <a:off x="3501863" y="2778718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Propriedades do caminho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4114181" y="3249218"/>
            <a:ext cx="6030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Mistura direta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18" name="Google Shape;318;p25"/>
          <p:cNvCxnSpPr/>
          <p:nvPr/>
        </p:nvCxnSpPr>
        <p:spPr>
          <a:xfrm flipH="1">
            <a:off x="4680769" y="1647176"/>
            <a:ext cx="4800" cy="160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9" name="Google Shape;319;p25"/>
          <p:cNvCxnSpPr/>
          <p:nvPr/>
        </p:nvCxnSpPr>
        <p:spPr>
          <a:xfrm>
            <a:off x="5536200" y="1663009"/>
            <a:ext cx="0" cy="280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" name="Google Shape;320;p25"/>
          <p:cNvSpPr txBox="1"/>
          <p:nvPr/>
        </p:nvSpPr>
        <p:spPr>
          <a:xfrm>
            <a:off x="5340019" y="4462634"/>
            <a:ext cx="738000" cy="543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Aceleração de objeto e cor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1" name="Google Shape;321;p25"/>
          <p:cNvCxnSpPr/>
          <p:nvPr/>
        </p:nvCxnSpPr>
        <p:spPr>
          <a:xfrm flipH="1">
            <a:off x="5787375" y="1680384"/>
            <a:ext cx="6600" cy="220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2" name="Google Shape;322;p25"/>
          <p:cNvSpPr txBox="1"/>
          <p:nvPr/>
        </p:nvSpPr>
        <p:spPr>
          <a:xfrm>
            <a:off x="5612156" y="3891863"/>
            <a:ext cx="1048500" cy="50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Aceleração de dimensionamento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3" name="Google Shape;323;p25"/>
          <p:cNvCxnSpPr/>
          <p:nvPr/>
        </p:nvCxnSpPr>
        <p:spPr>
          <a:xfrm>
            <a:off x="6341475" y="1669634"/>
            <a:ext cx="16500" cy="125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4" name="Google Shape;324;p25"/>
          <p:cNvSpPr txBox="1"/>
          <p:nvPr/>
        </p:nvSpPr>
        <p:spPr>
          <a:xfrm>
            <a:off x="6281719" y="2922791"/>
            <a:ext cx="909300" cy="42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Objetos iniciais e finais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5" name="Google Shape;325;p25"/>
          <p:cNvCxnSpPr/>
          <p:nvPr/>
        </p:nvCxnSpPr>
        <p:spPr>
          <a:xfrm>
            <a:off x="6131925" y="1663009"/>
            <a:ext cx="3000" cy="174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6" name="Google Shape;326;p25"/>
          <p:cNvSpPr txBox="1"/>
          <p:nvPr/>
        </p:nvSpPr>
        <p:spPr>
          <a:xfrm>
            <a:off x="6435563" y="2229176"/>
            <a:ext cx="909300" cy="596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71100" lIns="71100" spcFirstLastPara="1" rIns="71100" wrap="square" tIns="71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Lato"/>
              <a:buNone/>
            </a:pPr>
            <a:r>
              <a:rPr lang="pt-BR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Copiar propriedades de mistura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CONTORNO INTERATIVO</a:t>
            </a:r>
            <a:endParaRPr sz="1100"/>
          </a:p>
        </p:txBody>
      </p:sp>
      <p:sp>
        <p:nvSpPr>
          <p:cNvPr id="332" name="Google Shape;332;p26"/>
          <p:cNvSpPr txBox="1"/>
          <p:nvPr/>
        </p:nvSpPr>
        <p:spPr>
          <a:xfrm>
            <a:off x="268213" y="1195387"/>
            <a:ext cx="80064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 Interativo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utilizadas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CorelDRAW! Ela serve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linhas ao redor (ou dentro) de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seguindo exatamente o mesmo formato do desenho original.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Essas linhas são chamadas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você pode controlar: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espessura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(mais grosso ou mais fino);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direção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(para fora ou para dentro do objeto);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cor do contorno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 quiser destacar mais ainda.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um objeto qualquer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um círculo ou uma estrela, por exemplo);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 Interativo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(parece uma estrela com uma linha ao redor);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segure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mouse levemente para fora ou para dentro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CorelDRAW vai mostrar os contornos criados.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mudar a quantidade de contornos, o espaço entre eles e até a cor!</a:t>
            </a:r>
            <a:endParaRPr sz="1100"/>
          </a:p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3">
            <a:alphaModFix/>
          </a:blip>
          <a:srcRect b="46616" l="26091" r="32134" t="36571"/>
          <a:stretch/>
        </p:blipFill>
        <p:spPr>
          <a:xfrm>
            <a:off x="6351563" y="4844615"/>
            <a:ext cx="2252950" cy="667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CONTORNO INTERATIVO</a:t>
            </a:r>
            <a:endParaRPr sz="1100"/>
          </a:p>
        </p:txBody>
      </p:sp>
      <p:sp>
        <p:nvSpPr>
          <p:cNvPr id="339" name="Google Shape;339;p27"/>
          <p:cNvSpPr txBox="1"/>
          <p:nvPr/>
        </p:nvSpPr>
        <p:spPr>
          <a:xfrm>
            <a:off x="1959446" y="1297451"/>
            <a:ext cx="47412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aplicar o efeito de Contorno, Ative a ferramenta, Clique no Objeto que receberá o efeito e arraste para fora ou para dentro da figura conforme você queira fazer o preenchimento.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Ajustando as opções de contorno:</a:t>
            </a:r>
            <a:endParaRPr sz="1100"/>
          </a:p>
        </p:txBody>
      </p:sp>
      <p:pic>
        <p:nvPicPr>
          <p:cNvPr id="340" name="Google Shape;340;p27"/>
          <p:cNvPicPr preferRelativeResize="0"/>
          <p:nvPr/>
        </p:nvPicPr>
        <p:blipFill rotWithShape="1">
          <a:blip r:embed="rId3">
            <a:alphaModFix/>
          </a:blip>
          <a:srcRect b="42857" l="19083" r="19255" t="28208"/>
          <a:stretch/>
        </p:blipFill>
        <p:spPr>
          <a:xfrm>
            <a:off x="2340465" y="2326692"/>
            <a:ext cx="3979162" cy="1659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7"/>
          <p:cNvPicPr preferRelativeResize="0"/>
          <p:nvPr/>
        </p:nvPicPr>
        <p:blipFill rotWithShape="1">
          <a:blip r:embed="rId4">
            <a:alphaModFix/>
          </a:blip>
          <a:srcRect b="31619" l="22494" r="60660" t="59345"/>
          <a:stretch/>
        </p:blipFill>
        <p:spPr>
          <a:xfrm>
            <a:off x="5325944" y="4081287"/>
            <a:ext cx="1592755" cy="759334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7"/>
          <p:cNvSpPr txBox="1"/>
          <p:nvPr/>
        </p:nvSpPr>
        <p:spPr>
          <a:xfrm>
            <a:off x="1336738" y="4114578"/>
            <a:ext cx="38703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Através das seguintes opções podemos alterar as configurações de posição do contorno são elas nesta respectiva ordem: Para o centro, Interno e Externo.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8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EXTRUSÃO INTERATIVA</a:t>
            </a:r>
            <a:endParaRPr sz="1100"/>
          </a:p>
        </p:txBody>
      </p:sp>
      <p:sp>
        <p:nvSpPr>
          <p:cNvPr id="348" name="Google Shape;348;p28"/>
          <p:cNvSpPr txBox="1"/>
          <p:nvPr/>
        </p:nvSpPr>
        <p:spPr>
          <a:xfrm>
            <a:off x="220085" y="1304219"/>
            <a:ext cx="84951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Extrusão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serve para deixar o objeto com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aparência tridimensional (3D)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como se ele tivesse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volume e profundidade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desenhar um quadrado e fazer ele virar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caixote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 transformar uma estrela em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com sombra e corpo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(pode ser um quadrado ou uma letra).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Extrusão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que parece um cubo 3D).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objeto,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o mouse e arraste em qualquer direção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O CorelDRAW vai criar uma projeção 3D no seu desenho.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Lá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a profundidade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(mais ou menos volume);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direção da extrusão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Alterar a cor da profundidade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destacar ainda mais!</a:t>
            </a:r>
            <a:endParaRPr sz="1100"/>
          </a:p>
        </p:txBody>
      </p:sp>
      <p:pic>
        <p:nvPicPr>
          <p:cNvPr id="349" name="Google Shape;349;p28"/>
          <p:cNvPicPr preferRelativeResize="0"/>
          <p:nvPr/>
        </p:nvPicPr>
        <p:blipFill rotWithShape="1">
          <a:blip r:embed="rId3">
            <a:alphaModFix/>
          </a:blip>
          <a:srcRect b="49793" l="22641" r="22361" t="33394"/>
          <a:stretch/>
        </p:blipFill>
        <p:spPr>
          <a:xfrm>
            <a:off x="4837335" y="4499216"/>
            <a:ext cx="4162614" cy="1084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EXTRUSÃO INTERATIVA</a:t>
            </a:r>
            <a:endParaRPr sz="1100"/>
          </a:p>
        </p:txBody>
      </p:sp>
      <p:pic>
        <p:nvPicPr>
          <p:cNvPr id="355" name="Google Shape;355;p29"/>
          <p:cNvPicPr preferRelativeResize="0"/>
          <p:nvPr/>
        </p:nvPicPr>
        <p:blipFill rotWithShape="1">
          <a:blip r:embed="rId3">
            <a:alphaModFix/>
          </a:blip>
          <a:srcRect b="23857" l="23796" r="23485" t="31396"/>
          <a:stretch/>
        </p:blipFill>
        <p:spPr>
          <a:xfrm>
            <a:off x="2063609" y="1289483"/>
            <a:ext cx="5010467" cy="403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0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DISTORÇÃO INTERATIVA</a:t>
            </a:r>
            <a:endParaRPr sz="1100"/>
          </a:p>
        </p:txBody>
      </p:sp>
      <p:sp>
        <p:nvSpPr>
          <p:cNvPr id="361" name="Google Shape;361;p30"/>
          <p:cNvSpPr txBox="1"/>
          <p:nvPr/>
        </p:nvSpPr>
        <p:spPr>
          <a:xfrm>
            <a:off x="392221" y="1254437"/>
            <a:ext cx="67476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mudar a forma original de um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criando efeitos visuais como se o objeto tivesse sido puxado, torcido ou empurrado.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Imagine que seu desenho é feito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massinha de modelar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com essa ferramenta, você pode esticar, girar ou empurrar a forma para deixá-la mais criativa ou divertida!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um objeto simples, como um círculo ou uma estrela.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clique 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Distorção Interativa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(ícone com linhas onduladas).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objeto com o botão esquerdo do mouse.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o cursor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centro do objeto e observe a distorção acontecer!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você pode escolher: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Ziguezague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faz parecer que o objeto está vibrando;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de Empurrar/Puxar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cria uma espécie de explosão ou compressão no desenho;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Distorção de Torção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gira partes do objeto como uma espiral.</a:t>
            </a:r>
            <a:endParaRPr sz="1100"/>
          </a:p>
        </p:txBody>
      </p:sp>
      <p:pic>
        <p:nvPicPr>
          <p:cNvPr id="362" name="Google Shape;362;p30"/>
          <p:cNvPicPr preferRelativeResize="0"/>
          <p:nvPr/>
        </p:nvPicPr>
        <p:blipFill rotWithShape="1">
          <a:blip r:embed="rId3">
            <a:alphaModFix/>
          </a:blip>
          <a:srcRect b="31192" l="24316" r="25328" t="52991"/>
          <a:stretch/>
        </p:blipFill>
        <p:spPr>
          <a:xfrm>
            <a:off x="5287523" y="4697420"/>
            <a:ext cx="3704624" cy="980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DISTORÇÃO INTERATIVA</a:t>
            </a:r>
            <a:endParaRPr sz="1100"/>
          </a:p>
        </p:txBody>
      </p:sp>
      <p:pic>
        <p:nvPicPr>
          <p:cNvPr id="368" name="Google Shape;368;p31"/>
          <p:cNvPicPr preferRelativeResize="0"/>
          <p:nvPr/>
        </p:nvPicPr>
        <p:blipFill rotWithShape="1">
          <a:blip r:embed="rId3">
            <a:alphaModFix/>
          </a:blip>
          <a:srcRect b="22130" l="23222" r="23940" t="48118"/>
          <a:stretch/>
        </p:blipFill>
        <p:spPr>
          <a:xfrm>
            <a:off x="1379887" y="1503516"/>
            <a:ext cx="6464538" cy="3454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PERSPECTIVA</a:t>
            </a:r>
            <a:endParaRPr sz="1100"/>
          </a:p>
        </p:txBody>
      </p:sp>
      <p:sp>
        <p:nvSpPr>
          <p:cNvPr id="374" name="Google Shape;374;p32"/>
          <p:cNvSpPr txBox="1"/>
          <p:nvPr/>
        </p:nvSpPr>
        <p:spPr>
          <a:xfrm>
            <a:off x="335853" y="1351120"/>
            <a:ext cx="85983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Perspectiva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CorelDRAW é usada para aplicar um efeito que faz parecer que o objeto está mais longe ou mais perto — criando a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sensação de profundidade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É como desenhar uma estrada que parece ficar mais fina à medida que se afasta!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a Perspectiva: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ou selecione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objeto no qual deseja aplicar o efeito.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 e clique em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&gt; Adicionar Perspectiva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contorno com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quatro alças nos cantos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irá aparecer em volta do objeto.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alças para deformar o objeto e aplicar o efeito de perspectiva.</a:t>
            </a:r>
            <a:endParaRPr sz="1100"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AutoNum type="arabicPeriod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estiver satisfeito com o resultado, clique fora do objeto para aplicar.</a:t>
            </a:r>
            <a:endParaRPr sz="1100"/>
          </a:p>
        </p:txBody>
      </p:sp>
      <p:pic>
        <p:nvPicPr>
          <p:cNvPr id="375" name="Google Shape;375;p32"/>
          <p:cNvPicPr preferRelativeResize="0"/>
          <p:nvPr/>
        </p:nvPicPr>
        <p:blipFill rotWithShape="1">
          <a:blip r:embed="rId3">
            <a:alphaModFix/>
          </a:blip>
          <a:srcRect b="38338" l="25527" r="25483" t="45269"/>
          <a:stretch/>
        </p:blipFill>
        <p:spPr>
          <a:xfrm>
            <a:off x="5372921" y="4655507"/>
            <a:ext cx="3674003" cy="812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TRANSPARÊNCIA INTERATIVA</a:t>
            </a:r>
            <a:endParaRPr sz="1100"/>
          </a:p>
        </p:txBody>
      </p:sp>
      <p:sp>
        <p:nvSpPr>
          <p:cNvPr id="381" name="Google Shape;381;p33"/>
          <p:cNvSpPr txBox="1"/>
          <p:nvPr/>
        </p:nvSpPr>
        <p:spPr>
          <a:xfrm>
            <a:off x="345247" y="1294666"/>
            <a:ext cx="8532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de transparência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das mais queridinhas do CorelDRAW! Com ela, você consegue deixar um objeto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claro ou “invisível” em algumas partes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criando efeitos incríveis — como um vidro, um reflexo ou até uma sombra leve.</a:t>
            </a:r>
            <a:endParaRPr sz="1100"/>
          </a:p>
        </p:txBody>
      </p:sp>
      <p:sp>
        <p:nvSpPr>
          <p:cNvPr id="382" name="Google Shape;382;p33"/>
          <p:cNvSpPr txBox="1"/>
          <p:nvPr/>
        </p:nvSpPr>
        <p:spPr>
          <a:xfrm>
            <a:off x="805579" y="2273184"/>
            <a:ext cx="71046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ou selecione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objeto que deseja aplicar o efeito.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Ferramentas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na lateral esquerda,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ícone de transparência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(parece um quadradinho com um degradê).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 pressione o atalho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a ferramenta ativa,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sobre o objeto para aplicar a transparência.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propriedades superior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vá até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de Efeito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escolha um tipo: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Uniforme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deixa todo o objeto igualmente transparente.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cria uma transparência em degradê, de um lado mais transparente que o outro.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Radial, Cônica, Retangular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outras formas de aplicar o efeito conforme sua criatividade.</a:t>
            </a:r>
            <a:endParaRPr sz="1100"/>
          </a:p>
        </p:txBody>
      </p:sp>
      <p:pic>
        <p:nvPicPr>
          <p:cNvPr id="383" name="Google Shape;383;p33"/>
          <p:cNvPicPr preferRelativeResize="0"/>
          <p:nvPr/>
        </p:nvPicPr>
        <p:blipFill rotWithShape="1">
          <a:blip r:embed="rId3">
            <a:alphaModFix/>
          </a:blip>
          <a:srcRect b="44332" l="0" r="97300" t="52273"/>
          <a:stretch/>
        </p:blipFill>
        <p:spPr>
          <a:xfrm>
            <a:off x="8201901" y="1903896"/>
            <a:ext cx="473661" cy="52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TRANSPARÊNCIA INTERATIVA</a:t>
            </a:r>
            <a:endParaRPr sz="1100"/>
          </a:p>
        </p:txBody>
      </p:sp>
      <p:pic>
        <p:nvPicPr>
          <p:cNvPr id="389" name="Google Shape;389;p34"/>
          <p:cNvPicPr preferRelativeResize="0"/>
          <p:nvPr/>
        </p:nvPicPr>
        <p:blipFill rotWithShape="1">
          <a:blip r:embed="rId3">
            <a:alphaModFix/>
          </a:blip>
          <a:srcRect b="25587" l="23129" r="24008" t="49845"/>
          <a:stretch/>
        </p:blipFill>
        <p:spPr>
          <a:xfrm>
            <a:off x="449289" y="1512863"/>
            <a:ext cx="4566973" cy="188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4"/>
          <p:cNvPicPr preferRelativeResize="0"/>
          <p:nvPr/>
        </p:nvPicPr>
        <p:blipFill rotWithShape="1">
          <a:blip r:embed="rId4">
            <a:alphaModFix/>
          </a:blip>
          <a:srcRect b="37015" l="22430" r="25537" t="26967"/>
          <a:stretch/>
        </p:blipFill>
        <p:spPr>
          <a:xfrm>
            <a:off x="5397027" y="3399488"/>
            <a:ext cx="3193539" cy="1964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POWERCLIP: Colocando uma imagem dentro de outra forma!</a:t>
            </a:r>
            <a:endParaRPr sz="1100"/>
          </a:p>
        </p:txBody>
      </p:sp>
      <p:sp>
        <p:nvSpPr>
          <p:cNvPr id="396" name="Google Shape;396;p35"/>
          <p:cNvSpPr txBox="1"/>
          <p:nvPr/>
        </p:nvSpPr>
        <p:spPr>
          <a:xfrm>
            <a:off x="467377" y="1173153"/>
            <a:ext cx="8184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PowerClip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dos efeitos mais legais do CorelDRAW. Ele serve para colocar uma imagem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 uma forma fechada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 um círculo, quadrado, estrela ou qualquer outro objeto que você desenhar.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se você recortasse uma imagem no formato que quiser!</a:t>
            </a:r>
            <a:endParaRPr sz="1100"/>
          </a:p>
        </p:txBody>
      </p:sp>
      <p:sp>
        <p:nvSpPr>
          <p:cNvPr id="397" name="Google Shape;397;p35"/>
          <p:cNvSpPr txBox="1"/>
          <p:nvPr/>
        </p:nvSpPr>
        <p:spPr>
          <a:xfrm>
            <a:off x="467378" y="2260992"/>
            <a:ext cx="8184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o PowerClip: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ou insira uma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seu projeto.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você quer que a imagem fique (por exemplo: um círculo, quadrado ou estrela).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selecioná-la.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 e clique em: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&gt; PowerClip &gt; Colocar em recipiente...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mouse vai virar uma setinha — clique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objeto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o círculo que você criou).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 imagem vai "entrar" no formato. Se ela desaparecer, não se preocupe!</a:t>
            </a:r>
            <a:endParaRPr sz="1100"/>
          </a:p>
        </p:txBody>
      </p:sp>
      <p:sp>
        <p:nvSpPr>
          <p:cNvPr id="398" name="Google Shape;398;p35"/>
          <p:cNvSpPr txBox="1"/>
          <p:nvPr/>
        </p:nvSpPr>
        <p:spPr>
          <a:xfrm>
            <a:off x="467377" y="4272161"/>
            <a:ext cx="8338200" cy="9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Ajustando a imagem no objeto: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imagem não ficou do jeito que você queria: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com o botão direito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objeto (ex: círculo) e escolha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PowerClip &gt; Editar Conteúdo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posicione ou redimensione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imagem como preferir.</a:t>
            </a:r>
            <a:endParaRPr sz="1100"/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AutoNum type="arabicPeriod"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terminar, vá em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PowerClip &gt; Sair da Edição de Conteúdo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POWERCLIP: Colocando uma imagem dentro de outra forma!</a:t>
            </a:r>
            <a:endParaRPr sz="1100"/>
          </a:p>
        </p:txBody>
      </p:sp>
      <p:pic>
        <p:nvPicPr>
          <p:cNvPr id="404" name="Google Shape;404;p36"/>
          <p:cNvPicPr preferRelativeResize="0"/>
          <p:nvPr/>
        </p:nvPicPr>
        <p:blipFill rotWithShape="1">
          <a:blip r:embed="rId3">
            <a:alphaModFix/>
          </a:blip>
          <a:srcRect b="42527" l="32355" r="28725" t="30528"/>
          <a:stretch/>
        </p:blipFill>
        <p:spPr>
          <a:xfrm>
            <a:off x="1877311" y="1289504"/>
            <a:ext cx="3064950" cy="188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6"/>
          <p:cNvPicPr preferRelativeResize="0"/>
          <p:nvPr/>
        </p:nvPicPr>
        <p:blipFill rotWithShape="1">
          <a:blip r:embed="rId4">
            <a:alphaModFix/>
          </a:blip>
          <a:srcRect b="14173" l="36219" r="34211" t="54965"/>
          <a:stretch/>
        </p:blipFill>
        <p:spPr>
          <a:xfrm>
            <a:off x="5482880" y="1274411"/>
            <a:ext cx="2065651" cy="1916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6"/>
          <p:cNvPicPr preferRelativeResize="0"/>
          <p:nvPr/>
        </p:nvPicPr>
        <p:blipFill rotWithShape="1">
          <a:blip r:embed="rId5">
            <a:alphaModFix/>
          </a:blip>
          <a:srcRect b="23302" l="36946" r="35312" t="42609"/>
          <a:stretch/>
        </p:blipFill>
        <p:spPr>
          <a:xfrm>
            <a:off x="4213112" y="3137921"/>
            <a:ext cx="1754387" cy="1916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EFEITO ENROLAR PÁGINA</a:t>
            </a:r>
            <a:endParaRPr sz="1100"/>
          </a:p>
        </p:txBody>
      </p:sp>
      <p:pic>
        <p:nvPicPr>
          <p:cNvPr id="412" name="Google Shape;412;p37"/>
          <p:cNvPicPr preferRelativeResize="0"/>
          <p:nvPr/>
        </p:nvPicPr>
        <p:blipFill rotWithShape="1">
          <a:blip r:embed="rId3">
            <a:alphaModFix/>
          </a:blip>
          <a:srcRect b="21870" l="28769" r="27360" t="43551"/>
          <a:stretch/>
        </p:blipFill>
        <p:spPr>
          <a:xfrm>
            <a:off x="5884138" y="3428818"/>
            <a:ext cx="3047363" cy="213512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7"/>
          <p:cNvSpPr txBox="1"/>
          <p:nvPr/>
        </p:nvSpPr>
        <p:spPr>
          <a:xfrm>
            <a:off x="411009" y="1294666"/>
            <a:ext cx="85206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 Enrolar Página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 a ilusão de que o canto da imagem ou do objeto está sendo dobrado, como se fosse uma folha de papel prestes a virar.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efeito é ótimo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 um toque especial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pôsteres, banners e até convites digitais!</a:t>
            </a:r>
            <a:endParaRPr sz="1100"/>
          </a:p>
        </p:txBody>
      </p:sp>
      <p:sp>
        <p:nvSpPr>
          <p:cNvPr id="414" name="Google Shape;414;p37"/>
          <p:cNvSpPr txBox="1"/>
          <p:nvPr/>
        </p:nvSpPr>
        <p:spPr>
          <a:xfrm>
            <a:off x="645873" y="2428881"/>
            <a:ext cx="45798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aplicar o efeito de Enrolar Página no CorelDRAW: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imagem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você quer aplicar o efeito.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 e clique em: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Efeitos &gt; Efeitos 3D &gt; Enrolar Página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janela vai abrir com as opções do efeito. Nela, você pode: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Escolher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qual canto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imagem a dobra será aplicada.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Ajustar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da dobra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(quanto mais você mexer, mais "enrolada" a página vai parecer).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aplicar.</a:t>
            </a:r>
            <a:endParaRPr sz="11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Texto Seguindo o Caminho</a:t>
            </a:r>
            <a:endParaRPr sz="1100"/>
          </a:p>
        </p:txBody>
      </p:sp>
      <p:pic>
        <p:nvPicPr>
          <p:cNvPr id="420" name="Google Shape;420;p38"/>
          <p:cNvPicPr preferRelativeResize="0"/>
          <p:nvPr/>
        </p:nvPicPr>
        <p:blipFill rotWithShape="1">
          <a:blip r:embed="rId3">
            <a:alphaModFix/>
          </a:blip>
          <a:srcRect b="21802" l="23440" r="24456" t="38735"/>
          <a:stretch/>
        </p:blipFill>
        <p:spPr>
          <a:xfrm>
            <a:off x="5309526" y="3255657"/>
            <a:ext cx="3217837" cy="216639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38"/>
          <p:cNvSpPr txBox="1"/>
          <p:nvPr/>
        </p:nvSpPr>
        <p:spPr>
          <a:xfrm>
            <a:off x="401614" y="1373754"/>
            <a:ext cx="8579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CorelDRAW, você pode fazer com que o texto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siga o formato de uma linha, círculo ou forma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Isso é muito útil em logotipos, selos, carimbos ou qualquer arte onde o texto precise acompanhar um desenho.</a:t>
            </a:r>
            <a:endParaRPr sz="1100"/>
          </a:p>
        </p:txBody>
      </p:sp>
      <p:sp>
        <p:nvSpPr>
          <p:cNvPr id="422" name="Google Shape;422;p38"/>
          <p:cNvSpPr txBox="1"/>
          <p:nvPr/>
        </p:nvSpPr>
        <p:spPr>
          <a:xfrm>
            <a:off x="476772" y="2114541"/>
            <a:ext cx="45798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 o texto seguir um caminho no CorelDRAW: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seu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normalmente com a ferramenta de Texto.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que o texto siga. Pode ser:</a:t>
            </a:r>
            <a:endParaRPr sz="1100"/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círculo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linha curva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584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qualquer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(fechado ou não)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a ferramenta de seleção.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superior: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&gt; Ajustar texto ao caminho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sobre o caminho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 linha ou forma).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O texto vai se encaixar automaticamente no contorno.</a:t>
            </a:r>
            <a:endParaRPr sz="11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9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DESIGN DE BOTÃO 3D NO CORELDRAW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9"/>
          <p:cNvSpPr/>
          <p:nvPr/>
        </p:nvSpPr>
        <p:spPr>
          <a:xfrm>
            <a:off x="218049" y="1314010"/>
            <a:ext cx="86868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Explorar formas, preenchimentos, perspectiva, mistura interativa, transparência, sombra e texto usando ferramentas básicas do CorelDRAW.</a:t>
            </a:r>
            <a:endParaRPr sz="1100"/>
          </a:p>
        </p:txBody>
      </p:sp>
      <p:sp>
        <p:nvSpPr>
          <p:cNvPr id="429" name="Google Shape;429;p39"/>
          <p:cNvSpPr/>
          <p:nvPr/>
        </p:nvSpPr>
        <p:spPr>
          <a:xfrm>
            <a:off x="386861" y="1981389"/>
            <a:ext cx="56694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1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Criando o Retângulo Base com Cantos Arredondados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Ferramenta Retângulo (atalho F6) e desenhe um retângulo semelhante ao da imagem exemplo.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retângulo ainda selecionado, pegue a Ferramenta Forma (atalho F10).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retângulo e arraste os nós dos cantos para arredondar os cantos até que fiquem suaves e com aparência de botão.</a:t>
            </a:r>
            <a:endParaRPr sz="1100"/>
          </a:p>
        </p:txBody>
      </p:sp>
      <p:pic>
        <p:nvPicPr>
          <p:cNvPr id="430" name="Google Shape;430;p39"/>
          <p:cNvPicPr preferRelativeResize="0"/>
          <p:nvPr/>
        </p:nvPicPr>
        <p:blipFill rotWithShape="1">
          <a:blip r:embed="rId3">
            <a:alphaModFix/>
          </a:blip>
          <a:srcRect b="60570" l="35637" r="34227" t="22306"/>
          <a:stretch/>
        </p:blipFill>
        <p:spPr>
          <a:xfrm>
            <a:off x="6260014" y="2260910"/>
            <a:ext cx="2528531" cy="1277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9"/>
          <p:cNvPicPr preferRelativeResize="0"/>
          <p:nvPr/>
        </p:nvPicPr>
        <p:blipFill rotWithShape="1">
          <a:blip r:embed="rId4">
            <a:alphaModFix/>
          </a:blip>
          <a:srcRect b="41736" l="34370" r="35073" t="43124"/>
          <a:stretch/>
        </p:blipFill>
        <p:spPr>
          <a:xfrm>
            <a:off x="6143713" y="3946368"/>
            <a:ext cx="2761136" cy="121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0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DESIGN DE BOTÃO 3D NO CORELDRAW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0"/>
          <p:cNvSpPr/>
          <p:nvPr/>
        </p:nvSpPr>
        <p:spPr>
          <a:xfrm>
            <a:off x="334107" y="1314989"/>
            <a:ext cx="66717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2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Criando o Retângulo Interno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retângulo ainda selecionado, pressione a tecla + do teclado numérico ou use o comando Ctrl + C e depois Ctrl + V para duplicar.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com a ferramenta Seleção (atalho barra de espaço ou F4), segure a tecla SHIFT e arraste um pouco para dentro. Isso cria uma cópia menor proporcional.</a:t>
            </a:r>
            <a:endParaRPr sz="1100"/>
          </a:p>
          <a:p>
            <a:pPr indent="-1778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Desenhe outro retângulo retinho no meio, mais estreito que o anterior, formando uma base semelhante à imagem abaixo.</a:t>
            </a:r>
            <a:endParaRPr sz="1100"/>
          </a:p>
        </p:txBody>
      </p:sp>
      <p:pic>
        <p:nvPicPr>
          <p:cNvPr id="438" name="Google Shape;438;p40"/>
          <p:cNvPicPr preferRelativeResize="0"/>
          <p:nvPr/>
        </p:nvPicPr>
        <p:blipFill rotWithShape="1">
          <a:blip r:embed="rId3">
            <a:alphaModFix/>
          </a:blip>
          <a:srcRect b="36983" l="32256" r="31834" t="47173"/>
          <a:stretch/>
        </p:blipFill>
        <p:spPr>
          <a:xfrm>
            <a:off x="6913180" y="1314989"/>
            <a:ext cx="2128829" cy="91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40"/>
          <p:cNvPicPr preferRelativeResize="0"/>
          <p:nvPr/>
        </p:nvPicPr>
        <p:blipFill rotWithShape="1">
          <a:blip r:embed="rId4">
            <a:alphaModFix/>
          </a:blip>
          <a:srcRect b="51946" l="32679" r="29721" t="32564"/>
          <a:stretch/>
        </p:blipFill>
        <p:spPr>
          <a:xfrm>
            <a:off x="5352476" y="3931090"/>
            <a:ext cx="3559693" cy="1303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1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DESIGN DE BOTÃO 3D NO CORELDRAW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1"/>
          <p:cNvSpPr/>
          <p:nvPr/>
        </p:nvSpPr>
        <p:spPr>
          <a:xfrm>
            <a:off x="249701" y="1199572"/>
            <a:ext cx="45720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3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Aplicando Perspectiva e Cor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retângulo interno superior.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Objeto &gt; Perspectiva &gt; Adicionar perspectiva.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Mantenha as teclas Shift + Ctrl pressionadas enquanto arrasta para manter a perspectiva proporcional e centralizada.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retângulo maior, vá até a Paleta de cores ou pressione Ctrl + F11 e aplique a cor HSB: 220, 100, 60.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Remova o contorno clicando com o botão direito na cor de X na paleta.</a:t>
            </a:r>
            <a:endParaRPr sz="1100"/>
          </a:p>
        </p:txBody>
      </p:sp>
      <p:pic>
        <p:nvPicPr>
          <p:cNvPr id="446" name="Google Shape;446;p41"/>
          <p:cNvPicPr preferRelativeResize="0"/>
          <p:nvPr/>
        </p:nvPicPr>
        <p:blipFill rotWithShape="1">
          <a:blip r:embed="rId3">
            <a:alphaModFix/>
          </a:blip>
          <a:srcRect b="33993" l="33665" r="33522" t="50000"/>
          <a:stretch/>
        </p:blipFill>
        <p:spPr>
          <a:xfrm>
            <a:off x="5235802" y="1199572"/>
            <a:ext cx="3653082" cy="158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/>
          <p:cNvPicPr preferRelativeResize="0"/>
          <p:nvPr/>
        </p:nvPicPr>
        <p:blipFill rotWithShape="1">
          <a:blip r:embed="rId4">
            <a:alphaModFix/>
          </a:blip>
          <a:srcRect b="13749" l="29991" r="30427" t="45590"/>
          <a:stretch/>
        </p:blipFill>
        <p:spPr>
          <a:xfrm>
            <a:off x="5605870" y="2897743"/>
            <a:ext cx="2912944" cy="2660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DESIGN DE BOTÃO 3D NO CORELDRAW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2"/>
          <p:cNvSpPr/>
          <p:nvPr/>
        </p:nvSpPr>
        <p:spPr>
          <a:xfrm>
            <a:off x="207499" y="1232927"/>
            <a:ext cx="62073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4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Preenchendo os Retângulos e Mistura Interativa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retângulo de cima, aplique preenchimento branco.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retângulo menor da parte inferior, use o preenchimento HSB: 189, 100, 100.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Ferramenta Mistura Interativa (atalho Ctrl + M) e clique primeiro no retângulo azul mais escuro, depois no mais claro.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a quantidade de etapas na barra de propriedades para obter um efeito suave e gradual.</a:t>
            </a:r>
            <a:endParaRPr sz="1100"/>
          </a:p>
        </p:txBody>
      </p:sp>
      <p:pic>
        <p:nvPicPr>
          <p:cNvPr id="454" name="Google Shape;454;p42"/>
          <p:cNvPicPr preferRelativeResize="0"/>
          <p:nvPr/>
        </p:nvPicPr>
        <p:blipFill rotWithShape="1">
          <a:blip r:embed="rId3">
            <a:alphaModFix/>
          </a:blip>
          <a:srcRect b="42263" l="33806" r="34792" t="44534"/>
          <a:stretch/>
        </p:blipFill>
        <p:spPr>
          <a:xfrm>
            <a:off x="6326276" y="1395046"/>
            <a:ext cx="2525821" cy="990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2"/>
          <p:cNvPicPr preferRelativeResize="0"/>
          <p:nvPr/>
        </p:nvPicPr>
        <p:blipFill rotWithShape="1">
          <a:blip r:embed="rId4">
            <a:alphaModFix/>
          </a:blip>
          <a:srcRect b="25369" l="29723" r="29581" t="42243"/>
          <a:stretch/>
        </p:blipFill>
        <p:spPr>
          <a:xfrm>
            <a:off x="4907262" y="2892668"/>
            <a:ext cx="3839325" cy="27160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3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DESIGN DE BOTÃO 3D NO CORELDRAW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3"/>
          <p:cNvSpPr/>
          <p:nvPr/>
        </p:nvSpPr>
        <p:spPr>
          <a:xfrm>
            <a:off x="334108" y="1213110"/>
            <a:ext cx="4994100" cy="26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5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Aplicando Transparência e Sombra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retângulo branco selecionado, ative a Ferramenta Transparência Interativa (atalho 1).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de cima para baixo para suavizar e deixar a parte inferior mais visível.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o retângulo maior e, se tiver dúvidas sobre qual está selecionado, pressione TAB até ele aparecer.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Aplique uma Sombra Interativa (atalho Shift + F9) ao retângulo maior.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DICA: Pode ajustar a cor e a direção da sombra na barra de propriedades.</a:t>
            </a:r>
            <a:endParaRPr sz="1100"/>
          </a:p>
        </p:txBody>
      </p:sp>
      <p:pic>
        <p:nvPicPr>
          <p:cNvPr id="462" name="Google Shape;462;p43"/>
          <p:cNvPicPr preferRelativeResize="0"/>
          <p:nvPr/>
        </p:nvPicPr>
        <p:blipFill rotWithShape="1">
          <a:blip r:embed="rId3">
            <a:alphaModFix/>
          </a:blip>
          <a:srcRect b="35928" l="36623" r="31974" t="48757"/>
          <a:stretch/>
        </p:blipFill>
        <p:spPr>
          <a:xfrm>
            <a:off x="6136169" y="1213110"/>
            <a:ext cx="2541094" cy="1101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4">
            <a:alphaModFix/>
          </a:blip>
          <a:srcRect b="36472" l="33965" r="32758" t="51760"/>
          <a:stretch/>
        </p:blipFill>
        <p:spPr>
          <a:xfrm>
            <a:off x="5586473" y="2454573"/>
            <a:ext cx="3312355" cy="1041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4"/>
          <p:cNvSpPr/>
          <p:nvPr/>
        </p:nvSpPr>
        <p:spPr>
          <a:xfrm>
            <a:off x="0" y="0"/>
            <a:ext cx="9144000" cy="1085700"/>
          </a:xfrm>
          <a:prstGeom prst="rect">
            <a:avLst/>
          </a:prstGeom>
          <a:solidFill>
            <a:srgbClr val="22864D"/>
          </a:solidFill>
          <a:ln cap="flat" cmpd="sng" w="19050">
            <a:solidFill>
              <a:srgbClr val="22864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DESIGN DE BOTÃO 3D NO CORELDRAW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4"/>
          <p:cNvSpPr/>
          <p:nvPr/>
        </p:nvSpPr>
        <p:spPr>
          <a:xfrm>
            <a:off x="154744" y="1217574"/>
            <a:ext cx="51522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6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Inserindo Texto com Sombra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Ative a Ferramenta Texto (atalho F8) e clique dentro do botão para digitar o texto desejado (“CORELDRAW”).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fonte legível e centralize o texto dentro do botão.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texto selecionado, aplique também uma Sombra Interativa para realce.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 a posição e a intensidade da sombra se quiser dar mais destaque.</a:t>
            </a:r>
            <a:endParaRPr sz="1100"/>
          </a:p>
        </p:txBody>
      </p:sp>
      <p:pic>
        <p:nvPicPr>
          <p:cNvPr id="470" name="Google Shape;470;p44"/>
          <p:cNvPicPr preferRelativeResize="0"/>
          <p:nvPr/>
        </p:nvPicPr>
        <p:blipFill rotWithShape="1">
          <a:blip r:embed="rId3">
            <a:alphaModFix/>
          </a:blip>
          <a:srcRect b="30825" l="28876" r="27752" t="50000"/>
          <a:stretch/>
        </p:blipFill>
        <p:spPr>
          <a:xfrm>
            <a:off x="2732649" y="2919046"/>
            <a:ext cx="5758541" cy="2488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2025-05-01T20:58:28Z</dcterms:created>
  <dc:creator>leo Souza</dc:creator>
</cp:coreProperties>
</file>