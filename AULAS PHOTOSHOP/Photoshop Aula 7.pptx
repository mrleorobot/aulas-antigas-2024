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715000" cx="9144000"/>
  <p:notesSz cx="6858000" cy="9144000"/>
  <p:embeddedFontLst>
    <p:embeddedFont>
      <p:font typeface="Play"/>
      <p:regular r:id="rId21"/>
      <p:bold r:id="rId22"/>
    </p:embeddedFont>
    <p:embeddedFont>
      <p:font typeface="Arim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lApgGiBreJRHD7n90vw0HBFiV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9E7A8F3-8402-4C0C-8702-6675C3FD9F60}">
  <a:tblStyle styleId="{E9E7A8F3-8402-4C0C-8702-6675C3FD9F6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lay-bold.fntdata"/><Relationship Id="rId21" Type="http://schemas.openxmlformats.org/officeDocument/2006/relationships/font" Target="fonts/Play-regular.fntdata"/><Relationship Id="rId24" Type="http://schemas.openxmlformats.org/officeDocument/2006/relationships/font" Target="fonts/Arimo-bold.fntdata"/><Relationship Id="rId23" Type="http://schemas.openxmlformats.org/officeDocument/2006/relationships/font" Target="fonts/Arim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mo-boldItalic.fntdata"/><Relationship Id="rId25" Type="http://schemas.openxmlformats.org/officeDocument/2006/relationships/font" Target="fonts/Arimo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2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2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25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25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599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118920" y="748952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30729" y="2127852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i="0" lang="pt-BR" sz="3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endParaRPr sz="1100"/>
          </a:p>
        </p:txBody>
      </p:sp>
      <p:sp>
        <p:nvSpPr>
          <p:cNvPr id="90" name="Google Shape;90;p1"/>
          <p:cNvSpPr txBox="1"/>
          <p:nvPr/>
        </p:nvSpPr>
        <p:spPr>
          <a:xfrm>
            <a:off x="530729" y="2695574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Adobe Photoshop Logo Vector Art, Icons, and Graphics for Free Download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8612" y="1473449"/>
            <a:ext cx="2276001" cy="22760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530729" y="3002065"/>
            <a:ext cx="47349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RETÂNGULO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RETÂNGULO ARREDONDADO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ELIPSE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POLÍGONO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LINHA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FORMA PERSONALIZADA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ZOOM E SUAS PROPRIEDADES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LATA DE TINTA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TEXTO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Ferramenta Retângulo</a:t>
            </a:r>
            <a:endParaRPr sz="1100"/>
          </a:p>
        </p:txBody>
      </p:sp>
      <p:sp>
        <p:nvSpPr>
          <p:cNvPr id="98" name="Google Shape;98;p2"/>
          <p:cNvSpPr txBox="1"/>
          <p:nvPr/>
        </p:nvSpPr>
        <p:spPr>
          <a:xfrm>
            <a:off x="157357" y="1012830"/>
            <a:ext cx="86829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Ferramenta Retângulo?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ferramenta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Retângulo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criar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geométricas retangulares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Photoshop.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pode ser usada tanto para criar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vetoriais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quanto para desenhar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trajetórias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(contornos).</a:t>
            </a:r>
            <a:endParaRPr sz="1100"/>
          </a:p>
        </p:txBody>
      </p:sp>
      <p:sp>
        <p:nvSpPr>
          <p:cNvPr id="99" name="Google Shape;99;p2"/>
          <p:cNvSpPr/>
          <p:nvPr/>
        </p:nvSpPr>
        <p:spPr>
          <a:xfrm>
            <a:off x="157357" y="1824898"/>
            <a:ext cx="8682900" cy="21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 passo a passo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o Photoshop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 → Novo (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Ctrl + N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o tamanho da tela e clique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ferramenta Retângulo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painel de ferramentas, clique no ícone do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Retângulo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(atalho: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U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não aparecer,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segure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ícone de forma para abrir o menu oculto.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a forma no seu projeto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arraste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tela para desenhar um retângulo.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0" name="Google Shape;100;p2"/>
          <p:cNvGraphicFramePr/>
          <p:nvPr/>
        </p:nvGraphicFramePr>
        <p:xfrm>
          <a:off x="157358" y="41548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{E9E7A8F3-8402-4C0C-8702-6675C3FD9F60}</a:tableStyleId>
              </a:tblPr>
              <a:tblGrid>
                <a:gridCol w="3943350"/>
                <a:gridCol w="3943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Ação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Como fazer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Desenhar um retângulo normal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Clique e arraste livremente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Desenhar um quadrado perfeito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Pressione </a:t>
                      </a:r>
                      <a:r>
                        <a:rPr b="1" lang="pt-BR" sz="1500"/>
                        <a:t>Shift</a:t>
                      </a:r>
                      <a:r>
                        <a:rPr lang="pt-BR" sz="1500"/>
                        <a:t> e arraste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Desenhar do centro para fora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Pressione </a:t>
                      </a:r>
                      <a:r>
                        <a:rPr b="1" lang="pt-BR" sz="1500"/>
                        <a:t>Alt</a:t>
                      </a:r>
                      <a:r>
                        <a:rPr lang="pt-BR" sz="1500"/>
                        <a:t> (Windows) 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" name="Google Shape;101;p2"/>
          <p:cNvSpPr txBox="1"/>
          <p:nvPr/>
        </p:nvSpPr>
        <p:spPr>
          <a:xfrm>
            <a:off x="157357" y="3906800"/>
            <a:ext cx="105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 úteis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Ferramenta Retângulo - BARRA DE FERRAMENTAS</a:t>
            </a:r>
            <a:endParaRPr sz="1100"/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 b="93014" l="0" r="34747" t="0"/>
          <a:stretch/>
        </p:blipFill>
        <p:spPr>
          <a:xfrm>
            <a:off x="2934395" y="5081248"/>
            <a:ext cx="6046765" cy="55845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66753" y="983892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Funções da Barra de Opções</a:t>
            </a:r>
            <a:endParaRPr sz="1100"/>
          </a:p>
        </p:txBody>
      </p:sp>
      <p:graphicFrame>
        <p:nvGraphicFramePr>
          <p:cNvPr id="109" name="Google Shape;109;p3"/>
          <p:cNvGraphicFramePr/>
          <p:nvPr/>
        </p:nvGraphicFramePr>
        <p:xfrm>
          <a:off x="166752" y="13602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{E9E7A8F3-8402-4C0C-8702-6675C3FD9F60}</a:tableStyleId>
              </a:tblPr>
              <a:tblGrid>
                <a:gridCol w="4407200"/>
                <a:gridCol w="4407200"/>
              </a:tblGrid>
              <a:tr h="26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Opção</a:t>
                      </a:r>
                      <a:endParaRPr sz="1300"/>
                    </a:p>
                  </a:txBody>
                  <a:tcPr marT="33575" marB="33575" marR="60425" marL="60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Para que serve</a:t>
                      </a:r>
                      <a:endParaRPr sz="1300"/>
                    </a:p>
                  </a:txBody>
                  <a:tcPr marT="33575" marB="33575" marR="60425" marL="60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Modo</a:t>
                      </a:r>
                      <a:endParaRPr sz="1300"/>
                    </a:p>
                  </a:txBody>
                  <a:tcPr marT="33575" marB="33575" marR="60425" marL="60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Escolhe o tipo da forma: </a:t>
                      </a:r>
                      <a:r>
                        <a:rPr b="1" lang="pt-BR" sz="1300"/>
                        <a:t>Forma</a:t>
                      </a:r>
                      <a:r>
                        <a:rPr lang="pt-BR" sz="1300"/>
                        <a:t>, </a:t>
                      </a:r>
                      <a:r>
                        <a:rPr b="1" lang="pt-BR" sz="1300"/>
                        <a:t>Caminho</a:t>
                      </a:r>
                      <a:r>
                        <a:rPr lang="pt-BR" sz="1300"/>
                        <a:t> (só contorno) ou </a:t>
                      </a:r>
                      <a:r>
                        <a:rPr b="1" lang="pt-BR" sz="1300"/>
                        <a:t>Pixels</a:t>
                      </a:r>
                      <a:r>
                        <a:rPr lang="pt-BR" sz="1300"/>
                        <a:t> (desenha direto).</a:t>
                      </a:r>
                      <a:endParaRPr sz="1200"/>
                    </a:p>
                  </a:txBody>
                  <a:tcPr marT="33575" marB="33575" marR="60425" marL="60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Preenchimento</a:t>
                      </a:r>
                      <a:endParaRPr sz="1300"/>
                    </a:p>
                  </a:txBody>
                  <a:tcPr marT="33575" marB="33575" marR="60425" marL="60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Define a </a:t>
                      </a:r>
                      <a:r>
                        <a:rPr b="1" lang="pt-BR" sz="1300"/>
                        <a:t>cor de dentro</a:t>
                      </a:r>
                      <a:r>
                        <a:rPr lang="pt-BR" sz="1300"/>
                        <a:t> da forma.</a:t>
                      </a:r>
                      <a:endParaRPr sz="1200"/>
                    </a:p>
                  </a:txBody>
                  <a:tcPr marT="33575" marB="33575" marR="60425" marL="60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Traçado</a:t>
                      </a:r>
                      <a:endParaRPr sz="1300"/>
                    </a:p>
                  </a:txBody>
                  <a:tcPr marT="33575" marB="33575" marR="60425" marL="60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Define a </a:t>
                      </a:r>
                      <a:r>
                        <a:rPr b="1" lang="pt-BR" sz="1300"/>
                        <a:t>cor, largura e estilo da borda</a:t>
                      </a:r>
                      <a:r>
                        <a:rPr lang="pt-BR" sz="1300"/>
                        <a:t> (linha contínua, tracejada, etc.).</a:t>
                      </a:r>
                      <a:endParaRPr sz="1200"/>
                    </a:p>
                  </a:txBody>
                  <a:tcPr marT="33575" marB="33575" marR="60425" marL="60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Largura e Altura (L &amp; A)</a:t>
                      </a:r>
                      <a:endParaRPr sz="1300"/>
                    </a:p>
                  </a:txBody>
                  <a:tcPr marT="33575" marB="33575" marR="60425" marL="60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Permite digitar valores </a:t>
                      </a:r>
                      <a:r>
                        <a:rPr b="1" lang="pt-BR" sz="1300"/>
                        <a:t>manualmente</a:t>
                      </a:r>
                      <a:r>
                        <a:rPr lang="pt-BR" sz="1300"/>
                        <a:t> para o tamanho da forma.</a:t>
                      </a:r>
                      <a:endParaRPr sz="1200"/>
                    </a:p>
                  </a:txBody>
                  <a:tcPr marT="33575" marB="33575" marR="60425" marL="60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Operações de Caminho</a:t>
                      </a:r>
                      <a:endParaRPr sz="1300"/>
                    </a:p>
                  </a:txBody>
                  <a:tcPr marT="33575" marB="33575" marR="60425" marL="60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Controla como várias formas interagem: </a:t>
                      </a:r>
                      <a:r>
                        <a:rPr b="1" lang="pt-BR" sz="1300"/>
                        <a:t>somar</a:t>
                      </a:r>
                      <a:r>
                        <a:rPr lang="pt-BR" sz="1300"/>
                        <a:t>, </a:t>
                      </a:r>
                      <a:r>
                        <a:rPr b="1" lang="pt-BR" sz="1300"/>
                        <a:t>subtrair</a:t>
                      </a:r>
                      <a:r>
                        <a:rPr lang="pt-BR" sz="1300"/>
                        <a:t>, </a:t>
                      </a:r>
                      <a:r>
                        <a:rPr b="1" lang="pt-BR" sz="1300"/>
                        <a:t>interseção</a:t>
                      </a:r>
                      <a:r>
                        <a:rPr lang="pt-BR" sz="1300"/>
                        <a:t>, etc.</a:t>
                      </a:r>
                      <a:endParaRPr sz="1200"/>
                    </a:p>
                  </a:txBody>
                  <a:tcPr marT="33575" marB="33575" marR="60425" marL="60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Alinhamento de Caminho</a:t>
                      </a:r>
                      <a:endParaRPr sz="1300"/>
                    </a:p>
                  </a:txBody>
                  <a:tcPr marT="33575" marB="33575" marR="60425" marL="60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Alinha e distribui </a:t>
                      </a:r>
                      <a:r>
                        <a:rPr b="1" lang="pt-BR" sz="1300"/>
                        <a:t>várias formas</a:t>
                      </a:r>
                      <a:r>
                        <a:rPr lang="pt-BR" sz="1300"/>
                        <a:t> entre si.</a:t>
                      </a:r>
                      <a:endParaRPr sz="1200"/>
                    </a:p>
                  </a:txBody>
                  <a:tcPr marT="33575" marB="33575" marR="60425" marL="60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Disposição de Caminho</a:t>
                      </a:r>
                      <a:endParaRPr sz="1300"/>
                    </a:p>
                  </a:txBody>
                  <a:tcPr marT="33575" marB="33575" marR="60425" marL="60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Define a </a:t>
                      </a:r>
                      <a:r>
                        <a:rPr b="1" lang="pt-BR" sz="1300"/>
                        <a:t>ordem das formas</a:t>
                      </a:r>
                      <a:r>
                        <a:rPr lang="pt-BR" sz="1300"/>
                        <a:t> (qual fica na frente ou atrás).</a:t>
                      </a:r>
                      <a:endParaRPr sz="1200"/>
                    </a:p>
                  </a:txBody>
                  <a:tcPr marT="33575" marB="33575" marR="60425" marL="60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Formas adicionais e engrenagem ⚙️</a:t>
                      </a:r>
                      <a:endParaRPr sz="1300"/>
                    </a:p>
                  </a:txBody>
                  <a:tcPr marT="33575" marB="33575" marR="60425" marL="60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Mostra </a:t>
                      </a:r>
                      <a:r>
                        <a:rPr b="1" lang="pt-BR" sz="1300"/>
                        <a:t>opções extras</a:t>
                      </a:r>
                      <a:r>
                        <a:rPr lang="pt-BR" sz="1300"/>
                        <a:t>: mais formas, limites ao desenhar, largura da linha guia, etc.</a:t>
                      </a:r>
                      <a:endParaRPr sz="1200"/>
                    </a:p>
                  </a:txBody>
                  <a:tcPr marT="33575" marB="33575" marR="60425" marL="60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Retângulo Arredondado</a:t>
            </a:r>
            <a:endParaRPr sz="1100"/>
          </a:p>
        </p:txBody>
      </p:sp>
      <p:sp>
        <p:nvSpPr>
          <p:cNvPr id="115" name="Google Shape;115;p4"/>
          <p:cNvSpPr txBox="1"/>
          <p:nvPr/>
        </p:nvSpPr>
        <p:spPr>
          <a:xfrm>
            <a:off x="164796" y="1002392"/>
            <a:ext cx="88143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Ferramenta Retângulo Arredondado?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desenhar formas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retangulares com cantos arredondados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 tanto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vetoriais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pixels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trajetórias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(contornos).</a:t>
            </a:r>
            <a:endParaRPr sz="1100"/>
          </a:p>
        </p:txBody>
      </p:sp>
      <p:sp>
        <p:nvSpPr>
          <p:cNvPr id="116" name="Google Shape;116;p4"/>
          <p:cNvSpPr/>
          <p:nvPr/>
        </p:nvSpPr>
        <p:spPr>
          <a:xfrm>
            <a:off x="164796" y="2148208"/>
            <a:ext cx="88143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 passo a passo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Selecione a ferramenta Retângulo Arredondado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painel de ferramentas, clique no ícone da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segure.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Retângulo Arredondado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lista.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Atalho rápido: pressione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U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troque de forma na barra superior.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Crie a forma no seu projeto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 arraste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desenhar o retângulo com cantos arredondados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164796" y="4464878"/>
            <a:ext cx="80346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ferramentas superior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dessa forma é a mesma usada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Retângulo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inclui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preenchimento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traçado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largura e altura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 de caminho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disposição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 da engrenagem ⚙️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opções extras.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Elipse</a:t>
            </a:r>
            <a:endParaRPr sz="1100"/>
          </a:p>
        </p:txBody>
      </p:sp>
      <p:sp>
        <p:nvSpPr>
          <p:cNvPr id="123" name="Google Shape;123;p5"/>
          <p:cNvSpPr txBox="1"/>
          <p:nvPr/>
        </p:nvSpPr>
        <p:spPr>
          <a:xfrm>
            <a:off x="141308" y="1096932"/>
            <a:ext cx="87297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Ferramenta Elipse?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desenhar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elipses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(formas ovais).</a:t>
            </a:r>
            <a:b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 com vetores, pixels ou caminhos — ideal para criar elementos arredondados no seu projeto.</a:t>
            </a:r>
            <a:endParaRPr sz="1100"/>
          </a:p>
        </p:txBody>
      </p:sp>
      <p:sp>
        <p:nvSpPr>
          <p:cNvPr id="124" name="Google Shape;124;p5"/>
          <p:cNvSpPr/>
          <p:nvPr/>
        </p:nvSpPr>
        <p:spPr>
          <a:xfrm>
            <a:off x="141308" y="2124890"/>
            <a:ext cx="8795700" cy="14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 passo a passo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ferramenta Elipse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painel de ferramentas, clique no grupo de Formas (atalho: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U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Elipse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lista suspensa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Desenhe a forma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Posicione o ponteiro na tela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arraste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criar uma elipse</a:t>
            </a:r>
            <a:endParaRPr sz="1100"/>
          </a:p>
        </p:txBody>
      </p:sp>
      <p:sp>
        <p:nvSpPr>
          <p:cNvPr id="125" name="Google Shape;125;p5"/>
          <p:cNvSpPr txBox="1"/>
          <p:nvPr/>
        </p:nvSpPr>
        <p:spPr>
          <a:xfrm>
            <a:off x="141308" y="3729929"/>
            <a:ext cx="87540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a forma depois de criar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dimensionar, girar ou transformar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elipse:</a:t>
            </a:r>
            <a:b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&gt; Transformação Livre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use o atalho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T</a:t>
            </a:r>
            <a:b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Ajuste como quiser e pressione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confirmar.</a:t>
            </a:r>
            <a:endParaRPr sz="1100"/>
          </a:p>
        </p:txBody>
      </p:sp>
      <p:sp>
        <p:nvSpPr>
          <p:cNvPr id="126" name="Google Shape;126;p5"/>
          <p:cNvSpPr txBox="1"/>
          <p:nvPr/>
        </p:nvSpPr>
        <p:spPr>
          <a:xfrm>
            <a:off x="141308" y="5043048"/>
            <a:ext cx="8861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ferramentas superior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igual à das outras formas (Retângulo e Retângulo Arredondado).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Polígono</a:t>
            </a:r>
            <a:endParaRPr sz="1100"/>
          </a:p>
        </p:txBody>
      </p:sp>
      <p:sp>
        <p:nvSpPr>
          <p:cNvPr id="132" name="Google Shape;132;p6"/>
          <p:cNvSpPr txBox="1"/>
          <p:nvPr/>
        </p:nvSpPr>
        <p:spPr>
          <a:xfrm>
            <a:off x="244648" y="1034450"/>
            <a:ext cx="86547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Ferramenta Polígono?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desenhar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com vários lados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triângulos, pentágonos, hexágonos, estrelas e outros polígonos personalizados.</a:t>
            </a:r>
            <a:endParaRPr sz="1100"/>
          </a:p>
        </p:txBody>
      </p:sp>
      <p:sp>
        <p:nvSpPr>
          <p:cNvPr id="133" name="Google Shape;133;p6"/>
          <p:cNvSpPr/>
          <p:nvPr/>
        </p:nvSpPr>
        <p:spPr>
          <a:xfrm>
            <a:off x="244648" y="1880836"/>
            <a:ext cx="86547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Selecione a ferramenta Polígono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grupo de ferramentas de forma (atalho: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U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segure sobre o ícone da Forma → Escolha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Polígono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Desenhe a forma na tela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arraste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a área de trabalho do Photoshop para criar o polígono.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244648" y="3111942"/>
            <a:ext cx="75627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superior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ajuste a opção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“Lados”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244648" y="3550891"/>
            <a:ext cx="8567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ferramentas da forma Polígono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Igual às outras formas (Retângulo, Elipse):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Linha</a:t>
            </a:r>
            <a:endParaRPr sz="1100"/>
          </a:p>
        </p:txBody>
      </p:sp>
      <p:sp>
        <p:nvSpPr>
          <p:cNvPr id="141" name="Google Shape;141;p7"/>
          <p:cNvSpPr txBox="1"/>
          <p:nvPr/>
        </p:nvSpPr>
        <p:spPr>
          <a:xfrm>
            <a:off x="131523" y="963174"/>
            <a:ext cx="82884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Ferramenta Linha?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desenhar uma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 reta entre dois pontos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podendo ser vetor, caminho ou pixel.</a:t>
            </a:r>
            <a:b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Ideal para criar divisores, elementos gráficos simples e traços personalizados.</a:t>
            </a:r>
            <a:endParaRPr sz="1100"/>
          </a:p>
        </p:txBody>
      </p:sp>
      <p:sp>
        <p:nvSpPr>
          <p:cNvPr id="142" name="Google Shape;142;p7"/>
          <p:cNvSpPr/>
          <p:nvPr/>
        </p:nvSpPr>
        <p:spPr>
          <a:xfrm>
            <a:off x="131523" y="1617199"/>
            <a:ext cx="83673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-2540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ferramenta Linha</a:t>
            </a:r>
            <a:endParaRPr sz="1200">
              <a:solidFill>
                <a:schemeClr val="dk1"/>
              </a:solidFill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grupo de formas, clique e segure até aparecer a opção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a linha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arraste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tela para desenhar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linha será criada na direção do arraste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131523" y="2905380"/>
            <a:ext cx="85515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Configurações na barra de propriedades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Modo: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Forma, Caminho ou Pixels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Espessura da linha: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defina a largura em pixels (ex: 5 px, 10 px)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 de linha: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cheia, tracejada ou personalizada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Altura da linha: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especialmente útil quando trabalha com traços como flechas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 e traçado: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o preenchimento e contorno da linha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 da engrenagem: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ativar pontas de flecha, ajustar ângulo e tamanho das pontas</a:t>
            </a:r>
            <a:endParaRPr sz="1100"/>
          </a:p>
        </p:txBody>
      </p:sp>
      <p:sp>
        <p:nvSpPr>
          <p:cNvPr id="144" name="Google Shape;144;p7"/>
          <p:cNvSpPr txBox="1"/>
          <p:nvPr/>
        </p:nvSpPr>
        <p:spPr>
          <a:xfrm>
            <a:off x="131523" y="4446586"/>
            <a:ext cx="84426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Observação: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linhas editáveis e escalonáveis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use o modo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arte final em pixel, use o modo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Pixels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(mas atenção: esse modo é destrutivo, ou seja, não pode ser editado depois com a ferramenta de forma).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Forma Personalizada</a:t>
            </a:r>
            <a:endParaRPr sz="1100"/>
          </a:p>
        </p:txBody>
      </p:sp>
      <p:sp>
        <p:nvSpPr>
          <p:cNvPr id="150" name="Google Shape;150;p8"/>
          <p:cNvSpPr txBox="1"/>
          <p:nvPr/>
        </p:nvSpPr>
        <p:spPr>
          <a:xfrm>
            <a:off x="185541" y="1022674"/>
            <a:ext cx="87111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Ferramenta Forma Personalizada?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desenhar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decorativas prontas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setas, balões de fala, corações, símbolos, selos e muito mais.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São vetoriais, ou seja,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 ser redimensionadas sem perder qualidade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51" name="Google Shape;151;p8"/>
          <p:cNvSpPr/>
          <p:nvPr/>
        </p:nvSpPr>
        <p:spPr>
          <a:xfrm>
            <a:off x="185541" y="2022948"/>
            <a:ext cx="8772900" cy="28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-2667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ferramenta Forma Personalizada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Fica agrupada com outras formas (Retângulo, Elipse, etc.)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uma forma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barra superior, localize o campo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miniatura da forma atual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janela se abrirá com várias opções padrão</a:t>
            </a:r>
            <a:endParaRPr sz="1100"/>
          </a:p>
          <a:p>
            <a:pPr indent="-2667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Ajuste a forma desejada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arraste na tela para aplicar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Pressione Shift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quiser manter proporções perfeitas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Pressione Alt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desenhar a partir do centro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185541" y="4692326"/>
            <a:ext cx="88710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Observação importante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clicar 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engrenagem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janela de formas, aparece a opção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“Carregar Formas...”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permite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 formas salvas no computador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(arquivos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.CSH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 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Zoom</a:t>
            </a:r>
            <a:endParaRPr sz="1100"/>
          </a:p>
        </p:txBody>
      </p:sp>
      <p:sp>
        <p:nvSpPr>
          <p:cNvPr id="158" name="Google Shape;158;p9"/>
          <p:cNvSpPr txBox="1"/>
          <p:nvPr/>
        </p:nvSpPr>
        <p:spPr>
          <a:xfrm>
            <a:off x="270092" y="993146"/>
            <a:ext cx="86454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Ferramenta Zoom?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usada para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aumentar ou diminuir o nível de aproximação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área de trabalho, permitindo observar e editar com mais precisão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detalhes da imagem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59" name="Google Shape;159;p9"/>
          <p:cNvSpPr/>
          <p:nvPr/>
        </p:nvSpPr>
        <p:spPr>
          <a:xfrm>
            <a:off x="270092" y="1807471"/>
            <a:ext cx="8523300" cy="16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1" lang="pt-BR" sz="1300">
                <a:solidFill>
                  <a:schemeClr val="dk1"/>
                </a:solidFill>
              </a:rPr>
              <a:t>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Dar zoom in (aumentar)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pt-BR" sz="1300">
                <a:solidFill>
                  <a:schemeClr val="dk1"/>
                </a:solidFill>
              </a:rPr>
              <a:t> 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área da imagem com a lupa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(mais)</a:t>
            </a:r>
            <a:endParaRPr sz="11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pt-BR" sz="1300">
                <a:solidFill>
                  <a:schemeClr val="dk1"/>
                </a:solidFill>
              </a:rPr>
              <a:t> 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pressione e segure 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Alt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role o scroll do mouse para cima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1" lang="pt-BR" sz="1300">
                <a:solidFill>
                  <a:schemeClr val="dk1"/>
                </a:solidFill>
              </a:rPr>
              <a:t>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Dar zoom out (diminuir)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pt-BR" sz="1300">
                <a:solidFill>
                  <a:schemeClr val="dk1"/>
                </a:solidFill>
              </a:rPr>
              <a:t> 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com a lupa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−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(menos)</a:t>
            </a:r>
            <a:endParaRPr sz="11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pt-BR" sz="1300">
                <a:solidFill>
                  <a:schemeClr val="dk1"/>
                </a:solidFill>
              </a:rPr>
              <a:t> 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pressione 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Alt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clique na imagem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pt-BR" sz="1300">
                <a:solidFill>
                  <a:schemeClr val="dk1"/>
                </a:solidFill>
              </a:rPr>
              <a:t> 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Scroll para baixo com 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Alt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também reduz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178496" y="3580509"/>
            <a:ext cx="45798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propriedades da Ferramenta Zoom</a:t>
            </a:r>
            <a:endParaRPr sz="1100"/>
          </a:p>
        </p:txBody>
      </p:sp>
      <p:graphicFrame>
        <p:nvGraphicFramePr>
          <p:cNvPr id="161" name="Google Shape;161;p9"/>
          <p:cNvGraphicFramePr/>
          <p:nvPr/>
        </p:nvGraphicFramePr>
        <p:xfrm>
          <a:off x="178496" y="38882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{E9E7A8F3-8402-4C0C-8702-6675C3FD9F60}</a:tableStyleId>
              </a:tblPr>
              <a:tblGrid>
                <a:gridCol w="3820450"/>
                <a:gridCol w="3943350"/>
              </a:tblGrid>
              <a:tr h="137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Recurso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Função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7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🔍 </a:t>
                      </a:r>
                      <a:r>
                        <a:rPr b="1" lang="pt-BR" sz="1100"/>
                        <a:t>Zoom + ou -</a:t>
                      </a:r>
                      <a:endParaRPr sz="11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Alterna entre ampliar e reduzir a imagem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7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🖱️ </a:t>
                      </a:r>
                      <a:r>
                        <a:rPr b="1" lang="pt-BR" sz="1100"/>
                        <a:t>Zoom por arrasto</a:t>
                      </a:r>
                      <a:endParaRPr sz="11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Permite clicar e </a:t>
                      </a:r>
                      <a:r>
                        <a:rPr b="1" lang="pt-BR" sz="1100"/>
                        <a:t>arrastar horizontalmente</a:t>
                      </a:r>
                      <a:r>
                        <a:rPr lang="pt-BR" sz="1100"/>
                        <a:t> para controlar o zoom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7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📐 </a:t>
                      </a:r>
                      <a:r>
                        <a:rPr b="1" lang="pt-BR" sz="1100"/>
                        <a:t>Ajustar Tela</a:t>
                      </a:r>
                      <a:endParaRPr sz="11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Ajusta o zoom para </a:t>
                      </a:r>
                      <a:r>
                        <a:rPr b="1" lang="pt-BR" sz="1100"/>
                        <a:t>mostrar todo o documento na tela</a:t>
                      </a:r>
                      <a:endParaRPr sz="11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7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🧱 </a:t>
                      </a:r>
                      <a:r>
                        <a:rPr b="1" lang="pt-BR" sz="1100"/>
                        <a:t>Preencher Tela</a:t>
                      </a:r>
                      <a:endParaRPr sz="11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Aumenta o zoom para </a:t>
                      </a:r>
                      <a:r>
                        <a:rPr b="1" lang="pt-BR" sz="1100"/>
                        <a:t>preencher toda a área de trabalho com a imagem</a:t>
                      </a:r>
                      <a:endParaRPr sz="11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7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🔁 </a:t>
                      </a:r>
                      <a:r>
                        <a:rPr b="1" lang="pt-BR" sz="1100"/>
                        <a:t>Rolar para Zoom</a:t>
                      </a:r>
                      <a:endParaRPr sz="11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Permite usar o </a:t>
                      </a:r>
                      <a:r>
                        <a:rPr b="1" lang="pt-BR" sz="1100"/>
                        <a:t>scroll do mouse</a:t>
                      </a:r>
                      <a:r>
                        <a:rPr lang="pt-BR" sz="1100"/>
                        <a:t> para dar zoom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Lata de Tinta</a:t>
            </a:r>
            <a:endParaRPr sz="1100"/>
          </a:p>
        </p:txBody>
      </p:sp>
      <p:sp>
        <p:nvSpPr>
          <p:cNvPr id="167" name="Google Shape;167;p10"/>
          <p:cNvSpPr txBox="1"/>
          <p:nvPr/>
        </p:nvSpPr>
        <p:spPr>
          <a:xfrm>
            <a:off x="270092" y="1085898"/>
            <a:ext cx="86358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Ferramenta Lata de Tinta?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permite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preencher rapidamente uma área inteira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uma cor sólida, com base na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 do primeiro plano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(foreground color). Muito útil para fundos, formas fechadas ou áreas com contorno definido.</a:t>
            </a:r>
            <a:endParaRPr sz="1100"/>
          </a:p>
        </p:txBody>
      </p:sp>
      <p:sp>
        <p:nvSpPr>
          <p:cNvPr id="168" name="Google Shape;168;p10"/>
          <p:cNvSpPr/>
          <p:nvPr/>
        </p:nvSpPr>
        <p:spPr>
          <a:xfrm>
            <a:off x="270092" y="2045029"/>
            <a:ext cx="87933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ferramenta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Lata de Tinta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Atalho: pressione a tecla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G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(caso esteja no Gradiente, clique com botão direito e troque)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a cor do preenchimento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superior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barra de ferramentas para escolher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 do primeiro plano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Lata de Tinta</a:t>
            </a:r>
            <a:endParaRPr sz="1100"/>
          </a:p>
        </p:txBody>
      </p:sp>
      <p:sp>
        <p:nvSpPr>
          <p:cNvPr id="174" name="Google Shape;174;p11"/>
          <p:cNvSpPr txBox="1"/>
          <p:nvPr/>
        </p:nvSpPr>
        <p:spPr>
          <a:xfrm>
            <a:off x="288881" y="1098120"/>
            <a:ext cx="74805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Configure as opções da ferramenta na barra de propriedades:</a:t>
            </a:r>
            <a:endParaRPr sz="1100"/>
          </a:p>
        </p:txBody>
      </p:sp>
      <p:graphicFrame>
        <p:nvGraphicFramePr>
          <p:cNvPr id="175" name="Google Shape;175;p11"/>
          <p:cNvGraphicFramePr/>
          <p:nvPr/>
        </p:nvGraphicFramePr>
        <p:xfrm>
          <a:off x="288881" y="144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{E9E7A8F3-8402-4C0C-8702-6675C3FD9F60}</a:tableStyleId>
              </a:tblPr>
              <a:tblGrid>
                <a:gridCol w="3943350"/>
                <a:gridCol w="3943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Opção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Função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Modo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Define o tipo de mistura (normal, multiplicar, etc.)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Opacidade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Controla a </a:t>
                      </a:r>
                      <a:r>
                        <a:rPr b="1" lang="pt-BR" sz="1500"/>
                        <a:t>transparência do preenchimento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Tolerância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Define </a:t>
                      </a:r>
                      <a:r>
                        <a:rPr b="1" lang="pt-BR" sz="1500"/>
                        <a:t>o quanto de variação de cor</a:t>
                      </a:r>
                      <a:r>
                        <a:rPr lang="pt-BR" sz="1500"/>
                        <a:t> será permitido no preenchimento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Suavização de serrilhado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Deixa as bordas do preenchimento mais suaves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Adjacente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Marca se o preenchimento deve se aplicar </a:t>
                      </a:r>
                      <a:r>
                        <a:rPr b="1" lang="pt-BR" sz="1500"/>
                        <a:t>apenas em áreas conectadas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Todas as camadas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Permite preencher </a:t>
                      </a:r>
                      <a:r>
                        <a:rPr b="1" lang="pt-BR" sz="1500"/>
                        <a:t>com base no conteúdo de todas as camadas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11"/>
          <p:cNvSpPr txBox="1"/>
          <p:nvPr/>
        </p:nvSpPr>
        <p:spPr>
          <a:xfrm>
            <a:off x="288881" y="4309103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dentro da área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deseja preencher.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Lata de Tinta</a:t>
            </a:r>
            <a:endParaRPr sz="1100"/>
          </a:p>
        </p:txBody>
      </p:sp>
      <p:sp>
        <p:nvSpPr>
          <p:cNvPr id="182" name="Google Shape;182;p12"/>
          <p:cNvSpPr txBox="1"/>
          <p:nvPr/>
        </p:nvSpPr>
        <p:spPr>
          <a:xfrm>
            <a:off x="498301" y="1094555"/>
            <a:ext cx="8147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 e Observações Importantes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Certifique-se de que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área esteja fechada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(sem furos no contorno), senão a cor pode vazar para fora.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tolerância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padrão é 32 — se sua imagem tiver tons parecidos, aumente esse valor para preencher mais regiões.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estiver tentando preencher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 vetorial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Lata de Tinta não funcionará. Use as opções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Preenchimento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barra de formas.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Texto</a:t>
            </a:r>
            <a:endParaRPr sz="1100"/>
          </a:p>
        </p:txBody>
      </p:sp>
      <p:sp>
        <p:nvSpPr>
          <p:cNvPr id="188" name="Google Shape;188;p16"/>
          <p:cNvSpPr txBox="1"/>
          <p:nvPr/>
        </p:nvSpPr>
        <p:spPr>
          <a:xfrm>
            <a:off x="307671" y="1085304"/>
            <a:ext cx="85890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Texto no Photoshop?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texto no Photoshop é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baseado em vetores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ou seja, você pode aumentar ou diminuir o tamanho sem perder qualidade.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ser usado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títulos, legendas, parágrafos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composições gráficas, etc.</a:t>
            </a:r>
            <a:endParaRPr sz="1100"/>
          </a:p>
        </p:txBody>
      </p:sp>
      <p:sp>
        <p:nvSpPr>
          <p:cNvPr id="189" name="Google Shape;189;p16"/>
          <p:cNvSpPr txBox="1"/>
          <p:nvPr/>
        </p:nvSpPr>
        <p:spPr>
          <a:xfrm>
            <a:off x="307671" y="2140173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Texto:</a:t>
            </a:r>
            <a:endParaRPr sz="1100"/>
          </a:p>
        </p:txBody>
      </p:sp>
      <p:graphicFrame>
        <p:nvGraphicFramePr>
          <p:cNvPr id="190" name="Google Shape;190;p16"/>
          <p:cNvGraphicFramePr/>
          <p:nvPr/>
        </p:nvGraphicFramePr>
        <p:xfrm>
          <a:off x="307671" y="25025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{E9E7A8F3-8402-4C0C-8702-6675C3FD9F60}</a:tableStyleId>
              </a:tblPr>
              <a:tblGrid>
                <a:gridCol w="3943350"/>
                <a:gridCol w="3943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Tipo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Como Funciona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Texto de Ponto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Clique na tela e comece a digitar. Ideal para títulos e frases curtas.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Texto de Parágrafo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Clique e arraste para criar uma caixa de texto. Ideal para blocos de texto maiores.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1" name="Google Shape;191;p16"/>
          <p:cNvSpPr/>
          <p:nvPr/>
        </p:nvSpPr>
        <p:spPr>
          <a:xfrm>
            <a:off x="307672" y="3874143"/>
            <a:ext cx="85890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Texto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tela para digitar (Texto de Ponto)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arraste para criar uma caixa de texto (Texto de Parágrafo)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Digite o conteúdo desejado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Texto</a:t>
            </a:r>
            <a:endParaRPr sz="1100"/>
          </a:p>
        </p:txBody>
      </p:sp>
      <p:sp>
        <p:nvSpPr>
          <p:cNvPr id="197" name="Google Shape;197;p17"/>
          <p:cNvSpPr txBox="1"/>
          <p:nvPr/>
        </p:nvSpPr>
        <p:spPr>
          <a:xfrm>
            <a:off x="166739" y="1034292"/>
            <a:ext cx="70059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Horizontal ou Vertical?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padrão, o Photoshop usa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Horizontal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quiser digitar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vertical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e segure a ferramenta Texto e selecione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Vertical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menu que aparece</a:t>
            </a:r>
            <a:endParaRPr sz="1100"/>
          </a:p>
        </p:txBody>
      </p:sp>
      <p:sp>
        <p:nvSpPr>
          <p:cNvPr id="198" name="Google Shape;198;p17"/>
          <p:cNvSpPr txBox="1"/>
          <p:nvPr/>
        </p:nvSpPr>
        <p:spPr>
          <a:xfrm>
            <a:off x="236862" y="2274081"/>
            <a:ext cx="70059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Usando a Barra de Propriedades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a ferramenta Texto ativa ou com uma camada de texto selecionada,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Propriedades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(na parte superior da tela) permite: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texto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(esquerda, centralizado, direita)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Mudar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estilo da fonte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(negrito, itálico etc.)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Controlar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espaçamento entre letras e linhas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sz="1100"/>
          </a:p>
        </p:txBody>
      </p:sp>
      <p:sp>
        <p:nvSpPr>
          <p:cNvPr id="204" name="Google Shape;204;p18"/>
          <p:cNvSpPr txBox="1"/>
          <p:nvPr/>
        </p:nvSpPr>
        <p:spPr>
          <a:xfrm>
            <a:off x="172575" y="1056375"/>
            <a:ext cx="87990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DESAFIO: Crie um anúncio digital para divulgar uma promoção de desconto em uma empresa fictícia.</a:t>
            </a:r>
            <a:endParaRPr sz="1100"/>
          </a:p>
        </p:txBody>
      </p:sp>
      <p:sp>
        <p:nvSpPr>
          <p:cNvPr id="205" name="Google Shape;205;p18"/>
          <p:cNvSpPr txBox="1"/>
          <p:nvPr/>
        </p:nvSpPr>
        <p:spPr>
          <a:xfrm>
            <a:off x="345248" y="1543688"/>
            <a:ext cx="85044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Usar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Texto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os conhecimentos trabalhados em aula (formas, degradês e outros elementos) para criar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anúncio visual profissional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se fosse postado nas redes sociais</a:t>
            </a:r>
            <a:endParaRPr sz="1100"/>
          </a:p>
        </p:txBody>
      </p:sp>
      <p:sp>
        <p:nvSpPr>
          <p:cNvPr id="206" name="Google Shape;206;p18"/>
          <p:cNvSpPr txBox="1"/>
          <p:nvPr/>
        </p:nvSpPr>
        <p:spPr>
          <a:xfrm>
            <a:off x="345248" y="2440483"/>
            <a:ext cx="83070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INSTRUÇÕES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produto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representar a promoção (ex: camiseta, moletom, mochila, jaleco etc.);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Pesquise na internet uma imagem PNG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produto escolhido (com fundo transparente);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Importe a imagem para o Photoshop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monte um anúncio digital criativo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usando as ferramentas aprendidas até aqui.</a:t>
            </a:r>
            <a:endParaRPr sz="1100"/>
          </a:p>
        </p:txBody>
      </p:sp>
      <p:sp>
        <p:nvSpPr>
          <p:cNvPr id="207" name="Google Shape;207;p18"/>
          <p:cNvSpPr txBox="1"/>
          <p:nvPr/>
        </p:nvSpPr>
        <p:spPr>
          <a:xfrm>
            <a:off x="345248" y="3671590"/>
            <a:ext cx="7893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seu anúncio pode conter: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Nome da empresa fictícia (você pode usar </a:t>
            </a:r>
            <a:r>
              <a:rPr i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Motiva Confecções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inventar o seu);</a:t>
            </a:r>
            <a:b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Informação clara sobre o desconto (ex: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30% OFF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Desconto Especial!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Tempo de validade da promoção (ex: “Somente essa semana!”);</a:t>
            </a:r>
            <a:b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slogan ou frase criativa (ex: “Vista-se com atitude!”);</a:t>
            </a:r>
            <a:b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imagem do produto (em PNG, com fundo transparente);</a:t>
            </a:r>
            <a:b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Elementos gráficos como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degradês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elipse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etc.;</a:t>
            </a:r>
            <a:b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Uso de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de ponto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de parágrafo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b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Organização visual: hierarquia, contraste, alinhamento e harmonia.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2025-04-18T19:16:35Z</dcterms:created>
  <dc:creator>leo Souza</dc:creator>
</cp:coreProperties>
</file>