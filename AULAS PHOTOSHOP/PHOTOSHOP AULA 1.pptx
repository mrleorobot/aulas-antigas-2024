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715000" cx="9144000"/>
  <p:notesSz cx="6858000" cy="9144000"/>
  <p:embeddedFontLst>
    <p:embeddedFont>
      <p:font typeface="Play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ytt1iKZfOPYor2MO99SN9LPoC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835A0B-5947-42E6-9216-824252281C10}">
  <a:tblStyle styleId="{70835A0B-5947-42E6-9216-824252281C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lay-bold.fntdata"/><Relationship Id="rId16" Type="http://schemas.openxmlformats.org/officeDocument/2006/relationships/slide" Target="slides/slide11.xml"/><Relationship Id="rId38" Type="http://schemas.openxmlformats.org/officeDocument/2006/relationships/font" Target="fonts/Play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160de8af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7160de8af5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3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3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Photoshop?</a:t>
            </a:r>
            <a:endParaRPr sz="1100"/>
          </a:p>
        </p:txBody>
      </p:sp>
      <p:sp>
        <p:nvSpPr>
          <p:cNvPr id="97" name="Google Shape;97;p2"/>
          <p:cNvSpPr txBox="1"/>
          <p:nvPr/>
        </p:nvSpPr>
        <p:spPr>
          <a:xfrm>
            <a:off x="1049837" y="1273789"/>
            <a:ext cx="6863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Photoshop é um programa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 de imagens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Criado pela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Adobe Inc.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uma empresa dos Estados Unidos.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fotos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artes digitais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design gráfico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até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1049837" y="2979273"/>
            <a:ext cx="6863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Corrigir e melhorar fotos.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convites, banners, panfletos e artes para redes sociais.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montagens, recortes e colagens criativas.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Trabalhar com camadas, efeitos e textos em imagens.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Photoshop?</a:t>
            </a:r>
            <a:endParaRPr sz="1100"/>
          </a:p>
        </p:txBody>
      </p:sp>
      <p:sp>
        <p:nvSpPr>
          <p:cNvPr id="104" name="Google Shape;104;p3"/>
          <p:cNvSpPr txBox="1"/>
          <p:nvPr/>
        </p:nvSpPr>
        <p:spPr>
          <a:xfrm>
            <a:off x="861803" y="1395562"/>
            <a:ext cx="72624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usa?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Fotógrafos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(edição de fotos).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Designers gráficos e web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(criação de peças e layouts).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Artistas digitais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(ilustrações e colagens).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Pessoas que trabalham com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publicidade, redes sociais e internet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05" name="Google Shape;105;p3"/>
          <p:cNvSpPr txBox="1"/>
          <p:nvPr/>
        </p:nvSpPr>
        <p:spPr>
          <a:xfrm>
            <a:off x="861803" y="3213541"/>
            <a:ext cx="72624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 legal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Photoshop foi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criado por Thomas Knoll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1987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junto com seu irmão John.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Eles desenvolveram o programa como um projeto de faculdade!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pouco tempo, a Adobe comprou a ideia e lançou o programa em 1990.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Hoje, é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 de imagem mais usado no mundo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Aplicações do Photoshop</a:t>
            </a:r>
            <a:endParaRPr sz="1100"/>
          </a:p>
        </p:txBody>
      </p:sp>
      <p:sp>
        <p:nvSpPr>
          <p:cNvPr id="111" name="Google Shape;111;p4"/>
          <p:cNvSpPr txBox="1"/>
          <p:nvPr/>
        </p:nvSpPr>
        <p:spPr>
          <a:xfrm>
            <a:off x="570716" y="1211158"/>
            <a:ext cx="7827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dá pra fazer no Photoshop?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Editar e retocar imagens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artes gráficas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cartazes e panfletos)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Adicionar efeitos especiais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animações e até editar vídeos simples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70716" y="2776602"/>
            <a:ext cx="7827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na fotografia?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Melhorar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nitidez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foto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Corrigir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e iluminação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Apagar imperfeições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espinhas ou sujeirinhas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montagens criativas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70716" y="4342045"/>
            <a:ext cx="7827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Photoshop, você pode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recortar um gato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imagem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ele de astronauta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outro planeta!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 fizer bem feito, parece até que a foto é real!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 e o Design Gráfico</a:t>
            </a:r>
            <a:endParaRPr sz="1100"/>
          </a:p>
        </p:txBody>
      </p:sp>
      <p:sp>
        <p:nvSpPr>
          <p:cNvPr id="119" name="Google Shape;119;p5"/>
          <p:cNvSpPr txBox="1"/>
          <p:nvPr/>
        </p:nvSpPr>
        <p:spPr>
          <a:xfrm>
            <a:off x="514350" y="1108558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o Photoshop é tão usado por designers?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 ele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versátil, poderoso e criativo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</p:txBody>
      </p:sp>
      <p:sp>
        <p:nvSpPr>
          <p:cNvPr id="120" name="Google Shape;120;p5"/>
          <p:cNvSpPr txBox="1"/>
          <p:nvPr/>
        </p:nvSpPr>
        <p:spPr>
          <a:xfrm>
            <a:off x="514350" y="1911098"/>
            <a:ext cx="45798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dá pra criar com o Photoshop no design gráfico?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Artes para redes sociais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(posts, banners, stories)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Imagens para sites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(botões, fundos, ilustrações)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Materiais publicitários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(panfletos, cartazes, outdoors)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Peças impressas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(folders, cartões, embalagens)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 de produtos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(rótulos, mockups, estampas)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Criações em 3D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121" name="Google Shape;121;p5"/>
          <p:cNvSpPr txBox="1"/>
          <p:nvPr/>
        </p:nvSpPr>
        <p:spPr>
          <a:xfrm>
            <a:off x="514350" y="3917381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designers começam fazendo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posts simples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com o tempo já estão criando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embalagens de produtos famosos!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 e o Design Gráfico</a:t>
            </a:r>
            <a:endParaRPr sz="1100"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426" y="1121067"/>
            <a:ext cx="1903487" cy="1210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0091" y="1147776"/>
            <a:ext cx="2136540" cy="121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0932" y="1153641"/>
            <a:ext cx="21431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541" y="3748380"/>
            <a:ext cx="1903482" cy="107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8620" y="3748380"/>
            <a:ext cx="1919476" cy="959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85172" y="3748380"/>
            <a:ext cx="1748076" cy="10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o Photoshop</a:t>
            </a:r>
            <a:endParaRPr sz="1100"/>
          </a:p>
        </p:txBody>
      </p:sp>
      <p:sp>
        <p:nvSpPr>
          <p:cNvPr id="138" name="Google Shape;138;p7"/>
          <p:cNvSpPr txBox="1"/>
          <p:nvPr/>
        </p:nvSpPr>
        <p:spPr>
          <a:xfrm>
            <a:off x="354642" y="1179843"/>
            <a:ext cx="732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para abrir o Photoshop: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ícone do Photoshop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de trabalho.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próxima tela, escolha o idioma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Pt_Br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Pronto! O Photoshop será iniciado.</a:t>
            </a:r>
            <a:endParaRPr sz="1100"/>
          </a:p>
        </p:txBody>
      </p:sp>
      <p:sp>
        <p:nvSpPr>
          <p:cNvPr id="139" name="Google Shape;139;p7"/>
          <p:cNvSpPr txBox="1"/>
          <p:nvPr/>
        </p:nvSpPr>
        <p:spPr>
          <a:xfrm>
            <a:off x="354643" y="3522863"/>
            <a:ext cx="6946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um novo projeto: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canto superior esquerdo.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use o atalho: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o Photoshop</a:t>
            </a:r>
            <a:endParaRPr sz="1100"/>
          </a:p>
        </p:txBody>
      </p:sp>
      <p:sp>
        <p:nvSpPr>
          <p:cNvPr id="145" name="Google Shape;145;p8"/>
          <p:cNvSpPr txBox="1"/>
          <p:nvPr/>
        </p:nvSpPr>
        <p:spPr>
          <a:xfrm>
            <a:off x="420405" y="1249941"/>
            <a:ext cx="63636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aparece quando você clica em “Novo” (Ctrl + N)?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caixinha de diálogo vai abrir com várias opções pra você configurar seu projeto: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arquivo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Altura e largura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cores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Conteúdo do plano de fundo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Perfil de cores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Proporções do pixel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20405" y="4008328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importantes: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criar pra internet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Resolução: 72 pixels/DPI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for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Resolução: 300 DPI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281553" y="4008328"/>
            <a:ext cx="4579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Criar com 300 DPI e depois reduzir pra 72 funciona bem.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fazer o contrário (subir de 72 para 300) deixa a imagem com má qualidade!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Área de Trabalho do Photoshop</a:t>
            </a:r>
            <a:endParaRPr sz="1100"/>
          </a:p>
        </p:txBody>
      </p:sp>
      <p:sp>
        <p:nvSpPr>
          <p:cNvPr id="153" name="Google Shape;153;p9"/>
          <p:cNvSpPr txBox="1"/>
          <p:nvPr/>
        </p:nvSpPr>
        <p:spPr>
          <a:xfrm>
            <a:off x="392222" y="1211753"/>
            <a:ext cx="4579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Photoshop abre...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toma conta da tela.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é parecida com o que você já conhece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54" name="Google Shape;154;p9"/>
          <p:cNvSpPr txBox="1"/>
          <p:nvPr/>
        </p:nvSpPr>
        <p:spPr>
          <a:xfrm>
            <a:off x="392222" y="2425755"/>
            <a:ext cx="45798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aparece nela?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Menu superior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onde estão as opções principais como Arquivo, Editar, Imagem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(à esquerda): onde ficam os ícones de seleção, pincel, borracha, texto, e outros.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Painéis laterais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(à direita): como o de camadas (Layers), propriedades e histórico.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Área central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onde o projeto que você está criando vai aparecer!</a:t>
            </a:r>
            <a:endParaRPr sz="1100"/>
          </a:p>
        </p:txBody>
      </p:sp>
      <p:sp>
        <p:nvSpPr>
          <p:cNvPr id="155" name="Google Shape;155;p9"/>
          <p:cNvSpPr txBox="1"/>
          <p:nvPr/>
        </p:nvSpPr>
        <p:spPr>
          <a:xfrm>
            <a:off x="251303" y="4676693"/>
            <a:ext cx="6334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mover, esconder ou reorganizar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essas partes como quiser.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pessoa costuma montar a área de trabalho do jeito que acha mais prático!</a:t>
            </a:r>
            <a:endParaRPr sz="1100"/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3109" l="0" r="0" t="0"/>
          <a:stretch/>
        </p:blipFill>
        <p:spPr>
          <a:xfrm>
            <a:off x="5342047" y="1275447"/>
            <a:ext cx="3673987" cy="3164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Caixa de Ferramentas e Suas Propriedades</a:t>
            </a:r>
            <a:endParaRPr sz="1100"/>
          </a:p>
        </p:txBody>
      </p:sp>
      <p:sp>
        <p:nvSpPr>
          <p:cNvPr id="162" name="Google Shape;162;p10"/>
          <p:cNvSpPr txBox="1"/>
          <p:nvPr/>
        </p:nvSpPr>
        <p:spPr>
          <a:xfrm>
            <a:off x="448588" y="1201908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ela fica?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no lado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esquerdo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tela do Photoshop.</a:t>
            </a:r>
            <a:endParaRPr sz="1100"/>
          </a:p>
        </p:txBody>
      </p:sp>
      <p:sp>
        <p:nvSpPr>
          <p:cNvPr id="163" name="Google Shape;163;p10"/>
          <p:cNvSpPr txBox="1"/>
          <p:nvPr/>
        </p:nvSpPr>
        <p:spPr>
          <a:xfrm>
            <a:off x="448588" y="2241635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onde ficam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principais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programa: mover, cortar, pintar, apagar, escrever, e muito mais!</a:t>
            </a:r>
            <a:endParaRPr sz="1100"/>
          </a:p>
        </p:txBody>
      </p:sp>
      <p:sp>
        <p:nvSpPr>
          <p:cNvPr id="164" name="Google Shape;164;p10"/>
          <p:cNvSpPr txBox="1"/>
          <p:nvPr/>
        </p:nvSpPr>
        <p:spPr>
          <a:xfrm>
            <a:off x="448588" y="3281362"/>
            <a:ext cx="4579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úteis: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a ferramenta tem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triângulo pequeno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canto: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segure para ver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opções escondidas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Quer saber o que ela faz?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 o mouse por cima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leia a descrição.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do teclado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agilizar: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65" name="Google Shape;165;p10"/>
          <p:cNvSpPr txBox="1"/>
          <p:nvPr/>
        </p:nvSpPr>
        <p:spPr>
          <a:xfrm>
            <a:off x="5167769" y="4127747"/>
            <a:ext cx="3976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que várias ferramentas compartilhem o mesmo ícone, elas têm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diferentes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Opções de Ferramentas</a:t>
            </a:r>
            <a:endParaRPr sz="1100"/>
          </a:p>
        </p:txBody>
      </p:sp>
      <p:sp>
        <p:nvSpPr>
          <p:cNvPr id="172" name="Google Shape;172;p11"/>
          <p:cNvSpPr txBox="1"/>
          <p:nvPr/>
        </p:nvSpPr>
        <p:spPr>
          <a:xfrm>
            <a:off x="317064" y="1233223"/>
            <a:ext cx="559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ela fica?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abaixo da barra de menus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 topo da tela do Photoshop.</a:t>
            </a:r>
            <a:endParaRPr sz="1100"/>
          </a:p>
        </p:txBody>
      </p:sp>
      <p:sp>
        <p:nvSpPr>
          <p:cNvPr id="173" name="Google Shape;173;p11"/>
          <p:cNvSpPr txBox="1"/>
          <p:nvPr/>
        </p:nvSpPr>
        <p:spPr>
          <a:xfrm>
            <a:off x="317065" y="2241947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Opções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especiais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ferramenta que você escolheu.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sensível ao contexto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 conforme a ferramenta 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74" name="Google Shape;174;p11"/>
          <p:cNvSpPr txBox="1"/>
          <p:nvPr/>
        </p:nvSpPr>
        <p:spPr>
          <a:xfrm>
            <a:off x="317065" y="3750807"/>
            <a:ext cx="4579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do que pode aparecer: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pintura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Opacidade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do pincel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de seleção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...e muito mais!</a:t>
            </a:r>
            <a:endParaRPr sz="1100"/>
          </a:p>
        </p:txBody>
      </p:sp>
      <p:sp>
        <p:nvSpPr>
          <p:cNvPr id="175" name="Google Shape;175;p11"/>
          <p:cNvSpPr txBox="1"/>
          <p:nvPr/>
        </p:nvSpPr>
        <p:spPr>
          <a:xfrm>
            <a:off x="4247107" y="3750807"/>
            <a:ext cx="4579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voltar ao padrão?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bagunçou algo, sem pânico!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botão direito no ícone da ferramenta e escolha: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Redefinir ferramenta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Redefinir todas as ferramentas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182" name="Google Shape;182;p12"/>
          <p:cNvSpPr txBox="1"/>
          <p:nvPr/>
        </p:nvSpPr>
        <p:spPr>
          <a:xfrm>
            <a:off x="1122589" y="1082122"/>
            <a:ext cx="61665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Mover –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Essa ferramenta é usada para mover elementos dentro da sua composição. Também é possível duplicar elementos caso mantenha a tecla "Alt" pressionada e arraste;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Letreiro Retangular e Letreiro Elíptico -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 a ferramenta letreiro retangular o usuário criará seleções retangulares ou quadradas caso deixe a tecla Shift pressionada. A ferramenta elíptica funciona da mesma forma e cria seleções "circulares";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Letreiro de coluna única e Letreiro de linha única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Ferramentas de "letreiro de coluna única" e "linha única" criam seleções em forma de coluna e linha;</a:t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Laço – </a:t>
            </a: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ferramenta laço permite criar seleções livres, desenhando a área que deseja selecionar;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Laço poligonal –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Funciona como a ferramenta laço mas cria linhas retas para selecionar a área desejada;</a:t>
            </a:r>
            <a:endParaRPr sz="1100"/>
          </a:p>
        </p:txBody>
      </p:sp>
      <p:pic>
        <p:nvPicPr>
          <p:cNvPr id="183" name="Google Shape;183;p12"/>
          <p:cNvPicPr preferRelativeResize="0"/>
          <p:nvPr/>
        </p:nvPicPr>
        <p:blipFill rotWithShape="1">
          <a:blip r:embed="rId3">
            <a:alphaModFix/>
          </a:blip>
          <a:srcRect b="88382" l="0" r="97155" t="6688"/>
          <a:stretch/>
        </p:blipFill>
        <p:spPr>
          <a:xfrm>
            <a:off x="811979" y="1157143"/>
            <a:ext cx="244966" cy="37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2"/>
          <p:cNvPicPr preferRelativeResize="0"/>
          <p:nvPr/>
        </p:nvPicPr>
        <p:blipFill rotWithShape="1">
          <a:blip r:embed="rId4">
            <a:alphaModFix/>
          </a:blip>
          <a:srcRect b="80462" l="0" r="93371" t="10737"/>
          <a:stretch/>
        </p:blipFill>
        <p:spPr>
          <a:xfrm>
            <a:off x="481857" y="2639615"/>
            <a:ext cx="588579" cy="919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2"/>
          <p:cNvPicPr preferRelativeResize="0"/>
          <p:nvPr/>
        </p:nvPicPr>
        <p:blipFill rotWithShape="1">
          <a:blip r:embed="rId4">
            <a:alphaModFix/>
          </a:blip>
          <a:srcRect b="82759" l="0" r="96615" t="13997"/>
          <a:stretch/>
        </p:blipFill>
        <p:spPr>
          <a:xfrm>
            <a:off x="701197" y="3910740"/>
            <a:ext cx="300525" cy="339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2"/>
          <p:cNvPicPr preferRelativeResize="0"/>
          <p:nvPr/>
        </p:nvPicPr>
        <p:blipFill rotWithShape="1">
          <a:blip r:embed="rId5">
            <a:alphaModFix/>
          </a:blip>
          <a:srcRect b="81870" l="3718" r="94033" t="15549"/>
          <a:stretch/>
        </p:blipFill>
        <p:spPr>
          <a:xfrm>
            <a:off x="687158" y="4686373"/>
            <a:ext cx="369789" cy="37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193" name="Google Shape;193;p13"/>
          <p:cNvSpPr txBox="1"/>
          <p:nvPr/>
        </p:nvSpPr>
        <p:spPr>
          <a:xfrm>
            <a:off x="487122" y="1230182"/>
            <a:ext cx="7272000" cy="29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Laço magnético –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ferramenta laço magnético possui um autoajuste que “gruda” na área que deseja selecionar, facilitando a criação de seleções mais curvas;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Seleção rápida –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Permite “pintar” a seleção por meio de um pincel ajustável;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Varinha mágica –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apenas um toque é possível selecionar áreas que contenham tonalidades de cores semelhantes.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FERRAMENTAS DE CORTE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Corte em perspectiva –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Permite recortar uma imagem em perspectiva;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Corte demarcado – 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ferramenta "corte demarcado" serve para “aparar” imagens, eliminando áreas indesejadas na foto;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Fatia e Seleção de fatia – 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 a ferramenta "fatia" é possível cortar em partes sua imagem. E com o auxílio da ferramenta "seleção de fatia" o usuário seleciona essas áreas para depois editá-las.</a:t>
            </a:r>
            <a:endParaRPr sz="1100"/>
          </a:p>
        </p:txBody>
      </p:sp>
      <p:pic>
        <p:nvPicPr>
          <p:cNvPr id="194" name="Google Shape;194;p13"/>
          <p:cNvPicPr preferRelativeResize="0"/>
          <p:nvPr/>
        </p:nvPicPr>
        <p:blipFill rotWithShape="1">
          <a:blip r:embed="rId3">
            <a:alphaModFix/>
          </a:blip>
          <a:srcRect b="79933" l="3876" r="93778" t="17454"/>
          <a:stretch/>
        </p:blipFill>
        <p:spPr>
          <a:xfrm>
            <a:off x="98554" y="1230182"/>
            <a:ext cx="312355" cy="30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3"/>
          <p:cNvPicPr preferRelativeResize="0"/>
          <p:nvPr/>
        </p:nvPicPr>
        <p:blipFill rotWithShape="1">
          <a:blip r:embed="rId4">
            <a:alphaModFix/>
          </a:blip>
          <a:srcRect b="80110" l="0" r="96693" t="15775"/>
          <a:stretch/>
        </p:blipFill>
        <p:spPr>
          <a:xfrm>
            <a:off x="100067" y="1718004"/>
            <a:ext cx="346819" cy="38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3"/>
          <p:cNvPicPr preferRelativeResize="0"/>
          <p:nvPr/>
        </p:nvPicPr>
        <p:blipFill rotWithShape="1">
          <a:blip r:embed="rId5">
            <a:alphaModFix/>
          </a:blip>
          <a:srcRect b="78877" l="3997" r="93521" t="17972"/>
          <a:stretch/>
        </p:blipFill>
        <p:spPr>
          <a:xfrm>
            <a:off x="98554" y="2184981"/>
            <a:ext cx="346819" cy="39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/>
          <p:cNvPicPr preferRelativeResize="0"/>
          <p:nvPr/>
        </p:nvPicPr>
        <p:blipFill rotWithShape="1">
          <a:blip r:embed="rId6">
            <a:alphaModFix/>
          </a:blip>
          <a:srcRect b="76590" l="4383" r="93522" t="20752"/>
          <a:stretch/>
        </p:blipFill>
        <p:spPr>
          <a:xfrm>
            <a:off x="84877" y="2817918"/>
            <a:ext cx="346819" cy="39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3"/>
          <p:cNvPicPr preferRelativeResize="0"/>
          <p:nvPr/>
        </p:nvPicPr>
        <p:blipFill rotWithShape="1">
          <a:blip r:embed="rId7">
            <a:alphaModFix/>
          </a:blip>
          <a:srcRect b="78736" l="4185" r="93522" t="18944"/>
          <a:stretch/>
        </p:blipFill>
        <p:spPr>
          <a:xfrm>
            <a:off x="100066" y="3307568"/>
            <a:ext cx="387056" cy="31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3"/>
          <p:cNvPicPr preferRelativeResize="0"/>
          <p:nvPr/>
        </p:nvPicPr>
        <p:blipFill rotWithShape="1">
          <a:blip r:embed="rId8">
            <a:alphaModFix/>
          </a:blip>
          <a:srcRect b="73006" l="3841" r="93521" t="22832"/>
          <a:stretch/>
        </p:blipFill>
        <p:spPr>
          <a:xfrm>
            <a:off x="109004" y="3751075"/>
            <a:ext cx="312355" cy="43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06" name="Google Shape;206;p14"/>
          <p:cNvSpPr txBox="1"/>
          <p:nvPr/>
        </p:nvSpPr>
        <p:spPr>
          <a:xfrm>
            <a:off x="633046" y="1250564"/>
            <a:ext cx="71262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Conta gotas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ferramenta serve para capturar uma amostra de cor da imagem. Assim é mais fácil utilizar a mesma tonalidade em um texto, por exemplo;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Conta gotas para material 3D –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Utilizada para registrar amostras de cor em materiais em 3D;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Classificador de cores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a ferramenta é possível registrar até 4 pontos de informações sobre cores dentro da imagem;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Régua  -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esse recurso o usuário consegue medir distâncias e ângulos dentro da imagem;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Notas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ferramenta possibilita a criação de pequenas anotações no do arquivo .psd para consulta posterior;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Contagem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É possível aplicar números em elementos da imagem (apenas para consulta e organização).</a:t>
            </a:r>
            <a:endParaRPr sz="1100"/>
          </a:p>
        </p:txBody>
      </p:sp>
      <p:pic>
        <p:nvPicPr>
          <p:cNvPr id="207" name="Google Shape;207;p14"/>
          <p:cNvPicPr preferRelativeResize="0"/>
          <p:nvPr/>
        </p:nvPicPr>
        <p:blipFill rotWithShape="1">
          <a:blip r:embed="rId3">
            <a:alphaModFix/>
          </a:blip>
          <a:srcRect b="75870" l="4012" r="93369" t="21165"/>
          <a:stretch/>
        </p:blipFill>
        <p:spPr>
          <a:xfrm>
            <a:off x="104348" y="1250565"/>
            <a:ext cx="412086" cy="414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4"/>
          <p:cNvPicPr preferRelativeResize="0"/>
          <p:nvPr/>
        </p:nvPicPr>
        <p:blipFill rotWithShape="1">
          <a:blip r:embed="rId3">
            <a:alphaModFix/>
          </a:blip>
          <a:srcRect b="74108" l="4012" r="93800" t="23414"/>
          <a:stretch/>
        </p:blipFill>
        <p:spPr>
          <a:xfrm>
            <a:off x="127732" y="1831781"/>
            <a:ext cx="412086" cy="41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 b="72559" l="4012" r="93780" t="25144"/>
          <a:stretch/>
        </p:blipFill>
        <p:spPr>
          <a:xfrm>
            <a:off x="136608" y="2459788"/>
            <a:ext cx="347568" cy="32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4"/>
          <p:cNvPicPr preferRelativeResize="0"/>
          <p:nvPr/>
        </p:nvPicPr>
        <p:blipFill rotWithShape="1">
          <a:blip r:embed="rId3">
            <a:alphaModFix/>
          </a:blip>
          <a:srcRect b="70796" l="4012" r="93369" t="27046"/>
          <a:stretch/>
        </p:blipFill>
        <p:spPr>
          <a:xfrm>
            <a:off x="165031" y="3019747"/>
            <a:ext cx="319146" cy="233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4"/>
          <p:cNvPicPr preferRelativeResize="0"/>
          <p:nvPr/>
        </p:nvPicPr>
        <p:blipFill rotWithShape="1">
          <a:blip r:embed="rId3">
            <a:alphaModFix/>
          </a:blip>
          <a:srcRect b="68694" l="4012" r="93369" t="28827"/>
          <a:stretch/>
        </p:blipFill>
        <p:spPr>
          <a:xfrm>
            <a:off x="174203" y="3513072"/>
            <a:ext cx="319146" cy="268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4"/>
          <p:cNvPicPr preferRelativeResize="0"/>
          <p:nvPr/>
        </p:nvPicPr>
        <p:blipFill rotWithShape="1">
          <a:blip r:embed="rId3">
            <a:alphaModFix/>
          </a:blip>
          <a:srcRect b="66556" l="4012" r="93369" t="30478"/>
          <a:stretch/>
        </p:blipFill>
        <p:spPr>
          <a:xfrm>
            <a:off x="165031" y="4066577"/>
            <a:ext cx="319146" cy="32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19" name="Google Shape;219;p15"/>
          <p:cNvSpPr txBox="1"/>
          <p:nvPr/>
        </p:nvSpPr>
        <p:spPr>
          <a:xfrm>
            <a:off x="616622" y="1468083"/>
            <a:ext cx="7117200" cy="3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Pincel de recuperação para manchas –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o pincel de recuperação para manchas é possível eliminar pequenos pontos e sujeiras da imagem com apenas um clique;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Pincel de recuperação –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Basta clicar e arrastar para corrigir imperfeições de imagem. A ferramenta aplicar amostras de cor ou padrões próximos sobre a área aplicada;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Correção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usuário pode corrigir uma área selecionada com a ferramenta, utilizando outra área como referência;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Mover conteúdo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Ferramenta que permite a troca da posição de texturas e cores da área "copiada";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Olhos vermelhos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Ferramenta corrige o problema de olhos vermelhos causado pelo flash de câmeras. Basta clicar na região que deseja alterar;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Carimbo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Possibilita “clonar” uma área de amostra em outro ponto da imagem;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Carimbo de padrão – 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Funciona como a ferramenta carimbo mas cria padrões com novas texturas;</a:t>
            </a:r>
            <a:endParaRPr sz="1100"/>
          </a:p>
        </p:txBody>
      </p:sp>
      <p:pic>
        <p:nvPicPr>
          <p:cNvPr id="220" name="Google Shape;220;p15"/>
          <p:cNvPicPr preferRelativeResize="0"/>
          <p:nvPr/>
        </p:nvPicPr>
        <p:blipFill rotWithShape="1">
          <a:blip r:embed="rId3">
            <a:alphaModFix/>
          </a:blip>
          <a:srcRect b="73365" l="4076" r="93370" t="24089"/>
          <a:stretch/>
        </p:blipFill>
        <p:spPr>
          <a:xfrm>
            <a:off x="159742" y="1468084"/>
            <a:ext cx="348918" cy="27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5"/>
          <p:cNvPicPr preferRelativeResize="0"/>
          <p:nvPr/>
        </p:nvPicPr>
        <p:blipFill rotWithShape="1">
          <a:blip r:embed="rId3">
            <a:alphaModFix/>
          </a:blip>
          <a:srcRect b="71616" l="4076" r="93370" t="26396"/>
          <a:stretch/>
        </p:blipFill>
        <p:spPr>
          <a:xfrm>
            <a:off x="145767" y="1893869"/>
            <a:ext cx="348918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69506" l="4076" r="93370" t="28195"/>
          <a:stretch/>
        </p:blipFill>
        <p:spPr>
          <a:xfrm>
            <a:off x="145767" y="2327095"/>
            <a:ext cx="348918" cy="279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3">
            <a:alphaModFix/>
          </a:blip>
          <a:srcRect b="67953" l="4300" r="93369" t="30059"/>
          <a:stretch/>
        </p:blipFill>
        <p:spPr>
          <a:xfrm>
            <a:off x="159742" y="2794465"/>
            <a:ext cx="318355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5"/>
          <p:cNvPicPr preferRelativeResize="0"/>
          <p:nvPr/>
        </p:nvPicPr>
        <p:blipFill rotWithShape="1">
          <a:blip r:embed="rId3">
            <a:alphaModFix/>
          </a:blip>
          <a:srcRect b="65853" l="4076" r="93370" t="31848"/>
          <a:stretch/>
        </p:blipFill>
        <p:spPr>
          <a:xfrm>
            <a:off x="159742" y="3280485"/>
            <a:ext cx="348918" cy="279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5"/>
          <p:cNvPicPr preferRelativeResize="0"/>
          <p:nvPr/>
        </p:nvPicPr>
        <p:blipFill rotWithShape="1">
          <a:blip r:embed="rId4">
            <a:alphaModFix/>
          </a:blip>
          <a:srcRect b="65918" l="3704" r="93398" t="31283"/>
          <a:stretch/>
        </p:blipFill>
        <p:spPr>
          <a:xfrm>
            <a:off x="159742" y="4384512"/>
            <a:ext cx="456880" cy="39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5"/>
          <p:cNvPicPr preferRelativeResize="0"/>
          <p:nvPr/>
        </p:nvPicPr>
        <p:blipFill rotWithShape="1">
          <a:blip r:embed="rId4">
            <a:alphaModFix/>
          </a:blip>
          <a:srcRect b="68279" l="3704" r="93398" t="29514"/>
          <a:stretch/>
        </p:blipFill>
        <p:spPr>
          <a:xfrm>
            <a:off x="159742" y="3817405"/>
            <a:ext cx="456880" cy="309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33" name="Google Shape;233;p16"/>
          <p:cNvSpPr txBox="1"/>
          <p:nvPr/>
        </p:nvSpPr>
        <p:spPr>
          <a:xfrm>
            <a:off x="770207" y="1326378"/>
            <a:ext cx="70272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Borracha – Atalho tecla “E” -</a:t>
            </a:r>
            <a:r>
              <a:rPr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É usada para “apagar” partes da sua imagem;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Borracha de plano de fundo – Atalho tecla “E”</a:t>
            </a:r>
            <a:r>
              <a:rPr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A ferramenta borracha de plano de fundo possibilita apagar o fundo de imagens de forma bem prática;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Borracha mágica – Atalho tecla “E”</a:t>
            </a:r>
            <a:r>
              <a:rPr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O recurso apaga, com apenas um clique, as áreas com cores parecidas ou padrões;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Desfoque - </a:t>
            </a:r>
            <a:r>
              <a:rPr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ferramenta aplica desfoques em partes específicas da foto;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Nitidez -</a:t>
            </a:r>
            <a:r>
              <a:rPr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Ao contrário da ferramenta desfoque, o recurso de nitidez permite melhorar a imagem em trechos específicos;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Borrar -</a:t>
            </a:r>
            <a:r>
              <a:rPr lang="pt-BR" sz="13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função "arrasta" a imagem e borra o conteúdo na área aplicada;</a:t>
            </a:r>
            <a:endParaRPr sz="1100"/>
          </a:p>
        </p:txBody>
      </p:sp>
      <p:pic>
        <p:nvPicPr>
          <p:cNvPr id="234" name="Google Shape;234;p16"/>
          <p:cNvPicPr preferRelativeResize="0"/>
          <p:nvPr/>
        </p:nvPicPr>
        <p:blipFill rotWithShape="1">
          <a:blip r:embed="rId3">
            <a:alphaModFix/>
          </a:blip>
          <a:srcRect b="63146" l="4021" r="93223" t="33857"/>
          <a:stretch/>
        </p:blipFill>
        <p:spPr>
          <a:xfrm>
            <a:off x="231587" y="1396724"/>
            <a:ext cx="359043" cy="34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6"/>
          <p:cNvPicPr preferRelativeResize="0"/>
          <p:nvPr/>
        </p:nvPicPr>
        <p:blipFill rotWithShape="1">
          <a:blip r:embed="rId3">
            <a:alphaModFix/>
          </a:blip>
          <a:srcRect b="61182" l="4022" r="92807" t="36472"/>
          <a:stretch/>
        </p:blipFill>
        <p:spPr>
          <a:xfrm>
            <a:off x="177928" y="2014790"/>
            <a:ext cx="413082" cy="27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/>
          <p:cNvPicPr preferRelativeResize="0"/>
          <p:nvPr/>
        </p:nvPicPr>
        <p:blipFill rotWithShape="1">
          <a:blip r:embed="rId3">
            <a:alphaModFix/>
          </a:blip>
          <a:srcRect b="59099" l="4022" r="92807" t="37904"/>
          <a:stretch/>
        </p:blipFill>
        <p:spPr>
          <a:xfrm>
            <a:off x="204569" y="2571524"/>
            <a:ext cx="413082" cy="34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/>
          <p:cNvPicPr preferRelativeResize="0"/>
          <p:nvPr/>
        </p:nvPicPr>
        <p:blipFill rotWithShape="1">
          <a:blip r:embed="rId4">
            <a:alphaModFix/>
          </a:blip>
          <a:srcRect b="54320" l="3930" r="93882" t="43301"/>
          <a:stretch/>
        </p:blipFill>
        <p:spPr>
          <a:xfrm>
            <a:off x="285623" y="4373273"/>
            <a:ext cx="359043" cy="34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6"/>
          <p:cNvPicPr preferRelativeResize="0"/>
          <p:nvPr/>
        </p:nvPicPr>
        <p:blipFill rotWithShape="1">
          <a:blip r:embed="rId4">
            <a:alphaModFix/>
          </a:blip>
          <a:srcRect b="56275" l="4392" r="93882" t="41605"/>
          <a:stretch/>
        </p:blipFill>
        <p:spPr>
          <a:xfrm>
            <a:off x="258605" y="3786181"/>
            <a:ext cx="359043" cy="39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/>
          <p:cNvPicPr preferRelativeResize="0"/>
          <p:nvPr/>
        </p:nvPicPr>
        <p:blipFill rotWithShape="1">
          <a:blip r:embed="rId4">
            <a:alphaModFix/>
          </a:blip>
          <a:srcRect b="58152" l="3930" r="93882" t="39468"/>
          <a:stretch/>
        </p:blipFill>
        <p:spPr>
          <a:xfrm>
            <a:off x="231587" y="3229583"/>
            <a:ext cx="359043" cy="347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46" name="Google Shape;246;p17"/>
          <p:cNvSpPr txBox="1"/>
          <p:nvPr/>
        </p:nvSpPr>
        <p:spPr>
          <a:xfrm>
            <a:off x="733457" y="1307843"/>
            <a:ext cx="6822600" cy="3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Subexposição – Atalho tecla “O” -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ferramenta de subexposição clareia a área na qual é aplicada;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Superexposição – Atalho tecla “O”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ferramenta escurece a região aplicada, ao contrário do recurso anterior;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Esponja – Atalho tecla “O”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Com a ferramenta esponja é possível retirar a saturação de cores na área o aplicada.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Pincel – Atalho tecla “B”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Possibilita pintar a imagem utilizando tamanhos ajustáveis e cores variadas;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Lápis – Atalho tecla “B”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Cria traços finos e sólidos com a cor que desejar;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Substituição de cor – Atalho tecla “B”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É possível alterar uma cor por outra apenas aplicando a ferramenta na área desejada;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Pincel misturador – Atalho tecla “B”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função mescla cores para conseguir novas variações, como se estivesse trabalhando com tintas reais;</a:t>
            </a:r>
            <a:endParaRPr sz="1100"/>
          </a:p>
        </p:txBody>
      </p:sp>
      <p:pic>
        <p:nvPicPr>
          <p:cNvPr id="247" name="Google Shape;247;p17"/>
          <p:cNvPicPr preferRelativeResize="0"/>
          <p:nvPr/>
        </p:nvPicPr>
        <p:blipFill rotWithShape="1">
          <a:blip r:embed="rId3">
            <a:alphaModFix/>
          </a:blip>
          <a:srcRect b="55409" l="3813" r="93758" t="41969"/>
          <a:stretch/>
        </p:blipFill>
        <p:spPr>
          <a:xfrm>
            <a:off x="260730" y="1307843"/>
            <a:ext cx="346294" cy="33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7"/>
          <p:cNvPicPr preferRelativeResize="0"/>
          <p:nvPr/>
        </p:nvPicPr>
        <p:blipFill rotWithShape="1">
          <a:blip r:embed="rId3">
            <a:alphaModFix/>
          </a:blip>
          <a:srcRect b="53723" l="3813" r="93511" t="44073"/>
          <a:stretch/>
        </p:blipFill>
        <p:spPr>
          <a:xfrm>
            <a:off x="260730" y="1817126"/>
            <a:ext cx="381373" cy="279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/>
          <p:cNvPicPr preferRelativeResize="0"/>
          <p:nvPr/>
        </p:nvPicPr>
        <p:blipFill rotWithShape="1">
          <a:blip r:embed="rId3">
            <a:alphaModFix/>
          </a:blip>
          <a:srcRect b="51482" l="3813" r="93511" t="45898"/>
          <a:stretch/>
        </p:blipFill>
        <p:spPr>
          <a:xfrm>
            <a:off x="260749" y="2273598"/>
            <a:ext cx="381357" cy="33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7"/>
          <p:cNvPicPr preferRelativeResize="0"/>
          <p:nvPr/>
        </p:nvPicPr>
        <p:blipFill rotWithShape="1">
          <a:blip r:embed="rId4">
            <a:alphaModFix/>
          </a:blip>
          <a:srcRect b="70786" l="4252" r="93512" t="26578"/>
          <a:stretch/>
        </p:blipFill>
        <p:spPr>
          <a:xfrm>
            <a:off x="260749" y="2779903"/>
            <a:ext cx="381357" cy="399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7"/>
          <p:cNvPicPr preferRelativeResize="0"/>
          <p:nvPr/>
        </p:nvPicPr>
        <p:blipFill rotWithShape="1">
          <a:blip r:embed="rId4">
            <a:alphaModFix/>
          </a:blip>
          <a:srcRect b="68994" l="3704" r="93512" t="28816"/>
          <a:stretch/>
        </p:blipFill>
        <p:spPr>
          <a:xfrm>
            <a:off x="258463" y="3375782"/>
            <a:ext cx="474995" cy="33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7"/>
          <p:cNvPicPr preferRelativeResize="0"/>
          <p:nvPr/>
        </p:nvPicPr>
        <p:blipFill rotWithShape="1">
          <a:blip r:embed="rId4">
            <a:alphaModFix/>
          </a:blip>
          <a:srcRect b="67173" l="3704" r="93512" t="30637"/>
          <a:stretch/>
        </p:blipFill>
        <p:spPr>
          <a:xfrm>
            <a:off x="230779" y="3878239"/>
            <a:ext cx="474995" cy="33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7"/>
          <p:cNvPicPr preferRelativeResize="0"/>
          <p:nvPr/>
        </p:nvPicPr>
        <p:blipFill rotWithShape="1">
          <a:blip r:embed="rId4">
            <a:alphaModFix/>
          </a:blip>
          <a:srcRect b="65093" l="4252" r="93512" t="32717"/>
          <a:stretch/>
        </p:blipFill>
        <p:spPr>
          <a:xfrm>
            <a:off x="277598" y="4512038"/>
            <a:ext cx="381357" cy="331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60" name="Google Shape;260;p18"/>
          <p:cNvSpPr txBox="1"/>
          <p:nvPr/>
        </p:nvSpPr>
        <p:spPr>
          <a:xfrm>
            <a:off x="844060" y="1204104"/>
            <a:ext cx="7174500" cy="3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Pincel do histórico – </a:t>
            </a:r>
            <a:r>
              <a:rPr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 usuário pode reverter estados “anteriores” de partes específicas de uma imagem;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Pincel história da arte – </a:t>
            </a:r>
            <a:r>
              <a:rPr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recurso simula efeitos de pinturas clássicas nas áreas desejadas;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Gradiente – </a:t>
            </a:r>
            <a:r>
              <a:rPr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Possibilita a transição suave entre duas cores que podem ser aplicadas em formato linear, radial, angular, refletida ou no formato de losango;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Lata de tinta –  </a:t>
            </a:r>
            <a:r>
              <a:rPr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ferramenta lata de tinta preenche uma camada ou área selecionada com uma cor;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Ferramenta de projeção de material 3D -</a:t>
            </a:r>
            <a:r>
              <a:rPr lang="pt-BR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usuário pode fazer seu projeto 3D com a ferramenta e alterar a cor.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18"/>
          <p:cNvPicPr preferRelativeResize="0"/>
          <p:nvPr/>
        </p:nvPicPr>
        <p:blipFill rotWithShape="1">
          <a:blip r:embed="rId3">
            <a:alphaModFix/>
          </a:blip>
          <a:srcRect b="65951" l="4152" r="93512" t="31947"/>
          <a:stretch/>
        </p:blipFill>
        <p:spPr>
          <a:xfrm>
            <a:off x="245287" y="1327051"/>
            <a:ext cx="500400" cy="4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/>
          <p:cNvPicPr preferRelativeResize="0"/>
          <p:nvPr/>
        </p:nvPicPr>
        <p:blipFill rotWithShape="1">
          <a:blip r:embed="rId3">
            <a:alphaModFix/>
          </a:blip>
          <a:srcRect b="63813" l="4152" r="93512" t="33888"/>
          <a:stretch/>
        </p:blipFill>
        <p:spPr>
          <a:xfrm>
            <a:off x="188137" y="2080273"/>
            <a:ext cx="500400" cy="3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/>
          <p:cNvPicPr preferRelativeResize="0"/>
          <p:nvPr/>
        </p:nvPicPr>
        <p:blipFill rotWithShape="1">
          <a:blip r:embed="rId4">
            <a:alphaModFix/>
          </a:blip>
          <a:srcRect b="60725" l="4083" r="93616" t="37187"/>
          <a:stretch/>
        </p:blipFill>
        <p:spPr>
          <a:xfrm>
            <a:off x="226026" y="2856328"/>
            <a:ext cx="500400" cy="403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/>
          <p:cNvPicPr preferRelativeResize="0"/>
          <p:nvPr/>
        </p:nvPicPr>
        <p:blipFill rotWithShape="1">
          <a:blip r:embed="rId5">
            <a:alphaModFix/>
          </a:blip>
          <a:srcRect b="58823" l="4073" r="93521" t="38979"/>
          <a:stretch/>
        </p:blipFill>
        <p:spPr>
          <a:xfrm>
            <a:off x="226026" y="3598360"/>
            <a:ext cx="538922" cy="437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8"/>
          <p:cNvPicPr preferRelativeResize="0"/>
          <p:nvPr/>
        </p:nvPicPr>
        <p:blipFill rotWithShape="1">
          <a:blip r:embed="rId5">
            <a:alphaModFix/>
          </a:blip>
          <a:srcRect b="56790" l="4073" r="93521" t="40873"/>
          <a:stretch/>
        </p:blipFill>
        <p:spPr>
          <a:xfrm>
            <a:off x="226026" y="4559184"/>
            <a:ext cx="463142" cy="399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72" name="Google Shape;272;p19"/>
          <p:cNvSpPr txBox="1"/>
          <p:nvPr/>
        </p:nvSpPr>
        <p:spPr>
          <a:xfrm>
            <a:off x="659081" y="1441000"/>
            <a:ext cx="7053600" cy="4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Caneta – Atalho tecla “P” -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É possível aplicar demarcadores e ajustá-los em curvas ou retas. Método mais eficaz para fazer recortes mais complexos em imagens;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Caneta de forma livre – Atalho tecla “P” -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a ferramenta caneta de forma livre é possível “desenhar” os demarcadores facilitando bastante o trabalho de criação;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Adicionar ponto de ancoragem e excluir ponto de ancoragem -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Permite criar “pontos” e “excluir” pontos de controle dentro dos demarcadores criados anteriormente;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Converter ponto -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Converte um ponto de ancoragem, mudando seu ângulo para fechado, aberto e suave;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Texto horizontal – Atalho tecla “T” -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função permite escrever textos horizontalmente no Photoshop, utilizando fontes e cores variadas;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Texto vertical – Atalho tecla “T” -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esta opção é possível escrever na vertical;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Máscara de texto horizontal – Atalho tecla “T”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É possível criar uma seleção do texto ou palavra que desejamos aplicar na horizontal;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Máscara de texto vertical – Atalho tecla “T”</a:t>
            </a:r>
            <a:r>
              <a:rPr lang="pt-BR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Funciona como a ferramenta anterior porém escreve na vertical;</a:t>
            </a:r>
            <a:endParaRPr sz="1100"/>
          </a:p>
        </p:txBody>
      </p:sp>
      <p:pic>
        <p:nvPicPr>
          <p:cNvPr id="273" name="Google Shape;273;p19"/>
          <p:cNvPicPr preferRelativeResize="0"/>
          <p:nvPr/>
        </p:nvPicPr>
        <p:blipFill rotWithShape="1">
          <a:blip r:embed="rId3">
            <a:alphaModFix/>
          </a:blip>
          <a:srcRect b="45561" l="3706" r="93729" t="44708"/>
          <a:stretch/>
        </p:blipFill>
        <p:spPr>
          <a:xfrm>
            <a:off x="240641" y="1748100"/>
            <a:ext cx="366656" cy="1569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 rotWithShape="1">
          <a:blip r:embed="rId4">
            <a:alphaModFix/>
          </a:blip>
          <a:srcRect b="44566" l="3531" r="93582" t="47349"/>
          <a:stretch/>
        </p:blipFill>
        <p:spPr>
          <a:xfrm>
            <a:off x="280559" y="3737634"/>
            <a:ext cx="326739" cy="109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81" name="Google Shape;281;p20"/>
          <p:cNvSpPr txBox="1"/>
          <p:nvPr/>
        </p:nvSpPr>
        <p:spPr>
          <a:xfrm>
            <a:off x="659475" y="1516229"/>
            <a:ext cx="61665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Seleção de demarcador – Atalho tecla “A”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recurso serve para selecionar os demarcadores ou formas criadas no Photoshop;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Seleção direta – Atalho tecla “A”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Seleciona e edita os pontos de ancoragem em demarcadores;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Retângulo – Atalho tecla “U”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usuário cria um retângulo ou quadrado (com a tecla Shift 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pressionada) em uma camada ou apenas um demarcador;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Retângulo arredondado – Atalho tecla “U” -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Funciona como a ferramenta anterior porém cria um retângulo ou quadrado com cantos arredondados;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Elipse – Atalho tecla “U”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Funciona como as ferramentas anteriores mas cria uma elipse ou círculo (caso a tecla Shift esteja pressionada);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Polígono – Atalho tecla “U”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É possível criar polígonos com lados personalizáveis;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Linha – Atalho tecla “U” -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 a ferramenta linha o usuário pode criar uma linha em formato de demarcador ou camada de forma;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Forma personalizada – Atalho tecla “U” -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Abre um menu com diversas formas prontas (que podem ser criadas ou instaladas) para utilização em seu projeto, como setas, animais flores, dentre outras.</a:t>
            </a:r>
            <a:endParaRPr sz="1100"/>
          </a:p>
        </p:txBody>
      </p:sp>
      <p:pic>
        <p:nvPicPr>
          <p:cNvPr id="282" name="Google Shape;282;p20"/>
          <p:cNvPicPr preferRelativeResize="0"/>
          <p:nvPr/>
        </p:nvPicPr>
        <p:blipFill rotWithShape="1">
          <a:blip r:embed="rId3">
            <a:alphaModFix/>
          </a:blip>
          <a:srcRect b="45609" l="4093" r="93512" t="49939"/>
          <a:stretch/>
        </p:blipFill>
        <p:spPr>
          <a:xfrm>
            <a:off x="286022" y="1587917"/>
            <a:ext cx="387037" cy="63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/>
          <p:cNvPicPr preferRelativeResize="0"/>
          <p:nvPr/>
        </p:nvPicPr>
        <p:blipFill rotWithShape="1">
          <a:blip r:embed="rId4">
            <a:alphaModFix/>
          </a:blip>
          <a:srcRect b="35398" l="4038" r="93788" t="52454"/>
          <a:stretch/>
        </p:blipFill>
        <p:spPr>
          <a:xfrm>
            <a:off x="258853" y="2475683"/>
            <a:ext cx="414205" cy="205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sz="1100"/>
          </a:p>
        </p:txBody>
      </p:sp>
      <p:sp>
        <p:nvSpPr>
          <p:cNvPr id="290" name="Google Shape;290;p21"/>
          <p:cNvSpPr txBox="1"/>
          <p:nvPr/>
        </p:nvSpPr>
        <p:spPr>
          <a:xfrm>
            <a:off x="639112" y="1493603"/>
            <a:ext cx="78333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Mão – Atalho “H” -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Torna possível mover uma imagem dentro do projeto;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Girar visualização – Atalho letra “R”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 esta ferramenta é possível girar o documento de forma não destrutível;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Zoom – Atalho letra “Z”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Amplia ou reduz a visualização de uma imagem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Cor de primeiro plano e segundo plano -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Nesta área o usuário define a cor de primeiro plano (que será usada pela ferramenta selecionada) e a de segundo plano (utilizada por ferramentas que trabalham com duas cores).</a:t>
            </a:r>
            <a:b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 ícone com dois quadrados resetar as cores de primeiro e segundo plano para preto e branco e a seta inverte as tonalidades escolhidas entre os planos;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Editar no modo de máscara rápida e modo padrão – Atalho letra “Q” - 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Clicando nesta função é possível criar uma seleção (área em vermelho) para máscara rápida e alternar para o modo normal;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Alterar modo de tela – Atalho tecla “TAB” - </a:t>
            </a:r>
            <a:r>
              <a:rPr lang="pt-BR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Aqui temos três modos de tela: podemos alternar entre eles para ajudar na visualização do trabalho.</a:t>
            </a:r>
            <a:endParaRPr sz="1100"/>
          </a:p>
        </p:txBody>
      </p:sp>
      <p:pic>
        <p:nvPicPr>
          <p:cNvPr id="291" name="Google Shape;291;p21"/>
          <p:cNvPicPr preferRelativeResize="0"/>
          <p:nvPr/>
        </p:nvPicPr>
        <p:blipFill rotWithShape="1">
          <a:blip r:embed="rId3">
            <a:alphaModFix/>
          </a:blip>
          <a:srcRect b="40153" l="4186" r="93701" t="55456"/>
          <a:stretch/>
        </p:blipFill>
        <p:spPr>
          <a:xfrm>
            <a:off x="204682" y="1309330"/>
            <a:ext cx="346294" cy="63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/>
          <p:cNvPicPr preferRelativeResize="0"/>
          <p:nvPr/>
        </p:nvPicPr>
        <p:blipFill rotWithShape="1">
          <a:blip r:embed="rId4">
            <a:alphaModFix/>
          </a:blip>
          <a:srcRect b="39441" l="0" r="97091" t="57694"/>
          <a:stretch/>
        </p:blipFill>
        <p:spPr>
          <a:xfrm>
            <a:off x="168075" y="2054376"/>
            <a:ext cx="422438" cy="3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/>
          <p:cNvPicPr preferRelativeResize="0"/>
          <p:nvPr/>
        </p:nvPicPr>
        <p:blipFill rotWithShape="1">
          <a:blip r:embed="rId5">
            <a:alphaModFix/>
          </a:blip>
          <a:srcRect b="34200" l="0" r="97031" t="60196"/>
          <a:stretch/>
        </p:blipFill>
        <p:spPr>
          <a:xfrm>
            <a:off x="206148" y="2575076"/>
            <a:ext cx="346294" cy="580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/>
          <p:cNvPicPr preferRelativeResize="0"/>
          <p:nvPr/>
        </p:nvPicPr>
        <p:blipFill rotWithShape="1">
          <a:blip r:embed="rId6">
            <a:alphaModFix/>
          </a:blip>
          <a:srcRect b="31944" l="0" r="97157" t="64950"/>
          <a:stretch/>
        </p:blipFill>
        <p:spPr>
          <a:xfrm>
            <a:off x="168077" y="3338299"/>
            <a:ext cx="422438" cy="41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 rotWithShape="1">
          <a:blip r:embed="rId7">
            <a:alphaModFix/>
          </a:blip>
          <a:srcRect b="29062" l="0" r="97089" t="67727"/>
          <a:stretch/>
        </p:blipFill>
        <p:spPr>
          <a:xfrm>
            <a:off x="148370" y="3958892"/>
            <a:ext cx="461853" cy="452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160de8af5_0_0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7160de8af5_0_0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302" name="Google Shape;302;g37160de8af5_0_0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303" name="Google Shape;303;g37160de8af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Status no Photoshop</a:t>
            </a:r>
            <a:endParaRPr sz="1100"/>
          </a:p>
        </p:txBody>
      </p:sp>
      <p:sp>
        <p:nvSpPr>
          <p:cNvPr id="310" name="Google Shape;310;p22"/>
          <p:cNvSpPr txBox="1"/>
          <p:nvPr/>
        </p:nvSpPr>
        <p:spPr>
          <a:xfrm>
            <a:off x="448589" y="1190283"/>
            <a:ext cx="8457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Status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localizada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inferior da janela de cada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fica dentro da área onde a imagem está aberta, bem no canto inferior da aba do arquivo.</a:t>
            </a:r>
            <a:endParaRPr sz="1100"/>
          </a:p>
        </p:txBody>
      </p:sp>
      <p:sp>
        <p:nvSpPr>
          <p:cNvPr id="311" name="Google Shape;311;p22"/>
          <p:cNvSpPr txBox="1"/>
          <p:nvPr/>
        </p:nvSpPr>
        <p:spPr>
          <a:xfrm>
            <a:off x="448589" y="2273185"/>
            <a:ext cx="8316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mostra?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exibe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úteis e técnicas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imagem ou sobre a ferramenta que está sendo usada.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aparece ali!</a:t>
            </a:r>
            <a:endParaRPr sz="1100"/>
          </a:p>
        </p:txBody>
      </p:sp>
      <p:sp>
        <p:nvSpPr>
          <p:cNvPr id="312" name="Google Shape;312;p22"/>
          <p:cNvSpPr txBox="1"/>
          <p:nvPr/>
        </p:nvSpPr>
        <p:spPr>
          <a:xfrm>
            <a:off x="448588" y="3356088"/>
            <a:ext cx="8316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alterar as informações da barra?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pequeno triângulo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canto inferior esquerdo da janela do documento (na própria barra de status).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opção no menu que aparece.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Status no Photoshop</a:t>
            </a:r>
            <a:endParaRPr sz="1100"/>
          </a:p>
        </p:txBody>
      </p:sp>
      <p:sp>
        <p:nvSpPr>
          <p:cNvPr id="319" name="Google Shape;319;p23"/>
          <p:cNvSpPr txBox="1"/>
          <p:nvPr/>
        </p:nvSpPr>
        <p:spPr>
          <a:xfrm>
            <a:off x="326459" y="110915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disponíveis e para que servem:</a:t>
            </a:r>
            <a:endParaRPr sz="1100"/>
          </a:p>
        </p:txBody>
      </p:sp>
      <p:graphicFrame>
        <p:nvGraphicFramePr>
          <p:cNvPr id="320" name="Google Shape;320;p23"/>
          <p:cNvGraphicFramePr/>
          <p:nvPr/>
        </p:nvGraphicFramePr>
        <p:xfrm>
          <a:off x="326458" y="1563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{70835A0B-5947-42E6-9216-824252281C10}</a:tableStyleId>
              </a:tblPr>
              <a:tblGrid>
                <a:gridCol w="4252200"/>
                <a:gridCol w="4252200"/>
              </a:tblGrid>
              <a:tr h="22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Opção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mostra ou faz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Tamanhos do Documento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real e compactado do arquivo aberto.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Perfil do Documento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 perfil de cores usado (ex: sRGB, Adobe RGB).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Dimensões do Documento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Altura e largura da imagem em pixels, cm ou polegadas.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Modo GPU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Exibe se o Photoshop está usando sua placa de vídeo (GPU).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Escala de Medição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a escala do documento (útil para designers e arquitetos).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Tamanhos do Rascunho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 uso de RAM e disco no processamento da imagem.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Eficiência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se o Photoshop está rápido ou lento (acima de 100% = bom).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Tempo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 tempo que levou para fazer a última ação.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 Atual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Nome da ferramenta ativa no momento (como "Mover", "Texto", etc.).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Exposição de 32 bits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Se estiver editando imagens HDR, você ajusta a visualização aqui.</a:t>
                      </a:r>
                      <a:endParaRPr sz="1200"/>
                    </a:p>
                  </a:txBody>
                  <a:tcPr marT="27900" marB="27900" marR="50225" marL="50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Status no Photoshop</a:t>
            </a:r>
            <a:endParaRPr sz="1100"/>
          </a:p>
        </p:txBody>
      </p:sp>
      <p:sp>
        <p:nvSpPr>
          <p:cNvPr id="327" name="Google Shape;327;p24"/>
          <p:cNvSpPr/>
          <p:nvPr/>
        </p:nvSpPr>
        <p:spPr>
          <a:xfrm>
            <a:off x="112734" y="2369075"/>
            <a:ext cx="85395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úteis relacionados (indiretos):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Embora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Status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tenha atalho direto, aqui vão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úteis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as informações que ela mostra: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Ctrl + / Ctrl -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imagem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Alt + Ctrl + I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tela (canvas)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Alt + Ctrl + C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completas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Menu Janela &gt; Informações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(Ativa um painel com dados ainda mais completos.)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Informações – Photoshop</a:t>
            </a:r>
            <a:endParaRPr sz="1100"/>
          </a:p>
        </p:txBody>
      </p:sp>
      <p:sp>
        <p:nvSpPr>
          <p:cNvPr id="334" name="Google Shape;334;p25"/>
          <p:cNvSpPr txBox="1"/>
          <p:nvPr/>
        </p:nvSpPr>
        <p:spPr>
          <a:xfrm>
            <a:off x="476771" y="1273789"/>
            <a:ext cx="7826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um espião profissional do Photoshop.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te mostra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de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posição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até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do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335" name="Google Shape;335;p25"/>
          <p:cNvSpPr txBox="1"/>
          <p:nvPr/>
        </p:nvSpPr>
        <p:spPr>
          <a:xfrm>
            <a:off x="476771" y="2709967"/>
            <a:ext cx="7995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&gt;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 “Informações”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caso ela esteja encaixada com outros painéis (como Camadas ou Propriedades).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Informações – Photoshop</a:t>
            </a:r>
            <a:endParaRPr sz="1100"/>
          </a:p>
        </p:txBody>
      </p:sp>
      <p:sp>
        <p:nvSpPr>
          <p:cNvPr id="342" name="Google Shape;342;p26"/>
          <p:cNvSpPr txBox="1"/>
          <p:nvPr/>
        </p:nvSpPr>
        <p:spPr>
          <a:xfrm>
            <a:off x="449744" y="1425836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ele mostra?</a:t>
            </a:r>
            <a:endParaRPr sz="1100"/>
          </a:p>
        </p:txBody>
      </p:sp>
      <p:graphicFrame>
        <p:nvGraphicFramePr>
          <p:cNvPr id="343" name="Google Shape;343;p26"/>
          <p:cNvGraphicFramePr/>
          <p:nvPr/>
        </p:nvGraphicFramePr>
        <p:xfrm>
          <a:off x="449744" y="1975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{70835A0B-5947-42E6-9216-824252281C10}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Ícone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exibe ao mover o mouse pela imagem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Conta-gotas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as cores exatas do pixel onde o ponteiro está.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Coordenadas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Posição exata do mouse (X e Y).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Medidas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de uma seleção ou forma sendo desenhada (Largura e Altura).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GPU e outros dados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Informações extras de desempenho e cor avançada.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Informações – Photoshop</a:t>
            </a:r>
            <a:endParaRPr sz="1100"/>
          </a:p>
        </p:txBody>
      </p:sp>
      <p:sp>
        <p:nvSpPr>
          <p:cNvPr id="350" name="Google Shape;350;p27"/>
          <p:cNvSpPr txBox="1"/>
          <p:nvPr/>
        </p:nvSpPr>
        <p:spPr>
          <a:xfrm>
            <a:off x="551928" y="1209376"/>
            <a:ext cx="45798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Personalizando o painel: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do painel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três linhas no canto superior direito).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do Painel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que quer que apareça: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 cores em 8, 16 ou 32 bits.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unidade de medida (cm, px, polegada...).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coordenadas com mais precisão.</a:t>
            </a:r>
            <a:endParaRPr sz="1100"/>
          </a:p>
        </p:txBody>
      </p:sp>
      <p:sp>
        <p:nvSpPr>
          <p:cNvPr id="351" name="Google Shape;351;p27"/>
          <p:cNvSpPr/>
          <p:nvPr/>
        </p:nvSpPr>
        <p:spPr>
          <a:xfrm>
            <a:off x="367951" y="3928543"/>
            <a:ext cx="84081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 em aula: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ferramenta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Retangular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M).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uma área sobre a imagem.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Veja no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Informações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tamanho (largura e altura) da área que você está criando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ATALHOS</a:t>
            </a:r>
            <a:endParaRPr sz="1100"/>
          </a:p>
        </p:txBody>
      </p:sp>
      <p:pic>
        <p:nvPicPr>
          <p:cNvPr id="358" name="Google Shape;358;p28"/>
          <p:cNvPicPr preferRelativeResize="0"/>
          <p:nvPr/>
        </p:nvPicPr>
        <p:blipFill rotWithShape="1">
          <a:blip r:embed="rId3">
            <a:alphaModFix/>
          </a:blip>
          <a:srcRect b="13126" l="26323" r="43227" t="20267"/>
          <a:stretch/>
        </p:blipFill>
        <p:spPr>
          <a:xfrm>
            <a:off x="568619" y="1211337"/>
            <a:ext cx="1731482" cy="3846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/>
          <p:cNvPicPr preferRelativeResize="0"/>
          <p:nvPr/>
        </p:nvPicPr>
        <p:blipFill rotWithShape="1">
          <a:blip r:embed="rId4">
            <a:alphaModFix/>
          </a:blip>
          <a:srcRect b="10976" l="26578" r="42997" t="23338"/>
          <a:stretch/>
        </p:blipFill>
        <p:spPr>
          <a:xfrm>
            <a:off x="3706259" y="1120241"/>
            <a:ext cx="1731482" cy="37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8"/>
          <p:cNvPicPr preferRelativeResize="0"/>
          <p:nvPr/>
        </p:nvPicPr>
        <p:blipFill rotWithShape="1">
          <a:blip r:embed="rId5">
            <a:alphaModFix/>
          </a:blip>
          <a:srcRect b="3613" l="26096" r="43208" t="19961"/>
          <a:stretch/>
        </p:blipFill>
        <p:spPr>
          <a:xfrm>
            <a:off x="6934938" y="1120230"/>
            <a:ext cx="1501344" cy="3796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Abrindo uma Imagem no Photoshop</a:t>
            </a:r>
            <a:endParaRPr sz="1100"/>
          </a:p>
        </p:txBody>
      </p:sp>
      <p:sp>
        <p:nvSpPr>
          <p:cNvPr id="367" name="Google Shape;367;p29"/>
          <p:cNvSpPr txBox="1"/>
          <p:nvPr/>
        </p:nvSpPr>
        <p:spPr>
          <a:xfrm>
            <a:off x="429799" y="1306292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uma imagem: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superior.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use o 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  <p:sp>
        <p:nvSpPr>
          <p:cNvPr id="368" name="Google Shape;368;p29"/>
          <p:cNvSpPr txBox="1"/>
          <p:nvPr/>
        </p:nvSpPr>
        <p:spPr>
          <a:xfrm>
            <a:off x="429799" y="2408161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imagem: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caixa de diálogo que aparece, vá até a pasta onde a imagem está guardada.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selecioná-la.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pressione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375" name="Google Shape;375;p30"/>
          <p:cNvSpPr txBox="1"/>
          <p:nvPr/>
        </p:nvSpPr>
        <p:spPr>
          <a:xfrm>
            <a:off x="260698" y="1085898"/>
            <a:ext cx="8348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1: Abrir uma Nova Imagem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o Photoshop e crie um novo documento.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Defina o tamanho de 800x600 pixels e resolução de 72 DPI.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a cor de fundo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376" name="Google Shape;376;p30"/>
          <p:cNvSpPr txBox="1"/>
          <p:nvPr/>
        </p:nvSpPr>
        <p:spPr>
          <a:xfrm>
            <a:off x="260698" y="2317005"/>
            <a:ext cx="8348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2: Inserir uma Imagem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imagem que você tenha no computador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o tamanho da imagem utilizando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  <p:sp>
        <p:nvSpPr>
          <p:cNvPr id="377" name="Google Shape;377;p30"/>
          <p:cNvSpPr txBox="1"/>
          <p:nvPr/>
        </p:nvSpPr>
        <p:spPr>
          <a:xfrm>
            <a:off x="260698" y="3778943"/>
            <a:ext cx="8348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3: Adicionar Texto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documento e escreva um título ou uma mensagem simples.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a fonte, o tamanho e a cor do texto utilizando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opções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384" name="Google Shape;384;p31"/>
          <p:cNvSpPr txBox="1"/>
          <p:nvPr/>
        </p:nvSpPr>
        <p:spPr>
          <a:xfrm>
            <a:off x="401615" y="1263351"/>
            <a:ext cx="7933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4: Usar a Ferramenta de Seleção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Seleção Retangular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selecione a área ao redor do texto ou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Mover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para organizar o texto e a imagem na tela.</a:t>
            </a:r>
            <a:endParaRPr sz="1100"/>
          </a:p>
        </p:txBody>
      </p:sp>
      <p:sp>
        <p:nvSpPr>
          <p:cNvPr id="385" name="Google Shape;385;p31"/>
          <p:cNvSpPr txBox="1"/>
          <p:nvPr/>
        </p:nvSpPr>
        <p:spPr>
          <a:xfrm>
            <a:off x="401615" y="3089468"/>
            <a:ext cx="7933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5: Salvar o Projeto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Após finalizar a criação do cartaz, vá até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Salve o projeto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Cartaz_Final.psd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(arquivo de projeto) e também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Cartaz_Final.jpg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visualização).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